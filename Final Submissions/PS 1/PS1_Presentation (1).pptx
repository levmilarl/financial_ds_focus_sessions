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71" r:id="rId6"/>
    <p:sldId id="260" r:id="rId7"/>
    <p:sldId id="268" r:id="rId8"/>
    <p:sldId id="261" r:id="rId9"/>
    <p:sldId id="267" r:id="rId10"/>
    <p:sldId id="262" r:id="rId11"/>
    <p:sldId id="266" r:id="rId12"/>
    <p:sldId id="263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710"/>
  </p:normalViewPr>
  <p:slideViewPr>
    <p:cSldViewPr snapToGrid="0" snapToObjects="1">
      <p:cViewPr>
        <p:scale>
          <a:sx n="102" d="100"/>
          <a:sy n="102" d="100"/>
        </p:scale>
        <p:origin x="181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5225B-4CA3-2A4F-BC5F-E9838A250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91F7E7F-1246-0E41-94AD-21590FFF1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9B6A7C-D589-8148-B7C9-C14BC6F5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7E820B-849F-D847-BF60-5AD4569F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176BF7-4FF3-C442-8A37-4B012005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21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32683B-8F2C-C549-9AA8-C475ABC0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E62D6F-A0D4-7E43-A32C-A6219CB50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4C42E5-9C3F-AC44-9B41-C48B1CF6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DF3A2A-EE88-4A42-858E-FBDF144F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50C4F0-7C45-B04C-9920-667D309F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040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136F32-0032-9D46-A760-8E3DAA80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A78C0D-08F0-9C4C-9C9D-B35024FEC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5C73C1-E7A2-2244-BBA4-5179FDC6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BEF2DA-5BD9-4647-B06E-47BBAF8E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22EF63-883C-CF48-8EFC-F813D715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0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C9AE6E-A6B4-724B-9996-48DED6B1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2AA6D6-AEB8-C44C-8ECC-5512D914A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00D7BC-2298-6D4A-B250-A875C22FE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5D6245-BFC3-7848-A29D-5C0549016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3A519E-D9AA-494E-8061-836285B1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7D640E-144C-A147-ADB6-573E4955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37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8218B7-4700-414B-8B96-EE74501FE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9D2261-D52A-3B4F-AF3A-FA591B8B1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818818-1D72-104E-823D-E5AC876A8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7AD01B-F307-8046-BD28-BAC529AC55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C5B1544-2105-F848-8602-C4ED48064A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A061C3-02B2-9F40-B773-54B5A70F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7076393-C711-0C44-9CE1-084495A1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76B8E82-1A46-8C49-8B92-A1E94452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62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AB246-87B5-2A4F-9D12-2DA73A51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336E31-6541-9C4F-AEBF-23373D971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83C6A5E-1F14-8C4E-8ACB-01539C5E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C90C5B-97C5-F943-B946-0C550CFB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76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A5C13C-8346-5241-87A0-B1F56AA1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A8CF85-D737-444F-A374-4A743929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5ED7CA-8B37-0C4C-ABEC-D5FC526E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39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EA5369-23A4-7F45-A6E0-5E336F96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5E7065-6EB2-AB40-90DF-B3A5CFD26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9CB979-A5EA-1A47-879C-8016F91C7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E67EBD-6E13-144F-BDBC-A427F19DB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07C079-4668-0F41-BC58-BB7F227A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D3BD4B-8EBD-8243-B901-F46F793B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177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8612F-0A04-944C-A4EB-6565C648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EB0CBD6-83B5-7242-9B04-34CE7E1DA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FF0C6F-2454-9443-B91E-7421D83BB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F6BCBE-EB6A-934D-B3BC-9CA0E48F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5EAB72-0949-8844-9E68-6C5F9496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D59157-03D7-5544-9DF6-D2730BDA7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12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004B8-AEE0-274D-992F-693F37A4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4981D1-A536-3345-ADDF-B3E3EC076A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E71E9C-9582-6442-ABF9-4892AB0A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CAC6B-F772-4340-B52C-F5C1B8BBA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C1301A-FF7F-7F4D-A975-68C0660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676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8CDF9A2-7EA3-FE43-A29C-E163CF1DD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6C333E-BF1D-9A43-9AE6-9B6A50407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D0A9E7-3030-9448-9639-9D4283A8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AD0A19-018C-094A-AA12-C5D05036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397DAE-0880-6B42-B7FB-95BD06C3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7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5E2EF5B-E655-5D46-9CB2-2AC08AA0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23188D-9C45-7C4D-9D41-11F0D105D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38672A-5A66-9C4D-A822-75DF1AB35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19933-BB53-3F46-8AA6-08ABABA63881}" type="datetimeFigureOut">
              <a:rPr lang="de-DE" smtClean="0"/>
              <a:t>24.05.25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D3AA5E-8F19-9B4C-BC5A-1CE94D0937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BD92B1-D045-5B4F-AB0B-AF45B9E0E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16B76-6974-AB46-BB1A-B984A3B8B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64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iniatur-Bullen- und Bärenprozentzahlen auf einem Papier, das mit der Aktienkursliste bedruckt ist">
            <a:extLst>
              <a:ext uri="{FF2B5EF4-FFF2-40B4-BE49-F238E27FC236}">
                <a16:creationId xmlns:a16="http://schemas.microsoft.com/office/drawing/2014/main" id="{9B9D8C95-1294-FD36-0B0D-2157E188AF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870" b="151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920E5BC-2048-3946-B94B-6C8972342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4471"/>
            <a:ext cx="9144000" cy="2900518"/>
          </a:xfrm>
        </p:spPr>
        <p:txBody>
          <a:bodyPr>
            <a:normAutofit/>
          </a:bodyPr>
          <a:lstStyle/>
          <a:p>
            <a:r>
              <a:rPr lang="de-DE" sz="5400" b="1" dirty="0">
                <a:solidFill>
                  <a:srgbClr val="FFFFFF"/>
                </a:solidFill>
              </a:rPr>
              <a:t>Strategic Portfolio </a:t>
            </a:r>
            <a:r>
              <a:rPr lang="de-DE" sz="5400" b="1" dirty="0" err="1">
                <a:solidFill>
                  <a:srgbClr val="FFFFFF"/>
                </a:solidFill>
              </a:rPr>
              <a:t>Construction</a:t>
            </a:r>
            <a:r>
              <a:rPr lang="de-DE" sz="5400" b="1" dirty="0">
                <a:solidFill>
                  <a:srgbClr val="FFFFFF"/>
                </a:solidFill>
              </a:rPr>
              <a:t>  </a:t>
            </a:r>
            <a:r>
              <a:rPr lang="de-DE" sz="3200" dirty="0">
                <a:solidFill>
                  <a:srgbClr val="FFFFFF"/>
                </a:solidFill>
              </a:rPr>
              <a:t>- </a:t>
            </a:r>
            <a:r>
              <a:rPr lang="de-DE" sz="3200" dirty="0" err="1">
                <a:solidFill>
                  <a:srgbClr val="FFFFFF"/>
                </a:solidFill>
              </a:rPr>
              <a:t>using</a:t>
            </a:r>
            <a:r>
              <a:rPr lang="de-DE" sz="3200" dirty="0">
                <a:solidFill>
                  <a:srgbClr val="FFFFFF"/>
                </a:solidFill>
              </a:rPr>
              <a:t> Python &amp; Market Data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D0D1C5-7421-6B4E-9AE6-082436AC9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2040980"/>
          </a:xfrm>
        </p:spPr>
        <p:txBody>
          <a:bodyPr>
            <a:normAutofit fontScale="47500" lnSpcReduction="20000"/>
          </a:bodyPr>
          <a:lstStyle/>
          <a:p>
            <a:r>
              <a:rPr lang="de-DE" sz="6300" dirty="0">
                <a:solidFill>
                  <a:srgbClr val="FFFFFF"/>
                </a:solidFill>
              </a:rPr>
              <a:t>A </a:t>
            </a:r>
            <a:r>
              <a:rPr lang="de-DE" sz="6300" dirty="0" err="1">
                <a:solidFill>
                  <a:srgbClr val="FFFFFF"/>
                </a:solidFill>
              </a:rPr>
              <a:t>data-driven</a:t>
            </a:r>
            <a:r>
              <a:rPr lang="de-DE" sz="6300" dirty="0">
                <a:solidFill>
                  <a:srgbClr val="FFFFFF"/>
                </a:solidFill>
              </a:rPr>
              <a:t> </a:t>
            </a:r>
            <a:r>
              <a:rPr lang="de-DE" sz="6300" dirty="0" err="1">
                <a:solidFill>
                  <a:srgbClr val="FFFFFF"/>
                </a:solidFill>
              </a:rPr>
              <a:t>approach</a:t>
            </a:r>
            <a:r>
              <a:rPr lang="de-DE" sz="6300" dirty="0">
                <a:solidFill>
                  <a:srgbClr val="FFFFFF"/>
                </a:solidFill>
              </a:rPr>
              <a:t> </a:t>
            </a:r>
            <a:r>
              <a:rPr lang="de-DE" sz="6300" dirty="0" err="1">
                <a:solidFill>
                  <a:srgbClr val="FFFFFF"/>
                </a:solidFill>
              </a:rPr>
              <a:t>to</a:t>
            </a:r>
            <a:r>
              <a:rPr lang="de-DE" sz="6300" dirty="0">
                <a:solidFill>
                  <a:srgbClr val="FFFFFF"/>
                </a:solidFill>
              </a:rPr>
              <a:t> optimal </a:t>
            </a:r>
            <a:r>
              <a:rPr lang="de-DE" sz="6300" dirty="0" err="1">
                <a:solidFill>
                  <a:srgbClr val="FFFFFF"/>
                </a:solidFill>
              </a:rPr>
              <a:t>asset</a:t>
            </a:r>
            <a:r>
              <a:rPr lang="de-DE" sz="6300" dirty="0">
                <a:solidFill>
                  <a:srgbClr val="FFFFFF"/>
                </a:solidFill>
              </a:rPr>
              <a:t> </a:t>
            </a:r>
            <a:r>
              <a:rPr lang="de-DE" sz="6300" dirty="0" err="1">
                <a:solidFill>
                  <a:srgbClr val="FFFFFF"/>
                </a:solidFill>
              </a:rPr>
              <a:t>allocation</a:t>
            </a:r>
            <a:r>
              <a:rPr lang="de-DE" sz="6300" dirty="0">
                <a:solidFill>
                  <a:srgbClr val="FFFFFF"/>
                </a:solidFill>
              </a:rPr>
              <a:t> </a:t>
            </a:r>
            <a:r>
              <a:rPr lang="de-DE" sz="6300" dirty="0" err="1">
                <a:solidFill>
                  <a:srgbClr val="FFFFFF"/>
                </a:solidFill>
              </a:rPr>
              <a:t>and</a:t>
            </a:r>
            <a:r>
              <a:rPr lang="de-DE" sz="6300" dirty="0">
                <a:solidFill>
                  <a:srgbClr val="FFFFFF"/>
                </a:solidFill>
              </a:rPr>
              <a:t> modern Portfolio </a:t>
            </a:r>
            <a:r>
              <a:rPr lang="de-DE" sz="6300" dirty="0" err="1">
                <a:solidFill>
                  <a:srgbClr val="FFFFFF"/>
                </a:solidFill>
              </a:rPr>
              <a:t>theory</a:t>
            </a:r>
            <a:endParaRPr lang="de-DE" sz="6300" dirty="0">
              <a:solidFill>
                <a:srgbClr val="FFFFFF"/>
              </a:solidFill>
            </a:endParaRPr>
          </a:p>
          <a:p>
            <a:endParaRPr lang="de-DE" sz="600" dirty="0">
              <a:solidFill>
                <a:srgbClr val="FFFFFF"/>
              </a:solidFill>
            </a:endParaRPr>
          </a:p>
          <a:p>
            <a:r>
              <a:rPr lang="de-DE" sz="3800" dirty="0">
                <a:solidFill>
                  <a:srgbClr val="FFFFFF"/>
                </a:solidFill>
              </a:rPr>
              <a:t>Jonas Bahmann</a:t>
            </a:r>
          </a:p>
          <a:p>
            <a:r>
              <a:rPr lang="de-DE" sz="3800" dirty="0" err="1">
                <a:solidFill>
                  <a:srgbClr val="FFFFFF"/>
                </a:solidFill>
              </a:rPr>
              <a:t>Levente</a:t>
            </a:r>
            <a:r>
              <a:rPr lang="de-DE" sz="3800" dirty="0">
                <a:solidFill>
                  <a:srgbClr val="FFFFFF"/>
                </a:solidFill>
              </a:rPr>
              <a:t> </a:t>
            </a:r>
            <a:r>
              <a:rPr lang="de-DE" sz="3800" dirty="0" err="1">
                <a:solidFill>
                  <a:srgbClr val="FFFFFF"/>
                </a:solidFill>
              </a:rPr>
              <a:t>Mihalyi</a:t>
            </a:r>
            <a:endParaRPr lang="de-DE" sz="3800" dirty="0">
              <a:solidFill>
                <a:srgbClr val="FFFFFF"/>
              </a:solidFill>
            </a:endParaRPr>
          </a:p>
          <a:p>
            <a:r>
              <a:rPr lang="de-DE" sz="3800" dirty="0">
                <a:solidFill>
                  <a:srgbClr val="FFFFFF"/>
                </a:solidFill>
              </a:rPr>
              <a:t>Eliseo Carrasco Krämer</a:t>
            </a:r>
          </a:p>
        </p:txBody>
      </p:sp>
    </p:spTree>
    <p:extLst>
      <p:ext uri="{BB962C8B-B14F-4D97-AF65-F5344CB8AC3E}">
        <p14:creationId xmlns:p14="http://schemas.microsoft.com/office/powerpoint/2010/main" val="732815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03517-F18B-B540-B2B0-23E6FC96F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Objective</a:t>
            </a:r>
            <a:r>
              <a:rPr lang="de-DE" dirty="0"/>
              <a:t> &amp; </a:t>
            </a:r>
            <a:r>
              <a:rPr lang="de-DE" dirty="0" err="1"/>
              <a:t>Methodology</a:t>
            </a:r>
            <a:r>
              <a:rPr lang="de-DE" dirty="0"/>
              <a:t> Outline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C3760D-8106-4345-A02A-8905D8C89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5000"/>
            <a:ext cx="10209756" cy="4351338"/>
          </a:xfrm>
        </p:spPr>
        <p:txBody>
          <a:bodyPr>
            <a:normAutofit lnSpcReduction="10000"/>
          </a:bodyPr>
          <a:lstStyle/>
          <a:p>
            <a:endParaRPr lang="de-DE" sz="2400" dirty="0"/>
          </a:p>
          <a:p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In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this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project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,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we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will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construct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a 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strategic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investment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portfolio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 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using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historical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market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data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. The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portfolio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is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built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from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a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selection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of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 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diversified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asset</a:t>
            </a:r>
            <a:r>
              <a:rPr lang="de-DE" sz="2200" b="1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1" i="0" u="none" strike="noStrike" dirty="0" err="1">
                <a:solidFill>
                  <a:srgbClr val="1F1F1F"/>
                </a:solidFill>
                <a:effectLst/>
              </a:rPr>
              <a:t>classes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 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to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balance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risk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and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return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across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different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economic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sectors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and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 </a:t>
            </a:r>
            <a:r>
              <a:rPr lang="de-DE" sz="2200" b="0" i="0" u="none" strike="noStrike" dirty="0" err="1">
                <a:solidFill>
                  <a:srgbClr val="1F1F1F"/>
                </a:solidFill>
                <a:effectLst/>
              </a:rPr>
              <a:t>geographies</a:t>
            </a:r>
            <a:r>
              <a:rPr lang="de-DE" sz="2200" b="0" i="0" u="none" strike="noStrike" dirty="0">
                <a:solidFill>
                  <a:srgbClr val="1F1F1F"/>
                </a:solidFill>
                <a:effectLst/>
              </a:rPr>
              <a:t>.</a:t>
            </a:r>
          </a:p>
          <a:p>
            <a:endParaRPr lang="de-DE" sz="1600" dirty="0">
              <a:solidFill>
                <a:srgbClr val="1F1F1F"/>
              </a:solidFill>
              <a:latin typeface="Roboto" panose="02000000000000000000" pitchFamily="2" charset="0"/>
            </a:endParaRPr>
          </a:p>
          <a:p>
            <a:r>
              <a:rPr lang="de-DE" sz="2000" b="1" dirty="0" err="1"/>
              <a:t>Methodology</a:t>
            </a:r>
            <a:endParaRPr lang="de-DE" sz="2000" b="1" dirty="0"/>
          </a:p>
          <a:p>
            <a:r>
              <a:rPr lang="de-DE" sz="1800" dirty="0"/>
              <a:t>1. Data </a:t>
            </a:r>
            <a:r>
              <a:rPr lang="de-DE" sz="1800" dirty="0" err="1"/>
              <a:t>import</a:t>
            </a:r>
            <a:r>
              <a:rPr lang="de-DE" sz="1800" dirty="0"/>
              <a:t> &amp; </a:t>
            </a:r>
            <a:r>
              <a:rPr lang="de-DE" sz="1800" dirty="0" err="1"/>
              <a:t>first</a:t>
            </a:r>
            <a:r>
              <a:rPr lang="de-DE" sz="1800" dirty="0"/>
              <a:t> </a:t>
            </a:r>
            <a:r>
              <a:rPr lang="de-DE" sz="1800" dirty="0" err="1"/>
              <a:t>impression</a:t>
            </a:r>
            <a:endParaRPr lang="de-DE" sz="1800" dirty="0"/>
          </a:p>
          <a:p>
            <a:r>
              <a:rPr lang="de-DE" sz="1800" dirty="0"/>
              <a:t>2. Statistical </a:t>
            </a:r>
            <a:r>
              <a:rPr lang="de-DE" sz="1800" dirty="0" err="1"/>
              <a:t>return</a:t>
            </a:r>
            <a:r>
              <a:rPr lang="de-DE" sz="1800" dirty="0"/>
              <a:t> </a:t>
            </a:r>
            <a:r>
              <a:rPr lang="de-DE" sz="1800" dirty="0" err="1"/>
              <a:t>diagnostics</a:t>
            </a:r>
            <a:r>
              <a:rPr lang="de-DE" sz="1800" dirty="0"/>
              <a:t> (</a:t>
            </a:r>
            <a:r>
              <a:rPr lang="de-DE" sz="1800" dirty="0" err="1"/>
              <a:t>Jarque-Bera</a:t>
            </a:r>
            <a:r>
              <a:rPr lang="de-DE" sz="1800" dirty="0"/>
              <a:t>)</a:t>
            </a:r>
          </a:p>
          <a:p>
            <a:r>
              <a:rPr lang="de-DE" sz="1800" dirty="0"/>
              <a:t>3. Investment </a:t>
            </a:r>
            <a:r>
              <a:rPr lang="de-DE" sz="1800" dirty="0" err="1"/>
              <a:t>opportunity</a:t>
            </a:r>
            <a:r>
              <a:rPr lang="de-DE" sz="1800" dirty="0"/>
              <a:t> </a:t>
            </a:r>
            <a:r>
              <a:rPr lang="de-DE" sz="1800" dirty="0" err="1"/>
              <a:t>set</a:t>
            </a:r>
            <a:r>
              <a:rPr lang="de-DE" sz="1800" dirty="0"/>
              <a:t> &amp; </a:t>
            </a:r>
            <a:r>
              <a:rPr lang="de-DE" sz="1800" dirty="0" err="1"/>
              <a:t>efficient</a:t>
            </a:r>
            <a:r>
              <a:rPr lang="de-DE" sz="1800" dirty="0"/>
              <a:t> </a:t>
            </a:r>
            <a:r>
              <a:rPr lang="de-DE" sz="1800" dirty="0" err="1"/>
              <a:t>frontier</a:t>
            </a:r>
            <a:endParaRPr lang="de-DE" sz="1800" dirty="0"/>
          </a:p>
          <a:p>
            <a:r>
              <a:rPr lang="de-DE" sz="1800" dirty="0"/>
              <a:t>4. </a:t>
            </a:r>
            <a:r>
              <a:rPr lang="de-DE" sz="1800" dirty="0" err="1"/>
              <a:t>Tangency</a:t>
            </a:r>
            <a:r>
              <a:rPr lang="de-DE" sz="1800" dirty="0"/>
              <a:t> vs. Optimal </a:t>
            </a:r>
            <a:r>
              <a:rPr lang="de-DE" sz="1800" dirty="0" err="1"/>
              <a:t>complete</a:t>
            </a:r>
            <a:r>
              <a:rPr lang="de-DE" sz="1800" dirty="0"/>
              <a:t> </a:t>
            </a:r>
            <a:r>
              <a:rPr lang="de-DE" sz="1800" dirty="0" err="1"/>
              <a:t>portfolio</a:t>
            </a:r>
            <a:endParaRPr lang="de-DE" sz="1800" dirty="0"/>
          </a:p>
          <a:p>
            <a:r>
              <a:rPr lang="de-DE" sz="1800" dirty="0"/>
              <a:t>5. </a:t>
            </a:r>
            <a:r>
              <a:rPr lang="de-DE" sz="1800" dirty="0" err="1"/>
              <a:t>Risk</a:t>
            </a:r>
            <a:r>
              <a:rPr lang="de-DE" sz="1800" dirty="0"/>
              <a:t> </a:t>
            </a:r>
            <a:r>
              <a:rPr lang="de-DE" sz="1800" dirty="0" err="1"/>
              <a:t>decomposition</a:t>
            </a:r>
            <a:r>
              <a:rPr lang="de-DE" sz="1800" dirty="0"/>
              <a:t> via OLS</a:t>
            </a:r>
          </a:p>
          <a:p>
            <a:r>
              <a:rPr lang="de-DE" sz="1800" dirty="0"/>
              <a:t>6. Out-</a:t>
            </a:r>
            <a:r>
              <a:rPr lang="de-DE" sz="1800" dirty="0" err="1"/>
              <a:t>of</a:t>
            </a:r>
            <a:r>
              <a:rPr lang="de-DE" sz="1800" dirty="0"/>
              <a:t>-sample </a:t>
            </a:r>
            <a:r>
              <a:rPr lang="de-DE" sz="1800" dirty="0" err="1"/>
              <a:t>performance</a:t>
            </a:r>
            <a:r>
              <a:rPr lang="de-DE" sz="1800" dirty="0"/>
              <a:t> </a:t>
            </a:r>
            <a:r>
              <a:rPr lang="de-DE" sz="1800" dirty="0" err="1"/>
              <a:t>evaluation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152797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D7B62-7CE2-C84E-A0EC-D4FD7D2D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62" y="263268"/>
            <a:ext cx="10515600" cy="1325563"/>
          </a:xfrm>
        </p:spPr>
        <p:txBody>
          <a:bodyPr/>
          <a:lstStyle/>
          <a:p>
            <a:r>
              <a:rPr lang="de-DE" dirty="0"/>
              <a:t>1. Data </a:t>
            </a:r>
            <a:r>
              <a:rPr lang="de-DE" dirty="0" err="1"/>
              <a:t>Selection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187B0A-A1D1-AA4F-BE60-4959ABF2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000" dirty="0"/>
              <a:t>Data </a:t>
            </a:r>
            <a:r>
              <a:rPr lang="de-DE" sz="2000" dirty="0" err="1"/>
              <a:t>source</a:t>
            </a:r>
            <a:r>
              <a:rPr lang="de-DE" sz="2000" dirty="0"/>
              <a:t>: Yahoo </a:t>
            </a:r>
            <a:r>
              <a:rPr lang="de-DE" sz="2000" dirty="0" err="1"/>
              <a:t>Fincance</a:t>
            </a:r>
            <a:endParaRPr lang="de-DE" sz="2000" dirty="0"/>
          </a:p>
          <a:p>
            <a:r>
              <a:rPr lang="de-DE" sz="2000" dirty="0"/>
              <a:t>Assets: </a:t>
            </a:r>
            <a:r>
              <a:rPr lang="de-DE" sz="2000" b="1" dirty="0"/>
              <a:t>Nasdaq, S&amp;P, Gold, REITs, DAX, Bonds</a:t>
            </a:r>
          </a:p>
          <a:p>
            <a:r>
              <a:rPr lang="de-DE" sz="2000" dirty="0"/>
              <a:t>Different Asset </a:t>
            </a:r>
            <a:r>
              <a:rPr lang="de-DE" sz="2000" dirty="0" err="1"/>
              <a:t>classes</a:t>
            </a:r>
            <a:r>
              <a:rPr lang="de-DE" sz="2000" dirty="0"/>
              <a:t> </a:t>
            </a:r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b="1" dirty="0" err="1">
                <a:sym typeface="Wingdings" pitchFamily="2" charset="2"/>
              </a:rPr>
              <a:t>Diversification</a:t>
            </a:r>
            <a:endParaRPr lang="de-DE" sz="2000" b="1" dirty="0"/>
          </a:p>
          <a:p>
            <a:r>
              <a:rPr lang="de-DE" sz="2000" dirty="0" err="1"/>
              <a:t>Visualize</a:t>
            </a:r>
            <a:r>
              <a:rPr lang="de-DE" sz="2000" dirty="0"/>
              <a:t> </a:t>
            </a:r>
            <a:r>
              <a:rPr lang="de-DE" sz="2000" dirty="0" err="1"/>
              <a:t>cumulated</a:t>
            </a:r>
            <a:r>
              <a:rPr lang="de-DE" sz="2000" dirty="0"/>
              <a:t> log-returns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assets</a:t>
            </a:r>
            <a:endParaRPr lang="de-DE" sz="2000" dirty="0"/>
          </a:p>
          <a:p>
            <a:endParaRPr lang="de-DE" sz="2000" dirty="0"/>
          </a:p>
          <a:p>
            <a:r>
              <a:rPr lang="de-DE" sz="2000" b="1" dirty="0" err="1"/>
              <a:t>Correlation</a:t>
            </a:r>
            <a:r>
              <a:rPr lang="de-DE" sz="2000" b="1" dirty="0"/>
              <a:t> </a:t>
            </a:r>
          </a:p>
          <a:p>
            <a:r>
              <a:rPr lang="de-DE" sz="2000" dirty="0"/>
              <a:t>S&amp;P </a:t>
            </a:r>
            <a:r>
              <a:rPr lang="de-DE" sz="2000" dirty="0" err="1"/>
              <a:t>and</a:t>
            </a:r>
            <a:r>
              <a:rPr lang="de-DE" sz="2000" dirty="0"/>
              <a:t> Nasdaq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highly</a:t>
            </a:r>
            <a:r>
              <a:rPr lang="de-DE" sz="2000" dirty="0"/>
              <a:t> </a:t>
            </a:r>
            <a:r>
              <a:rPr lang="de-DE" sz="2000" dirty="0" err="1"/>
              <a:t>correlated</a:t>
            </a:r>
            <a:endParaRPr lang="de-DE" sz="2000" dirty="0"/>
          </a:p>
          <a:p>
            <a:r>
              <a:rPr lang="de-DE" sz="2000" dirty="0"/>
              <a:t>Gold ist </a:t>
            </a:r>
            <a:r>
              <a:rPr lang="de-DE" sz="2000" dirty="0" err="1"/>
              <a:t>almost</a:t>
            </a:r>
            <a:r>
              <a:rPr lang="de-DE" sz="2000" dirty="0"/>
              <a:t> neutral</a:t>
            </a:r>
          </a:p>
          <a:p>
            <a:r>
              <a:rPr lang="de-DE" sz="2000" dirty="0"/>
              <a:t>US-Bonds </a:t>
            </a:r>
            <a:r>
              <a:rPr lang="de-DE" sz="2000" dirty="0" err="1"/>
              <a:t>and</a:t>
            </a:r>
            <a:r>
              <a:rPr lang="de-DE" sz="2000" dirty="0"/>
              <a:t> Stocks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negatively</a:t>
            </a:r>
            <a:r>
              <a:rPr lang="de-DE" sz="2000" dirty="0"/>
              <a:t> </a:t>
            </a:r>
            <a:r>
              <a:rPr lang="de-DE" sz="2000" dirty="0" err="1"/>
              <a:t>correlated</a:t>
            </a:r>
            <a:endParaRPr lang="de-DE" sz="2000" dirty="0"/>
          </a:p>
          <a:p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hedging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and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minimizing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volatility</a:t>
            </a:r>
            <a:endParaRPr lang="de-DE" sz="2000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" name="Inhaltsplatzhalter 12" descr="Ein Bild, das Reihe, Diagramm, Text, Screenshot enthält.&#10;&#10;Automatisch generierte Beschreibung">
            <a:extLst>
              <a:ext uri="{FF2B5EF4-FFF2-40B4-BE49-F238E27FC236}">
                <a16:creationId xmlns:a16="http://schemas.microsoft.com/office/drawing/2014/main" id="{ACD73C64-5615-6849-92ED-C3EEB024A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43620"/>
            <a:ext cx="5903335" cy="2927216"/>
          </a:xfrm>
          <a:prstGeom prst="rect">
            <a:avLst/>
          </a:prstGeom>
        </p:spPr>
      </p:pic>
      <p:pic>
        <p:nvPicPr>
          <p:cNvPr id="6" name="Inhaltsplatzhalter 4" descr="Ein Bild, das Text, Screenshot, Zahl, Quadrat enthält.&#10;&#10;Automatisch generierte Beschreibung">
            <a:extLst>
              <a:ext uri="{FF2B5EF4-FFF2-40B4-BE49-F238E27FC236}">
                <a16:creationId xmlns:a16="http://schemas.microsoft.com/office/drawing/2014/main" id="{65B22F5A-FB5B-5C44-BE7B-F529E3186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654" y="3190484"/>
            <a:ext cx="4169308" cy="34550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2367C65-BF45-C542-AC26-F6EE2F656C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246" t="9738" b="9517"/>
          <a:stretch/>
        </p:blipFill>
        <p:spPr>
          <a:xfrm>
            <a:off x="2805829" y="3720230"/>
            <a:ext cx="2054269" cy="56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62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1F6BF-8132-B94A-907C-2A1CD96E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dirty="0"/>
              <a:t>2.1 </a:t>
            </a:r>
            <a:r>
              <a:rPr lang="de-DE" sz="4000" dirty="0" err="1"/>
              <a:t>Jarque-Bera</a:t>
            </a:r>
            <a:r>
              <a:rPr lang="de-DE" sz="4000" dirty="0"/>
              <a:t> Test</a:t>
            </a:r>
            <a:br>
              <a:rPr lang="de-DE" dirty="0"/>
            </a:br>
            <a:r>
              <a:rPr lang="de-DE" sz="3000" dirty="0"/>
              <a:t>Are </a:t>
            </a:r>
            <a:r>
              <a:rPr lang="de-DE" sz="3000" dirty="0" err="1"/>
              <a:t>our</a:t>
            </a:r>
            <a:r>
              <a:rPr lang="de-DE" sz="3000" dirty="0"/>
              <a:t> </a:t>
            </a:r>
            <a:r>
              <a:rPr lang="de-DE" sz="3000" dirty="0" err="1"/>
              <a:t>returns</a:t>
            </a:r>
            <a:r>
              <a:rPr lang="de-DE" sz="3000" dirty="0"/>
              <a:t> </a:t>
            </a:r>
            <a:r>
              <a:rPr lang="de-DE" sz="3000" dirty="0" err="1"/>
              <a:t>normally</a:t>
            </a:r>
            <a:r>
              <a:rPr lang="de-DE" sz="3000" dirty="0"/>
              <a:t> </a:t>
            </a:r>
            <a:r>
              <a:rPr lang="de-DE" sz="3000" dirty="0" err="1"/>
              <a:t>distributed</a:t>
            </a:r>
            <a:r>
              <a:rPr lang="de-DE" sz="3000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97A508-55B9-1349-8F13-918E77FEE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469" y="1891576"/>
            <a:ext cx="10515600" cy="4351338"/>
          </a:xfrm>
        </p:spPr>
        <p:txBody>
          <a:bodyPr>
            <a:normAutofit/>
          </a:bodyPr>
          <a:lstStyle/>
          <a:p>
            <a:r>
              <a:rPr lang="de-DE" sz="2000" dirty="0"/>
              <a:t>CAPM </a:t>
            </a:r>
            <a:r>
              <a:rPr lang="de-DE" sz="2000" dirty="0" err="1"/>
              <a:t>assumes</a:t>
            </a:r>
            <a:r>
              <a:rPr lang="de-DE" sz="2000" dirty="0"/>
              <a:t> </a:t>
            </a:r>
            <a:r>
              <a:rPr lang="de-DE" sz="2000" dirty="0" err="1"/>
              <a:t>normality</a:t>
            </a:r>
            <a:endParaRPr lang="de-DE" sz="2000" dirty="0"/>
          </a:p>
          <a:p>
            <a:r>
              <a:rPr lang="de-DE" sz="2000" b="1" dirty="0" err="1"/>
              <a:t>Kurtosis</a:t>
            </a:r>
            <a:r>
              <a:rPr lang="de-DE" sz="2000" b="1" dirty="0"/>
              <a:t>: </a:t>
            </a:r>
            <a:r>
              <a:rPr lang="de-DE" sz="2000" dirty="0"/>
              <a:t>									               </a:t>
            </a:r>
            <a:r>
              <a:rPr lang="de-DE" sz="2000" dirty="0" err="1"/>
              <a:t>tells</a:t>
            </a:r>
            <a:r>
              <a:rPr lang="de-DE" sz="2000" dirty="0"/>
              <a:t> </a:t>
            </a:r>
            <a:r>
              <a:rPr lang="de-DE" sz="2000" dirty="0" err="1"/>
              <a:t>us</a:t>
            </a:r>
            <a:r>
              <a:rPr lang="de-DE" sz="2000" dirty="0"/>
              <a:t> </a:t>
            </a:r>
            <a:r>
              <a:rPr lang="de-DE" sz="2000" dirty="0" err="1"/>
              <a:t>how</a:t>
            </a:r>
            <a:r>
              <a:rPr lang="de-DE" sz="2000" dirty="0"/>
              <a:t> heavy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tails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(</a:t>
            </a:r>
            <a:r>
              <a:rPr lang="de-DE" sz="2000" dirty="0" err="1"/>
              <a:t>black</a:t>
            </a:r>
            <a:r>
              <a:rPr lang="de-DE" sz="2000" dirty="0"/>
              <a:t> </a:t>
            </a:r>
            <a:r>
              <a:rPr lang="de-DE" sz="2000" dirty="0" err="1"/>
              <a:t>swans</a:t>
            </a:r>
            <a:r>
              <a:rPr lang="de-DE" sz="2000" dirty="0"/>
              <a:t>)</a:t>
            </a:r>
          </a:p>
          <a:p>
            <a:r>
              <a:rPr lang="de-DE" sz="2000" b="1" dirty="0" err="1"/>
              <a:t>Skewness</a:t>
            </a:r>
            <a:r>
              <a:rPr lang="de-DE" sz="2000" b="1" dirty="0"/>
              <a:t>: </a:t>
            </a:r>
            <a:r>
              <a:rPr lang="de-DE" sz="2000" dirty="0"/>
              <a:t>									              </a:t>
            </a:r>
            <a:r>
              <a:rPr lang="de-DE" sz="2000" dirty="0" err="1"/>
              <a:t>tells</a:t>
            </a:r>
            <a:r>
              <a:rPr lang="de-DE" sz="2000" dirty="0"/>
              <a:t> </a:t>
            </a:r>
            <a:r>
              <a:rPr lang="de-DE" sz="2000" dirty="0" err="1"/>
              <a:t>us</a:t>
            </a:r>
            <a:r>
              <a:rPr lang="de-DE" sz="2000" dirty="0"/>
              <a:t> </a:t>
            </a:r>
            <a:r>
              <a:rPr lang="de-DE" sz="2000" dirty="0" err="1"/>
              <a:t>if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distribution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</a:t>
            </a:r>
            <a:r>
              <a:rPr lang="de-DE" sz="2000" dirty="0" err="1"/>
              <a:t>loopsided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Test- </a:t>
            </a:r>
            <a:r>
              <a:rPr lang="de-DE" sz="2000" dirty="0" err="1"/>
              <a:t>statistic</a:t>
            </a:r>
            <a:r>
              <a:rPr lang="de-DE" sz="2000" dirty="0"/>
              <a:t>:</a:t>
            </a:r>
          </a:p>
        </p:txBody>
      </p:sp>
      <p:pic>
        <p:nvPicPr>
          <p:cNvPr id="6" name="Grafik 5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AE52DEF3-834D-1348-824C-87AA8F2FC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587" y="2009265"/>
            <a:ext cx="6038114" cy="391554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9F7442B-608D-2A4C-A84E-3FD255ACA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69" y="4449100"/>
            <a:ext cx="46736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04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4651F-0319-7740-B33E-FBFCDE22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2.2 </a:t>
            </a:r>
            <a:r>
              <a:rPr lang="de-DE" sz="4000" dirty="0" err="1"/>
              <a:t>Jarque-Bera</a:t>
            </a:r>
            <a:r>
              <a:rPr lang="de-DE" sz="4000" dirty="0"/>
              <a:t> - </a:t>
            </a:r>
            <a:r>
              <a:rPr lang="de-DE" sz="4000" dirty="0" err="1"/>
              <a:t>results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766BB3-AA98-DC4B-867F-1724E41E9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194" y="1692719"/>
            <a:ext cx="5829760" cy="4667250"/>
          </a:xfrm>
        </p:spPr>
        <p:txBody>
          <a:bodyPr>
            <a:normAutofit/>
          </a:bodyPr>
          <a:lstStyle/>
          <a:p>
            <a:r>
              <a:rPr lang="de-DE" sz="2000" b="1" dirty="0"/>
              <a:t>In </a:t>
            </a:r>
            <a:r>
              <a:rPr lang="de-DE" sz="2000" b="1" dirty="0" err="1"/>
              <a:t>theory</a:t>
            </a:r>
            <a:r>
              <a:rPr lang="de-DE" sz="2000" b="1" dirty="0"/>
              <a:t>: </a:t>
            </a:r>
            <a:r>
              <a:rPr lang="de-DE" sz="2000" dirty="0" err="1"/>
              <a:t>returns</a:t>
            </a:r>
            <a:r>
              <a:rPr lang="de-DE" sz="2000" dirty="0"/>
              <a:t> follow a normal </a:t>
            </a:r>
            <a:r>
              <a:rPr lang="de-DE" sz="2000" dirty="0" err="1"/>
              <a:t>distribution</a:t>
            </a:r>
            <a:endParaRPr lang="de-DE" sz="2000" dirty="0"/>
          </a:p>
          <a:p>
            <a:r>
              <a:rPr lang="de-DE" sz="2000" b="1" dirty="0"/>
              <a:t>In </a:t>
            </a:r>
            <a:r>
              <a:rPr lang="de-DE" sz="2000" b="1" dirty="0" err="1"/>
              <a:t>reality</a:t>
            </a:r>
            <a:r>
              <a:rPr lang="de-DE" sz="2000" b="1" dirty="0"/>
              <a:t>: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returns</a:t>
            </a:r>
            <a:r>
              <a:rPr lang="de-DE" sz="2000" dirty="0"/>
              <a:t> </a:t>
            </a:r>
            <a:r>
              <a:rPr lang="de-DE" sz="2000" dirty="0" err="1"/>
              <a:t>are</a:t>
            </a:r>
            <a:r>
              <a:rPr lang="de-DE" sz="2000" dirty="0"/>
              <a:t> not </a:t>
            </a:r>
            <a:r>
              <a:rPr lang="de-DE" sz="2000" dirty="0" err="1"/>
              <a:t>Gaussian</a:t>
            </a:r>
            <a:r>
              <a:rPr lang="de-DE" sz="2000" dirty="0"/>
              <a:t> (p&lt;0.05)</a:t>
            </a:r>
          </a:p>
          <a:p>
            <a:endParaRPr lang="de-DE" sz="2000" dirty="0"/>
          </a:p>
          <a:p>
            <a:r>
              <a:rPr lang="de-DE" sz="2000" dirty="0" err="1"/>
              <a:t>Fat</a:t>
            </a:r>
            <a:r>
              <a:rPr lang="de-DE" sz="2000" dirty="0"/>
              <a:t> </a:t>
            </a:r>
            <a:r>
              <a:rPr lang="de-DE" sz="2000" dirty="0" err="1"/>
              <a:t>Tails</a:t>
            </a:r>
            <a:r>
              <a:rPr lang="de-DE" sz="2000" dirty="0"/>
              <a:t> (extrem </a:t>
            </a:r>
            <a:r>
              <a:rPr lang="de-DE" sz="2000" dirty="0" err="1"/>
              <a:t>events</a:t>
            </a:r>
            <a:r>
              <a:rPr lang="de-DE" sz="2000" dirty="0"/>
              <a:t> </a:t>
            </a:r>
            <a:r>
              <a:rPr lang="de-DE" sz="2000" dirty="0" err="1"/>
              <a:t>more</a:t>
            </a:r>
            <a:r>
              <a:rPr lang="de-DE" sz="2000" dirty="0"/>
              <a:t> </a:t>
            </a:r>
            <a:r>
              <a:rPr lang="de-DE" sz="2000" dirty="0" err="1"/>
              <a:t>likeli</a:t>
            </a:r>
            <a:r>
              <a:rPr lang="de-DE" sz="2000" dirty="0"/>
              <a:t>)</a:t>
            </a:r>
          </a:p>
          <a:p>
            <a:pPr>
              <a:buFont typeface="Wingdings" pitchFamily="2" charset="2"/>
              <a:buChar char="à"/>
            </a:pPr>
            <a:r>
              <a:rPr lang="de-DE" sz="2000" dirty="0">
                <a:sym typeface="Wingdings" pitchFamily="2" charset="2"/>
              </a:rPr>
              <a:t>Black </a:t>
            </a:r>
            <a:r>
              <a:rPr lang="de-DE" sz="2000" dirty="0" err="1">
                <a:sym typeface="Wingdings" pitchFamily="2" charset="2"/>
              </a:rPr>
              <a:t>swans</a:t>
            </a:r>
            <a:r>
              <a:rPr lang="de-DE" sz="2000" dirty="0">
                <a:sym typeface="Wingdings" pitchFamily="2" charset="2"/>
              </a:rPr>
              <a:t>: </a:t>
            </a:r>
            <a:r>
              <a:rPr lang="de-DE" sz="2000" dirty="0" err="1">
                <a:sym typeface="Wingdings" pitchFamily="2" charset="2"/>
              </a:rPr>
              <a:t>Covid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shock</a:t>
            </a:r>
            <a:r>
              <a:rPr lang="de-DE" sz="2000" dirty="0">
                <a:sym typeface="Wingdings" pitchFamily="2" charset="2"/>
              </a:rPr>
              <a:t>, Financial Bubble</a:t>
            </a:r>
            <a:endParaRPr lang="de-DE" sz="2000" dirty="0"/>
          </a:p>
          <a:p>
            <a:r>
              <a:rPr lang="de-DE" sz="2000" dirty="0"/>
              <a:t>Returns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skewed</a:t>
            </a:r>
            <a:r>
              <a:rPr lang="de-DE" sz="2000" dirty="0"/>
              <a:t> (e. g. </a:t>
            </a:r>
            <a:r>
              <a:rPr lang="de-DE" sz="2000" dirty="0" err="1"/>
              <a:t>markets</a:t>
            </a:r>
            <a:r>
              <a:rPr lang="de-DE" sz="2000" dirty="0"/>
              <a:t> </a:t>
            </a:r>
            <a:r>
              <a:rPr lang="de-DE" sz="2000" dirty="0" err="1"/>
              <a:t>go</a:t>
            </a:r>
            <a:r>
              <a:rPr lang="de-DE" sz="2000" dirty="0"/>
              <a:t> </a:t>
            </a:r>
            <a:r>
              <a:rPr lang="de-DE" sz="2000" dirty="0" err="1"/>
              <a:t>asymetrically</a:t>
            </a:r>
            <a:r>
              <a:rPr lang="de-DE" sz="2000" dirty="0"/>
              <a:t>)</a:t>
            </a:r>
          </a:p>
          <a:p>
            <a:endParaRPr lang="de-DE" sz="2000" dirty="0"/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We</a:t>
            </a:r>
            <a:r>
              <a:rPr lang="de-DE" sz="2000" dirty="0">
                <a:sym typeface="Wingdings" pitchFamily="2" charset="2"/>
              </a:rPr>
              <a:t> still </a:t>
            </a:r>
            <a:r>
              <a:rPr lang="de-DE" sz="2000" dirty="0" err="1">
                <a:sym typeface="Wingdings" pitchFamily="2" charset="2"/>
              </a:rPr>
              <a:t>can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use</a:t>
            </a:r>
            <a:r>
              <a:rPr lang="de-DE" sz="2000" dirty="0">
                <a:sym typeface="Wingdings" pitchFamily="2" charset="2"/>
              </a:rPr>
              <a:t> CAPM – but </a:t>
            </a:r>
            <a:r>
              <a:rPr lang="de-DE" sz="2000" dirty="0" err="1">
                <a:sym typeface="Wingdings" pitchFamily="2" charset="2"/>
              </a:rPr>
              <a:t>we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consider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limitations</a:t>
            </a:r>
            <a:r>
              <a:rPr lang="de-DE" sz="2000" dirty="0">
                <a:sym typeface="Wingdings" pitchFamily="2" charset="2"/>
              </a:rPr>
              <a:t> in </a:t>
            </a:r>
            <a:r>
              <a:rPr lang="de-DE" sz="2000" dirty="0" err="1">
                <a:sym typeface="Wingdings" pitchFamily="2" charset="2"/>
              </a:rPr>
              <a:t>our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model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when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interpreting</a:t>
            </a:r>
            <a:endParaRPr lang="de-DE" sz="2000" dirty="0"/>
          </a:p>
          <a:p>
            <a:endParaRPr lang="de-DE" sz="2000" dirty="0"/>
          </a:p>
        </p:txBody>
      </p:sp>
      <p:pic>
        <p:nvPicPr>
          <p:cNvPr id="4" name="Inhaltsplatzhalter 8" descr="Ein Bild, das Diagramm, Reihe, Screenshot enthält.&#10;&#10;Automatisch generierte Beschreibung">
            <a:extLst>
              <a:ext uri="{FF2B5EF4-FFF2-40B4-BE49-F238E27FC236}">
                <a16:creationId xmlns:a16="http://schemas.microsoft.com/office/drawing/2014/main" id="{87E36A06-BDB4-A145-9C44-7754059BD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959" y="488513"/>
            <a:ext cx="5247177" cy="353783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A632E3A-7559-A54F-94A2-97B99AEE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08" y="4294490"/>
            <a:ext cx="4515480" cy="171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76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6E34E5-20DC-D346-8904-4B67BACC3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3.1 Investment </a:t>
            </a:r>
            <a:r>
              <a:rPr lang="de-DE" sz="4000" dirty="0" err="1"/>
              <a:t>opportunity</a:t>
            </a:r>
            <a:r>
              <a:rPr lang="de-DE" sz="4000" dirty="0"/>
              <a:t> </a:t>
            </a:r>
            <a:r>
              <a:rPr lang="de-DE" sz="4000" dirty="0" err="1"/>
              <a:t>set</a:t>
            </a:r>
            <a:r>
              <a:rPr lang="de-DE" sz="4000" dirty="0"/>
              <a:t> &amp; </a:t>
            </a:r>
            <a:r>
              <a:rPr lang="de-DE" sz="4000" dirty="0" err="1"/>
              <a:t>efficient</a:t>
            </a:r>
            <a:r>
              <a:rPr lang="de-DE" sz="4000" dirty="0"/>
              <a:t> </a:t>
            </a:r>
            <a:r>
              <a:rPr lang="de-DE" sz="4000" dirty="0" err="1"/>
              <a:t>frontier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654468-FE44-7646-BA28-C2B781DE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 err="1"/>
              <a:t>Possible</a:t>
            </a:r>
            <a:r>
              <a:rPr lang="de-DE" sz="2000" dirty="0"/>
              <a:t> Portfolios </a:t>
            </a:r>
            <a:r>
              <a:rPr lang="de-DE" sz="2000" dirty="0" err="1"/>
              <a:t>formed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combination</a:t>
            </a:r>
            <a:r>
              <a:rPr lang="de-DE" sz="2000" dirty="0"/>
              <a:t>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our</a:t>
            </a:r>
            <a:r>
              <a:rPr lang="de-DE" sz="2000" dirty="0"/>
              <a:t> </a:t>
            </a:r>
            <a:r>
              <a:rPr lang="de-DE" sz="2000" dirty="0" err="1"/>
              <a:t>assets</a:t>
            </a:r>
            <a:endParaRPr lang="de-DE" sz="2000" dirty="0"/>
          </a:p>
          <a:p>
            <a:r>
              <a:rPr lang="de-DE" sz="2000" b="1" dirty="0" err="1"/>
              <a:t>Efficient</a:t>
            </a:r>
            <a:r>
              <a:rPr lang="de-DE" sz="2000" b="1" dirty="0"/>
              <a:t> </a:t>
            </a:r>
            <a:r>
              <a:rPr lang="de-DE" sz="2000" b="1" dirty="0" err="1"/>
              <a:t>Froniter</a:t>
            </a:r>
            <a:endParaRPr lang="de-DE" sz="2000" b="1" dirty="0"/>
          </a:p>
          <a:p>
            <a:pPr>
              <a:buFont typeface="Wingdings" pitchFamily="2" charset="2"/>
              <a:buChar char="à"/>
            </a:pPr>
            <a:r>
              <a:rPr lang="de-DE" sz="2000" dirty="0">
                <a:sym typeface="Wingdings" pitchFamily="2" charset="2"/>
              </a:rPr>
              <a:t>Portfolios </a:t>
            </a:r>
            <a:r>
              <a:rPr lang="de-DE" sz="2000" dirty="0" err="1">
                <a:sym typeface="Wingdings" pitchFamily="2" charset="2"/>
              </a:rPr>
              <a:t>that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offer</a:t>
            </a:r>
            <a:r>
              <a:rPr lang="de-DE" sz="2000" dirty="0">
                <a:sym typeface="Wingdings" pitchFamily="2" charset="2"/>
              </a:rPr>
              <a:t> max. </a:t>
            </a:r>
            <a:r>
              <a:rPr lang="de-DE" sz="2000" dirty="0" err="1">
                <a:sym typeface="Wingdings" pitchFamily="2" charset="2"/>
              </a:rPr>
              <a:t>return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to</a:t>
            </a:r>
            <a:r>
              <a:rPr lang="de-DE" sz="2000" dirty="0">
                <a:sym typeface="Wingdings" pitchFamily="2" charset="2"/>
              </a:rPr>
              <a:t> a </a:t>
            </a:r>
            <a:r>
              <a:rPr lang="de-DE" sz="2000" dirty="0" err="1">
                <a:sym typeface="Wingdings" pitchFamily="2" charset="2"/>
              </a:rPr>
              <a:t>given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level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of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risk</a:t>
            </a:r>
            <a:endParaRPr lang="de-DE" sz="2000" dirty="0">
              <a:sym typeface="Wingdings" pitchFamily="2" charset="2"/>
            </a:endParaRPr>
          </a:p>
          <a:p>
            <a:r>
              <a:rPr lang="de-DE" sz="2000" dirty="0" err="1">
                <a:sym typeface="Wingdings" pitchFamily="2" charset="2"/>
              </a:rPr>
              <a:t>Markovitz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Mean-Variance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Optimization</a:t>
            </a:r>
            <a:r>
              <a:rPr lang="de-DE" sz="2000" dirty="0">
                <a:sym typeface="Wingdings" pitchFamily="2" charset="2"/>
              </a:rPr>
              <a:t>| Trade-off </a:t>
            </a:r>
            <a:r>
              <a:rPr lang="de-DE" sz="2000" dirty="0" err="1">
                <a:sym typeface="Wingdings" pitchFamily="2" charset="2"/>
              </a:rPr>
              <a:t>between</a:t>
            </a:r>
            <a:r>
              <a:rPr lang="de-DE" sz="2000" dirty="0">
                <a:sym typeface="Wingdings" pitchFamily="2" charset="2"/>
              </a:rPr>
              <a:t>:</a:t>
            </a:r>
          </a:p>
          <a:p>
            <a:pPr marL="0" indent="0">
              <a:buNone/>
            </a:pPr>
            <a:endParaRPr lang="de-DE" sz="2000" dirty="0">
              <a:sym typeface="Wingdings" pitchFamily="2" charset="2"/>
            </a:endParaRPr>
          </a:p>
          <a:p>
            <a:endParaRPr lang="de-DE" sz="2000" dirty="0">
              <a:sym typeface="Wingdings" pitchFamily="2" charset="2"/>
            </a:endParaRPr>
          </a:p>
          <a:p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Next </a:t>
            </a:r>
            <a:r>
              <a:rPr lang="de-DE" sz="2000" dirty="0" err="1">
                <a:sym typeface="Wingdings" pitchFamily="2" charset="2"/>
              </a:rPr>
              <a:t>step</a:t>
            </a:r>
            <a:r>
              <a:rPr lang="de-DE" sz="2000" dirty="0">
                <a:sym typeface="Wingdings" pitchFamily="2" charset="2"/>
              </a:rPr>
              <a:t>: </a:t>
            </a:r>
            <a:r>
              <a:rPr lang="de-DE" sz="2000" b="1" dirty="0" err="1">
                <a:sym typeface="Wingdings" pitchFamily="2" charset="2"/>
              </a:rPr>
              <a:t>Tangency</a:t>
            </a:r>
            <a:r>
              <a:rPr lang="de-DE" sz="2000" b="1" dirty="0">
                <a:sym typeface="Wingdings" pitchFamily="2" charset="2"/>
              </a:rPr>
              <a:t> </a:t>
            </a:r>
            <a:r>
              <a:rPr lang="de-DE" sz="2000" b="1" dirty="0" err="1">
                <a:sym typeface="Wingdings" pitchFamily="2" charset="2"/>
              </a:rPr>
              <a:t>portfolio</a:t>
            </a:r>
            <a:endParaRPr lang="de-DE" sz="2000" b="1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sz="2000" dirty="0">
                <a:sym typeface="Wingdings" pitchFamily="2" charset="2"/>
              </a:rPr>
              <a:t>linear </a:t>
            </a:r>
            <a:r>
              <a:rPr lang="de-DE" sz="2000" dirty="0" err="1">
                <a:sym typeface="Wingdings" pitchFamily="2" charset="2"/>
              </a:rPr>
              <a:t>combination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of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risk-free-asset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and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portfolio</a:t>
            </a:r>
            <a:endParaRPr lang="de-DE" sz="2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sz="2000" dirty="0">
                <a:sym typeface="Wingdings" pitchFamily="2" charset="2"/>
              </a:rPr>
              <a:t></a:t>
            </a:r>
            <a:r>
              <a:rPr lang="de-DE" sz="2000" dirty="0" err="1">
                <a:sym typeface="Wingdings" pitchFamily="2" charset="2"/>
              </a:rPr>
              <a:t>maximize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the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slope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of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the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line</a:t>
            </a:r>
            <a:r>
              <a:rPr lang="de-DE" sz="2000" dirty="0">
                <a:sym typeface="Wingdings" pitchFamily="2" charset="2"/>
              </a:rPr>
              <a:t> (Sharpe Ratio)</a:t>
            </a:r>
            <a:endParaRPr lang="de-DE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E9A99C-26B7-7E42-9CEE-E21DEE97A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75" y="3429000"/>
            <a:ext cx="3340100" cy="736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E37730F-F459-0E4C-B862-EAA5D588B7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934"/>
          <a:stretch/>
        </p:blipFill>
        <p:spPr>
          <a:xfrm>
            <a:off x="7612427" y="2049103"/>
            <a:ext cx="4059831" cy="349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29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5C4C01-2F90-C840-B679-5BA7FE8F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3.2 </a:t>
            </a:r>
            <a:r>
              <a:rPr lang="de-DE" sz="4000" dirty="0" err="1"/>
              <a:t>Efficient</a:t>
            </a:r>
            <a:r>
              <a:rPr lang="de-DE" sz="4000" dirty="0"/>
              <a:t> </a:t>
            </a:r>
            <a:r>
              <a:rPr lang="de-DE" sz="4000" dirty="0" err="1"/>
              <a:t>Frontier</a:t>
            </a:r>
            <a:r>
              <a:rPr lang="de-DE" sz="4000" dirty="0"/>
              <a:t> - Python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98D99C-EA43-5B48-875D-A46361256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4" name="Inhaltsplatzhalter 26" descr="Ein Bild, das Text, Reihe, Diagramm, Screenshot enthält.&#10;&#10;Automatisch generierte Beschreibung">
            <a:extLst>
              <a:ext uri="{FF2B5EF4-FFF2-40B4-BE49-F238E27FC236}">
                <a16:creationId xmlns:a16="http://schemas.microsoft.com/office/drawing/2014/main" id="{041EAD2E-7631-E242-82E4-80545BE6C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20" y="1604717"/>
            <a:ext cx="6005784" cy="3648565"/>
          </a:xfrm>
          <a:prstGeom prst="rect">
            <a:avLst/>
          </a:prstGeom>
        </p:spPr>
      </p:pic>
      <p:pic>
        <p:nvPicPr>
          <p:cNvPr id="6" name="Grafik 5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78FA6F1D-C889-3F48-8074-3650C92CF5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391"/>
          <a:stretch/>
        </p:blipFill>
        <p:spPr>
          <a:xfrm>
            <a:off x="6392060" y="1377864"/>
            <a:ext cx="5687206" cy="46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0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BC2F1A-1E5C-2341-85A8-2CFB396F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4.1 </a:t>
            </a:r>
            <a:r>
              <a:rPr lang="de-DE" sz="4000" dirty="0" err="1"/>
              <a:t>Tangency</a:t>
            </a:r>
            <a:r>
              <a:rPr lang="de-DE" sz="4000" dirty="0"/>
              <a:t> vs. Optimal </a:t>
            </a:r>
            <a:r>
              <a:rPr lang="de-DE" sz="4000" dirty="0" err="1"/>
              <a:t>complete</a:t>
            </a:r>
            <a:r>
              <a:rPr lang="de-DE" sz="4000" dirty="0"/>
              <a:t> </a:t>
            </a:r>
            <a:r>
              <a:rPr lang="de-DE" sz="4000" dirty="0" err="1"/>
              <a:t>portfolio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791A41-5E8F-A049-9440-985ECC833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 err="1"/>
              <a:t>Tangency</a:t>
            </a:r>
            <a:r>
              <a:rPr lang="de-DE" sz="2000" dirty="0"/>
              <a:t> </a:t>
            </a:r>
            <a:r>
              <a:rPr lang="de-DE" sz="2000" dirty="0" err="1"/>
              <a:t>portfolio</a:t>
            </a:r>
            <a:endParaRPr lang="de-DE" sz="2000" dirty="0"/>
          </a:p>
          <a:p>
            <a:pPr>
              <a:buFont typeface="Wingdings" pitchFamily="2" charset="2"/>
              <a:buChar char="à"/>
            </a:pPr>
            <a:r>
              <a:rPr lang="de-DE" sz="2000" dirty="0">
                <a:sym typeface="Wingdings" pitchFamily="2" charset="2"/>
              </a:rPr>
              <a:t>On </a:t>
            </a:r>
            <a:r>
              <a:rPr lang="de-DE" sz="2000" dirty="0" err="1">
                <a:sym typeface="Wingdings" pitchFamily="2" charset="2"/>
              </a:rPr>
              <a:t>the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efficient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fronier</a:t>
            </a:r>
            <a:r>
              <a:rPr lang="de-DE" sz="2000" dirty="0">
                <a:sym typeface="Wingdings" pitchFamily="2" charset="2"/>
              </a:rPr>
              <a:t>/max. Sharp Ratio</a:t>
            </a:r>
          </a:p>
          <a:p>
            <a:pPr>
              <a:buFont typeface="Wingdings" pitchFamily="2" charset="2"/>
              <a:buChar char="à"/>
            </a:pPr>
            <a:r>
              <a:rPr lang="de-DE" sz="2000" dirty="0" err="1">
                <a:sym typeface="Wingdings" pitchFamily="2" charset="2"/>
              </a:rPr>
              <a:t>Constraints</a:t>
            </a:r>
            <a:r>
              <a:rPr lang="de-DE" sz="2000" dirty="0">
                <a:sym typeface="Wingdings" pitchFamily="2" charset="2"/>
              </a:rPr>
              <a:t> (e.g. </a:t>
            </a:r>
            <a:r>
              <a:rPr lang="de-DE" sz="2000" dirty="0" err="1">
                <a:sym typeface="Wingdings" pitchFamily="2" charset="2"/>
              </a:rPr>
              <a:t>weights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capped</a:t>
            </a:r>
            <a:r>
              <a:rPr lang="de-DE" sz="2000" dirty="0">
                <a:sym typeface="Wingdings" pitchFamily="2" charset="2"/>
              </a:rPr>
              <a:t> at 40%)</a:t>
            </a:r>
          </a:p>
          <a:p>
            <a:pPr marL="0" indent="0">
              <a:buNone/>
            </a:pPr>
            <a:endParaRPr lang="de-DE" sz="2000" dirty="0">
              <a:sym typeface="Wingdings" pitchFamily="2" charset="2"/>
            </a:endParaRPr>
          </a:p>
          <a:p>
            <a:pPr marL="0" indent="0">
              <a:buNone/>
            </a:pPr>
            <a:endParaRPr lang="de-DE" sz="2000" dirty="0">
              <a:sym typeface="Wingdings" pitchFamily="2" charset="2"/>
            </a:endParaRPr>
          </a:p>
          <a:p>
            <a:pPr marL="0" indent="0">
              <a:buNone/>
            </a:pPr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Optimal </a:t>
            </a:r>
            <a:r>
              <a:rPr lang="de-DE" sz="2000" dirty="0" err="1">
                <a:sym typeface="Wingdings" pitchFamily="2" charset="2"/>
              </a:rPr>
              <a:t>complete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portfolio</a:t>
            </a:r>
            <a:endParaRPr lang="de-DE" sz="2000" dirty="0"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r>
              <a:rPr lang="de-DE" sz="2000" dirty="0" err="1">
                <a:sym typeface="Wingdings" pitchFamily="2" charset="2"/>
              </a:rPr>
              <a:t>Combines</a:t>
            </a:r>
            <a:r>
              <a:rPr lang="de-DE" sz="2000" dirty="0">
                <a:sym typeface="Wingdings" pitchFamily="2" charset="2"/>
              </a:rPr>
              <a:t> TP </a:t>
            </a:r>
            <a:r>
              <a:rPr lang="de-DE" sz="2000" dirty="0" err="1">
                <a:sym typeface="Wingdings" pitchFamily="2" charset="2"/>
              </a:rPr>
              <a:t>with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risk-free-asset</a:t>
            </a:r>
            <a:endParaRPr lang="de-DE" sz="2000" dirty="0">
              <a:sym typeface="Wingdings" pitchFamily="2" charset="2"/>
            </a:endParaRPr>
          </a:p>
          <a:p>
            <a:pPr>
              <a:buFont typeface="Wingdings" pitchFamily="2" charset="2"/>
              <a:buChar char="à"/>
            </a:pPr>
            <a:r>
              <a:rPr lang="de-DE" sz="2000" dirty="0" err="1">
                <a:sym typeface="Wingdings" pitchFamily="2" charset="2"/>
              </a:rPr>
              <a:t>Depends</a:t>
            </a:r>
            <a:r>
              <a:rPr lang="de-DE" sz="2000" dirty="0">
                <a:sym typeface="Wingdings" pitchFamily="2" charset="2"/>
              </a:rPr>
              <a:t> on </a:t>
            </a:r>
            <a:r>
              <a:rPr lang="de-DE" sz="2000" dirty="0" err="1">
                <a:sym typeface="Wingdings" pitchFamily="2" charset="2"/>
              </a:rPr>
              <a:t>the</a:t>
            </a:r>
            <a:r>
              <a:rPr lang="de-DE" sz="2000" dirty="0">
                <a:sym typeface="Wingdings" pitchFamily="2" charset="2"/>
              </a:rPr>
              <a:t> individual </a:t>
            </a:r>
            <a:r>
              <a:rPr lang="de-DE" sz="2000" dirty="0" err="1">
                <a:sym typeface="Wingdings" pitchFamily="2" charset="2"/>
              </a:rPr>
              <a:t>risk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aversion</a:t>
            </a:r>
            <a:r>
              <a:rPr lang="de-DE" sz="2000" dirty="0">
                <a:sym typeface="Wingdings" pitchFamily="2" charset="2"/>
              </a:rPr>
              <a:t> </a:t>
            </a:r>
            <a:endParaRPr lang="de-DE" sz="2000" dirty="0"/>
          </a:p>
        </p:txBody>
      </p:sp>
      <p:pic>
        <p:nvPicPr>
          <p:cNvPr id="4" name="Grafik 3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B9F856E3-2735-A74C-92ED-246A890C5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164" y="1825625"/>
            <a:ext cx="6095429" cy="34480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DAA6B76-4E72-F246-9157-F2C5D1BDD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41650"/>
            <a:ext cx="3124200" cy="7747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4E0264C-275B-FA42-9655-CE2E8BADD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55" y="5414963"/>
            <a:ext cx="22098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5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CE261-6C8E-6548-8A5B-43D7DA7AD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4.2 Portfolio </a:t>
            </a:r>
            <a:r>
              <a:rPr lang="de-DE" sz="4000" dirty="0" err="1"/>
              <a:t>Results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54E01F-3A6B-1644-9B54-AB1EB119F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775"/>
            <a:ext cx="10515600" cy="4799100"/>
          </a:xfrm>
        </p:spPr>
        <p:txBody>
          <a:bodyPr>
            <a:normAutofit/>
          </a:bodyPr>
          <a:lstStyle/>
          <a:p>
            <a:r>
              <a:rPr lang="de-DE" sz="2000" dirty="0"/>
              <a:t>TP (</a:t>
            </a:r>
            <a:r>
              <a:rPr lang="de-DE" sz="2000" dirty="0" err="1"/>
              <a:t>exp</a:t>
            </a:r>
            <a:r>
              <a:rPr lang="de-DE" sz="2000" dirty="0"/>
              <a:t>.): </a:t>
            </a:r>
            <a:r>
              <a:rPr lang="de-DE" sz="2000" dirty="0" err="1"/>
              <a:t>ret</a:t>
            </a:r>
            <a:r>
              <a:rPr lang="de-DE" sz="2000" dirty="0"/>
              <a:t>: 12.21% p.a. / </a:t>
            </a:r>
            <a:r>
              <a:rPr lang="de-DE" sz="2000" dirty="0" err="1"/>
              <a:t>vol</a:t>
            </a:r>
            <a:r>
              <a:rPr lang="de-DE" sz="2000" dirty="0"/>
              <a:t>: 11.17% p.a.</a:t>
            </a:r>
          </a:p>
          <a:p>
            <a:r>
              <a:rPr lang="de-DE" sz="2000" b="1" dirty="0"/>
              <a:t>Sharpe Ratio: 0.91</a:t>
            </a:r>
          </a:p>
          <a:p>
            <a:r>
              <a:rPr lang="de-DE" sz="2000" dirty="0"/>
              <a:t>Nasdaq </a:t>
            </a:r>
            <a:r>
              <a:rPr lang="de-DE" sz="2000" dirty="0" err="1"/>
              <a:t>delivers</a:t>
            </a:r>
            <a:r>
              <a:rPr lang="de-DE" sz="2000" dirty="0"/>
              <a:t> high </a:t>
            </a:r>
            <a:r>
              <a:rPr lang="de-DE" sz="2000" dirty="0" err="1"/>
              <a:t>returns</a:t>
            </a:r>
            <a:r>
              <a:rPr lang="de-DE" sz="2000" dirty="0"/>
              <a:t> </a:t>
            </a:r>
            <a:r>
              <a:rPr lang="de-DE" sz="2000" dirty="0" err="1"/>
              <a:t>and</a:t>
            </a:r>
            <a:r>
              <a:rPr lang="de-DE" sz="2000" dirty="0"/>
              <a:t> </a:t>
            </a:r>
            <a:r>
              <a:rPr lang="de-DE" sz="2000" dirty="0" err="1"/>
              <a:t>is</a:t>
            </a:r>
            <a:r>
              <a:rPr lang="de-DE" sz="2000" dirty="0"/>
              <a:t> </a:t>
            </a:r>
            <a:r>
              <a:rPr lang="de-DE" sz="2000" dirty="0" err="1"/>
              <a:t>capped</a:t>
            </a:r>
            <a:endParaRPr lang="de-DE" sz="2000" dirty="0"/>
          </a:p>
          <a:p>
            <a:r>
              <a:rPr lang="de-DE" sz="2000" dirty="0"/>
              <a:t>Bonds </a:t>
            </a:r>
            <a:r>
              <a:rPr lang="de-DE" sz="2000" dirty="0" err="1"/>
              <a:t>are</a:t>
            </a:r>
            <a:r>
              <a:rPr lang="de-DE" sz="2000" dirty="0"/>
              <a:t> </a:t>
            </a:r>
            <a:r>
              <a:rPr lang="de-DE" sz="2000" dirty="0" err="1"/>
              <a:t>countercyclical</a:t>
            </a:r>
            <a:r>
              <a:rPr lang="de-DE" sz="2000" dirty="0"/>
              <a:t> </a:t>
            </a:r>
            <a:r>
              <a:rPr lang="de-DE" sz="2000" dirty="0" err="1"/>
              <a:t>and</a:t>
            </a:r>
            <a:r>
              <a:rPr lang="de-DE" sz="2000" dirty="0"/>
              <a:t> </a:t>
            </a:r>
            <a:r>
              <a:rPr lang="de-DE" sz="2000" dirty="0" err="1"/>
              <a:t>less</a:t>
            </a:r>
            <a:r>
              <a:rPr lang="de-DE" sz="2000" dirty="0"/>
              <a:t> volatile</a:t>
            </a:r>
          </a:p>
          <a:p>
            <a:r>
              <a:rPr lang="de-DE" sz="2000" dirty="0"/>
              <a:t>Gold </a:t>
            </a:r>
            <a:r>
              <a:rPr lang="de-DE" sz="2000" dirty="0" err="1"/>
              <a:t>is</a:t>
            </a:r>
            <a:r>
              <a:rPr lang="de-DE" sz="2000" dirty="0"/>
              <a:t> a non-</a:t>
            </a:r>
            <a:r>
              <a:rPr lang="de-DE" sz="2000" dirty="0" err="1"/>
              <a:t>correlated</a:t>
            </a:r>
            <a:r>
              <a:rPr lang="de-DE" sz="2000" dirty="0"/>
              <a:t> </a:t>
            </a:r>
            <a:r>
              <a:rPr lang="de-DE" sz="2000" dirty="0" err="1"/>
              <a:t>diversifier</a:t>
            </a:r>
            <a:endParaRPr lang="de-DE" sz="2000" dirty="0"/>
          </a:p>
          <a:p>
            <a:r>
              <a:rPr lang="de-DE" sz="2000" dirty="0"/>
              <a:t>REITs </a:t>
            </a:r>
            <a:r>
              <a:rPr lang="de-DE" sz="2000" dirty="0" err="1"/>
              <a:t>and</a:t>
            </a:r>
            <a:r>
              <a:rPr lang="de-DE" sz="2000" dirty="0"/>
              <a:t> DAX </a:t>
            </a:r>
            <a:r>
              <a:rPr lang="de-DE" sz="2000" dirty="0" err="1"/>
              <a:t>have</a:t>
            </a:r>
            <a:r>
              <a:rPr lang="de-DE" sz="2000" dirty="0"/>
              <a:t> </a:t>
            </a:r>
            <a:r>
              <a:rPr lang="de-DE" sz="2000" dirty="0" err="1"/>
              <a:t>bad</a:t>
            </a:r>
            <a:r>
              <a:rPr lang="de-DE" sz="2000" dirty="0"/>
              <a:t> </a:t>
            </a:r>
            <a:r>
              <a:rPr lang="de-DE" sz="2000" dirty="0" err="1"/>
              <a:t>risk</a:t>
            </a:r>
            <a:r>
              <a:rPr lang="de-DE" sz="2000" dirty="0"/>
              <a:t>-return </a:t>
            </a:r>
            <a:r>
              <a:rPr lang="de-DE" sz="2000" dirty="0" err="1"/>
              <a:t>profiles</a:t>
            </a:r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OCP (</a:t>
            </a:r>
            <a:r>
              <a:rPr lang="de-DE" sz="2000" dirty="0" err="1"/>
              <a:t>Risk</a:t>
            </a:r>
            <a:r>
              <a:rPr lang="de-DE" sz="2000" dirty="0"/>
              <a:t> Aversion = 9)</a:t>
            </a:r>
          </a:p>
          <a:p>
            <a:r>
              <a:rPr lang="de-DE" sz="2000" dirty="0" err="1"/>
              <a:t>Personalized</a:t>
            </a:r>
            <a:r>
              <a:rPr lang="de-DE" sz="2000" dirty="0"/>
              <a:t> mix </a:t>
            </a:r>
            <a:r>
              <a:rPr lang="de-DE" sz="2000" dirty="0" err="1"/>
              <a:t>of</a:t>
            </a:r>
            <a:r>
              <a:rPr lang="de-DE" sz="2000" dirty="0"/>
              <a:t> </a:t>
            </a:r>
            <a:r>
              <a:rPr lang="de-DE" sz="2000" dirty="0" err="1"/>
              <a:t>return</a:t>
            </a:r>
            <a:r>
              <a:rPr lang="de-DE" sz="2000" dirty="0"/>
              <a:t> </a:t>
            </a:r>
            <a:r>
              <a:rPr lang="de-DE" sz="2000" dirty="0" err="1"/>
              <a:t>and</a:t>
            </a:r>
            <a:r>
              <a:rPr lang="de-DE" sz="2000" dirty="0"/>
              <a:t> </a:t>
            </a:r>
            <a:r>
              <a:rPr lang="de-DE" sz="2000" dirty="0" err="1"/>
              <a:t>risk</a:t>
            </a:r>
            <a:r>
              <a:rPr lang="de-DE" sz="2000" dirty="0"/>
              <a:t> </a:t>
            </a:r>
            <a:r>
              <a:rPr lang="de-DE" sz="2000" dirty="0" err="1"/>
              <a:t>along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CAL</a:t>
            </a:r>
          </a:p>
          <a:p>
            <a:r>
              <a:rPr lang="de-DE" sz="2000" dirty="0" err="1"/>
              <a:t>Allocation</a:t>
            </a:r>
            <a:r>
              <a:rPr lang="de-DE" sz="2000" dirty="0"/>
              <a:t>: 9.1% </a:t>
            </a:r>
            <a:r>
              <a:rPr lang="de-DE" sz="2000" dirty="0" err="1"/>
              <a:t>risk-free</a:t>
            </a:r>
            <a:r>
              <a:rPr lang="de-DE" sz="2000" dirty="0"/>
              <a:t> / 90.9% </a:t>
            </a:r>
            <a:r>
              <a:rPr lang="de-DE" sz="2000" dirty="0" err="1"/>
              <a:t>risky</a:t>
            </a:r>
            <a:r>
              <a:rPr lang="de-DE" sz="2000" dirty="0"/>
              <a:t> </a:t>
            </a:r>
            <a:r>
              <a:rPr lang="de-DE" sz="2000" dirty="0" err="1"/>
              <a:t>assets</a:t>
            </a:r>
            <a:endParaRPr lang="de-DE" sz="2000" dirty="0"/>
          </a:p>
        </p:txBody>
      </p:sp>
      <p:pic>
        <p:nvPicPr>
          <p:cNvPr id="4" name="Grafik 3" descr="Ein Bild, das Text, Screenshot, Diagramm, Schrift enthält.&#10;&#10;Automatisch generierte Beschreibung">
            <a:extLst>
              <a:ext uri="{FF2B5EF4-FFF2-40B4-BE49-F238E27FC236}">
                <a16:creationId xmlns:a16="http://schemas.microsoft.com/office/drawing/2014/main" id="{19A7BBA1-1CD2-E44E-86F4-72CFD7A93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211" y="3429000"/>
            <a:ext cx="3443127" cy="3188406"/>
          </a:xfrm>
          <a:prstGeom prst="rect">
            <a:avLst/>
          </a:prstGeom>
        </p:spPr>
      </p:pic>
      <p:pic>
        <p:nvPicPr>
          <p:cNvPr id="5" name="Inhaltsplatzhalter 20" descr="Ein Bild, das Text, Screenshot, Reihe, Diagramm enthält.&#10;&#10;Automatisch generierte Beschreibung">
            <a:extLst>
              <a:ext uri="{FF2B5EF4-FFF2-40B4-BE49-F238E27FC236}">
                <a16:creationId xmlns:a16="http://schemas.microsoft.com/office/drawing/2014/main" id="{CDD9EA6C-62E5-BD45-9793-9DE3645D3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712" y="498029"/>
            <a:ext cx="6187169" cy="303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14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A8790-C11D-B045-AF70-77F7BBC8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5.1 </a:t>
            </a:r>
            <a:r>
              <a:rPr lang="de-DE" sz="4000" dirty="0" err="1"/>
              <a:t>Risk</a:t>
            </a:r>
            <a:r>
              <a:rPr lang="de-DE" sz="4000" dirty="0"/>
              <a:t> </a:t>
            </a:r>
            <a:r>
              <a:rPr lang="de-DE" sz="4000" dirty="0" err="1"/>
              <a:t>Decomposition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3C3682-CB4A-A44F-8009-686DE105C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279"/>
            <a:ext cx="10515600" cy="4598684"/>
          </a:xfrm>
        </p:spPr>
        <p:txBody>
          <a:bodyPr>
            <a:normAutofit/>
          </a:bodyPr>
          <a:lstStyle/>
          <a:p>
            <a:r>
              <a:rPr lang="de-DE" sz="2000" b="1" dirty="0" err="1"/>
              <a:t>Systematic</a:t>
            </a:r>
            <a:r>
              <a:rPr lang="de-DE" sz="2000" dirty="0"/>
              <a:t> </a:t>
            </a:r>
            <a:r>
              <a:rPr lang="de-DE" sz="2000" dirty="0" err="1"/>
              <a:t>component</a:t>
            </a:r>
            <a:r>
              <a:rPr lang="de-DE" sz="2000" dirty="0"/>
              <a:t>: </a:t>
            </a:r>
            <a:r>
              <a:rPr lang="de-DE" sz="2000" dirty="0" err="1"/>
              <a:t>explained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market</a:t>
            </a:r>
            <a:endParaRPr lang="de-DE" sz="2000" dirty="0"/>
          </a:p>
          <a:p>
            <a:r>
              <a:rPr lang="de-DE" sz="2000" b="1" dirty="0" err="1"/>
              <a:t>Idiosyncratic</a:t>
            </a:r>
            <a:r>
              <a:rPr lang="de-DE" sz="2000" dirty="0"/>
              <a:t> </a:t>
            </a:r>
            <a:r>
              <a:rPr lang="de-DE" sz="2000" dirty="0" err="1"/>
              <a:t>component</a:t>
            </a:r>
            <a:r>
              <a:rPr lang="de-DE" sz="2000" dirty="0"/>
              <a:t>: firm-</a:t>
            </a:r>
            <a:r>
              <a:rPr lang="de-DE" sz="2000" dirty="0" err="1"/>
              <a:t>specific</a:t>
            </a:r>
            <a:r>
              <a:rPr lang="de-DE" sz="2000" dirty="0"/>
              <a:t> </a:t>
            </a:r>
            <a:r>
              <a:rPr lang="de-DE" sz="2000" dirty="0" err="1"/>
              <a:t>risk</a:t>
            </a:r>
            <a:r>
              <a:rPr lang="de-DE" sz="2000" dirty="0"/>
              <a:t>/</a:t>
            </a:r>
            <a:r>
              <a:rPr lang="de-DE" sz="2000" dirty="0" err="1"/>
              <a:t>return</a:t>
            </a:r>
            <a:endParaRPr lang="de-DE" sz="2000" dirty="0"/>
          </a:p>
        </p:txBody>
      </p:sp>
      <p:pic>
        <p:nvPicPr>
          <p:cNvPr id="5" name="Grafik 4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27B3BEC3-7555-8E46-86C7-BD97BC48D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4" y="1137883"/>
            <a:ext cx="5291700" cy="509141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31C2CBE-9429-5F4A-A4FE-608332EEDA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216"/>
          <a:stretch/>
        </p:blipFill>
        <p:spPr>
          <a:xfrm>
            <a:off x="604721" y="2741349"/>
            <a:ext cx="5457379" cy="7366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5BA3761-14DE-7243-8B9E-54DC841D0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13" y="4256385"/>
            <a:ext cx="2209800" cy="3429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A96AB39-C0BF-C143-B7DE-4A27D16C1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721" y="3863723"/>
            <a:ext cx="4572000" cy="3556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6240098-EA7F-B740-B63A-AC500EB0FB7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7848"/>
          <a:stretch/>
        </p:blipFill>
        <p:spPr>
          <a:xfrm>
            <a:off x="461592" y="5044287"/>
            <a:ext cx="2619505" cy="132556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C9D2B69-9C75-DA4C-8135-C6E9A3D096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2595" y="5058943"/>
            <a:ext cx="2619505" cy="6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34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0ABF1E-53D0-D54E-96BF-3FB0A4DC6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5.2 </a:t>
            </a:r>
            <a:r>
              <a:rPr lang="de-DE" sz="4000" dirty="0" err="1"/>
              <a:t>Risk</a:t>
            </a:r>
            <a:r>
              <a:rPr lang="de-DE" sz="4000" dirty="0"/>
              <a:t>/Return </a:t>
            </a:r>
            <a:r>
              <a:rPr lang="de-DE" sz="4000" dirty="0" err="1"/>
              <a:t>Decomposition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7EB2F5-2ACD-A24C-8037-F56A1CCA9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Beta = 0.54 </a:t>
            </a:r>
            <a:r>
              <a:rPr lang="de-DE" sz="2000" dirty="0">
                <a:sym typeface="Wingdings" pitchFamily="2" charset="2"/>
              </a:rPr>
              <a:t> </a:t>
            </a:r>
            <a:r>
              <a:rPr lang="de-DE" sz="2000" dirty="0" err="1">
                <a:sym typeface="Wingdings" pitchFamily="2" charset="2"/>
              </a:rPr>
              <a:t>portfolio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reacts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moderately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to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market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movements</a:t>
            </a:r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Alpha = 0.036  positive </a:t>
            </a:r>
            <a:r>
              <a:rPr lang="de-DE" sz="2000" dirty="0" err="1">
                <a:sym typeface="Wingdings" pitchFamily="2" charset="2"/>
              </a:rPr>
              <a:t>idiosyncratic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return</a:t>
            </a:r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R-</a:t>
            </a:r>
            <a:r>
              <a:rPr lang="de-DE" sz="2000" dirty="0" err="1">
                <a:sym typeface="Wingdings" pitchFamily="2" charset="2"/>
              </a:rPr>
              <a:t>squared</a:t>
            </a:r>
            <a:r>
              <a:rPr lang="de-DE" sz="2000" dirty="0">
                <a:sym typeface="Wingdings" pitchFamily="2" charset="2"/>
              </a:rPr>
              <a:t> = 0.68  68% </a:t>
            </a:r>
            <a:r>
              <a:rPr lang="de-DE" sz="2000" dirty="0" err="1">
                <a:sym typeface="Wingdings" pitchFamily="2" charset="2"/>
              </a:rPr>
              <a:t>the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portfolio‘s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variance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is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market-explained</a:t>
            </a:r>
            <a:endParaRPr lang="de-DE" sz="2000" dirty="0">
              <a:sym typeface="Wingdings" pitchFamily="2" charset="2"/>
            </a:endParaRPr>
          </a:p>
          <a:p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Portfolio </a:t>
            </a:r>
            <a:r>
              <a:rPr lang="de-DE" sz="2000" dirty="0" err="1">
                <a:sym typeface="Wingdings" pitchFamily="2" charset="2"/>
              </a:rPr>
              <a:t>shows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b="1" dirty="0">
                <a:sym typeface="Wingdings" pitchFamily="2" charset="2"/>
              </a:rPr>
              <a:t>moderate </a:t>
            </a:r>
            <a:r>
              <a:rPr lang="de-DE" sz="2000" b="1" dirty="0" err="1">
                <a:sym typeface="Wingdings" pitchFamily="2" charset="2"/>
              </a:rPr>
              <a:t>exposure</a:t>
            </a:r>
            <a:r>
              <a:rPr lang="de-DE" sz="2000" b="1" dirty="0">
                <a:sym typeface="Wingdings" pitchFamily="2" charset="2"/>
              </a:rPr>
              <a:t> </a:t>
            </a:r>
            <a:r>
              <a:rPr lang="de-DE" sz="2000" b="1" dirty="0" err="1">
                <a:sym typeface="Wingdings" pitchFamily="2" charset="2"/>
              </a:rPr>
              <a:t>to</a:t>
            </a:r>
            <a:r>
              <a:rPr lang="de-DE" sz="2000" b="1" dirty="0">
                <a:sym typeface="Wingdings" pitchFamily="2" charset="2"/>
              </a:rPr>
              <a:t> </a:t>
            </a:r>
            <a:r>
              <a:rPr lang="de-DE" sz="2000" b="1" dirty="0" err="1">
                <a:sym typeface="Wingdings" pitchFamily="2" charset="2"/>
              </a:rPr>
              <a:t>market-risk</a:t>
            </a:r>
            <a:endParaRPr lang="de-DE" sz="2000" b="1" dirty="0">
              <a:sym typeface="Wingdings" pitchFamily="2" charset="2"/>
            </a:endParaRPr>
          </a:p>
          <a:p>
            <a:r>
              <a:rPr lang="de-DE" sz="2000" dirty="0" err="1">
                <a:sym typeface="Wingdings" pitchFamily="2" charset="2"/>
              </a:rPr>
              <a:t>Delivers</a:t>
            </a:r>
            <a:r>
              <a:rPr lang="de-DE" sz="2000" dirty="0">
                <a:sym typeface="Wingdings" pitchFamily="2" charset="2"/>
              </a:rPr>
              <a:t> additional </a:t>
            </a:r>
            <a:r>
              <a:rPr lang="de-DE" sz="2000" b="1" dirty="0" err="1">
                <a:sym typeface="Wingdings" pitchFamily="2" charset="2"/>
              </a:rPr>
              <a:t>managable</a:t>
            </a:r>
            <a:r>
              <a:rPr lang="de-DE" sz="2000" b="1" dirty="0">
                <a:sym typeface="Wingdings" pitchFamily="2" charset="2"/>
              </a:rPr>
              <a:t> </a:t>
            </a:r>
            <a:r>
              <a:rPr lang="de-DE" sz="2000" b="1" dirty="0" err="1">
                <a:sym typeface="Wingdings" pitchFamily="2" charset="2"/>
              </a:rPr>
              <a:t>idiosyncratic</a:t>
            </a:r>
            <a:r>
              <a:rPr lang="de-DE" sz="2000" b="1" dirty="0">
                <a:sym typeface="Wingdings" pitchFamily="2" charset="2"/>
              </a:rPr>
              <a:t> </a:t>
            </a:r>
            <a:r>
              <a:rPr lang="de-DE" sz="2000" b="1" dirty="0" err="1">
                <a:sym typeface="Wingdings" pitchFamily="2" charset="2"/>
              </a:rPr>
              <a:t>risk</a:t>
            </a:r>
            <a:endParaRPr lang="de-DE" sz="2000" b="1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Total </a:t>
            </a:r>
            <a:r>
              <a:rPr lang="de-DE" sz="2000" dirty="0" err="1">
                <a:sym typeface="Wingdings" pitchFamily="2" charset="2"/>
              </a:rPr>
              <a:t>risk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quite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good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given</a:t>
            </a:r>
            <a:r>
              <a:rPr lang="de-DE" sz="2000" dirty="0">
                <a:sym typeface="Wingdings" pitchFamily="2" charset="2"/>
              </a:rPr>
              <a:t> a total </a:t>
            </a:r>
            <a:r>
              <a:rPr lang="de-DE" sz="2000" dirty="0" err="1">
                <a:sym typeface="Wingdings" pitchFamily="2" charset="2"/>
              </a:rPr>
              <a:t>return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of</a:t>
            </a:r>
            <a:r>
              <a:rPr lang="de-DE" sz="2000" dirty="0">
                <a:sym typeface="Wingdings" pitchFamily="2" charset="2"/>
              </a:rPr>
              <a:t> 12.21% p.a.</a:t>
            </a:r>
          </a:p>
          <a:p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OLS-Output  </a:t>
            </a:r>
            <a:r>
              <a:rPr lang="de-DE" sz="2000" dirty="0" err="1">
                <a:sym typeface="Wingdings" pitchFamily="2" charset="2"/>
              </a:rPr>
              <a:t>Estimators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are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b="1" dirty="0" err="1">
                <a:sym typeface="Wingdings" pitchFamily="2" charset="2"/>
              </a:rPr>
              <a:t>significant</a:t>
            </a:r>
            <a:r>
              <a:rPr lang="de-DE" sz="2000" dirty="0">
                <a:sym typeface="Wingdings" pitchFamily="2" charset="2"/>
              </a:rPr>
              <a:t> (p&lt;0.05)</a:t>
            </a:r>
          </a:p>
          <a:p>
            <a:endParaRPr lang="de-DE" sz="2000" dirty="0"/>
          </a:p>
        </p:txBody>
      </p:sp>
      <p:pic>
        <p:nvPicPr>
          <p:cNvPr id="4" name="Grafik 3" descr="Ein Bild, das Text, Quittung, Screenshot, Zahl enthält.&#10;&#10;Automatisch generierte Beschreibung">
            <a:extLst>
              <a:ext uri="{FF2B5EF4-FFF2-40B4-BE49-F238E27FC236}">
                <a16:creationId xmlns:a16="http://schemas.microsoft.com/office/drawing/2014/main" id="{8CDF4E46-FADC-F542-948A-A54D8F3B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881" y="3843780"/>
            <a:ext cx="4375759" cy="2583474"/>
          </a:xfrm>
          <a:prstGeom prst="rect">
            <a:avLst/>
          </a:prstGeom>
        </p:spPr>
      </p:pic>
      <p:pic>
        <p:nvPicPr>
          <p:cNvPr id="8" name="Grafik 7" descr="Ein Bild, das Text, Screenshot, Schrift, Zahl enthält.&#10;&#10;Automatisch generierte Beschreibung">
            <a:extLst>
              <a:ext uri="{FF2B5EF4-FFF2-40B4-BE49-F238E27FC236}">
                <a16:creationId xmlns:a16="http://schemas.microsoft.com/office/drawing/2014/main" id="{F97F889E-38A7-0144-A508-6A5FB18FB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817" y="249771"/>
            <a:ext cx="3043823" cy="34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7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6F5409-B537-2146-B90A-CE932DEC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000" dirty="0"/>
              <a:t>6.1 </a:t>
            </a:r>
            <a:r>
              <a:rPr lang="de-DE" sz="4000" dirty="0" err="1"/>
              <a:t>Expected</a:t>
            </a:r>
            <a:r>
              <a:rPr lang="de-DE" sz="4000" dirty="0"/>
              <a:t> vs. </a:t>
            </a:r>
            <a:r>
              <a:rPr lang="de-DE" sz="4000" dirty="0" err="1"/>
              <a:t>Realized</a:t>
            </a:r>
            <a:r>
              <a:rPr lang="de-DE" sz="4000" dirty="0"/>
              <a:t> </a:t>
            </a:r>
            <a:r>
              <a:rPr lang="de-DE" sz="4000" dirty="0" err="1"/>
              <a:t>Perfomance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59DE13-4AB7-7143-88CF-B63AE2D8A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32" y="1825625"/>
            <a:ext cx="4960306" cy="4351338"/>
          </a:xfrm>
        </p:spPr>
        <p:txBody>
          <a:bodyPr>
            <a:normAutofit/>
          </a:bodyPr>
          <a:lstStyle/>
          <a:p>
            <a:r>
              <a:rPr lang="de-DE" sz="2000" dirty="0" err="1"/>
              <a:t>Expected</a:t>
            </a:r>
            <a:r>
              <a:rPr lang="de-DE" sz="2000" dirty="0"/>
              <a:t> </a:t>
            </a:r>
            <a:r>
              <a:rPr lang="de-DE" sz="2000" dirty="0" err="1"/>
              <a:t>perf</a:t>
            </a:r>
            <a:r>
              <a:rPr lang="de-DE" sz="2000" dirty="0"/>
              <a:t>/</a:t>
            </a:r>
            <a:r>
              <a:rPr lang="de-DE" sz="2000" dirty="0" err="1"/>
              <a:t>vol</a:t>
            </a:r>
            <a:r>
              <a:rPr lang="de-DE" sz="2000" dirty="0"/>
              <a:t>: </a:t>
            </a:r>
            <a:r>
              <a:rPr lang="de-DE" sz="2000" dirty="0" err="1"/>
              <a:t>training</a:t>
            </a:r>
            <a:r>
              <a:rPr lang="de-DE" sz="2000" dirty="0"/>
              <a:t> sample 70%</a:t>
            </a:r>
          </a:p>
          <a:p>
            <a:r>
              <a:rPr lang="de-DE" sz="2000" dirty="0" err="1"/>
              <a:t>Realized</a:t>
            </a:r>
            <a:r>
              <a:rPr lang="de-DE" sz="2000" dirty="0"/>
              <a:t> </a:t>
            </a:r>
            <a:r>
              <a:rPr lang="de-DE" sz="2000" dirty="0" err="1"/>
              <a:t>perf</a:t>
            </a:r>
            <a:r>
              <a:rPr lang="de-DE" sz="2000" dirty="0"/>
              <a:t>/</a:t>
            </a:r>
            <a:r>
              <a:rPr lang="de-DE" sz="2000" dirty="0" err="1"/>
              <a:t>vol</a:t>
            </a:r>
            <a:r>
              <a:rPr lang="de-DE" sz="2000" dirty="0"/>
              <a:t>: </a:t>
            </a:r>
            <a:r>
              <a:rPr lang="de-DE" sz="2000" dirty="0" err="1"/>
              <a:t>test</a:t>
            </a:r>
            <a:r>
              <a:rPr lang="de-DE" sz="2000" dirty="0"/>
              <a:t> sample 30%</a:t>
            </a:r>
          </a:p>
          <a:p>
            <a:pPr>
              <a:buFont typeface="Wingdings" pitchFamily="2" charset="2"/>
              <a:buChar char="à"/>
            </a:pPr>
            <a:r>
              <a:rPr lang="de-DE" sz="2000" dirty="0" err="1">
                <a:sym typeface="Wingdings" pitchFamily="2" charset="2"/>
              </a:rPr>
              <a:t>return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lower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and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vol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higher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than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expected</a:t>
            </a:r>
            <a:endParaRPr lang="de-DE" sz="2000" dirty="0">
              <a:sym typeface="Wingdings" pitchFamily="2" charset="2"/>
            </a:endParaRPr>
          </a:p>
          <a:p>
            <a:pPr marL="0" indent="0">
              <a:buNone/>
            </a:pPr>
            <a:endParaRPr lang="de-DE" sz="2000" dirty="0">
              <a:sym typeface="Wingdings" pitchFamily="2" charset="2"/>
            </a:endParaRPr>
          </a:p>
          <a:p>
            <a:pPr marL="0" indent="0">
              <a:buNone/>
            </a:pPr>
            <a:endParaRPr lang="de-DE" sz="2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sz="2000" b="1" dirty="0" err="1">
                <a:sym typeface="Wingdings" pitchFamily="2" charset="2"/>
              </a:rPr>
              <a:t>Conclusion</a:t>
            </a:r>
            <a:r>
              <a:rPr lang="de-DE" sz="2000" b="1" dirty="0">
                <a:sym typeface="Wingdings" pitchFamily="2" charset="2"/>
              </a:rPr>
              <a:t>:</a:t>
            </a:r>
          </a:p>
          <a:p>
            <a:r>
              <a:rPr lang="de-DE" sz="2000" dirty="0">
                <a:sym typeface="Wingdings" pitchFamily="2" charset="2"/>
              </a:rPr>
              <a:t>Future </a:t>
            </a:r>
            <a:r>
              <a:rPr lang="de-DE" sz="2000" dirty="0" err="1">
                <a:sym typeface="Wingdings" pitchFamily="2" charset="2"/>
              </a:rPr>
              <a:t>outcomes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are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uncertain</a:t>
            </a:r>
            <a:endParaRPr lang="de-DE" sz="2000" dirty="0">
              <a:sym typeface="Wingdings" pitchFamily="2" charset="2"/>
            </a:endParaRPr>
          </a:p>
          <a:p>
            <a:r>
              <a:rPr lang="de-DE" sz="2000" dirty="0" err="1">
                <a:sym typeface="Wingdings" pitchFamily="2" charset="2"/>
              </a:rPr>
              <a:t>Changing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market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conditions</a:t>
            </a:r>
            <a:r>
              <a:rPr lang="de-DE" sz="2000" dirty="0">
                <a:sym typeface="Wingdings" pitchFamily="2" charset="2"/>
              </a:rPr>
              <a:t>, </a:t>
            </a:r>
            <a:r>
              <a:rPr lang="de-DE" sz="2000" dirty="0" err="1">
                <a:sym typeface="Wingdings" pitchFamily="2" charset="2"/>
              </a:rPr>
              <a:t>overfitting</a:t>
            </a:r>
            <a:r>
              <a:rPr lang="de-DE" sz="2000" dirty="0">
                <a:sym typeface="Wingdings" pitchFamily="2" charset="2"/>
              </a:rPr>
              <a:t>, </a:t>
            </a:r>
            <a:r>
              <a:rPr lang="de-DE" sz="2000" dirty="0" err="1">
                <a:sym typeface="Wingdings" pitchFamily="2" charset="2"/>
              </a:rPr>
              <a:t>estimation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errors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make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predictions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hard</a:t>
            </a:r>
            <a:endParaRPr lang="de-DE" sz="2000" dirty="0">
              <a:sym typeface="Wingdings" pitchFamily="2" charset="2"/>
            </a:endParaRPr>
          </a:p>
          <a:p>
            <a:r>
              <a:rPr lang="de-DE" sz="2000" dirty="0">
                <a:sym typeface="Wingdings" pitchFamily="2" charset="2"/>
              </a:rPr>
              <a:t>But still robust </a:t>
            </a:r>
            <a:r>
              <a:rPr lang="de-DE" sz="2000" dirty="0" err="1">
                <a:sym typeface="Wingdings" pitchFamily="2" charset="2"/>
              </a:rPr>
              <a:t>and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well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composed</a:t>
            </a:r>
            <a:r>
              <a:rPr lang="de-DE" sz="2000" dirty="0">
                <a:sym typeface="Wingdings" pitchFamily="2" charset="2"/>
              </a:rPr>
              <a:t> </a:t>
            </a:r>
            <a:r>
              <a:rPr lang="de-DE" sz="2000" dirty="0" err="1">
                <a:sym typeface="Wingdings" pitchFamily="2" charset="2"/>
              </a:rPr>
              <a:t>porfolio</a:t>
            </a:r>
            <a:endParaRPr lang="de-DE" sz="2000" dirty="0"/>
          </a:p>
        </p:txBody>
      </p:sp>
      <p:pic>
        <p:nvPicPr>
          <p:cNvPr id="5" name="Grafik 4" descr="Ein Bild, das Text, Screenshot, Schrift enthält.&#10;&#10;Automatisch generierte Beschreibung">
            <a:extLst>
              <a:ext uri="{FF2B5EF4-FFF2-40B4-BE49-F238E27FC236}">
                <a16:creationId xmlns:a16="http://schemas.microsoft.com/office/drawing/2014/main" id="{BCE6E95A-E2FE-7A4F-8C8C-455DEB94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238" y="1443199"/>
            <a:ext cx="6440910" cy="4521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50181A8-4345-1E40-B7D6-93BAD2FD0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716" y="3048418"/>
            <a:ext cx="4446738" cy="41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7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Macintosh PowerPoint</Application>
  <PresentationFormat>Breitbild</PresentationFormat>
  <Paragraphs>100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Roboto</vt:lpstr>
      <vt:lpstr>Wingdings</vt:lpstr>
      <vt:lpstr>Office</vt:lpstr>
      <vt:lpstr>Strategic Portfolio Construction  - using Python &amp; Market Data</vt:lpstr>
      <vt:lpstr>Objective &amp; Methodology Outline</vt:lpstr>
      <vt:lpstr>1. Data Selection</vt:lpstr>
      <vt:lpstr>2.1 Jarque-Bera Test Are our returns normally distributed?</vt:lpstr>
      <vt:lpstr>2.2 Jarque-Bera - results</vt:lpstr>
      <vt:lpstr>3.1 Investment opportunity set &amp; efficient frontier</vt:lpstr>
      <vt:lpstr>3.2 Efficient Frontier - Python</vt:lpstr>
      <vt:lpstr>4.1 Tangency vs. Optimal complete portfolio</vt:lpstr>
      <vt:lpstr>4.2 Portfolio Results</vt:lpstr>
      <vt:lpstr>5.1 Risk Decomposition</vt:lpstr>
      <vt:lpstr>5.2 Risk/Return Decomposition</vt:lpstr>
      <vt:lpstr>6.1 Expected vs. Realized Perfomance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Portfolio Construction using Python &amp;Market Data</dc:title>
  <dc:creator>Eliseo Carrasco Krämer</dc:creator>
  <cp:lastModifiedBy>Eliseo Carrasco Krämer</cp:lastModifiedBy>
  <cp:revision>10</cp:revision>
  <dcterms:created xsi:type="dcterms:W3CDTF">2025-05-24T15:14:05Z</dcterms:created>
  <dcterms:modified xsi:type="dcterms:W3CDTF">2025-05-25T17:57:02Z</dcterms:modified>
</cp:coreProperties>
</file>