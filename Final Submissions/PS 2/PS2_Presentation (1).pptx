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71" r:id="rId6"/>
    <p:sldId id="260" r:id="rId7"/>
    <p:sldId id="268" r:id="rId8"/>
    <p:sldId id="261" r:id="rId9"/>
    <p:sldId id="267" r:id="rId10"/>
    <p:sldId id="266" r:id="rId11"/>
    <p:sldId id="262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88"/>
    <p:restoredTop sz="94710"/>
  </p:normalViewPr>
  <p:slideViewPr>
    <p:cSldViewPr snapToGrid="0" snapToObjects="1">
      <p:cViewPr varScale="1">
        <p:scale>
          <a:sx n="145" d="100"/>
          <a:sy n="145" d="100"/>
        </p:scale>
        <p:origin x="2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A5225B-4CA3-2A4F-BC5F-E9838A2504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91F7E7F-1246-0E41-94AD-21590FFF10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9B6A7C-D589-8148-B7C9-C14BC6F5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19933-BB53-3F46-8AA6-08ABABA63881}" type="datetimeFigureOut">
              <a:rPr lang="de-DE" smtClean="0"/>
              <a:t>15.06.25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7E820B-849F-D847-BF60-5AD4569F0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176BF7-4FF3-C442-8A37-4B0120055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16B76-6974-AB46-BB1A-B984A3B8B6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9211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32683B-8F2C-C549-9AA8-C475ABC0E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E62D6F-A0D4-7E43-A32C-A6219CB50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4C42E5-9C3F-AC44-9B41-C48B1CF6A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19933-BB53-3F46-8AA6-08ABABA63881}" type="datetimeFigureOut">
              <a:rPr lang="de-DE" smtClean="0"/>
              <a:t>15.06.25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DF3A2A-EE88-4A42-858E-FBDF144F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50C4F0-7C45-B04C-9920-667D309FA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16B76-6974-AB46-BB1A-B984A3B8B6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040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136F32-0032-9D46-A760-8E3DAA802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3A78C0D-08F0-9C4C-9C9D-B35024FEC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5C73C1-E7A2-2244-BBA4-5179FDC65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19933-BB53-3F46-8AA6-08ABABA63881}" type="datetimeFigureOut">
              <a:rPr lang="de-DE" smtClean="0"/>
              <a:t>15.06.25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BEF2DA-5BD9-4647-B06E-47BBAF8E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22EF63-883C-CF48-8EFC-F813D715E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16B76-6974-AB46-BB1A-B984A3B8B6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103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C9AE6E-A6B4-724B-9996-48DED6B17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2AA6D6-AEB8-C44C-8ECC-5512D914A4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400D7BC-2298-6D4A-B250-A875C22FE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95D6245-BFC3-7848-A29D-5C0549016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19933-BB53-3F46-8AA6-08ABABA63881}" type="datetimeFigureOut">
              <a:rPr lang="de-DE" smtClean="0"/>
              <a:t>15.06.25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3A519E-D9AA-494E-8061-836285B1A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77D640E-144C-A147-ADB6-573E49558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16B76-6974-AB46-BB1A-B984A3B8B6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4371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8218B7-4700-414B-8B96-EE74501FE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B9D2261-D52A-3B4F-AF3A-FA591B8B1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B818818-1D72-104E-823D-E5AC876A8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97AD01B-F307-8046-BD28-BAC529AC55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C5B1544-2105-F848-8602-C4ED48064A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DA061C3-02B2-9F40-B773-54B5A70F1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19933-BB53-3F46-8AA6-08ABABA63881}" type="datetimeFigureOut">
              <a:rPr lang="de-DE" smtClean="0"/>
              <a:t>15.06.25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7076393-C711-0C44-9CE1-084495A13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76B8E82-1A46-8C49-8B92-A1E944525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16B76-6974-AB46-BB1A-B984A3B8B6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6629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0AB246-87B5-2A4F-9D12-2DA73A51F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8336E31-6541-9C4F-AEBF-23373D971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19933-BB53-3F46-8AA6-08ABABA63881}" type="datetimeFigureOut">
              <a:rPr lang="de-DE" smtClean="0"/>
              <a:t>15.06.25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83C6A5E-1F14-8C4E-8ACB-01539C5E3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1C90C5B-97C5-F943-B946-0C550CFB4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16B76-6974-AB46-BB1A-B984A3B8B6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7768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5A5C13C-8346-5241-87A0-B1F56AA1B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19933-BB53-3F46-8AA6-08ABABA63881}" type="datetimeFigureOut">
              <a:rPr lang="de-DE" smtClean="0"/>
              <a:t>15.06.25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AA8CF85-D737-444F-A374-4A743929E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15ED7CA-8B37-0C4C-ABEC-D5FC526E2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16B76-6974-AB46-BB1A-B984A3B8B6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7397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EA5369-23A4-7F45-A6E0-5E336F968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5E7065-6EB2-AB40-90DF-B3A5CFD26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19CB979-A5EA-1A47-879C-8016F91C70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9E67EBD-6E13-144F-BDBC-A427F19DB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19933-BB53-3F46-8AA6-08ABABA63881}" type="datetimeFigureOut">
              <a:rPr lang="de-DE" smtClean="0"/>
              <a:t>15.06.25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D07C079-4668-0F41-BC58-BB7F227A2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5D3BD4B-8EBD-8243-B901-F46F793BF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16B76-6974-AB46-BB1A-B984A3B8B6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1771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B8612F-0A04-944C-A4EB-6565C648C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EB0CBD6-83B5-7242-9B04-34CE7E1DA2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EFF0C6F-2454-9443-B91E-7421D83BB0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BF6BCBE-EB6A-934D-B3BC-9CA0E48FF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19933-BB53-3F46-8AA6-08ABABA63881}" type="datetimeFigureOut">
              <a:rPr lang="de-DE" smtClean="0"/>
              <a:t>15.06.25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85EAB72-0949-8844-9E68-6C5F94960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7D59157-03D7-5544-9DF6-D2730BDA7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16B76-6974-AB46-BB1A-B984A3B8B6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7124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0004B8-AEE0-274D-992F-693F37A4C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E4981D1-A536-3345-ADDF-B3E3EC076A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E71E9C-9582-6442-ABF9-4892AB0A6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19933-BB53-3F46-8AA6-08ABABA63881}" type="datetimeFigureOut">
              <a:rPr lang="de-DE" smtClean="0"/>
              <a:t>15.06.25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DCAC6B-F772-4340-B52C-F5C1B8BBA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C1301A-FF7F-7F4D-A975-68C0660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16B76-6974-AB46-BB1A-B984A3B8B6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6765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8CDF9A2-7EA3-FE43-A29C-E163CF1DD4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76C333E-BF1D-9A43-9AE6-9B6A50407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D0A9E7-3030-9448-9639-9D4283A85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19933-BB53-3F46-8AA6-08ABABA63881}" type="datetimeFigureOut">
              <a:rPr lang="de-DE" smtClean="0"/>
              <a:t>15.06.25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AD0A19-018C-094A-AA12-C5D05036C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2397DAE-0880-6B42-B7FB-95BD06C33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16B76-6974-AB46-BB1A-B984A3B8B6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8778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5E2EF5B-E655-5D46-9CB2-2AC08AA00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C23188D-9C45-7C4D-9D41-11F0D105D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38672A-5A66-9C4D-A822-75DF1AB355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319933-BB53-3F46-8AA6-08ABABA63881}" type="datetimeFigureOut">
              <a:rPr lang="de-DE" smtClean="0"/>
              <a:t>15.06.25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AD3AA5E-8F19-9B4C-BC5A-1CE94D0937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BD92B1-D045-5B4F-AB0B-AF45B9E0EB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16B76-6974-AB46-BB1A-B984A3B8B6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642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iniatur-Bullen- und Bärenprozentzahlen auf einem Papier, das mit der Aktienkursliste bedruckt ist">
            <a:extLst>
              <a:ext uri="{FF2B5EF4-FFF2-40B4-BE49-F238E27FC236}">
                <a16:creationId xmlns:a16="http://schemas.microsoft.com/office/drawing/2014/main" id="{9B9D8C95-1294-FD36-0B0D-2157E188AFE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9870" b="1513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920E5BC-2048-3946-B94B-6C8972342D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34471"/>
            <a:ext cx="9144000" cy="2900518"/>
          </a:xfrm>
        </p:spPr>
        <p:txBody>
          <a:bodyPr>
            <a:normAutofit/>
          </a:bodyPr>
          <a:lstStyle/>
          <a:p>
            <a:r>
              <a:rPr lang="de-DE" sz="5400" b="1" dirty="0">
                <a:solidFill>
                  <a:srgbClr val="FFFFFF"/>
                </a:solidFill>
              </a:rPr>
              <a:t>Financial </a:t>
            </a:r>
            <a:r>
              <a:rPr lang="de-DE" sz="5400" b="1" dirty="0" err="1">
                <a:solidFill>
                  <a:srgbClr val="FFFFFF"/>
                </a:solidFill>
              </a:rPr>
              <a:t>Risk</a:t>
            </a:r>
            <a:r>
              <a:rPr lang="de-DE" sz="5400" b="1" dirty="0">
                <a:solidFill>
                  <a:srgbClr val="FFFFFF"/>
                </a:solidFill>
              </a:rPr>
              <a:t> Management         </a:t>
            </a:r>
            <a:r>
              <a:rPr lang="de-DE" sz="3200" dirty="0">
                <a:solidFill>
                  <a:srgbClr val="FFFFFF"/>
                </a:solidFill>
              </a:rPr>
              <a:t>- </a:t>
            </a:r>
            <a:r>
              <a:rPr lang="de-DE" sz="3200" dirty="0" err="1">
                <a:solidFill>
                  <a:srgbClr val="FFFFFF"/>
                </a:solidFill>
              </a:rPr>
              <a:t>Volatility</a:t>
            </a:r>
            <a:r>
              <a:rPr lang="de-DE" sz="3200" dirty="0">
                <a:solidFill>
                  <a:srgbClr val="FFFFFF"/>
                </a:solidFill>
              </a:rPr>
              <a:t> </a:t>
            </a:r>
            <a:r>
              <a:rPr lang="de-DE" sz="3200" dirty="0" err="1">
                <a:solidFill>
                  <a:srgbClr val="FFFFFF"/>
                </a:solidFill>
              </a:rPr>
              <a:t>Estimation</a:t>
            </a:r>
            <a:r>
              <a:rPr lang="de-DE" sz="3200" dirty="0">
                <a:solidFill>
                  <a:srgbClr val="FFFFFF"/>
                </a:solidFill>
              </a:rPr>
              <a:t> </a:t>
            </a:r>
            <a:r>
              <a:rPr lang="de-DE" sz="3200" dirty="0" err="1">
                <a:solidFill>
                  <a:srgbClr val="FFFFFF"/>
                </a:solidFill>
              </a:rPr>
              <a:t>and</a:t>
            </a:r>
            <a:r>
              <a:rPr lang="de-DE" sz="3200" dirty="0">
                <a:solidFill>
                  <a:srgbClr val="FFFFFF"/>
                </a:solidFill>
              </a:rPr>
              <a:t> </a:t>
            </a:r>
            <a:r>
              <a:rPr lang="de-DE" sz="3200" dirty="0" err="1">
                <a:solidFill>
                  <a:srgbClr val="FFFFFF"/>
                </a:solidFill>
              </a:rPr>
              <a:t>Tail</a:t>
            </a:r>
            <a:r>
              <a:rPr lang="de-DE" sz="3200" dirty="0">
                <a:solidFill>
                  <a:srgbClr val="FFFFFF"/>
                </a:solidFill>
              </a:rPr>
              <a:t> </a:t>
            </a:r>
            <a:r>
              <a:rPr lang="de-DE" sz="3200" dirty="0" err="1">
                <a:solidFill>
                  <a:srgbClr val="FFFFFF"/>
                </a:solidFill>
              </a:rPr>
              <a:t>Risk</a:t>
            </a:r>
            <a:r>
              <a:rPr lang="de-DE" sz="3200" dirty="0">
                <a:solidFill>
                  <a:srgbClr val="FFFFFF"/>
                </a:solidFill>
              </a:rPr>
              <a:t> </a:t>
            </a:r>
            <a:r>
              <a:rPr lang="de-DE" sz="3200" dirty="0" err="1">
                <a:solidFill>
                  <a:srgbClr val="FFFFFF"/>
                </a:solidFill>
              </a:rPr>
              <a:t>Forecasting</a:t>
            </a:r>
            <a:endParaRPr lang="de-DE" sz="3200" dirty="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5D0D1C5-7421-6B4E-9AE6-082436AC99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2040980"/>
          </a:xfrm>
        </p:spPr>
        <p:txBody>
          <a:bodyPr>
            <a:normAutofit/>
          </a:bodyPr>
          <a:lstStyle/>
          <a:p>
            <a:endParaRPr lang="de-DE" sz="600" dirty="0">
              <a:solidFill>
                <a:srgbClr val="FFFFFF"/>
              </a:solidFill>
            </a:endParaRPr>
          </a:p>
          <a:p>
            <a:r>
              <a:rPr lang="de-DE" dirty="0">
                <a:solidFill>
                  <a:srgbClr val="FFFFFF"/>
                </a:solidFill>
              </a:rPr>
              <a:t>Jonas Bahmann</a:t>
            </a:r>
          </a:p>
          <a:p>
            <a:r>
              <a:rPr lang="de-DE" dirty="0" err="1">
                <a:solidFill>
                  <a:srgbClr val="FFFFFF"/>
                </a:solidFill>
              </a:rPr>
              <a:t>Levente</a:t>
            </a:r>
            <a:r>
              <a:rPr lang="de-DE" dirty="0">
                <a:solidFill>
                  <a:srgbClr val="FFFFFF"/>
                </a:solidFill>
              </a:rPr>
              <a:t> </a:t>
            </a:r>
            <a:r>
              <a:rPr lang="de-DE" dirty="0" err="1">
                <a:solidFill>
                  <a:srgbClr val="FFFFFF"/>
                </a:solidFill>
              </a:rPr>
              <a:t>Mihalyi</a:t>
            </a:r>
            <a:endParaRPr lang="de-DE" dirty="0">
              <a:solidFill>
                <a:srgbClr val="FFFFFF"/>
              </a:solidFill>
            </a:endParaRPr>
          </a:p>
          <a:p>
            <a:r>
              <a:rPr lang="de-DE" dirty="0">
                <a:solidFill>
                  <a:srgbClr val="FFFFFF"/>
                </a:solidFill>
              </a:rPr>
              <a:t>Eliseo Carrasco Krämer</a:t>
            </a:r>
          </a:p>
        </p:txBody>
      </p:sp>
    </p:spTree>
    <p:extLst>
      <p:ext uri="{BB962C8B-B14F-4D97-AF65-F5344CB8AC3E}">
        <p14:creationId xmlns:p14="http://schemas.microsoft.com/office/powerpoint/2010/main" val="732815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F03517-F18B-B540-B2B0-23E6FC96F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Objective</a:t>
            </a:r>
            <a:r>
              <a:rPr lang="de-DE" dirty="0"/>
              <a:t> &amp; </a:t>
            </a:r>
            <a:r>
              <a:rPr lang="de-DE" dirty="0" err="1"/>
              <a:t>Methodology</a:t>
            </a:r>
            <a:r>
              <a:rPr lang="de-DE" dirty="0"/>
              <a:t> Outline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C3760D-8106-4345-A02A-8905D8C89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5000"/>
            <a:ext cx="10209756" cy="4351338"/>
          </a:xfrm>
        </p:spPr>
        <p:txBody>
          <a:bodyPr>
            <a:normAutofit fontScale="92500"/>
          </a:bodyPr>
          <a:lstStyle/>
          <a:p>
            <a:endParaRPr lang="de-DE" sz="2400" dirty="0"/>
          </a:p>
          <a:p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Financial 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returns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 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show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 </a:t>
            </a:r>
            <a:r>
              <a:rPr lang="de-DE" sz="2200" b="1" i="0" u="none" strike="noStrike" dirty="0" err="1">
                <a:solidFill>
                  <a:srgbClr val="1F1F1F"/>
                </a:solidFill>
                <a:effectLst/>
              </a:rPr>
              <a:t>volatility</a:t>
            </a:r>
            <a:r>
              <a:rPr lang="de-DE" sz="2200" b="1" i="0" u="none" strike="noStrike" dirty="0">
                <a:solidFill>
                  <a:srgbClr val="1F1F1F"/>
                </a:solidFill>
                <a:effectLst/>
              </a:rPr>
              <a:t> </a:t>
            </a:r>
            <a:r>
              <a:rPr lang="de-DE" sz="2200" b="1" i="0" u="none" strike="noStrike" dirty="0" err="1">
                <a:solidFill>
                  <a:srgbClr val="1F1F1F"/>
                </a:solidFill>
                <a:effectLst/>
              </a:rPr>
              <a:t>clustering</a:t>
            </a:r>
            <a:r>
              <a:rPr lang="de-DE" sz="2200" b="1" i="0" u="none" strike="noStrike" dirty="0">
                <a:solidFill>
                  <a:srgbClr val="1F1F1F"/>
                </a:solidFill>
                <a:effectLst/>
              </a:rPr>
              <a:t> 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and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 non-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constant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 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variance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. 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Risk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 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management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 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requires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 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accurate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 </a:t>
            </a:r>
            <a:r>
              <a:rPr lang="de-DE" sz="2200" b="1" i="0" u="none" strike="noStrike" dirty="0" err="1">
                <a:solidFill>
                  <a:srgbClr val="1F1F1F"/>
                </a:solidFill>
                <a:effectLst/>
              </a:rPr>
              <a:t>volatility</a:t>
            </a:r>
            <a:r>
              <a:rPr lang="de-DE" sz="2200" b="1" i="0" u="none" strike="noStrike" dirty="0">
                <a:solidFill>
                  <a:srgbClr val="1F1F1F"/>
                </a:solidFill>
                <a:effectLst/>
              </a:rPr>
              <a:t> </a:t>
            </a:r>
            <a:r>
              <a:rPr lang="de-DE" sz="2200" b="1" i="0" u="none" strike="noStrike" dirty="0" err="1">
                <a:solidFill>
                  <a:srgbClr val="1F1F1F"/>
                </a:solidFill>
                <a:effectLst/>
              </a:rPr>
              <a:t>estimation</a:t>
            </a:r>
            <a:r>
              <a:rPr lang="de-DE" sz="2200" b="1" i="0" u="none" strike="noStrike" dirty="0">
                <a:solidFill>
                  <a:srgbClr val="1F1F1F"/>
                </a:solidFill>
                <a:effectLst/>
              </a:rPr>
              <a:t> 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nad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 robust </a:t>
            </a:r>
            <a:r>
              <a:rPr lang="de-DE" sz="2200" b="1" i="0" u="none" strike="noStrike" dirty="0" err="1">
                <a:solidFill>
                  <a:srgbClr val="1F1F1F"/>
                </a:solidFill>
                <a:effectLst/>
              </a:rPr>
              <a:t>tail</a:t>
            </a:r>
            <a:r>
              <a:rPr lang="de-DE" sz="2200" b="1" i="0" u="none" strike="noStrike" dirty="0">
                <a:solidFill>
                  <a:srgbClr val="1F1F1F"/>
                </a:solidFill>
                <a:effectLst/>
              </a:rPr>
              <a:t> </a:t>
            </a:r>
            <a:r>
              <a:rPr lang="de-DE" sz="2200" b="1" i="0" u="none" strike="noStrike" dirty="0" err="1">
                <a:solidFill>
                  <a:srgbClr val="1F1F1F"/>
                </a:solidFill>
                <a:effectLst/>
              </a:rPr>
              <a:t>risk</a:t>
            </a:r>
            <a:r>
              <a:rPr lang="de-DE" sz="2200" b="1" i="0" u="none" strike="noStrike" dirty="0">
                <a:solidFill>
                  <a:srgbClr val="1F1F1F"/>
                </a:solidFill>
                <a:effectLst/>
              </a:rPr>
              <a:t> </a:t>
            </a:r>
            <a:r>
              <a:rPr lang="de-DE" sz="2200" b="1" i="0" u="none" strike="noStrike" dirty="0" err="1">
                <a:solidFill>
                  <a:srgbClr val="1F1F1F"/>
                </a:solidFill>
                <a:effectLst/>
              </a:rPr>
              <a:t>measures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. In 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this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 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project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, 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we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 will 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generate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 </a:t>
            </a:r>
            <a:r>
              <a:rPr lang="de-DE" sz="2200" dirty="0">
                <a:solidFill>
                  <a:srgbClr val="1F1F1F"/>
                </a:solidFill>
              </a:rPr>
              <a:t>a </a:t>
            </a:r>
            <a:r>
              <a:rPr lang="de-DE" sz="2200" b="1" dirty="0">
                <a:solidFill>
                  <a:srgbClr val="1F1F1F"/>
                </a:solidFill>
              </a:rPr>
              <a:t>time-</a:t>
            </a:r>
            <a:r>
              <a:rPr lang="de-DE" sz="2200" b="1" dirty="0" err="1">
                <a:solidFill>
                  <a:srgbClr val="1F1F1F"/>
                </a:solidFill>
              </a:rPr>
              <a:t>series</a:t>
            </a:r>
            <a:r>
              <a:rPr lang="de-DE" sz="2200" dirty="0">
                <a:solidFill>
                  <a:srgbClr val="1F1F1F"/>
                </a:solidFill>
              </a:rPr>
              <a:t> </a:t>
            </a:r>
            <a:r>
              <a:rPr lang="de-DE" sz="2200" dirty="0" err="1">
                <a:solidFill>
                  <a:srgbClr val="1F1F1F"/>
                </a:solidFill>
              </a:rPr>
              <a:t>according</a:t>
            </a:r>
            <a:r>
              <a:rPr lang="de-DE" sz="2200" dirty="0">
                <a:solidFill>
                  <a:srgbClr val="1F1F1F"/>
                </a:solidFill>
              </a:rPr>
              <a:t> </a:t>
            </a:r>
            <a:r>
              <a:rPr lang="de-DE" sz="2200" dirty="0" err="1">
                <a:solidFill>
                  <a:srgbClr val="1F1F1F"/>
                </a:solidFill>
              </a:rPr>
              <a:t>to</a:t>
            </a:r>
            <a:r>
              <a:rPr lang="de-DE" sz="2200" dirty="0">
                <a:solidFill>
                  <a:srgbClr val="1F1F1F"/>
                </a:solidFill>
              </a:rPr>
              <a:t> </a:t>
            </a:r>
            <a:r>
              <a:rPr lang="de-DE" sz="2200" dirty="0" err="1">
                <a:solidFill>
                  <a:srgbClr val="1F1F1F"/>
                </a:solidFill>
              </a:rPr>
              <a:t>the</a:t>
            </a:r>
            <a:r>
              <a:rPr lang="de-DE" sz="2200" dirty="0">
                <a:solidFill>
                  <a:srgbClr val="1F1F1F"/>
                </a:solidFill>
              </a:rPr>
              <a:t> </a:t>
            </a:r>
            <a:r>
              <a:rPr lang="de-DE" sz="2200" b="1" dirty="0">
                <a:solidFill>
                  <a:srgbClr val="1F1F1F"/>
                </a:solidFill>
              </a:rPr>
              <a:t>SMV-approach</a:t>
            </a:r>
            <a:r>
              <a:rPr lang="de-DE" sz="2200" dirty="0">
                <a:solidFill>
                  <a:srgbClr val="1F1F1F"/>
                </a:solidFill>
              </a:rPr>
              <a:t> </a:t>
            </a:r>
            <a:r>
              <a:rPr lang="de-DE" sz="2200" dirty="0" err="1">
                <a:solidFill>
                  <a:srgbClr val="1F1F1F"/>
                </a:solidFill>
              </a:rPr>
              <a:t>and</a:t>
            </a:r>
            <a:r>
              <a:rPr lang="de-DE" sz="2200" dirty="0">
                <a:solidFill>
                  <a:srgbClr val="1F1F1F"/>
                </a:solidFill>
              </a:rPr>
              <a:t> </a:t>
            </a:r>
            <a:r>
              <a:rPr lang="de-DE" sz="2200" dirty="0" err="1">
                <a:solidFill>
                  <a:srgbClr val="1F1F1F"/>
                </a:solidFill>
              </a:rPr>
              <a:t>implement</a:t>
            </a:r>
            <a:r>
              <a:rPr lang="de-DE" sz="2200" dirty="0">
                <a:solidFill>
                  <a:srgbClr val="1F1F1F"/>
                </a:solidFill>
              </a:rPr>
              <a:t> different </a:t>
            </a:r>
            <a:r>
              <a:rPr lang="de-DE" sz="2200" dirty="0" err="1">
                <a:solidFill>
                  <a:srgbClr val="1F1F1F"/>
                </a:solidFill>
              </a:rPr>
              <a:t>models</a:t>
            </a:r>
            <a:r>
              <a:rPr lang="de-DE" sz="2200" dirty="0">
                <a:solidFill>
                  <a:srgbClr val="1F1F1F"/>
                </a:solidFill>
              </a:rPr>
              <a:t>.</a:t>
            </a:r>
            <a:endParaRPr lang="de-DE" sz="2200" b="0" i="0" u="none" strike="noStrike" dirty="0">
              <a:solidFill>
                <a:srgbClr val="1F1F1F"/>
              </a:solidFill>
              <a:effectLst/>
            </a:endParaRPr>
          </a:p>
          <a:p>
            <a:endParaRPr lang="de-DE" sz="1600" dirty="0">
              <a:solidFill>
                <a:srgbClr val="1F1F1F"/>
              </a:solidFill>
              <a:latin typeface="Roboto" panose="02000000000000000000" pitchFamily="2" charset="0"/>
            </a:endParaRPr>
          </a:p>
          <a:p>
            <a:r>
              <a:rPr lang="de-DE" sz="2000" b="1" dirty="0" err="1"/>
              <a:t>Methodology</a:t>
            </a:r>
            <a:endParaRPr lang="de-DE" sz="2000" b="1" dirty="0"/>
          </a:p>
          <a:p>
            <a:r>
              <a:rPr lang="de-DE" sz="1800" dirty="0"/>
              <a:t>1. Generating time-</a:t>
            </a:r>
            <a:r>
              <a:rPr lang="de-DE" sz="1800" dirty="0" err="1"/>
              <a:t>series</a:t>
            </a:r>
            <a:r>
              <a:rPr lang="de-DE" sz="1800" dirty="0"/>
              <a:t> </a:t>
            </a:r>
            <a:r>
              <a:rPr lang="de-DE" sz="1800" dirty="0" err="1"/>
              <a:t>with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SVM</a:t>
            </a:r>
          </a:p>
          <a:p>
            <a:r>
              <a:rPr lang="de-DE" sz="1800" dirty="0"/>
              <a:t>2. Implementation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Kalman Filter</a:t>
            </a:r>
          </a:p>
          <a:p>
            <a:r>
              <a:rPr lang="de-DE" sz="1800" dirty="0"/>
              <a:t>3. MLE </a:t>
            </a:r>
            <a:r>
              <a:rPr lang="de-DE" sz="1800" dirty="0" err="1"/>
              <a:t>for</a:t>
            </a:r>
            <a:r>
              <a:rPr lang="de-DE" sz="1800" dirty="0"/>
              <a:t> </a:t>
            </a:r>
            <a:r>
              <a:rPr lang="de-DE" sz="1800" dirty="0" err="1"/>
              <a:t>parameter</a:t>
            </a:r>
            <a:r>
              <a:rPr lang="de-DE" sz="1800" dirty="0"/>
              <a:t> </a:t>
            </a:r>
            <a:r>
              <a:rPr lang="de-DE" sz="1800" dirty="0" err="1"/>
              <a:t>estimation</a:t>
            </a:r>
            <a:endParaRPr lang="de-DE" sz="1800" dirty="0"/>
          </a:p>
          <a:p>
            <a:r>
              <a:rPr lang="de-DE" sz="1800" dirty="0"/>
              <a:t>4. EGARCH-Modell</a:t>
            </a:r>
          </a:p>
          <a:p>
            <a:r>
              <a:rPr lang="de-DE" sz="1800" dirty="0"/>
              <a:t>5. </a:t>
            </a:r>
            <a:r>
              <a:rPr lang="de-DE" sz="1800" dirty="0" err="1"/>
              <a:t>Risk</a:t>
            </a:r>
            <a:r>
              <a:rPr lang="de-DE" sz="1800" dirty="0"/>
              <a:t> </a:t>
            </a:r>
            <a:r>
              <a:rPr lang="de-DE" sz="1800" dirty="0" err="1"/>
              <a:t>metrics</a:t>
            </a:r>
            <a:r>
              <a:rPr lang="de-DE" sz="1800" dirty="0"/>
              <a:t> – </a:t>
            </a:r>
            <a:r>
              <a:rPr lang="de-DE" sz="1800" dirty="0" err="1"/>
              <a:t>VaR</a:t>
            </a:r>
            <a:r>
              <a:rPr lang="de-DE" sz="1800" dirty="0"/>
              <a:t> , ES</a:t>
            </a:r>
          </a:p>
          <a:p>
            <a:r>
              <a:rPr lang="de-DE" sz="1800" dirty="0"/>
              <a:t>6. </a:t>
            </a:r>
            <a:r>
              <a:rPr lang="de-DE" sz="1800" dirty="0" err="1"/>
              <a:t>Comparison</a:t>
            </a:r>
            <a:r>
              <a:rPr lang="de-DE" sz="1800" dirty="0"/>
              <a:t> &amp; </a:t>
            </a:r>
            <a:r>
              <a:rPr lang="de-DE" sz="1800" dirty="0" err="1"/>
              <a:t>Visualization</a:t>
            </a: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1527974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3D7B62-7CE2-C84E-A0EC-D4FD7D2D1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362" y="263268"/>
            <a:ext cx="10515600" cy="1325563"/>
          </a:xfrm>
        </p:spPr>
        <p:txBody>
          <a:bodyPr/>
          <a:lstStyle/>
          <a:p>
            <a:r>
              <a:rPr lang="de-DE" dirty="0"/>
              <a:t>1.0 Generating time-</a:t>
            </a:r>
            <a:r>
              <a:rPr lang="de-DE" dirty="0" err="1"/>
              <a:t>series</a:t>
            </a:r>
            <a:r>
              <a:rPr lang="de-DE" dirty="0"/>
              <a:t> - SV-Model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187B0A-A1D1-AA4F-BE60-4959ABF26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The </a:t>
            </a:r>
            <a:r>
              <a:rPr lang="de-DE" sz="1800" b="1" i="0" u="none" strike="noStrike" dirty="0" err="1">
                <a:solidFill>
                  <a:srgbClr val="000000"/>
                </a:solidFill>
                <a:effectLst/>
              </a:rPr>
              <a:t>Stochastic</a:t>
            </a:r>
            <a:r>
              <a:rPr lang="de-DE" sz="18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1" i="0" u="none" strike="noStrike" dirty="0" err="1">
                <a:solidFill>
                  <a:srgbClr val="000000"/>
                </a:solidFill>
                <a:effectLst/>
              </a:rPr>
              <a:t>Volatility</a:t>
            </a:r>
            <a:r>
              <a:rPr lang="de-DE" sz="1800" b="1" i="0" u="none" strike="noStrike" dirty="0">
                <a:solidFill>
                  <a:srgbClr val="000000"/>
                </a:solidFill>
                <a:effectLst/>
              </a:rPr>
              <a:t> Model (SVM)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allows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de-DE" sz="1800" i="0" u="none" strike="noStrike" dirty="0" err="1">
                <a:solidFill>
                  <a:srgbClr val="000000"/>
                </a:solidFill>
                <a:effectLst/>
              </a:rPr>
              <a:t>volatility</a:t>
            </a:r>
            <a:r>
              <a:rPr lang="de-DE" sz="180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i="0" u="none" strike="noStrike" dirty="0" err="1">
                <a:solidFill>
                  <a:srgbClr val="000000"/>
                </a:solidFill>
                <a:effectLst/>
              </a:rPr>
              <a:t>itself</a:t>
            </a:r>
            <a:r>
              <a:rPr lang="de-DE" sz="180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i="0" u="none" strike="noStrike" dirty="0" err="1">
                <a:solidFill>
                  <a:srgbClr val="000000"/>
                </a:solidFill>
                <a:effectLst/>
              </a:rPr>
              <a:t>to</a:t>
            </a:r>
            <a:r>
              <a:rPr lang="de-DE" sz="180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i="0" u="none" strike="noStrike" dirty="0" err="1">
                <a:solidFill>
                  <a:srgbClr val="000000"/>
                </a:solidFill>
                <a:effectLst/>
              </a:rPr>
              <a:t>evolve</a:t>
            </a:r>
            <a:r>
              <a:rPr lang="de-DE" sz="180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1" i="0" u="none" strike="noStrike" dirty="0" err="1">
                <a:solidFill>
                  <a:srgbClr val="000000"/>
                </a:solidFill>
                <a:effectLst/>
              </a:rPr>
              <a:t>randomly</a:t>
            </a:r>
            <a:r>
              <a:rPr lang="de-DE" sz="18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1" i="0" u="none" strike="noStrike" dirty="0" err="1">
                <a:solidFill>
                  <a:srgbClr val="000000"/>
                </a:solidFill>
                <a:effectLst/>
              </a:rPr>
              <a:t>over</a:t>
            </a:r>
            <a:r>
              <a:rPr lang="de-DE" sz="1800" b="1" i="0" u="none" strike="noStrike" dirty="0">
                <a:solidFill>
                  <a:srgbClr val="000000"/>
                </a:solidFill>
                <a:effectLst/>
              </a:rPr>
              <a:t> time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.</a:t>
            </a:r>
            <a:endParaRPr lang="de-DE" sz="1800" dirty="0"/>
          </a:p>
          <a:p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Volatility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is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treated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as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a </a:t>
            </a:r>
            <a:r>
              <a:rPr lang="de-DE" sz="1800" b="1" i="0" u="none" strike="noStrike" dirty="0">
                <a:solidFill>
                  <a:srgbClr val="000000"/>
                </a:solidFill>
                <a:effectLst/>
              </a:rPr>
              <a:t>latent (</a:t>
            </a:r>
            <a:r>
              <a:rPr lang="de-DE" sz="1800" b="1" i="0" u="none" strike="noStrike" dirty="0" err="1">
                <a:solidFill>
                  <a:srgbClr val="000000"/>
                </a:solidFill>
                <a:effectLst/>
              </a:rPr>
              <a:t>unobserved</a:t>
            </a:r>
            <a:r>
              <a:rPr lang="de-DE" sz="1800" b="1" i="0" u="none" strike="noStrike" dirty="0">
                <a:solidFill>
                  <a:srgbClr val="000000"/>
                </a:solidFill>
                <a:effectLst/>
              </a:rPr>
              <a:t>) </a:t>
            </a:r>
            <a:r>
              <a:rPr lang="de-DE" sz="1800" b="1" i="0" u="none" strike="noStrike" dirty="0" err="1">
                <a:solidFill>
                  <a:srgbClr val="000000"/>
                </a:solidFill>
                <a:effectLst/>
              </a:rPr>
              <a:t>stochastic</a:t>
            </a:r>
            <a:r>
              <a:rPr lang="de-DE" sz="18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1" i="0" u="none" strike="noStrike" dirty="0" err="1">
                <a:solidFill>
                  <a:srgbClr val="000000"/>
                </a:solidFill>
                <a:effectLst/>
              </a:rPr>
              <a:t>process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, not a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deterministic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or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fixed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value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r>
              <a:rPr lang="de-DE" sz="1800" dirty="0">
                <a:solidFill>
                  <a:srgbClr val="000000"/>
                </a:solidFill>
              </a:rPr>
              <a:t>Measurement </a:t>
            </a:r>
            <a:r>
              <a:rPr lang="de-DE" sz="1800" dirty="0" err="1">
                <a:solidFill>
                  <a:srgbClr val="000000"/>
                </a:solidFill>
              </a:rPr>
              <a:t>Equation</a:t>
            </a:r>
            <a:endParaRPr lang="de-DE" sz="1800" dirty="0">
              <a:solidFill>
                <a:srgbClr val="000000"/>
              </a:solidFill>
            </a:endParaRPr>
          </a:p>
          <a:p>
            <a:endParaRPr lang="de-DE" sz="1600" dirty="0">
              <a:solidFill>
                <a:srgbClr val="000000"/>
              </a:solidFill>
            </a:endParaRPr>
          </a:p>
          <a:p>
            <a:endParaRPr lang="de-DE" sz="1600" dirty="0">
              <a:solidFill>
                <a:srgbClr val="000000"/>
              </a:solidFill>
            </a:endParaRPr>
          </a:p>
          <a:p>
            <a:r>
              <a:rPr lang="de-DE" sz="1800" dirty="0">
                <a:solidFill>
                  <a:srgbClr val="000000"/>
                </a:solidFill>
              </a:rPr>
              <a:t>State </a:t>
            </a:r>
            <a:r>
              <a:rPr lang="de-DE" sz="1800" dirty="0" err="1">
                <a:solidFill>
                  <a:srgbClr val="000000"/>
                </a:solidFill>
              </a:rPr>
              <a:t>Equation</a:t>
            </a:r>
            <a:r>
              <a:rPr lang="de-DE" sz="1800" dirty="0">
                <a:solidFill>
                  <a:srgbClr val="000000"/>
                </a:solidFill>
              </a:rPr>
              <a:t> (log-</a:t>
            </a:r>
            <a:r>
              <a:rPr lang="de-DE" sz="1800" dirty="0" err="1">
                <a:solidFill>
                  <a:srgbClr val="000000"/>
                </a:solidFill>
              </a:rPr>
              <a:t>volatility</a:t>
            </a:r>
            <a:r>
              <a:rPr lang="de-DE" sz="1800" dirty="0">
                <a:solidFill>
                  <a:srgbClr val="000000"/>
                </a:solidFill>
              </a:rPr>
              <a:t>)</a:t>
            </a:r>
          </a:p>
          <a:p>
            <a:endParaRPr lang="de-DE" sz="1600" dirty="0">
              <a:solidFill>
                <a:srgbClr val="000000"/>
              </a:solidFill>
            </a:endParaRPr>
          </a:p>
          <a:p>
            <a:endParaRPr lang="de-DE" sz="1600" dirty="0">
              <a:solidFill>
                <a:srgbClr val="000000"/>
              </a:solidFill>
            </a:endParaRPr>
          </a:p>
          <a:p>
            <a:endParaRPr lang="de-DE" sz="1600" dirty="0">
              <a:solidFill>
                <a:srgbClr val="000000"/>
              </a:solidFill>
            </a:endParaRPr>
          </a:p>
          <a:p>
            <a:r>
              <a:rPr lang="de-DE" sz="1800" dirty="0" err="1"/>
              <a:t>h_t</a:t>
            </a:r>
            <a:r>
              <a:rPr lang="de-DE" sz="1800" dirty="0"/>
              <a:t> (latent log-</a:t>
            </a:r>
            <a:r>
              <a:rPr lang="de-DE" sz="1800" dirty="0" err="1"/>
              <a:t>volatility</a:t>
            </a:r>
            <a:r>
              <a:rPr lang="de-DE" sz="1800" dirty="0"/>
              <a:t>) : </a:t>
            </a:r>
            <a:r>
              <a:rPr lang="de-DE" sz="1800" dirty="0" err="1"/>
              <a:t>follows</a:t>
            </a:r>
            <a:r>
              <a:rPr lang="de-DE" sz="1800" dirty="0"/>
              <a:t> an </a:t>
            </a:r>
            <a:r>
              <a:rPr lang="de-DE" sz="1800" b="1" dirty="0"/>
              <a:t>AR(1) </a:t>
            </a:r>
            <a:r>
              <a:rPr lang="de-DE" sz="1800" b="1" dirty="0" err="1"/>
              <a:t>process</a:t>
            </a:r>
            <a:r>
              <a:rPr lang="de-DE" sz="1800" dirty="0"/>
              <a:t>, </a:t>
            </a:r>
            <a:r>
              <a:rPr lang="de-DE" sz="1800" dirty="0" err="1"/>
              <a:t>allowing</a:t>
            </a:r>
            <a:r>
              <a:rPr lang="de-DE" sz="1800" dirty="0"/>
              <a:t> smooth </a:t>
            </a:r>
            <a:r>
              <a:rPr lang="de-DE" sz="1800" dirty="0" err="1"/>
              <a:t>evolution</a:t>
            </a:r>
            <a:r>
              <a:rPr lang="de-DE" sz="1800" dirty="0"/>
              <a:t> </a:t>
            </a:r>
            <a:r>
              <a:rPr lang="de-DE" sz="1800" dirty="0" err="1"/>
              <a:t>over</a:t>
            </a:r>
            <a:r>
              <a:rPr lang="de-DE" sz="1800" dirty="0"/>
              <a:t> time</a:t>
            </a:r>
          </a:p>
          <a:p>
            <a:r>
              <a:rPr lang="de-DE" sz="1800" dirty="0"/>
              <a:t>Parameters </a:t>
            </a:r>
            <a:r>
              <a:rPr lang="de-DE" sz="1800" dirty="0" err="1"/>
              <a:t>phi</a:t>
            </a:r>
            <a:r>
              <a:rPr lang="de-DE" sz="1800" dirty="0"/>
              <a:t> </a:t>
            </a:r>
            <a:r>
              <a:rPr lang="de-DE" sz="1800" dirty="0" err="1"/>
              <a:t>and</a:t>
            </a:r>
            <a:r>
              <a:rPr lang="de-DE" sz="1800" dirty="0"/>
              <a:t> </a:t>
            </a:r>
            <a:r>
              <a:rPr lang="de-DE" sz="1800" dirty="0" err="1"/>
              <a:t>sigma_eta</a:t>
            </a:r>
            <a:r>
              <a:rPr lang="de-DE" sz="1800" dirty="0"/>
              <a:t> </a:t>
            </a:r>
            <a:r>
              <a:rPr lang="de-DE" sz="1800" dirty="0" err="1"/>
              <a:t>control</a:t>
            </a:r>
            <a:r>
              <a:rPr lang="de-DE" sz="1800" dirty="0"/>
              <a:t> </a:t>
            </a:r>
            <a:r>
              <a:rPr lang="de-DE" sz="1800" b="1" dirty="0" err="1"/>
              <a:t>persistence</a:t>
            </a:r>
            <a:r>
              <a:rPr lang="de-DE" sz="1800" dirty="0"/>
              <a:t> </a:t>
            </a:r>
            <a:r>
              <a:rPr lang="de-DE" sz="1800" dirty="0" err="1"/>
              <a:t>and</a:t>
            </a:r>
            <a:r>
              <a:rPr lang="de-DE" sz="1800" dirty="0"/>
              <a:t> </a:t>
            </a:r>
            <a:r>
              <a:rPr lang="de-DE" sz="1800" b="1" dirty="0" err="1"/>
              <a:t>volatility</a:t>
            </a:r>
            <a:r>
              <a:rPr lang="de-DE" sz="1800" b="1" dirty="0"/>
              <a:t> </a:t>
            </a:r>
            <a:r>
              <a:rPr lang="de-DE" sz="1800" b="1" dirty="0" err="1"/>
              <a:t>of</a:t>
            </a:r>
            <a:r>
              <a:rPr lang="de-DE" sz="1800" b="1" dirty="0"/>
              <a:t> </a:t>
            </a:r>
            <a:r>
              <a:rPr lang="de-DE" sz="1800" b="1" dirty="0" err="1"/>
              <a:t>volatility</a:t>
            </a:r>
            <a:endParaRPr lang="de-DE" sz="1800" dirty="0"/>
          </a:p>
          <a:p>
            <a:endParaRPr lang="de-DE" sz="16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B2DCD30-CE46-264D-852A-E8489B024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682" y="2634940"/>
            <a:ext cx="3327400" cy="7239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41099A4-BB62-214E-BF94-5F0E07587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724" y="3907805"/>
            <a:ext cx="31242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662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31F6BF-8132-B94A-907C-2A1CD96E1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4000" dirty="0"/>
              <a:t>1.1 time-</a:t>
            </a:r>
            <a:r>
              <a:rPr lang="de-DE" sz="4000" dirty="0" err="1"/>
              <a:t>series</a:t>
            </a:r>
            <a:r>
              <a:rPr lang="de-DE" sz="4000" dirty="0"/>
              <a:t> </a:t>
            </a:r>
            <a:r>
              <a:rPr lang="de-DE" sz="4000" dirty="0" err="1"/>
              <a:t>simulation</a:t>
            </a:r>
            <a:r>
              <a:rPr lang="de-DE" sz="4000" dirty="0"/>
              <a:t> </a:t>
            </a:r>
            <a:br>
              <a:rPr lang="de-DE" dirty="0"/>
            </a:br>
            <a:r>
              <a:rPr lang="de-DE" sz="3000" dirty="0"/>
              <a:t>Are </a:t>
            </a:r>
            <a:r>
              <a:rPr lang="de-DE" sz="3000" dirty="0" err="1"/>
              <a:t>our</a:t>
            </a:r>
            <a:r>
              <a:rPr lang="de-DE" sz="3000" dirty="0"/>
              <a:t> </a:t>
            </a:r>
            <a:r>
              <a:rPr lang="de-DE" sz="3000" dirty="0" err="1"/>
              <a:t>returns</a:t>
            </a:r>
            <a:r>
              <a:rPr lang="de-DE" sz="3000" dirty="0"/>
              <a:t> </a:t>
            </a:r>
            <a:r>
              <a:rPr lang="de-DE" sz="3000" dirty="0" err="1"/>
              <a:t>normally</a:t>
            </a:r>
            <a:r>
              <a:rPr lang="de-DE" sz="3000" dirty="0"/>
              <a:t> </a:t>
            </a:r>
            <a:r>
              <a:rPr lang="de-DE" sz="3000" dirty="0" err="1"/>
              <a:t>distributed</a:t>
            </a:r>
            <a:r>
              <a:rPr lang="de-DE" sz="3000" dirty="0"/>
              <a:t>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97A508-55B9-1349-8F13-918E77FEE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469" y="1891576"/>
            <a:ext cx="10515600" cy="4351338"/>
          </a:xfrm>
        </p:spPr>
        <p:txBody>
          <a:bodyPr>
            <a:normAutofit/>
          </a:bodyPr>
          <a:lstStyle/>
          <a:p>
            <a:r>
              <a:rPr lang="de-DE" sz="1600" dirty="0"/>
              <a:t>The </a:t>
            </a:r>
            <a:r>
              <a:rPr lang="de-DE" sz="1600" b="1" dirty="0" err="1"/>
              <a:t>volatility</a:t>
            </a:r>
            <a:r>
              <a:rPr lang="de-DE" sz="1600" b="1" dirty="0"/>
              <a:t> </a:t>
            </a:r>
            <a:r>
              <a:rPr lang="de-DE" sz="1600" b="1" dirty="0" err="1"/>
              <a:t>is</a:t>
            </a:r>
            <a:r>
              <a:rPr lang="de-DE" sz="1600" b="1" dirty="0"/>
              <a:t> </a:t>
            </a:r>
            <a:r>
              <a:rPr lang="de-DE" sz="1600" b="1" dirty="0" err="1"/>
              <a:t>stochastic</a:t>
            </a:r>
            <a:r>
              <a:rPr lang="de-DE" sz="1600" dirty="0"/>
              <a:t>, </a:t>
            </a:r>
            <a:r>
              <a:rPr lang="de-DE" sz="1600" dirty="0" err="1"/>
              <a:t>meaning</a:t>
            </a:r>
            <a:r>
              <a:rPr lang="de-DE" sz="1600" dirty="0"/>
              <a:t> </a:t>
            </a:r>
            <a:r>
              <a:rPr lang="de-DE" sz="1600" dirty="0" err="1"/>
              <a:t>it's</a:t>
            </a:r>
            <a:r>
              <a:rPr lang="de-DE" sz="1600" dirty="0"/>
              <a:t> not </a:t>
            </a:r>
            <a:r>
              <a:rPr lang="de-DE" sz="1600" dirty="0" err="1"/>
              <a:t>directly</a:t>
            </a:r>
            <a:r>
              <a:rPr lang="de-DE" sz="1600" dirty="0"/>
              <a:t> </a:t>
            </a:r>
            <a:r>
              <a:rPr lang="de-DE" sz="1600" dirty="0" err="1"/>
              <a:t>observed</a:t>
            </a:r>
            <a:r>
              <a:rPr lang="de-DE" sz="1600" dirty="0"/>
              <a:t> </a:t>
            </a:r>
            <a:r>
              <a:rPr lang="de-DE" sz="1600" dirty="0" err="1"/>
              <a:t>and</a:t>
            </a:r>
            <a:r>
              <a:rPr lang="de-DE" sz="1600" dirty="0"/>
              <a:t> </a:t>
            </a:r>
            <a:r>
              <a:rPr lang="de-DE" sz="1600" dirty="0" err="1"/>
              <a:t>changes</a:t>
            </a:r>
            <a:r>
              <a:rPr lang="de-DE" sz="1600" dirty="0"/>
              <a:t> </a:t>
            </a:r>
            <a:r>
              <a:rPr lang="de-DE" sz="1600" dirty="0" err="1"/>
              <a:t>unpredictably</a:t>
            </a:r>
            <a:r>
              <a:rPr lang="de-DE" sz="1600" dirty="0"/>
              <a:t>.</a:t>
            </a:r>
          </a:p>
          <a:p>
            <a:r>
              <a:rPr lang="de-DE" sz="1600" dirty="0" err="1"/>
              <a:t>Captures</a:t>
            </a:r>
            <a:r>
              <a:rPr lang="de-DE" sz="1600" dirty="0"/>
              <a:t> </a:t>
            </a:r>
            <a:r>
              <a:rPr lang="de-DE" sz="1600" b="1" dirty="0" err="1"/>
              <a:t>volatility</a:t>
            </a:r>
            <a:r>
              <a:rPr lang="de-DE" sz="1600" b="1" dirty="0"/>
              <a:t> </a:t>
            </a:r>
            <a:r>
              <a:rPr lang="de-DE" sz="1600" b="1" dirty="0" err="1"/>
              <a:t>clustering</a:t>
            </a:r>
            <a:r>
              <a:rPr lang="de-DE" sz="1600" dirty="0"/>
              <a:t>: high-</a:t>
            </a:r>
            <a:r>
              <a:rPr lang="de-DE" sz="1600" dirty="0" err="1"/>
              <a:t>volatility</a:t>
            </a:r>
            <a:r>
              <a:rPr lang="de-DE" sz="1600" dirty="0"/>
              <a:t> </a:t>
            </a:r>
            <a:r>
              <a:rPr lang="de-DE" sz="1600" dirty="0" err="1"/>
              <a:t>periods</a:t>
            </a:r>
            <a:r>
              <a:rPr lang="de-DE" sz="1600" dirty="0"/>
              <a:t> </a:t>
            </a:r>
            <a:r>
              <a:rPr lang="de-DE" sz="1600" dirty="0" err="1"/>
              <a:t>tend</a:t>
            </a:r>
            <a:r>
              <a:rPr lang="de-DE" sz="1600" dirty="0"/>
              <a:t> </a:t>
            </a:r>
            <a:r>
              <a:rPr lang="de-DE" sz="1600" dirty="0" err="1"/>
              <a:t>to</a:t>
            </a:r>
            <a:r>
              <a:rPr lang="de-DE" sz="1600" dirty="0"/>
              <a:t> follow </a:t>
            </a:r>
            <a:r>
              <a:rPr lang="de-DE" sz="1600" dirty="0" err="1"/>
              <a:t>each</a:t>
            </a:r>
            <a:r>
              <a:rPr lang="de-DE" sz="1600" dirty="0"/>
              <a:t> </a:t>
            </a:r>
            <a:r>
              <a:rPr lang="de-DE" sz="1600" dirty="0" err="1"/>
              <a:t>other</a:t>
            </a:r>
            <a:endParaRPr lang="de-DE" sz="1600" dirty="0"/>
          </a:p>
          <a:p>
            <a:endParaRPr lang="de-DE" sz="20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84935FA-01B9-1644-B82C-0B8D99A00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80" y="3121267"/>
            <a:ext cx="6345607" cy="304213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97E7571-8AD6-6144-9278-2AFE41644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250" y="2696552"/>
            <a:ext cx="4605965" cy="3796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004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84651F-0319-7740-B33E-FBFCDE228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7922"/>
            <a:ext cx="10515600" cy="1325563"/>
          </a:xfrm>
        </p:spPr>
        <p:txBody>
          <a:bodyPr>
            <a:normAutofit/>
          </a:bodyPr>
          <a:lstStyle/>
          <a:p>
            <a:r>
              <a:rPr lang="de-DE" sz="4000" dirty="0"/>
              <a:t>2.1 Kalman Filter - Implementation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766BB3-AA98-DC4B-867F-1724E41E9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193" y="1249830"/>
            <a:ext cx="9448168" cy="5221308"/>
          </a:xfrm>
        </p:spPr>
        <p:txBody>
          <a:bodyPr>
            <a:normAutofit/>
          </a:bodyPr>
          <a:lstStyle/>
          <a:p>
            <a:r>
              <a:rPr lang="de-DE" sz="2000" dirty="0" err="1"/>
              <a:t>Recursive</a:t>
            </a:r>
            <a:r>
              <a:rPr lang="de-DE" sz="2000" dirty="0"/>
              <a:t> </a:t>
            </a:r>
            <a:r>
              <a:rPr lang="de-DE" sz="2000" dirty="0" err="1"/>
              <a:t>algorithm</a:t>
            </a:r>
            <a:r>
              <a:rPr lang="de-DE" sz="2000" dirty="0"/>
              <a:t> </a:t>
            </a:r>
            <a:r>
              <a:rPr lang="de-DE" sz="2000" dirty="0" err="1"/>
              <a:t>for</a:t>
            </a:r>
            <a:r>
              <a:rPr lang="de-DE" sz="2000" dirty="0"/>
              <a:t> linear </a:t>
            </a:r>
            <a:r>
              <a:rPr lang="de-DE" sz="2000" dirty="0" err="1"/>
              <a:t>state-space</a:t>
            </a:r>
            <a:r>
              <a:rPr lang="de-DE" sz="2000" dirty="0"/>
              <a:t> </a:t>
            </a:r>
            <a:r>
              <a:rPr lang="de-DE" sz="2000" dirty="0" err="1"/>
              <a:t>models</a:t>
            </a:r>
            <a:r>
              <a:rPr lang="de-DE" sz="2000" dirty="0"/>
              <a:t> </a:t>
            </a:r>
          </a:p>
          <a:p>
            <a:r>
              <a:rPr lang="de-DE" sz="2000" dirty="0">
                <a:sym typeface="Wingdings" pitchFamily="2" charset="2"/>
              </a:rPr>
              <a:t> Key </a:t>
            </a:r>
            <a:r>
              <a:rPr lang="de-DE" sz="2000" dirty="0" err="1">
                <a:sym typeface="Wingdings" pitchFamily="2" charset="2"/>
              </a:rPr>
              <a:t>steps</a:t>
            </a:r>
            <a:r>
              <a:rPr lang="de-DE" sz="2000" dirty="0">
                <a:sym typeface="Wingdings" pitchFamily="2" charset="2"/>
              </a:rPr>
              <a:t>: </a:t>
            </a:r>
            <a:r>
              <a:rPr lang="de-DE" sz="2000" dirty="0" err="1">
                <a:sym typeface="Wingdings" pitchFamily="2" charset="2"/>
              </a:rPr>
              <a:t>Prediction</a:t>
            </a:r>
            <a:r>
              <a:rPr lang="de-DE" sz="2000" dirty="0">
                <a:sym typeface="Wingdings" pitchFamily="2" charset="2"/>
              </a:rPr>
              <a:t>(</a:t>
            </a:r>
            <a:r>
              <a:rPr lang="de-DE" sz="2000" dirty="0" err="1">
                <a:sym typeface="Wingdings" pitchFamily="2" charset="2"/>
              </a:rPr>
              <a:t>forecast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next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stept</a:t>
            </a:r>
            <a:r>
              <a:rPr lang="de-DE" sz="2000" dirty="0">
                <a:sym typeface="Wingdings" pitchFamily="2" charset="2"/>
              </a:rPr>
              <a:t>), Update(</a:t>
            </a:r>
            <a:r>
              <a:rPr lang="de-DE" sz="2000" dirty="0" err="1">
                <a:sym typeface="Wingdings" pitchFamily="2" charset="2"/>
              </a:rPr>
              <a:t>Adjust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usting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observations</a:t>
            </a:r>
            <a:r>
              <a:rPr lang="de-DE" sz="2000" dirty="0">
                <a:sym typeface="Wingdings" pitchFamily="2" charset="2"/>
              </a:rPr>
              <a:t>)</a:t>
            </a:r>
          </a:p>
          <a:p>
            <a:r>
              <a:rPr lang="de-DE" sz="2000" dirty="0">
                <a:sym typeface="Wingdings" pitchFamily="2" charset="2"/>
              </a:rPr>
              <a:t>Goal: </a:t>
            </a:r>
            <a:r>
              <a:rPr lang="de-DE" sz="2000" dirty="0" err="1">
                <a:sym typeface="Wingdings" pitchFamily="2" charset="2"/>
              </a:rPr>
              <a:t>Estimates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unobserved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states</a:t>
            </a:r>
            <a:r>
              <a:rPr lang="de-DE" sz="2000" dirty="0">
                <a:sym typeface="Wingdings" pitchFamily="2" charset="2"/>
              </a:rPr>
              <a:t> (</a:t>
            </a:r>
            <a:r>
              <a:rPr lang="de-DE" sz="2000" dirty="0" err="1">
                <a:sym typeface="Wingdings" pitchFamily="2" charset="2"/>
              </a:rPr>
              <a:t>h_t</a:t>
            </a:r>
            <a:r>
              <a:rPr lang="de-DE" sz="2000" dirty="0">
                <a:sym typeface="Wingdings" pitchFamily="2" charset="2"/>
              </a:rPr>
              <a:t>) form </a:t>
            </a:r>
            <a:r>
              <a:rPr lang="de-DE" sz="2000" dirty="0" err="1">
                <a:sym typeface="Wingdings" pitchFamily="2" charset="2"/>
              </a:rPr>
              <a:t>noisy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data</a:t>
            </a:r>
            <a:endParaRPr lang="de-DE" sz="2000" dirty="0">
              <a:sym typeface="Wingdings" pitchFamily="2" charset="2"/>
            </a:endParaRPr>
          </a:p>
          <a:p>
            <a:endParaRPr lang="de-DE" sz="2000" dirty="0">
              <a:sym typeface="Wingdings" pitchFamily="2" charset="2"/>
            </a:endParaRPr>
          </a:p>
          <a:p>
            <a:r>
              <a:rPr lang="de-DE" sz="2000" dirty="0">
                <a:sym typeface="Wingdings" pitchFamily="2" charset="2"/>
              </a:rPr>
              <a:t>1. </a:t>
            </a:r>
            <a:r>
              <a:rPr lang="de-DE" sz="2000" dirty="0" err="1">
                <a:sym typeface="Wingdings" pitchFamily="2" charset="2"/>
              </a:rPr>
              <a:t>Prediction</a:t>
            </a:r>
            <a:r>
              <a:rPr lang="de-DE" sz="2000" dirty="0">
                <a:sym typeface="Wingdings" pitchFamily="2" charset="2"/>
              </a:rPr>
              <a:t> (</a:t>
            </a:r>
            <a:r>
              <a:rPr lang="de-DE" sz="2000" dirty="0" err="1">
                <a:sym typeface="Wingdings" pitchFamily="2" charset="2"/>
              </a:rPr>
              <a:t>our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best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guess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before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seeing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the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observation</a:t>
            </a:r>
            <a:r>
              <a:rPr lang="de-DE" sz="2000" dirty="0">
                <a:sym typeface="Wingdings" pitchFamily="2" charset="2"/>
              </a:rPr>
              <a:t>)</a:t>
            </a:r>
          </a:p>
          <a:p>
            <a:r>
              <a:rPr lang="de-DE" sz="2000" dirty="0">
                <a:sym typeface="Wingdings" pitchFamily="2" charset="2"/>
              </a:rPr>
              <a:t> </a:t>
            </a:r>
            <a:r>
              <a:rPr lang="de-DE" sz="2000" dirty="0" err="1">
                <a:sym typeface="Wingdings" pitchFamily="2" charset="2"/>
              </a:rPr>
              <a:t>Predict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next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state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and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uncertainty</a:t>
            </a:r>
            <a:endParaRPr lang="de-DE" sz="2000" dirty="0">
              <a:sym typeface="Wingdings" pitchFamily="2" charset="2"/>
            </a:endParaRPr>
          </a:p>
          <a:p>
            <a:endParaRPr lang="de-DE" sz="2000" dirty="0">
              <a:sym typeface="Wingdings" pitchFamily="2" charset="2"/>
            </a:endParaRPr>
          </a:p>
          <a:p>
            <a:pPr algn="l"/>
            <a:r>
              <a:rPr lang="de-DE" sz="2000" dirty="0">
                <a:sym typeface="Wingdings" pitchFamily="2" charset="2"/>
              </a:rPr>
              <a:t>2. Update (Measurement </a:t>
            </a:r>
            <a:r>
              <a:rPr lang="de-DE" sz="2000" dirty="0" err="1">
                <a:sym typeface="Wingdings" pitchFamily="2" charset="2"/>
              </a:rPr>
              <a:t>Correction</a:t>
            </a:r>
            <a:r>
              <a:rPr lang="de-DE" sz="2000" dirty="0">
                <a:sym typeface="Wingdings" pitchFamily="2" charset="2"/>
              </a:rPr>
              <a:t>)</a:t>
            </a:r>
          </a:p>
          <a:p>
            <a:pPr algn="l"/>
            <a:r>
              <a:rPr lang="de-DE" sz="2000" dirty="0">
                <a:sym typeface="Wingdings" pitchFamily="2" charset="2"/>
              </a:rPr>
              <a:t> </a:t>
            </a:r>
            <a:r>
              <a:rPr lang="de-DE" sz="2000" dirty="0" err="1">
                <a:sym typeface="Wingdings" pitchFamily="2" charset="2"/>
              </a:rPr>
              <a:t>Calculate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prediction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error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and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innovation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variance</a:t>
            </a:r>
            <a:endParaRPr lang="de-DE" sz="2000" dirty="0">
              <a:sym typeface="Wingdings" pitchFamily="2" charset="2"/>
            </a:endParaRPr>
          </a:p>
          <a:p>
            <a:pPr algn="l"/>
            <a:endParaRPr lang="de-DE" sz="2000" dirty="0">
              <a:sym typeface="Wingdings" pitchFamily="2" charset="2"/>
            </a:endParaRPr>
          </a:p>
          <a:p>
            <a:pPr algn="l"/>
            <a:r>
              <a:rPr lang="de-DE" sz="2000" dirty="0">
                <a:sym typeface="Wingdings" pitchFamily="2" charset="2"/>
              </a:rPr>
              <a:t></a:t>
            </a:r>
            <a:r>
              <a:rPr lang="de-DE" sz="2000" dirty="0" err="1">
                <a:sym typeface="Wingdings" pitchFamily="2" charset="2"/>
              </a:rPr>
              <a:t>Compute</a:t>
            </a:r>
            <a:r>
              <a:rPr lang="de-DE" sz="2000" dirty="0">
                <a:sym typeface="Wingdings" pitchFamily="2" charset="2"/>
              </a:rPr>
              <a:t> Kalman </a:t>
            </a:r>
            <a:r>
              <a:rPr lang="de-DE" sz="2000" dirty="0" err="1">
                <a:sym typeface="Wingdings" pitchFamily="2" charset="2"/>
              </a:rPr>
              <a:t>Gain</a:t>
            </a:r>
            <a:r>
              <a:rPr lang="de-DE" sz="2000" dirty="0">
                <a:sym typeface="Wingdings" pitchFamily="2" charset="2"/>
              </a:rPr>
              <a:t> (= </a:t>
            </a:r>
            <a:r>
              <a:rPr lang="de-DE" sz="2000" dirty="0" err="1">
                <a:sym typeface="Wingdings" pitchFamily="2" charset="2"/>
              </a:rPr>
              <a:t>trust</a:t>
            </a:r>
            <a:r>
              <a:rPr lang="de-DE" sz="2000" dirty="0">
                <a:sym typeface="Wingdings" pitchFamily="2" charset="2"/>
              </a:rPr>
              <a:t> in </a:t>
            </a:r>
            <a:r>
              <a:rPr lang="de-DE" sz="2000" dirty="0" err="1">
                <a:sym typeface="Wingdings" pitchFamily="2" charset="2"/>
              </a:rPr>
              <a:t>new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data</a:t>
            </a:r>
            <a:r>
              <a:rPr lang="de-DE" sz="2000" dirty="0">
                <a:sym typeface="Wingdings" pitchFamily="2" charset="2"/>
              </a:rPr>
              <a:t>) =&gt; </a:t>
            </a:r>
            <a:r>
              <a:rPr lang="de-DE" sz="2000" dirty="0" err="1">
                <a:sym typeface="Wingdings" pitchFamily="2" charset="2"/>
              </a:rPr>
              <a:t>minimizes</a:t>
            </a:r>
            <a:r>
              <a:rPr lang="de-DE" sz="2000" dirty="0">
                <a:sym typeface="Wingdings" pitchFamily="2" charset="2"/>
              </a:rPr>
              <a:t> MSE</a:t>
            </a:r>
          </a:p>
          <a:p>
            <a:pPr algn="l"/>
            <a:r>
              <a:rPr lang="de-DE" sz="2000" dirty="0">
                <a:sym typeface="Wingdings" pitchFamily="2" charset="2"/>
              </a:rPr>
              <a:t> Update </a:t>
            </a:r>
            <a:r>
              <a:rPr lang="de-DE" sz="2000" dirty="0" err="1">
                <a:sym typeface="Wingdings" pitchFamily="2" charset="2"/>
              </a:rPr>
              <a:t>new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state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and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its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uncertainty</a:t>
            </a:r>
            <a:endParaRPr lang="de-DE" sz="2000" dirty="0">
              <a:sym typeface="Wingdings" pitchFamily="2" charset="2"/>
            </a:endParaRPr>
          </a:p>
          <a:p>
            <a:pPr algn="l"/>
            <a:endParaRPr lang="de-DE" sz="1400" b="1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None/>
            </a:pPr>
            <a:endParaRPr lang="de-DE" sz="2000" dirty="0">
              <a:sym typeface="Wingdings" pitchFamily="2" charset="2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03D1390-F4ED-AE47-A9E6-697344F8D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846" y="3251350"/>
            <a:ext cx="1679523" cy="486591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E6F924A-E322-B446-B593-7963FE283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4568" y="3251350"/>
            <a:ext cx="1837593" cy="38019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77973E3-B0E5-0643-BC10-6A5F120FA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7474" y="4759539"/>
            <a:ext cx="2379720" cy="38019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87D7446-03A0-B44A-8082-B35C496E23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2300" y="4723539"/>
            <a:ext cx="1663700" cy="3810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9775BEB8-3FC2-C143-A743-20A12A7B77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7414" y="5030157"/>
            <a:ext cx="1231900" cy="6985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9F5B7A72-2764-7E4D-8D4E-0627D7DAE8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9315" y="5937738"/>
            <a:ext cx="36576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476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6E34E5-20DC-D346-8904-4B67BACC3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/>
              <a:t>2.2 Kalman Filter - Implementation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654468-FE44-7646-BA28-C2B781DE1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1800" dirty="0"/>
              <a:t>SVM </a:t>
            </a:r>
            <a:r>
              <a:rPr lang="de-DE" sz="1800" dirty="0" err="1"/>
              <a:t>isn‘t</a:t>
            </a:r>
            <a:r>
              <a:rPr lang="de-DE" sz="1800" dirty="0"/>
              <a:t> linear </a:t>
            </a:r>
            <a:r>
              <a:rPr lang="de-DE" sz="1800" dirty="0">
                <a:sym typeface="Wingdings" pitchFamily="2" charset="2"/>
              </a:rPr>
              <a:t> Solution: Take </a:t>
            </a:r>
            <a:r>
              <a:rPr lang="de-DE" sz="1800" dirty="0" err="1">
                <a:sym typeface="Wingdings" pitchFamily="2" charset="2"/>
              </a:rPr>
              <a:t>the</a:t>
            </a:r>
            <a:r>
              <a:rPr lang="de-DE" sz="1800" dirty="0">
                <a:sym typeface="Wingdings" pitchFamily="2" charset="2"/>
              </a:rPr>
              <a:t> log </a:t>
            </a:r>
            <a:r>
              <a:rPr lang="de-DE" sz="1800" dirty="0" err="1">
                <a:sym typeface="Wingdings" pitchFamily="2" charset="2"/>
              </a:rPr>
              <a:t>of</a:t>
            </a:r>
            <a:r>
              <a:rPr lang="de-DE" sz="1800" dirty="0">
                <a:sym typeface="Wingdings" pitchFamily="2" charset="2"/>
              </a:rPr>
              <a:t> </a:t>
            </a:r>
            <a:r>
              <a:rPr lang="de-DE" sz="1800" dirty="0" err="1">
                <a:sym typeface="Wingdings" pitchFamily="2" charset="2"/>
              </a:rPr>
              <a:t>squared</a:t>
            </a:r>
            <a:r>
              <a:rPr lang="de-DE" sz="1800" dirty="0">
                <a:sym typeface="Wingdings" pitchFamily="2" charset="2"/>
              </a:rPr>
              <a:t> </a:t>
            </a:r>
            <a:r>
              <a:rPr lang="de-DE" sz="1800" dirty="0" err="1">
                <a:sym typeface="Wingdings" pitchFamily="2" charset="2"/>
              </a:rPr>
              <a:t>returns</a:t>
            </a:r>
            <a:r>
              <a:rPr lang="de-DE" sz="1800" dirty="0">
                <a:sym typeface="Wingdings" pitchFamily="2" charset="2"/>
              </a:rPr>
              <a:t>  </a:t>
            </a:r>
            <a:r>
              <a:rPr lang="de-DE" sz="1800" dirty="0" err="1">
                <a:sym typeface="Wingdings" pitchFamily="2" charset="2"/>
              </a:rPr>
              <a:t>now</a:t>
            </a:r>
            <a:r>
              <a:rPr lang="de-DE" sz="1800" dirty="0">
                <a:sym typeface="Wingdings" pitchFamily="2" charset="2"/>
              </a:rPr>
              <a:t> linear, </a:t>
            </a:r>
            <a:r>
              <a:rPr lang="de-DE" sz="1800" dirty="0" err="1">
                <a:sym typeface="Wingdings" pitchFamily="2" charset="2"/>
              </a:rPr>
              <a:t>apply</a:t>
            </a:r>
            <a:r>
              <a:rPr lang="de-DE" sz="1800" dirty="0">
                <a:sym typeface="Wingdings" pitchFamily="2" charset="2"/>
              </a:rPr>
              <a:t> Kalman (</a:t>
            </a:r>
            <a:r>
              <a:rPr lang="de-DE" sz="1800" dirty="0" err="1">
                <a:sym typeface="Wingdings" pitchFamily="2" charset="2"/>
              </a:rPr>
              <a:t>y</a:t>
            </a:r>
            <a:r>
              <a:rPr lang="de-DE" sz="1800" dirty="0">
                <a:sym typeface="Wingdings" pitchFamily="2" charset="2"/>
              </a:rPr>
              <a:t> = </a:t>
            </a:r>
            <a:r>
              <a:rPr lang="de-DE" sz="1800" dirty="0" err="1">
                <a:sym typeface="Wingdings" pitchFamily="2" charset="2"/>
              </a:rPr>
              <a:t>np.log</a:t>
            </a:r>
            <a:r>
              <a:rPr lang="de-DE" sz="1800" dirty="0">
                <a:sym typeface="Wingdings" pitchFamily="2" charset="2"/>
              </a:rPr>
              <a:t>(</a:t>
            </a:r>
            <a:r>
              <a:rPr lang="de-DE" sz="1800" dirty="0" err="1">
                <a:sym typeface="Wingdings" pitchFamily="2" charset="2"/>
              </a:rPr>
              <a:t>r</a:t>
            </a:r>
            <a:r>
              <a:rPr lang="de-DE" sz="1800" dirty="0">
                <a:sym typeface="Wingdings" pitchFamily="2" charset="2"/>
              </a:rPr>
              <a:t>**2))</a:t>
            </a:r>
            <a:endParaRPr lang="de-DE" sz="18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FAC2D67-1425-0E44-8B8B-FBDC09659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4767" y="2338754"/>
            <a:ext cx="4346662" cy="412713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EFF1F33-01DE-8F43-9CB9-BD0038064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38754"/>
            <a:ext cx="5975513" cy="4246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229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5C4C01-2F90-C840-B679-5BA7FE8F1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/>
              <a:t>3.0 </a:t>
            </a:r>
            <a:r>
              <a:rPr lang="de-DE" sz="4000" dirty="0" err="1"/>
              <a:t>Estimating</a:t>
            </a:r>
            <a:r>
              <a:rPr lang="de-DE" sz="4000" dirty="0"/>
              <a:t> </a:t>
            </a:r>
            <a:r>
              <a:rPr lang="de-DE" sz="4000" dirty="0" err="1"/>
              <a:t>Params</a:t>
            </a:r>
            <a:r>
              <a:rPr lang="de-DE" sz="4000" dirty="0"/>
              <a:t> </a:t>
            </a:r>
            <a:r>
              <a:rPr lang="de-DE" sz="4000" dirty="0" err="1"/>
              <a:t>with</a:t>
            </a:r>
            <a:r>
              <a:rPr lang="de-DE" sz="4000" dirty="0"/>
              <a:t> MLE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98D99C-EA43-5B48-875D-A46361256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7446"/>
            <a:ext cx="10515600" cy="4629517"/>
          </a:xfrm>
        </p:spPr>
        <p:txBody>
          <a:bodyPr>
            <a:normAutofit/>
          </a:bodyPr>
          <a:lstStyle/>
          <a:p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Estimate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params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by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de-DE" sz="1800" b="1" i="0" u="none" strike="noStrike" dirty="0" err="1">
                <a:solidFill>
                  <a:srgbClr val="000000"/>
                </a:solidFill>
                <a:effectLst/>
              </a:rPr>
              <a:t>maximizing</a:t>
            </a:r>
            <a:r>
              <a:rPr lang="de-DE" sz="18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1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de-DE" sz="18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1" i="0" u="none" strike="noStrike" dirty="0" err="1">
                <a:solidFill>
                  <a:srgbClr val="000000"/>
                </a:solidFill>
                <a:effectLst/>
              </a:rPr>
              <a:t>likelihood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of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observed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data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,                                                              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using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de-DE" sz="1800" b="1" i="0" u="none" strike="noStrike" dirty="0">
                <a:solidFill>
                  <a:srgbClr val="000000"/>
                </a:solidFill>
                <a:effectLst/>
              </a:rPr>
              <a:t>Kalman </a:t>
            </a:r>
            <a:r>
              <a:rPr lang="de-DE" sz="1800" b="1" i="0" u="none" strike="noStrike" dirty="0" err="1">
                <a:solidFill>
                  <a:srgbClr val="000000"/>
                </a:solidFill>
                <a:effectLst/>
              </a:rPr>
              <a:t>filter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to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compute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likelihood</a:t>
            </a:r>
            <a:endParaRPr lang="de-DE" sz="1800" b="0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de-DE" sz="1800" b="1" i="0" u="none" strike="noStrike" dirty="0">
                <a:solidFill>
                  <a:srgbClr val="000000"/>
                </a:solidFill>
                <a:effectLst/>
              </a:rPr>
              <a:t>Initial </a:t>
            </a:r>
            <a:r>
              <a:rPr lang="de-DE" sz="1800" b="1" i="0" u="none" strike="noStrike" dirty="0" err="1">
                <a:solidFill>
                  <a:srgbClr val="000000"/>
                </a:solidFill>
                <a:effectLst/>
              </a:rPr>
              <a:t>guess</a:t>
            </a:r>
            <a:r>
              <a:rPr lang="de-DE" sz="1800" b="1" i="0" u="none" strike="noStrike" dirty="0">
                <a:solidFill>
                  <a:srgbClr val="000000"/>
                </a:solidFill>
                <a:effectLst/>
              </a:rPr>
              <a:t>: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phi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= 0.9,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sigma_eta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= 0.3,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sigma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= 1.2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de-DE" sz="1800" b="1" i="0" u="none" strike="noStrike" dirty="0" err="1">
                <a:solidFill>
                  <a:srgbClr val="000000"/>
                </a:solidFill>
                <a:effectLst/>
              </a:rPr>
              <a:t>Constraints</a:t>
            </a:r>
            <a:r>
              <a:rPr lang="de-DE" sz="1800" b="1" i="0" u="none" strike="noStrike" dirty="0">
                <a:solidFill>
                  <a:srgbClr val="000000"/>
                </a:solidFill>
                <a:effectLst/>
              </a:rPr>
              <a:t>:</a:t>
            </a:r>
            <a:endParaRPr lang="de-DE" sz="1800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0 &lt;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phi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&lt; 1 (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stationarity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sigma_eta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&gt; 0,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sigma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&gt; 0 (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variances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must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be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positive)</a:t>
            </a:r>
          </a:p>
          <a:p>
            <a:r>
              <a:rPr lang="de-DE" sz="1800" b="1" i="0" u="none" strike="noStrike" dirty="0" err="1">
                <a:solidFill>
                  <a:srgbClr val="000000"/>
                </a:solidFill>
                <a:effectLst/>
              </a:rPr>
              <a:t>Algorithm: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L-BFGS-B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using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scipy-package</a:t>
            </a:r>
            <a:endParaRPr lang="de-DE" sz="1800" b="0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Apply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 Kalman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filter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to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compute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</a:rPr>
              <a:t>log-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</a:rPr>
              <a:t>likelihood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</a:rPr>
              <a:t>and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</a:rPr>
              <a:t>optimize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endParaRPr lang="de-DE" sz="1600" dirty="0">
              <a:solidFill>
                <a:srgbClr val="000000"/>
              </a:solidFill>
            </a:endParaRPr>
          </a:p>
          <a:p>
            <a:endParaRPr lang="de-DE" sz="1600" b="0" i="0" u="none" strike="noStrike" dirty="0">
              <a:solidFill>
                <a:srgbClr val="000000"/>
              </a:solidFill>
              <a:effectLst/>
            </a:endParaRPr>
          </a:p>
          <a:p>
            <a:endParaRPr lang="de-DE" sz="1600" b="0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de-DE" sz="1600" dirty="0">
                <a:solidFill>
                  <a:srgbClr val="000000"/>
                </a:solidFill>
              </a:rPr>
              <a:t>Outcome: </a:t>
            </a:r>
          </a:p>
          <a:p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These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are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</a:rPr>
              <a:t>compared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</a:rPr>
              <a:t>to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</a:rPr>
              <a:t>simulation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</a:rPr>
              <a:t>truth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to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 check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estimation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accuracy</a:t>
            </a:r>
            <a:endParaRPr lang="de-DE" sz="16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E288074-ADF4-4447-9BCD-A5BA7CAA3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538" y="1843454"/>
            <a:ext cx="1721581" cy="38979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12A6C89-DE72-F845-AEEB-18A04256F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183" y="4228245"/>
            <a:ext cx="2120900" cy="5842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6230A743-78AC-DD43-B9D5-E5364DDAC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591" y="4272207"/>
            <a:ext cx="2247900" cy="5461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7C6C114A-AD46-7E4E-969A-4998E24726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9735" y="5310554"/>
            <a:ext cx="952500" cy="3683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CB0A28C8-852E-C542-A4D1-3B6CF2D498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8327" y="3029132"/>
            <a:ext cx="4371456" cy="225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107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BC2F1A-1E5C-2341-85A8-2CFB396F1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/>
              <a:t>4.0 EGARCH Model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791A41-5E8F-A049-9440-985ECC833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477"/>
            <a:ext cx="10515600" cy="4957397"/>
          </a:xfrm>
        </p:spPr>
        <p:txBody>
          <a:bodyPr>
            <a:normAutofit/>
          </a:bodyPr>
          <a:lstStyle/>
          <a:p>
            <a:r>
              <a:rPr lang="de-DE" sz="1400" b="1" i="0" u="none" strike="noStrike" dirty="0">
                <a:solidFill>
                  <a:srgbClr val="000000"/>
                </a:solidFill>
                <a:effectLst/>
              </a:rPr>
              <a:t>Modeling </a:t>
            </a:r>
            <a:r>
              <a:rPr lang="de-DE" sz="1400" b="1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de-DE" sz="14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400" b="1" i="0" u="none" strike="noStrike" dirty="0" err="1">
                <a:solidFill>
                  <a:srgbClr val="000000"/>
                </a:solidFill>
                <a:effectLst/>
              </a:rPr>
              <a:t>logarithm</a:t>
            </a:r>
            <a:r>
              <a:rPr lang="de-DE" sz="14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400" b="1" i="0" u="none" strike="noStrike" dirty="0" err="1">
                <a:solidFill>
                  <a:srgbClr val="000000"/>
                </a:solidFill>
                <a:effectLst/>
              </a:rPr>
              <a:t>of</a:t>
            </a:r>
            <a:r>
              <a:rPr lang="de-DE" sz="14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400" b="1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de-DE" sz="14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400" b="1" i="0" u="none" strike="noStrike" dirty="0" err="1">
                <a:solidFill>
                  <a:srgbClr val="000000"/>
                </a:solidFill>
                <a:effectLst/>
              </a:rPr>
              <a:t>conditional</a:t>
            </a:r>
            <a:r>
              <a:rPr lang="de-DE" sz="14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400" b="1" i="0" u="none" strike="noStrike" dirty="0" err="1">
                <a:solidFill>
                  <a:srgbClr val="000000"/>
                </a:solidFill>
                <a:effectLst/>
              </a:rPr>
              <a:t>variance</a:t>
            </a:r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lang="de-DE" sz="14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to</a:t>
            </a:r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de-DE" sz="14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capture</a:t>
            </a:r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lang="de-DE" sz="1400" b="1" i="0" u="none" strike="noStrike" dirty="0" err="1">
                <a:solidFill>
                  <a:srgbClr val="000000"/>
                </a:solidFill>
                <a:effectLst/>
              </a:rPr>
              <a:t>asymmetric</a:t>
            </a:r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lang="de-DE" sz="14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and</a:t>
            </a:r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lang="de-DE" sz="1400" b="1" i="0" u="none" strike="noStrike" dirty="0" err="1">
                <a:solidFill>
                  <a:srgbClr val="000000"/>
                </a:solidFill>
                <a:effectLst/>
              </a:rPr>
              <a:t>nonlinear</a:t>
            </a:r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lang="de-DE" sz="14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volatility</a:t>
            </a:r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de-DE" sz="14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dynamics</a:t>
            </a:r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in </a:t>
            </a:r>
            <a:r>
              <a:rPr lang="de-DE" sz="14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financial</a:t>
            </a:r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time </a:t>
            </a:r>
            <a:r>
              <a:rPr lang="de-DE" sz="14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series</a:t>
            </a:r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lang="de-DE" sz="2000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In </a:t>
            </a:r>
            <a:r>
              <a:rPr lang="de-DE" sz="14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financial</a:t>
            </a:r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de-DE" sz="14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markets</a:t>
            </a:r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 </a:t>
            </a:r>
            <a:r>
              <a:rPr lang="de-DE" sz="1400" b="1" i="0" u="none" strike="noStrike" dirty="0">
                <a:solidFill>
                  <a:srgbClr val="000000"/>
                </a:solidFill>
                <a:effectLst/>
              </a:rPr>
              <a:t>negative </a:t>
            </a:r>
            <a:r>
              <a:rPr lang="de-DE" sz="1400" b="1" i="0" u="none" strike="noStrike" dirty="0" err="1">
                <a:solidFill>
                  <a:srgbClr val="000000"/>
                </a:solidFill>
                <a:effectLst/>
              </a:rPr>
              <a:t>returns</a:t>
            </a:r>
            <a:r>
              <a:rPr lang="de-DE" sz="1400" b="1" i="0" u="none" strike="noStrike" dirty="0">
                <a:solidFill>
                  <a:srgbClr val="000000"/>
                </a:solidFill>
                <a:effectLst/>
              </a:rPr>
              <a:t> ("</a:t>
            </a:r>
            <a:r>
              <a:rPr lang="de-DE" sz="1400" b="1" i="0" u="none" strike="noStrike" dirty="0" err="1">
                <a:solidFill>
                  <a:srgbClr val="000000"/>
                </a:solidFill>
                <a:effectLst/>
              </a:rPr>
              <a:t>bad</a:t>
            </a:r>
            <a:r>
              <a:rPr lang="de-DE" sz="14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400" b="1" i="0" u="none" strike="noStrike" dirty="0" err="1">
                <a:solidFill>
                  <a:srgbClr val="000000"/>
                </a:solidFill>
                <a:effectLst/>
              </a:rPr>
              <a:t>news</a:t>
            </a:r>
            <a:r>
              <a:rPr lang="de-DE" sz="1400" b="1" i="0" u="none" strike="noStrike" dirty="0">
                <a:solidFill>
                  <a:srgbClr val="000000"/>
                </a:solidFill>
                <a:effectLst/>
              </a:rPr>
              <a:t>") </a:t>
            </a:r>
            <a:r>
              <a:rPr lang="de-DE" sz="1400" b="1" i="0" u="none" strike="noStrike" dirty="0" err="1">
                <a:solidFill>
                  <a:srgbClr val="000000"/>
                </a:solidFill>
                <a:effectLst/>
              </a:rPr>
              <a:t>often</a:t>
            </a:r>
            <a:r>
              <a:rPr lang="de-DE" sz="14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400" b="1" i="0" u="none" strike="noStrike" dirty="0" err="1">
                <a:solidFill>
                  <a:srgbClr val="000000"/>
                </a:solidFill>
                <a:effectLst/>
              </a:rPr>
              <a:t>cause</a:t>
            </a:r>
            <a:r>
              <a:rPr lang="de-DE" sz="14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400" b="1" i="0" u="none" strike="noStrike" dirty="0" err="1">
                <a:solidFill>
                  <a:srgbClr val="000000"/>
                </a:solidFill>
                <a:effectLst/>
              </a:rPr>
              <a:t>more</a:t>
            </a:r>
            <a:r>
              <a:rPr lang="de-DE" sz="14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400" b="1" i="0" u="none" strike="noStrike" dirty="0" err="1">
                <a:solidFill>
                  <a:srgbClr val="000000"/>
                </a:solidFill>
                <a:effectLst/>
              </a:rPr>
              <a:t>volatility</a:t>
            </a:r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lang="de-DE" sz="14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than</a:t>
            </a:r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positive </a:t>
            </a:r>
            <a:r>
              <a:rPr lang="de-DE" sz="14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ones</a:t>
            </a:r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de-DE" sz="14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of</a:t>
            </a:r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de-DE" sz="14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same </a:t>
            </a:r>
            <a:r>
              <a:rPr lang="de-DE" sz="14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size</a:t>
            </a:r>
            <a:endParaRPr lang="de-DE" sz="2000" dirty="0">
              <a:solidFill>
                <a:srgbClr val="000000"/>
              </a:solidFill>
              <a:latin typeface="-webkit-standard"/>
            </a:endParaRPr>
          </a:p>
          <a:p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The EGARCH(1,1) </a:t>
            </a:r>
            <a:r>
              <a:rPr lang="de-DE" sz="14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model</a:t>
            </a:r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de-DE" sz="14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defines</a:t>
            </a:r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log-</a:t>
            </a:r>
            <a:r>
              <a:rPr lang="de-DE" sz="14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variance</a:t>
            </a:r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de-DE" sz="14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as</a:t>
            </a:r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</a:t>
            </a:r>
          </a:p>
          <a:p>
            <a:endParaRPr lang="de-DE" sz="1400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de-DE" sz="1400" dirty="0" err="1"/>
              <a:t>omega</a:t>
            </a:r>
            <a:r>
              <a:rPr lang="de-DE" sz="1400" dirty="0"/>
              <a:t>: </a:t>
            </a:r>
            <a:r>
              <a:rPr lang="de-DE" sz="1400" dirty="0" err="1"/>
              <a:t>long</a:t>
            </a:r>
            <a:r>
              <a:rPr lang="de-DE" sz="1400" dirty="0"/>
              <a:t>-run </a:t>
            </a:r>
            <a:r>
              <a:rPr lang="de-DE" sz="1400" dirty="0" err="1"/>
              <a:t>average</a:t>
            </a:r>
            <a:r>
              <a:rPr lang="de-DE" sz="1400" dirty="0"/>
              <a:t>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vola</a:t>
            </a:r>
            <a:r>
              <a:rPr lang="de-DE" sz="1400" dirty="0"/>
              <a:t>; </a:t>
            </a:r>
            <a:r>
              <a:rPr lang="de-DE" sz="1400" dirty="0" err="1"/>
              <a:t>beta</a:t>
            </a:r>
            <a:r>
              <a:rPr lang="de-DE" sz="1400" dirty="0"/>
              <a:t>: </a:t>
            </a:r>
            <a:r>
              <a:rPr lang="de-DE" sz="1400" dirty="0" err="1"/>
              <a:t>persistence</a:t>
            </a:r>
            <a:r>
              <a:rPr lang="de-DE" sz="1400" dirty="0"/>
              <a:t>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vola</a:t>
            </a:r>
            <a:r>
              <a:rPr lang="de-DE" sz="1400" dirty="0"/>
              <a:t>; </a:t>
            </a:r>
            <a:r>
              <a:rPr lang="de-DE" sz="1400" dirty="0" err="1"/>
              <a:t>alpha</a:t>
            </a:r>
            <a:r>
              <a:rPr lang="de-DE" sz="1400" dirty="0"/>
              <a:t>: </a:t>
            </a:r>
            <a:r>
              <a:rPr lang="de-DE" sz="1400" dirty="0" err="1"/>
              <a:t>magnitude</a:t>
            </a:r>
            <a:r>
              <a:rPr lang="de-DE" sz="1400" dirty="0"/>
              <a:t>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volatility's</a:t>
            </a:r>
            <a:r>
              <a:rPr lang="de-DE" sz="1400" dirty="0"/>
              <a:t> </a:t>
            </a:r>
            <a:r>
              <a:rPr lang="de-DE" sz="1400" dirty="0" err="1"/>
              <a:t>response</a:t>
            </a:r>
            <a:r>
              <a:rPr lang="de-DE" sz="1400" dirty="0"/>
              <a:t> </a:t>
            </a:r>
            <a:r>
              <a:rPr lang="de-DE" sz="1400" dirty="0" err="1"/>
              <a:t>to</a:t>
            </a:r>
            <a:r>
              <a:rPr lang="de-DE" sz="1400" dirty="0"/>
              <a:t> </a:t>
            </a:r>
            <a:r>
              <a:rPr lang="de-DE" sz="1400" dirty="0" err="1"/>
              <a:t>new</a:t>
            </a:r>
            <a:r>
              <a:rPr lang="de-DE" sz="1400" dirty="0"/>
              <a:t> </a:t>
            </a:r>
            <a:r>
              <a:rPr lang="de-DE" sz="1400" dirty="0" err="1"/>
              <a:t>shocks</a:t>
            </a:r>
            <a:endParaRPr lang="de-DE" sz="1400" dirty="0"/>
          </a:p>
          <a:p>
            <a:endParaRPr lang="de-DE" sz="200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9FE0EA9-6A81-8D47-B479-8968F19D0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027" y="2059265"/>
            <a:ext cx="4006242" cy="798933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784A084-8943-D648-8371-3EC3D701B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330" y="4369628"/>
            <a:ext cx="3758683" cy="184441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1B185DA-97BF-2346-ACF0-9BF94CE744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4528" y="3410267"/>
            <a:ext cx="3455458" cy="2803771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75C9B308-03B3-D745-960A-096BA7F794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1948" y="3247502"/>
            <a:ext cx="4863612" cy="1000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956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ECE261-6C8E-6548-8A5B-43D7DA7AD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/>
              <a:t>5.0 </a:t>
            </a:r>
            <a:r>
              <a:rPr lang="de-DE" sz="4000" dirty="0" err="1"/>
              <a:t>Risk-Metrics</a:t>
            </a:r>
            <a:r>
              <a:rPr lang="de-DE" sz="4000" dirty="0"/>
              <a:t> </a:t>
            </a:r>
            <a:r>
              <a:rPr lang="de-DE" sz="4000" dirty="0" err="1"/>
              <a:t>VaR</a:t>
            </a:r>
            <a:r>
              <a:rPr lang="de-DE" sz="4000" dirty="0"/>
              <a:t>, 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54E01F-3A6B-1644-9B54-AB1EB119F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3775"/>
            <a:ext cx="10515600" cy="4799100"/>
          </a:xfrm>
        </p:spPr>
        <p:txBody>
          <a:bodyPr>
            <a:normAutofit/>
          </a:bodyPr>
          <a:lstStyle/>
          <a:p>
            <a:r>
              <a:rPr lang="de-DE" sz="1800" dirty="0"/>
              <a:t>Financial </a:t>
            </a:r>
            <a:r>
              <a:rPr lang="de-DE" sz="1800" dirty="0" err="1"/>
              <a:t>markets</a:t>
            </a:r>
            <a:r>
              <a:rPr lang="de-DE" sz="1800" dirty="0"/>
              <a:t> </a:t>
            </a:r>
            <a:r>
              <a:rPr lang="de-DE" sz="1800" dirty="0" err="1"/>
              <a:t>are</a:t>
            </a:r>
            <a:r>
              <a:rPr lang="de-DE" sz="1800" dirty="0"/>
              <a:t> </a:t>
            </a:r>
            <a:r>
              <a:rPr lang="de-DE" sz="1800" dirty="0" err="1"/>
              <a:t>prone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 </a:t>
            </a:r>
            <a:r>
              <a:rPr lang="de-DE" sz="1800" b="1" dirty="0"/>
              <a:t>extreme </a:t>
            </a:r>
            <a:r>
              <a:rPr lang="de-DE" sz="1800" b="1" dirty="0" err="1"/>
              <a:t>losses</a:t>
            </a:r>
            <a:r>
              <a:rPr lang="de-DE" sz="1800" dirty="0"/>
              <a:t> (so-</a:t>
            </a:r>
            <a:r>
              <a:rPr lang="de-DE" sz="1800" dirty="0" err="1"/>
              <a:t>called</a:t>
            </a:r>
            <a:r>
              <a:rPr lang="de-DE" sz="1800" dirty="0"/>
              <a:t> </a:t>
            </a:r>
            <a:r>
              <a:rPr lang="de-DE" sz="1800" i="1" dirty="0" err="1"/>
              <a:t>black</a:t>
            </a:r>
            <a:r>
              <a:rPr lang="de-DE" sz="1800" i="1" dirty="0"/>
              <a:t> </a:t>
            </a:r>
            <a:r>
              <a:rPr lang="de-DE" sz="1800" i="1" dirty="0" err="1"/>
              <a:t>swans</a:t>
            </a:r>
            <a:r>
              <a:rPr lang="de-DE" sz="1800" dirty="0"/>
              <a:t>).</a:t>
            </a:r>
          </a:p>
          <a:p>
            <a:r>
              <a:rPr lang="de-DE" sz="1800" dirty="0" err="1"/>
              <a:t>Risk</a:t>
            </a:r>
            <a:r>
              <a:rPr lang="de-DE" sz="1800" dirty="0"/>
              <a:t> </a:t>
            </a:r>
            <a:r>
              <a:rPr lang="de-DE" sz="1800" dirty="0" err="1"/>
              <a:t>managers</a:t>
            </a:r>
            <a:r>
              <a:rPr lang="de-DE" sz="1800" dirty="0"/>
              <a:t> </a:t>
            </a:r>
            <a:r>
              <a:rPr lang="de-DE" sz="1800" dirty="0" err="1"/>
              <a:t>need</a:t>
            </a:r>
            <a:r>
              <a:rPr lang="de-DE" sz="1800" dirty="0"/>
              <a:t> </a:t>
            </a:r>
            <a:r>
              <a:rPr lang="de-DE" sz="1800" dirty="0" err="1"/>
              <a:t>tools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 </a:t>
            </a:r>
            <a:r>
              <a:rPr lang="de-DE" sz="1800" b="1" dirty="0" err="1"/>
              <a:t>quantify</a:t>
            </a:r>
            <a:r>
              <a:rPr lang="de-DE" sz="1800" b="1" dirty="0"/>
              <a:t> potential </a:t>
            </a:r>
            <a:r>
              <a:rPr lang="de-DE" sz="1800" b="1" dirty="0" err="1"/>
              <a:t>worst-case</a:t>
            </a:r>
            <a:r>
              <a:rPr lang="de-DE" sz="1800" b="1" dirty="0"/>
              <a:t> </a:t>
            </a:r>
            <a:r>
              <a:rPr lang="de-DE" sz="1800" b="1" dirty="0" err="1"/>
              <a:t>losses</a:t>
            </a:r>
            <a:r>
              <a:rPr lang="de-DE" sz="1800" dirty="0"/>
              <a:t>.</a:t>
            </a:r>
          </a:p>
          <a:p>
            <a:endParaRPr lang="de-DE" sz="18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Value-at-</a:t>
            </a: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Risk</a:t>
            </a: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 (</a:t>
            </a: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VaR</a:t>
            </a: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The </a:t>
            </a: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maximum</a:t>
            </a: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expected</a:t>
            </a: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loss</a:t>
            </a: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 at a </a:t>
            </a: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given</a:t>
            </a: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confidence</a:t>
            </a: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level</a:t>
            </a:r>
            <a:endParaRPr lang="de-DE" sz="160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Example</a:t>
            </a: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: </a:t>
            </a:r>
            <a:r>
              <a:rPr lang="de-DE" sz="1600" i="1" u="none" strike="noStrike" dirty="0">
                <a:solidFill>
                  <a:srgbClr val="000000"/>
                </a:solidFill>
                <a:effectLst/>
              </a:rPr>
              <a:t>“At 95%, </a:t>
            </a:r>
            <a:r>
              <a:rPr lang="de-DE" sz="1600" i="1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de-DE" sz="1600" i="1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i="1" u="none" strike="noStrike" dirty="0" err="1">
                <a:solidFill>
                  <a:srgbClr val="000000"/>
                </a:solidFill>
                <a:effectLst/>
              </a:rPr>
              <a:t>portfolio</a:t>
            </a:r>
            <a:r>
              <a:rPr lang="de-DE" sz="1600" i="1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i="1" u="none" strike="noStrike" dirty="0" err="1">
                <a:solidFill>
                  <a:srgbClr val="000000"/>
                </a:solidFill>
                <a:effectLst/>
              </a:rPr>
              <a:t>won’t</a:t>
            </a:r>
            <a:r>
              <a:rPr lang="de-DE" sz="1600" i="1" u="none" strike="noStrike" dirty="0">
                <a:solidFill>
                  <a:srgbClr val="000000"/>
                </a:solidFill>
                <a:effectLst/>
              </a:rPr>
              <a:t> lose </a:t>
            </a:r>
            <a:r>
              <a:rPr lang="de-DE" sz="1600" i="1" u="none" strike="noStrike" dirty="0" err="1">
                <a:solidFill>
                  <a:srgbClr val="000000"/>
                </a:solidFill>
                <a:effectLst/>
              </a:rPr>
              <a:t>more</a:t>
            </a:r>
            <a:r>
              <a:rPr lang="de-DE" sz="1600" i="1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i="1" u="none" strike="noStrike" dirty="0" err="1">
                <a:solidFill>
                  <a:srgbClr val="000000"/>
                </a:solidFill>
                <a:effectLst/>
              </a:rPr>
              <a:t>than</a:t>
            </a:r>
            <a:r>
              <a:rPr lang="de-DE" sz="1600" i="1" u="none" strike="noStrike" dirty="0">
                <a:solidFill>
                  <a:srgbClr val="000000"/>
                </a:solidFill>
                <a:effectLst/>
              </a:rPr>
              <a:t> X on a </a:t>
            </a:r>
            <a:r>
              <a:rPr lang="de-DE" sz="1600" i="1" u="none" strike="noStrike" dirty="0" err="1">
                <a:solidFill>
                  <a:srgbClr val="000000"/>
                </a:solidFill>
                <a:effectLst/>
              </a:rPr>
              <a:t>typical</a:t>
            </a:r>
            <a:r>
              <a:rPr lang="de-DE" sz="1600" i="1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i="1" u="none" strike="noStrike" dirty="0" err="1">
                <a:solidFill>
                  <a:srgbClr val="000000"/>
                </a:solidFill>
                <a:effectLst/>
              </a:rPr>
              <a:t>day</a:t>
            </a:r>
            <a:r>
              <a:rPr lang="de-DE" sz="1600" i="1" u="none" strike="noStrike" dirty="0">
                <a:solidFill>
                  <a:srgbClr val="000000"/>
                </a:solidFill>
                <a:effectLst/>
              </a:rPr>
              <a:t>”</a:t>
            </a:r>
            <a:endParaRPr lang="de-DE" sz="160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Expected</a:t>
            </a: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 Shortfall (ES)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The </a:t>
            </a: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average</a:t>
            </a: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loss</a:t>
            </a: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if</a:t>
            </a: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VaR</a:t>
            </a: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threshold</a:t>
            </a: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is</a:t>
            </a: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breached</a:t>
            </a:r>
            <a:endParaRPr lang="de-DE" sz="160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More </a:t>
            </a: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conservative</a:t>
            </a: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and</a:t>
            </a: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 sensitive </a:t>
            </a: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to</a:t>
            </a: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tail</a:t>
            </a: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behavior</a:t>
            </a:r>
            <a:endParaRPr lang="de-DE" sz="1600" i="0" u="none" strike="noStrike" dirty="0">
              <a:solidFill>
                <a:srgbClr val="000000"/>
              </a:solidFill>
              <a:effectLst/>
            </a:endParaRPr>
          </a:p>
          <a:p>
            <a:endParaRPr lang="de-DE" sz="2000" dirty="0"/>
          </a:p>
          <a:p>
            <a:r>
              <a:rPr lang="de-DE" sz="1800" dirty="0" err="1"/>
              <a:t>VaR</a:t>
            </a:r>
            <a:r>
              <a:rPr lang="de-DE" sz="1800" dirty="0"/>
              <a:t>: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How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bad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can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it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get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—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with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a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fixed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probability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?</a:t>
            </a:r>
          </a:p>
          <a:p>
            <a:r>
              <a:rPr lang="de-DE" sz="1800" dirty="0">
                <a:solidFill>
                  <a:srgbClr val="000000"/>
                </a:solidFill>
              </a:rPr>
              <a:t>ES: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If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it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gets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worse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than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that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—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how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bad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is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it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 on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</a:rPr>
              <a:t>average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</a:rPr>
              <a:t>?</a:t>
            </a:r>
            <a:endParaRPr lang="de-DE" sz="180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C8650C4-54D3-D849-98F0-A2FD8D431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345" y="2906713"/>
            <a:ext cx="1651000" cy="4572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E324401-C37C-4245-AADC-847073C89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3438" y="3898534"/>
            <a:ext cx="1828800" cy="6731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6CAF3352-EAAF-FF4C-B242-49ABE5140E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9453" y="4093325"/>
            <a:ext cx="3792903" cy="2260527"/>
          </a:xfrm>
          <a:prstGeom prst="rect">
            <a:avLst/>
          </a:prstGeom>
        </p:spPr>
      </p:pic>
      <p:pic>
        <p:nvPicPr>
          <p:cNvPr id="1026" name="Picture 2" descr="Value at Risk (VaR) in Stock Returns | Download Scientific Diagram">
            <a:extLst>
              <a:ext uri="{FF2B5EF4-FFF2-40B4-BE49-F238E27FC236}">
                <a16:creationId xmlns:a16="http://schemas.microsoft.com/office/drawing/2014/main" id="{2BCF2B66-261A-B446-8B2F-AFEAAE5A8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3872" y="653803"/>
            <a:ext cx="3408484" cy="2849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114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0ABF1E-53D0-D54E-96BF-3FB0A4DC6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/>
              <a:t>6.0 </a:t>
            </a:r>
            <a:r>
              <a:rPr lang="de-DE" sz="4000" dirty="0" err="1"/>
              <a:t>Coverage</a:t>
            </a:r>
            <a:r>
              <a:rPr lang="de-DE" sz="4000" dirty="0"/>
              <a:t> Ratio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7EB2F5-2ACD-A24C-8037-F56A1CCA9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315"/>
            <a:ext cx="10515600" cy="5024560"/>
          </a:xfrm>
        </p:spPr>
        <p:txBody>
          <a:bodyPr>
            <a:normAutofit/>
          </a:bodyPr>
          <a:lstStyle/>
          <a:p>
            <a:r>
              <a:rPr lang="de-DE" sz="1600" dirty="0" err="1"/>
              <a:t>Purpose</a:t>
            </a:r>
            <a:r>
              <a:rPr lang="de-DE" sz="1600" dirty="0"/>
              <a:t>: Tests </a:t>
            </a:r>
            <a:r>
              <a:rPr lang="de-DE" sz="1600" dirty="0" err="1"/>
              <a:t>the</a:t>
            </a:r>
            <a:r>
              <a:rPr lang="de-DE" sz="1600" dirty="0"/>
              <a:t> </a:t>
            </a:r>
            <a:r>
              <a:rPr lang="de-DE" sz="1600" b="1" dirty="0" err="1"/>
              <a:t>calibration</a:t>
            </a:r>
            <a:r>
              <a:rPr lang="de-DE" sz="1600" dirty="0"/>
              <a:t> </a:t>
            </a:r>
            <a:r>
              <a:rPr lang="de-DE" sz="1600" dirty="0" err="1"/>
              <a:t>of</a:t>
            </a:r>
            <a:r>
              <a:rPr lang="de-DE" sz="1600" dirty="0"/>
              <a:t> a </a:t>
            </a:r>
            <a:r>
              <a:rPr lang="de-DE" sz="1600" dirty="0" err="1"/>
              <a:t>VaR</a:t>
            </a:r>
            <a:r>
              <a:rPr lang="de-DE" sz="1600" dirty="0"/>
              <a:t> </a:t>
            </a:r>
            <a:r>
              <a:rPr lang="de-DE" sz="1600" dirty="0" err="1"/>
              <a:t>model</a:t>
            </a:r>
            <a:r>
              <a:rPr lang="de-DE" sz="1600" dirty="0"/>
              <a:t> </a:t>
            </a:r>
            <a:r>
              <a:rPr lang="de-DE" sz="1600" dirty="0" err="1"/>
              <a:t>and</a:t>
            </a:r>
            <a:r>
              <a:rPr lang="de-DE" sz="1600" dirty="0"/>
              <a:t> </a:t>
            </a:r>
            <a:r>
              <a:rPr lang="de-DE" sz="1600" dirty="0" err="1"/>
              <a:t>compares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exceedance</a:t>
            </a:r>
            <a:r>
              <a:rPr lang="de-DE" sz="1600" dirty="0"/>
              <a:t> rate </a:t>
            </a:r>
            <a:r>
              <a:rPr lang="de-DE" sz="1600" dirty="0" err="1"/>
              <a:t>to</a:t>
            </a:r>
            <a:r>
              <a:rPr lang="de-DE" sz="1600" dirty="0"/>
              <a:t> an </a:t>
            </a:r>
            <a:r>
              <a:rPr lang="de-DE" sz="1600" dirty="0" err="1"/>
              <a:t>expected</a:t>
            </a:r>
            <a:r>
              <a:rPr lang="de-DE" sz="1600" dirty="0"/>
              <a:t> </a:t>
            </a:r>
            <a:r>
              <a:rPr lang="de-DE" sz="1600" dirty="0" err="1"/>
              <a:t>level</a:t>
            </a:r>
            <a:endParaRPr lang="de-DE" sz="1600" dirty="0"/>
          </a:p>
          <a:p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It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measures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</a:rPr>
              <a:t>how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</a:rPr>
              <a:t>often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observed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returns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r_t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 fall 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</a:rPr>
              <a:t>below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</a:rPr>
              <a:t>predicted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</a:rPr>
              <a:t> Value-at-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</a:rPr>
              <a:t>Risk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endParaRPr lang="de-DE" sz="1400" dirty="0">
              <a:solidFill>
                <a:srgbClr val="000000"/>
              </a:solidFill>
              <a:latin typeface="-webkit-standard"/>
            </a:endParaRPr>
          </a:p>
          <a:p>
            <a:endParaRPr lang="de-DE" sz="1400" dirty="0">
              <a:solidFill>
                <a:srgbClr val="000000"/>
              </a:solidFill>
              <a:latin typeface="-webkit-standard"/>
            </a:endParaRPr>
          </a:p>
          <a:p>
            <a:endParaRPr lang="de-DE" sz="1400" dirty="0">
              <a:solidFill>
                <a:srgbClr val="000000"/>
              </a:solidFill>
              <a:latin typeface="-webkit-standard"/>
            </a:endParaRPr>
          </a:p>
          <a:p>
            <a:r>
              <a:rPr lang="de-DE" sz="1600" dirty="0" err="1"/>
              <a:t>If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coverage</a:t>
            </a:r>
            <a:r>
              <a:rPr lang="de-DE" sz="1600" dirty="0"/>
              <a:t> </a:t>
            </a:r>
            <a:r>
              <a:rPr lang="de-DE" sz="1600" dirty="0" err="1"/>
              <a:t>is</a:t>
            </a:r>
            <a:r>
              <a:rPr lang="de-DE" sz="1600" dirty="0"/>
              <a:t> </a:t>
            </a:r>
            <a:r>
              <a:rPr lang="de-DE" sz="1600" dirty="0" err="1"/>
              <a:t>approximately</a:t>
            </a:r>
            <a:r>
              <a:rPr lang="de-DE" sz="1600" dirty="0"/>
              <a:t> </a:t>
            </a:r>
            <a:r>
              <a:rPr lang="de-DE" sz="1600" b="1" dirty="0" err="1"/>
              <a:t>equal</a:t>
            </a:r>
            <a:r>
              <a:rPr lang="de-DE" sz="1600" dirty="0"/>
              <a:t> </a:t>
            </a:r>
            <a:r>
              <a:rPr lang="de-DE" sz="1600" dirty="0" err="1"/>
              <a:t>to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expected</a:t>
            </a:r>
            <a:r>
              <a:rPr lang="de-DE" sz="1600" dirty="0"/>
              <a:t> </a:t>
            </a:r>
            <a:r>
              <a:rPr lang="de-DE" sz="1600" dirty="0" err="1"/>
              <a:t>level</a:t>
            </a:r>
            <a:r>
              <a:rPr lang="de-DE" sz="1600" dirty="0"/>
              <a:t> (in </a:t>
            </a:r>
            <a:r>
              <a:rPr lang="de-DE" sz="1600" dirty="0" err="1"/>
              <a:t>our</a:t>
            </a:r>
            <a:r>
              <a:rPr lang="de-DE" sz="1600" dirty="0"/>
              <a:t> </a:t>
            </a:r>
            <a:r>
              <a:rPr lang="de-DE" sz="1600" dirty="0" err="1"/>
              <a:t>case</a:t>
            </a:r>
            <a:r>
              <a:rPr lang="de-DE" sz="1600" dirty="0"/>
              <a:t> 5%)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model</a:t>
            </a:r>
            <a:r>
              <a:rPr lang="de-DE" sz="1600" dirty="0"/>
              <a:t> </a:t>
            </a:r>
            <a:r>
              <a:rPr lang="de-DE" sz="1600" dirty="0" err="1"/>
              <a:t>is</a:t>
            </a:r>
            <a:r>
              <a:rPr lang="de-DE" sz="1600" dirty="0"/>
              <a:t> </a:t>
            </a:r>
            <a:r>
              <a:rPr lang="de-DE" sz="1600" b="1" dirty="0"/>
              <a:t>well-</a:t>
            </a:r>
            <a:r>
              <a:rPr lang="de-DE" sz="1600" b="1" dirty="0" err="1"/>
              <a:t>calibrated</a:t>
            </a:r>
            <a:endParaRPr lang="de-DE" sz="1600" dirty="0"/>
          </a:p>
          <a:p>
            <a:r>
              <a:rPr lang="de-DE" sz="1600" dirty="0" err="1"/>
              <a:t>If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coverage</a:t>
            </a:r>
            <a:r>
              <a:rPr lang="de-DE" sz="1600" dirty="0"/>
              <a:t> </a:t>
            </a:r>
            <a:r>
              <a:rPr lang="de-DE" sz="1600" dirty="0" err="1"/>
              <a:t>is</a:t>
            </a:r>
            <a:r>
              <a:rPr lang="de-DE" sz="1600" dirty="0"/>
              <a:t> </a:t>
            </a:r>
            <a:r>
              <a:rPr lang="de-DE" sz="1600" b="1" dirty="0" err="1"/>
              <a:t>higher</a:t>
            </a:r>
            <a:r>
              <a:rPr lang="de-DE" sz="1600" dirty="0"/>
              <a:t> </a:t>
            </a:r>
            <a:r>
              <a:rPr lang="de-DE" sz="1600" dirty="0" err="1"/>
              <a:t>than</a:t>
            </a:r>
            <a:r>
              <a:rPr lang="de-DE" sz="1600" dirty="0"/>
              <a:t> </a:t>
            </a:r>
            <a:r>
              <a:rPr lang="de-DE" sz="1600" dirty="0" err="1"/>
              <a:t>expected</a:t>
            </a:r>
            <a:r>
              <a:rPr lang="de-DE" sz="1600" dirty="0"/>
              <a:t>,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model</a:t>
            </a:r>
            <a:r>
              <a:rPr lang="de-DE" sz="1600" dirty="0"/>
              <a:t> </a:t>
            </a:r>
            <a:r>
              <a:rPr lang="de-DE" sz="1600" b="1" dirty="0" err="1"/>
              <a:t>underestimates</a:t>
            </a:r>
            <a:r>
              <a:rPr lang="de-DE" sz="1600" b="1" dirty="0"/>
              <a:t> </a:t>
            </a:r>
            <a:r>
              <a:rPr lang="de-DE" sz="1600" b="1" dirty="0" err="1"/>
              <a:t>risk</a:t>
            </a:r>
            <a:endParaRPr lang="de-DE" sz="1600" dirty="0"/>
          </a:p>
          <a:p>
            <a:r>
              <a:rPr lang="de-DE" sz="1600" dirty="0" err="1"/>
              <a:t>If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coverage</a:t>
            </a:r>
            <a:r>
              <a:rPr lang="de-DE" sz="1600" dirty="0"/>
              <a:t> </a:t>
            </a:r>
            <a:r>
              <a:rPr lang="de-DE" sz="1600" dirty="0" err="1"/>
              <a:t>is</a:t>
            </a:r>
            <a:r>
              <a:rPr lang="de-DE" sz="1600" dirty="0"/>
              <a:t> </a:t>
            </a:r>
            <a:r>
              <a:rPr lang="de-DE" sz="1600" b="1" dirty="0" err="1"/>
              <a:t>lower</a:t>
            </a:r>
            <a:r>
              <a:rPr lang="de-DE" sz="1600" dirty="0"/>
              <a:t> </a:t>
            </a:r>
            <a:r>
              <a:rPr lang="de-DE" sz="1600" dirty="0" err="1"/>
              <a:t>than</a:t>
            </a:r>
            <a:r>
              <a:rPr lang="de-DE" sz="1600" dirty="0"/>
              <a:t> </a:t>
            </a:r>
            <a:r>
              <a:rPr lang="de-DE" sz="1600" dirty="0" err="1"/>
              <a:t>expected</a:t>
            </a:r>
            <a:r>
              <a:rPr lang="de-DE" sz="1600" dirty="0"/>
              <a:t>,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model</a:t>
            </a:r>
            <a:r>
              <a:rPr lang="de-DE" sz="1600" dirty="0"/>
              <a:t> </a:t>
            </a:r>
            <a:r>
              <a:rPr lang="de-DE" sz="1600" dirty="0" err="1"/>
              <a:t>is</a:t>
            </a:r>
            <a:r>
              <a:rPr lang="de-DE" sz="1600" dirty="0"/>
              <a:t> </a:t>
            </a:r>
            <a:r>
              <a:rPr lang="de-DE" sz="1600" b="1" dirty="0" err="1"/>
              <a:t>too</a:t>
            </a:r>
            <a:r>
              <a:rPr lang="de-DE" sz="1600" b="1" dirty="0"/>
              <a:t> </a:t>
            </a:r>
            <a:r>
              <a:rPr lang="de-DE" sz="1600" b="1" dirty="0" err="1"/>
              <a:t>conservative</a:t>
            </a:r>
            <a:endParaRPr lang="de-DE" sz="1600" b="1" dirty="0"/>
          </a:p>
          <a:p>
            <a:endParaRPr lang="de-DE" sz="1400" b="1" dirty="0"/>
          </a:p>
          <a:p>
            <a:pPr algn="l"/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Results</a:t>
            </a:r>
            <a:endParaRPr lang="de-DE" sz="160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de-DE" sz="1600" b="1" i="0" u="none" strike="noStrike" dirty="0">
                <a:solidFill>
                  <a:srgbClr val="000000"/>
                </a:solidFill>
                <a:effectLst/>
              </a:rPr>
              <a:t>EGARCH </a:t>
            </a: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model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 →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Coverage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 = 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</a:rPr>
              <a:t>5.00%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 →  Matches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expected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alpha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 = 5%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de-DE" sz="1600" b="1" i="0" u="none" strike="noStrike" dirty="0">
                <a:solidFill>
                  <a:srgbClr val="000000"/>
                </a:solidFill>
                <a:effectLst/>
              </a:rPr>
              <a:t>Kalman SV </a:t>
            </a: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model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 →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Coverage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 = 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</a:rPr>
              <a:t>6.48%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 → 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Slightly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</a:rPr>
              <a:t>underestimation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</a:rPr>
              <a:t>of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</a:rPr>
              <a:t>risk</a:t>
            </a:r>
            <a:endParaRPr lang="de-DE" sz="1600" b="0" i="0" u="none" strike="noStrike" dirty="0">
              <a:solidFill>
                <a:srgbClr val="000000"/>
              </a:solidFill>
              <a:effectLst/>
            </a:endParaRPr>
          </a:p>
          <a:p>
            <a:endParaRPr lang="de-DE" sz="1400" dirty="0"/>
          </a:p>
          <a:p>
            <a:endParaRPr lang="de-DE" sz="20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754333F-4B87-8344-9019-860C010C1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696" y="2189571"/>
            <a:ext cx="3238500" cy="762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16E32C6-DC70-7B48-B02C-DDE0FD449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1247" y="1962491"/>
            <a:ext cx="2797629" cy="9144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8A99A55-209E-6C4E-87B7-14199AD461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9838" y="3980081"/>
            <a:ext cx="3718169" cy="242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275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FA8790-C11D-B045-AF70-77F7BBC80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/>
              <a:t>7.0 </a:t>
            </a:r>
            <a:r>
              <a:rPr lang="de-DE" sz="4000" dirty="0" err="1"/>
              <a:t>Comparison</a:t>
            </a:r>
            <a:r>
              <a:rPr lang="de-DE" sz="4000" dirty="0"/>
              <a:t> </a:t>
            </a:r>
            <a:r>
              <a:rPr lang="de-DE" sz="4000" dirty="0" err="1"/>
              <a:t>and</a:t>
            </a:r>
            <a:r>
              <a:rPr lang="de-DE" sz="4000" dirty="0"/>
              <a:t> Interpretation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3C3682-CB4A-A44F-8009-686DE105C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700" y="1578279"/>
            <a:ext cx="10515600" cy="4598684"/>
          </a:xfrm>
        </p:spPr>
        <p:txBody>
          <a:bodyPr>
            <a:normAutofit lnSpcReduction="10000"/>
          </a:bodyPr>
          <a:lstStyle/>
          <a:p>
            <a:pPr algn="l"/>
            <a:r>
              <a:rPr lang="de-DE" sz="1600" b="1" i="0" u="none" strike="noStrike" dirty="0">
                <a:solidFill>
                  <a:srgbClr val="000000"/>
                </a:solidFill>
                <a:effectLst/>
              </a:rPr>
              <a:t>Plot 1: Log-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</a:rPr>
              <a:t>Volatility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</a:rPr>
              <a:t>Comparison</a:t>
            </a:r>
            <a:endParaRPr lang="de-DE" sz="1600" b="1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True latent log-</a:t>
            </a: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volatility</a:t>
            </a: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 (</a:t>
            </a: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black</a:t>
            </a: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Kalman </a:t>
            </a: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estimate</a:t>
            </a: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 (</a:t>
            </a: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blue</a:t>
            </a: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dashed</a:t>
            </a: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EGARCH(1,1) </a:t>
            </a: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estimate</a:t>
            </a: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(orange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dotted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Both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models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capture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general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volatility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behaviour</a:t>
            </a:r>
            <a:endParaRPr lang="de-DE" sz="16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de-DE" sz="1600" b="1" i="0" u="none" strike="noStrike" dirty="0">
                <a:solidFill>
                  <a:srgbClr val="000000"/>
                </a:solidFill>
                <a:effectLst/>
              </a:rPr>
              <a:t>Kalman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</a:rPr>
              <a:t>filter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</a:rPr>
              <a:t>reacts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</a:rPr>
              <a:t>more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</a:rPr>
              <a:t>sharply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to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 extreme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losses</a:t>
            </a:r>
            <a:endParaRPr lang="de-DE" sz="1600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de-DE" sz="1600" b="1" i="0" u="none" strike="noStrike" dirty="0">
                <a:solidFill>
                  <a:srgbClr val="000000"/>
                </a:solidFill>
                <a:effectLst/>
              </a:rPr>
              <a:t>Plot 2: Returns vs. Kalman-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</a:rPr>
              <a:t>Based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</a:rPr>
              <a:t>VaR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</a:rPr>
              <a:t> &amp; 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Actual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returns</a:t>
            </a:r>
            <a:endParaRPr lang="de-DE" sz="1600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VaR</a:t>
            </a: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 (</a:t>
            </a: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blue</a:t>
            </a: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) </a:t>
            </a: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and</a:t>
            </a: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Expected</a:t>
            </a: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 Shortfall (lila) 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from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 Kalman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Spikes in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returns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coincide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with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</a:rPr>
              <a:t>wider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</a:rPr>
              <a:t>risk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</a:rPr>
              <a:t>bands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 </a:t>
            </a:r>
          </a:p>
          <a:p>
            <a:pPr marL="0" indent="0" algn="l">
              <a:buNone/>
            </a:pP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→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reflects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</a:rPr>
              <a:t>increased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</a:rPr>
              <a:t>uncertainty</a:t>
            </a:r>
            <a:endParaRPr lang="de-DE" sz="16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Kalman-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based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risk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metrics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are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</a:rPr>
              <a:t>adaptive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</a:rPr>
              <a:t>and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</a:rPr>
              <a:t>responsive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de-DE" sz="1600" b="1" i="0" u="none" strike="noStrike" dirty="0">
                <a:solidFill>
                  <a:srgbClr val="000000"/>
                </a:solidFill>
                <a:effectLst/>
              </a:rPr>
              <a:t>Plot 3: Returns vs. EGARCH-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</a:rPr>
              <a:t>Based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</a:rPr>
              <a:t>VaR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</a:rPr>
              <a:t> &amp; 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VaR</a:t>
            </a: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 (</a:t>
            </a: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red</a:t>
            </a: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) </a:t>
            </a:r>
            <a:r>
              <a:rPr lang="de-DE" sz="1600" i="0" u="none" strike="noStrike" dirty="0" err="1">
                <a:solidFill>
                  <a:srgbClr val="000000"/>
                </a:solidFill>
                <a:effectLst/>
              </a:rPr>
              <a:t>and</a:t>
            </a:r>
            <a:r>
              <a:rPr lang="de-DE" sz="1600" i="0" u="none" strike="noStrike" dirty="0">
                <a:solidFill>
                  <a:srgbClr val="000000"/>
                </a:solidFill>
                <a:effectLst/>
              </a:rPr>
              <a:t> ES (orange) 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are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 smoother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Captures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volatility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clusters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well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, but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</a:rPr>
              <a:t>reacts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</a:rPr>
              <a:t>less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</a:rPr>
              <a:t>aggressively</a:t>
            </a:r>
            <a:endParaRPr lang="de-DE" sz="16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B6C0366-6F67-F240-B3FE-DC0B4CABF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8092" y="1363044"/>
            <a:ext cx="6116216" cy="5029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134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842</Words>
  <Application>Microsoft Macintosh PowerPoint</Application>
  <PresentationFormat>Breitbild</PresentationFormat>
  <Paragraphs>107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7" baseType="lpstr">
      <vt:lpstr>-webkit-standard</vt:lpstr>
      <vt:lpstr>Arial</vt:lpstr>
      <vt:lpstr>Calibri</vt:lpstr>
      <vt:lpstr>Calibri Light</vt:lpstr>
      <vt:lpstr>Roboto</vt:lpstr>
      <vt:lpstr>Office</vt:lpstr>
      <vt:lpstr>Financial Risk Management         - Volatility Estimation and Tail Risk Forecasting</vt:lpstr>
      <vt:lpstr>Objective &amp; Methodology Outline</vt:lpstr>
      <vt:lpstr>1.0 Generating time-series - SV-Model</vt:lpstr>
      <vt:lpstr>1.1 time-series simulation  Are our returns normally distributed?</vt:lpstr>
      <vt:lpstr>2.1 Kalman Filter - Implementation</vt:lpstr>
      <vt:lpstr>2.2 Kalman Filter - Implementation</vt:lpstr>
      <vt:lpstr>3.0 Estimating Params with MLE</vt:lpstr>
      <vt:lpstr>4.0 EGARCH Model</vt:lpstr>
      <vt:lpstr>5.0 Risk-Metrics VaR, ES</vt:lpstr>
      <vt:lpstr>6.0 Coverage Ratio</vt:lpstr>
      <vt:lpstr>7.0 Comparison and Interpretation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Portfolio Construction using Python &amp;Market Data</dc:title>
  <dc:creator>Eliseo Carrasco Krämer</dc:creator>
  <cp:lastModifiedBy>Eliseo Carrasco Krämer</cp:lastModifiedBy>
  <cp:revision>14</cp:revision>
  <dcterms:created xsi:type="dcterms:W3CDTF">2025-05-24T15:14:05Z</dcterms:created>
  <dcterms:modified xsi:type="dcterms:W3CDTF">2025-06-15T12:16:51Z</dcterms:modified>
</cp:coreProperties>
</file>