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468" r:id="rId3"/>
    <p:sldId id="469" r:id="rId4"/>
    <p:sldId id="470" r:id="rId5"/>
    <p:sldId id="472" r:id="rId6"/>
    <p:sldId id="474" r:id="rId7"/>
    <p:sldId id="519" r:id="rId8"/>
    <p:sldId id="475" r:id="rId9"/>
    <p:sldId id="520" r:id="rId10"/>
    <p:sldId id="258" r:id="rId12"/>
    <p:sldId id="522" r:id="rId13"/>
    <p:sldId id="524" r:id="rId14"/>
    <p:sldId id="738" r:id="rId15"/>
    <p:sldId id="740" r:id="rId16"/>
    <p:sldId id="834" r:id="rId17"/>
    <p:sldId id="885" r:id="rId18"/>
    <p:sldId id="525" r:id="rId19"/>
    <p:sldId id="742" r:id="rId20"/>
    <p:sldId id="743" r:id="rId21"/>
    <p:sldId id="886" r:id="rId22"/>
    <p:sldId id="527" r:id="rId23"/>
    <p:sldId id="835" r:id="rId24"/>
    <p:sldId id="887" r:id="rId25"/>
    <p:sldId id="531" r:id="rId26"/>
    <p:sldId id="836" r:id="rId27"/>
    <p:sldId id="777" r:id="rId28"/>
    <p:sldId id="888" r:id="rId29"/>
    <p:sldId id="532" r:id="rId30"/>
    <p:sldId id="535" r:id="rId31"/>
    <p:sldId id="536" r:id="rId32"/>
    <p:sldId id="537" r:id="rId33"/>
    <p:sldId id="838" r:id="rId34"/>
    <p:sldId id="839" r:id="rId35"/>
    <p:sldId id="889" r:id="rId36"/>
    <p:sldId id="890" r:id="rId37"/>
    <p:sldId id="538" r:id="rId38"/>
    <p:sldId id="539" r:id="rId39"/>
    <p:sldId id="572" r:id="rId40"/>
    <p:sldId id="780" r:id="rId41"/>
    <p:sldId id="840" r:id="rId42"/>
    <p:sldId id="891" r:id="rId43"/>
    <p:sldId id="605" r:id="rId44"/>
    <p:sldId id="606" r:id="rId45"/>
    <p:sldId id="639" r:id="rId46"/>
    <p:sldId id="640" r:id="rId47"/>
    <p:sldId id="842" r:id="rId48"/>
    <p:sldId id="782" r:id="rId49"/>
    <p:sldId id="892" r:id="rId50"/>
    <p:sldId id="893" r:id="rId51"/>
    <p:sldId id="641" r:id="rId52"/>
    <p:sldId id="642" r:id="rId53"/>
    <p:sldId id="644" r:id="rId54"/>
    <p:sldId id="843" r:id="rId55"/>
    <p:sldId id="844" r:id="rId56"/>
    <p:sldId id="894" r:id="rId57"/>
    <p:sldId id="306" r:id="rId58"/>
    <p:sldId id="896" r:id="rId59"/>
    <p:sldId id="348" r:id="rId60"/>
    <p:sldId id="346" r:id="rId61"/>
    <p:sldId id="724" r:id="rId62"/>
    <p:sldId id="351" r:id="rId63"/>
    <p:sldId id="897" r:id="rId64"/>
    <p:sldId id="347" r:id="rId65"/>
    <p:sldId id="898" r:id="rId66"/>
    <p:sldId id="899" r:id="rId67"/>
    <p:sldId id="353" r:id="rId68"/>
    <p:sldId id="668" r:id="rId69"/>
    <p:sldId id="669" r:id="rId70"/>
    <p:sldId id="671" r:id="rId71"/>
    <p:sldId id="369" r:id="rId72"/>
    <p:sldId id="687" r:id="rId73"/>
    <p:sldId id="688" r:id="rId74"/>
    <p:sldId id="689" r:id="rId75"/>
    <p:sldId id="900" r:id="rId76"/>
    <p:sldId id="901" r:id="rId77"/>
    <p:sldId id="902" r:id="rId78"/>
    <p:sldId id="356" r:id="rId79"/>
    <p:sldId id="847" r:id="rId80"/>
  </p:sldIdLst>
  <p:sldSz cx="12192000" cy="6858000"/>
  <p:notesSz cx="6858000" cy="9144000"/>
  <p:custDataLst>
    <p:tags r:id="rId8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92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7"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4" Type="http://schemas.openxmlformats.org/officeDocument/2006/relationships/tags" Target="tags/tag2.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F0EE0-DD46-4FD2-9F16-3C92C451ECE5}"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0E2A6C-F58B-4DE4-AE52-B44768C36D3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0E2A6C-F58B-4DE4-AE52-B44768C36D36}"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772974-4CF7-4A7D-B82A-C0289E6E5454}"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3CBB80D-C1B1-4EB9-AEF9-AA3EBA818191}"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113CCD1-B06D-4D07-B644-B7AC74D6B8AB}"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091681DC-7236-4E4D-BF6C-A4CEB5118DC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833869AB-54E7-4032-89F6-D218F1A24059}"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A55A3DD-14CE-44E3-A91F-7AECBEE8F0BF}"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9DCBA8-A0FD-43B6-A688-B148736640E4}"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CCDAB1C-7DA5-4E25-B72C-8B5DF611E1C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A9DAF1E-69A1-483D-B81C-DECE9F9EF00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41E744C-0FCE-432D-80FB-3F06B0CACFAE}"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80026B9-8515-4A2F-B96E-6F9F6400EACF}"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DFE20A-9B32-4756-A74D-96CE5582F381}"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D843B-1DED-40DC-AF70-C1B4F17B1EA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slide" Target="slide1.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2.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0.png"/><Relationship Id="rId3" Type="http://schemas.openxmlformats.org/officeDocument/2006/relationships/image" Target="../media/image17.png"/><Relationship Id="rId2" Type="http://schemas.openxmlformats.org/officeDocument/2006/relationships/image" Target="../media/image29.png"/><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32.png"/><Relationship Id="rId3"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9.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40.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6.pn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53.png"/><Relationship Id="rId1" Type="http://schemas.openxmlformats.org/officeDocument/2006/relationships/image" Target="../media/image5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7.png"/><Relationship Id="rId2" Type="http://schemas.openxmlformats.org/officeDocument/2006/relationships/image" Target="../media/image54.png"/><Relationship Id="rId1" Type="http://schemas.openxmlformats.org/officeDocument/2006/relationships/image" Target="../media/image5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5.png"/></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5.png"/><Relationship Id="rId1" Type="http://schemas.openxmlformats.org/officeDocument/2006/relationships/image" Target="../media/image64.png"/></Relationships>
</file>

<file path=ppt/slides/_rels/slide30.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image" Target="../media/image73.png"/><Relationship Id="rId7" Type="http://schemas.openxmlformats.org/officeDocument/2006/relationships/image" Target="../media/image72.png"/><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67.png"/><Relationship Id="rId13" Type="http://schemas.openxmlformats.org/officeDocument/2006/relationships/slideLayout" Target="../slideLayouts/slideLayout2.xml"/><Relationship Id="rId12" Type="http://schemas.openxmlformats.org/officeDocument/2006/relationships/image" Target="../media/image77.png"/><Relationship Id="rId11" Type="http://schemas.openxmlformats.org/officeDocument/2006/relationships/image" Target="../media/image76.png"/><Relationship Id="rId10" Type="http://schemas.openxmlformats.org/officeDocument/2006/relationships/image" Target="../media/image75.png"/><Relationship Id="rId1" Type="http://schemas.openxmlformats.org/officeDocument/2006/relationships/image" Target="../media/image66.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66.png"/><Relationship Id="rId2" Type="http://schemas.openxmlformats.org/officeDocument/2006/relationships/image" Target="../media/image79.png"/><Relationship Id="rId1" Type="http://schemas.openxmlformats.org/officeDocument/2006/relationships/image" Target="../media/image78.pn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2.xml"/><Relationship Id="rId5" Type="http://schemas.openxmlformats.org/officeDocument/2006/relationships/image" Target="../media/image68.png"/><Relationship Id="rId4" Type="http://schemas.openxmlformats.org/officeDocument/2006/relationships/image" Target="../media/image66.png"/><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4.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5.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1.png"/><Relationship Id="rId1" Type="http://schemas.openxmlformats.org/officeDocument/2006/relationships/image" Target="../media/image90.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7.png"/><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image" Target="../media/image92.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85.png"/><Relationship Id="rId2" Type="http://schemas.openxmlformats.org/officeDocument/2006/relationships/image" Target="../media/image86.png"/><Relationship Id="rId1" Type="http://schemas.openxmlformats.org/officeDocument/2006/relationships/image" Target="../media/image95.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93.png"/><Relationship Id="rId3" Type="http://schemas.openxmlformats.org/officeDocument/2006/relationships/image" Target="../media/image92.png"/><Relationship Id="rId2" Type="http://schemas.openxmlformats.org/officeDocument/2006/relationships/image" Target="../media/image97.png"/><Relationship Id="rId1" Type="http://schemas.openxmlformats.org/officeDocument/2006/relationships/image" Target="../media/image96.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98.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9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09.png"/><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image" Target="../media/image103.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10.png"/></Relationships>
</file>

<file path=ppt/slides/_rels/slide45.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10.png"/><Relationship Id="rId5" Type="http://schemas.openxmlformats.org/officeDocument/2006/relationships/image" Target="../media/image106.png"/><Relationship Id="rId4" Type="http://schemas.openxmlformats.org/officeDocument/2006/relationships/image" Target="../media/image107.png"/><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113.png"/></Relationships>
</file>

<file path=ppt/slides/_rels/slide46.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10.png"/><Relationship Id="rId4" Type="http://schemas.openxmlformats.org/officeDocument/2006/relationships/image" Target="../media/image105.png"/><Relationship Id="rId3" Type="http://schemas.openxmlformats.org/officeDocument/2006/relationships/image" Target="../media/image104.png"/><Relationship Id="rId2" Type="http://schemas.openxmlformats.org/officeDocument/2006/relationships/image" Target="../media/image117.png"/><Relationship Id="rId1" Type="http://schemas.openxmlformats.org/officeDocument/2006/relationships/image" Target="../media/image116.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8.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9.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1.png"/><Relationship Id="rId1" Type="http://schemas.openxmlformats.org/officeDocument/2006/relationships/image" Target="../media/image120.png"/></Relationships>
</file>

<file path=ppt/slides/_rels/slide5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image" Target="../media/image122.png"/></Relationships>
</file>

<file path=ppt/slides/_rels/slide5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image" Target="../media/image128.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35.png"/><Relationship Id="rId2" Type="http://schemas.openxmlformats.org/officeDocument/2006/relationships/image" Target="../media/image122.png"/><Relationship Id="rId1" Type="http://schemas.openxmlformats.org/officeDocument/2006/relationships/image" Target="../media/image134.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33.png"/><Relationship Id="rId2" Type="http://schemas.openxmlformats.org/officeDocument/2006/relationships/image" Target="../media/image128.png"/><Relationship Id="rId1" Type="http://schemas.openxmlformats.org/officeDocument/2006/relationships/image" Target="../media/image136.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7.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image" Target="../media/image138.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1.png"/></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9.png"/><Relationship Id="rId7" Type="http://schemas.openxmlformats.org/officeDocument/2006/relationships/image" Target="../media/image148.png"/><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image" Target="../media/image142.pn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2.png"/><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image" Target="../media/image14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image" Target="../media/image153.png"/></Relationships>
</file>

<file path=ppt/slides/_rels/slide6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image" Target="../media/image15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4.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5.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6.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image" Target="../media/image167.png"/></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image" Target="../media/image170.png"/></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image" Target="../media/image173.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9.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image" Target="../media/image180.png"/></Relationships>
</file>

<file path=ppt/slides/_rels/slide7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6.png"/><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image" Target="../media/image183.png"/></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2.png"/><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image" Target="../media/image189.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oup 60"/>
          <p:cNvGrpSpPr/>
          <p:nvPr/>
        </p:nvGrpSpPr>
        <p:grpSpPr>
          <a:xfrm rot="21600000">
            <a:off x="2558079" y="2075534"/>
            <a:ext cx="7243435" cy="2975427"/>
            <a:chOff x="0" y="0"/>
            <a:chExt cx="7984546" cy="3279857"/>
          </a:xfrm>
        </p:grpSpPr>
        <p:pic>
          <p:nvPicPr>
            <p:cNvPr id="1724" name="picture 1724"/>
            <p:cNvPicPr>
              <a:picLocks noChangeAspect="1"/>
            </p:cNvPicPr>
            <p:nvPr/>
          </p:nvPicPr>
          <p:blipFill>
            <a:blip r:embed="rId1"/>
            <a:stretch>
              <a:fillRect/>
            </a:stretch>
          </p:blipFill>
          <p:spPr>
            <a:xfrm rot="21600000">
              <a:off x="0" y="0"/>
              <a:ext cx="7984546" cy="3279857"/>
            </a:xfrm>
            <a:prstGeom prst="rect">
              <a:avLst/>
            </a:prstGeom>
          </p:spPr>
        </p:pic>
        <p:sp>
          <p:nvSpPr>
            <p:cNvPr id="1726" name="textbox 1726"/>
            <p:cNvSpPr/>
            <p:nvPr/>
          </p:nvSpPr>
          <p:spPr>
            <a:xfrm>
              <a:off x="-12700" y="-12700"/>
              <a:ext cx="8010525" cy="3332479"/>
            </a:xfrm>
            <a:prstGeom prst="rect">
              <a:avLst/>
            </a:prstGeom>
            <a:noFill/>
            <a:ln w="0" cap="flat">
              <a:noFill/>
              <a:prstDash val="solid"/>
              <a:miter lim="0"/>
            </a:ln>
          </p:spPr>
          <p:txBody>
            <a:bodyPr vert="horz" wrap="square" lIns="0" tIns="0" rIns="0" bIns="0"/>
            <a:lstStyle/>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2000"/>
                </a:lnSpc>
              </a:pPr>
              <a:endParaRPr sz="905" dirty="0">
                <a:latin typeface="Arial" panose="020B0604020202020204"/>
                <a:ea typeface="Arial" panose="020B0604020202020204"/>
                <a:cs typeface="Arial" panose="020B0604020202020204"/>
              </a:endParaRPr>
            </a:p>
            <a:p>
              <a:pPr algn="l" rtl="0" eaLnBrk="0">
                <a:lnSpc>
                  <a:spcPct val="102000"/>
                </a:lnSpc>
              </a:pPr>
              <a:endParaRPr sz="905" dirty="0">
                <a:latin typeface="Arial" panose="020B0604020202020204"/>
                <a:ea typeface="Arial" panose="020B0604020202020204"/>
                <a:cs typeface="Arial" panose="020B0604020202020204"/>
              </a:endParaRPr>
            </a:p>
            <a:p>
              <a:pPr marL="1628775" indent="-664210" algn="l" rtl="0" eaLnBrk="0">
                <a:lnSpc>
                  <a:spcPct val="89000"/>
                </a:lnSpc>
              </a:pPr>
              <a:r>
                <a:rPr sz="3085" kern="0" spc="-20" dirty="0">
                  <a:solidFill>
                    <a:srgbClr val="FFFFFF">
                      <a:alpha val="100000"/>
                    </a:srgbClr>
                  </a:solidFill>
                  <a:latin typeface="Calibri" panose="020F0502020204030204"/>
                  <a:ea typeface="Calibri" panose="020F0502020204030204"/>
                  <a:cs typeface="Calibri" panose="020F0502020204030204"/>
                </a:rPr>
                <a:t>Gu et al.</a:t>
              </a:r>
              <a:r>
                <a:rPr sz="3085" kern="0" spc="220" dirty="0">
                  <a:solidFill>
                    <a:srgbClr val="FFFFFF">
                      <a:alpha val="100000"/>
                    </a:srgbClr>
                  </a:solidFill>
                  <a:latin typeface="Calibri" panose="020F0502020204030204"/>
                  <a:ea typeface="Calibri" panose="020F0502020204030204"/>
                  <a:cs typeface="Calibri" panose="020F0502020204030204"/>
                </a:rPr>
                <a:t> </a:t>
              </a:r>
              <a:r>
                <a:rPr sz="3085" kern="0" spc="-20" dirty="0">
                  <a:solidFill>
                    <a:srgbClr val="FFFFFF">
                      <a:alpha val="100000"/>
                    </a:srgbClr>
                  </a:solidFill>
                  <a:latin typeface="Calibri" panose="020F0502020204030204"/>
                  <a:ea typeface="Calibri" panose="020F0502020204030204"/>
                  <a:cs typeface="Calibri" panose="020F0502020204030204"/>
                </a:rPr>
                <a:t>(2020,RFS):</a:t>
              </a:r>
              <a:r>
                <a:rPr sz="3085" kern="0" spc="290" dirty="0">
                  <a:solidFill>
                    <a:srgbClr val="FFFFFF">
                      <a:alpha val="100000"/>
                    </a:srgbClr>
                  </a:solidFill>
                  <a:latin typeface="Calibri" panose="020F0502020204030204"/>
                  <a:ea typeface="Calibri" panose="020F0502020204030204"/>
                  <a:cs typeface="Calibri" panose="020F0502020204030204"/>
                </a:rPr>
                <a:t> </a:t>
              </a:r>
              <a:r>
                <a:rPr sz="3085" kern="0" spc="-20" dirty="0">
                  <a:solidFill>
                    <a:srgbClr val="FFFFFF">
                      <a:alpha val="100000"/>
                    </a:srgbClr>
                  </a:solidFill>
                  <a:latin typeface="Calibri" panose="020F0502020204030204"/>
                  <a:ea typeface="Calibri" panose="020F0502020204030204"/>
                  <a:cs typeface="Calibri" panose="020F0502020204030204"/>
                </a:rPr>
                <a:t>Empirical Asset</a:t>
              </a:r>
              <a:r>
                <a:rPr sz="3085" kern="0" spc="0" dirty="0">
                  <a:solidFill>
                    <a:srgbClr val="FFFFFF">
                      <a:alpha val="100000"/>
                    </a:srgbClr>
                  </a:solidFill>
                  <a:latin typeface="Calibri" panose="020F0502020204030204"/>
                  <a:ea typeface="Calibri" panose="020F0502020204030204"/>
                  <a:cs typeface="Calibri" panose="020F0502020204030204"/>
                </a:rPr>
                <a:t>        </a:t>
              </a:r>
              <a:r>
                <a:rPr sz="3085" kern="0" spc="-30" dirty="0">
                  <a:solidFill>
                    <a:srgbClr val="FFFFFF">
                      <a:alpha val="100000"/>
                    </a:srgbClr>
                  </a:solidFill>
                  <a:latin typeface="Calibri" panose="020F0502020204030204"/>
                  <a:ea typeface="Calibri" panose="020F0502020204030204"/>
                  <a:cs typeface="Calibri" panose="020F0502020204030204"/>
                </a:rPr>
                <a:t>Pricing via</a:t>
              </a:r>
              <a:r>
                <a:rPr sz="3085" kern="0" spc="280" dirty="0">
                  <a:solidFill>
                    <a:srgbClr val="FFFFFF">
                      <a:alpha val="100000"/>
                    </a:srgbClr>
                  </a:solidFill>
                  <a:latin typeface="Calibri" panose="020F0502020204030204"/>
                  <a:ea typeface="Calibri" panose="020F0502020204030204"/>
                  <a:cs typeface="Calibri" panose="020F0502020204030204"/>
                </a:rPr>
                <a:t> </a:t>
              </a:r>
              <a:r>
                <a:rPr sz="3085" kern="0" spc="-30" dirty="0">
                  <a:solidFill>
                    <a:srgbClr val="FFFFFF">
                      <a:alpha val="100000"/>
                    </a:srgbClr>
                  </a:solidFill>
                  <a:latin typeface="Calibri" panose="020F0502020204030204"/>
                  <a:ea typeface="Calibri" panose="020F0502020204030204"/>
                  <a:cs typeface="Calibri" panose="020F0502020204030204"/>
                </a:rPr>
                <a:t>Machine</a:t>
              </a:r>
              <a:r>
                <a:rPr sz="3085" kern="0" spc="290" dirty="0">
                  <a:solidFill>
                    <a:srgbClr val="FFFFFF">
                      <a:alpha val="100000"/>
                    </a:srgbClr>
                  </a:solidFill>
                  <a:latin typeface="Calibri" panose="020F0502020204030204"/>
                  <a:ea typeface="Calibri" panose="020F0502020204030204"/>
                  <a:cs typeface="Calibri" panose="020F0502020204030204"/>
                </a:rPr>
                <a:t> </a:t>
              </a:r>
              <a:r>
                <a:rPr sz="3085" kern="0" spc="-30" dirty="0">
                  <a:solidFill>
                    <a:srgbClr val="FFFFFF">
                      <a:alpha val="100000"/>
                    </a:srgbClr>
                  </a:solidFill>
                  <a:latin typeface="Calibri" panose="020F0502020204030204"/>
                  <a:ea typeface="Calibri" panose="020F0502020204030204"/>
                  <a:cs typeface="Calibri" panose="020F0502020204030204"/>
                </a:rPr>
                <a:t>Learni</a:t>
              </a:r>
              <a:r>
                <a:rPr sz="3085" kern="0" spc="-40" dirty="0">
                  <a:solidFill>
                    <a:srgbClr val="FFFFFF">
                      <a:alpha val="100000"/>
                    </a:srgbClr>
                  </a:solidFill>
                  <a:latin typeface="Calibri" panose="020F0502020204030204"/>
                  <a:ea typeface="Calibri" panose="020F0502020204030204"/>
                  <a:cs typeface="Calibri" panose="020F0502020204030204"/>
                </a:rPr>
                <a:t>ng</a:t>
              </a:r>
              <a:endParaRPr sz="3085" dirty="0">
                <a:latin typeface="Calibri" panose="020F0502020204030204"/>
                <a:ea typeface="Calibri" panose="020F0502020204030204"/>
                <a:cs typeface="Calibri" panose="020F05020202040302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8" name="textbox 1728"/>
          <p:cNvSpPr/>
          <p:nvPr/>
        </p:nvSpPr>
        <p:spPr>
          <a:xfrm>
            <a:off x="1654923" y="1009372"/>
            <a:ext cx="5694933" cy="3075587"/>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53975" algn="l" rtl="0" eaLnBrk="0">
              <a:lnSpc>
                <a:spcPts val="4155"/>
              </a:lnSpc>
            </a:pPr>
            <a:r>
              <a:rPr sz="3085" kern="0" spc="-40" dirty="0">
                <a:solidFill>
                  <a:srgbClr val="000000">
                    <a:alpha val="100000"/>
                  </a:srgbClr>
                </a:solidFill>
                <a:latin typeface="Calibri Light" panose="020F0302020204030204"/>
                <a:ea typeface="Calibri Light" panose="020F0302020204030204"/>
                <a:cs typeface="Calibri Light" panose="020F0302020204030204"/>
              </a:rPr>
              <a:t>Agenda</a:t>
            </a:r>
            <a:r>
              <a:rPr sz="3085" kern="0" spc="170" dirty="0">
                <a:solidFill>
                  <a:srgbClr val="000000">
                    <a:alpha val="100000"/>
                  </a:srgbClr>
                </a:solidFill>
                <a:latin typeface="Calibri Light" panose="020F0302020204030204"/>
                <a:ea typeface="Calibri Light" panose="020F0302020204030204"/>
                <a:cs typeface="Calibri Light" panose="020F0302020204030204"/>
              </a:rPr>
              <a:t> </a:t>
            </a:r>
            <a:r>
              <a:rPr sz="3085" kern="0" spc="-40" dirty="0">
                <a:solidFill>
                  <a:srgbClr val="000000">
                    <a:alpha val="100000"/>
                  </a:srgbClr>
                </a:solidFill>
                <a:latin typeface="Calibri Light" panose="020F0302020204030204"/>
                <a:ea typeface="Calibri Light" panose="020F0302020204030204"/>
                <a:cs typeface="Calibri Light" panose="020F0302020204030204"/>
              </a:rPr>
              <a:t>of Gu</a:t>
            </a:r>
            <a:r>
              <a:rPr sz="3085" kern="0" spc="170" dirty="0">
                <a:solidFill>
                  <a:srgbClr val="000000">
                    <a:alpha val="100000"/>
                  </a:srgbClr>
                </a:solidFill>
                <a:latin typeface="Calibri Light" panose="020F0302020204030204"/>
                <a:ea typeface="Calibri Light" panose="020F0302020204030204"/>
                <a:cs typeface="Calibri Light" panose="020F0302020204030204"/>
              </a:rPr>
              <a:t> </a:t>
            </a:r>
            <a:r>
              <a:rPr sz="3085" kern="0" spc="-40" dirty="0">
                <a:solidFill>
                  <a:srgbClr val="000000">
                    <a:alpha val="100000"/>
                  </a:srgbClr>
                </a:solidFill>
                <a:latin typeface="Calibri Light" panose="020F0302020204030204"/>
                <a:ea typeface="Calibri Light" panose="020F0302020204030204"/>
                <a:cs typeface="Calibri Light" panose="020F0302020204030204"/>
              </a:rPr>
              <a:t>et</a:t>
            </a:r>
            <a:r>
              <a:rPr sz="3085" kern="0" spc="170" dirty="0">
                <a:solidFill>
                  <a:srgbClr val="000000">
                    <a:alpha val="100000"/>
                  </a:srgbClr>
                </a:solidFill>
                <a:latin typeface="Calibri Light" panose="020F0302020204030204"/>
                <a:ea typeface="Calibri Light" panose="020F0302020204030204"/>
                <a:cs typeface="Calibri Light" panose="020F0302020204030204"/>
              </a:rPr>
              <a:t> </a:t>
            </a:r>
            <a:r>
              <a:rPr sz="3085" kern="0" spc="-40" dirty="0">
                <a:solidFill>
                  <a:srgbClr val="000000">
                    <a:alpha val="100000"/>
                  </a:srgbClr>
                </a:solidFill>
                <a:latin typeface="Calibri Light" panose="020F0302020204030204"/>
                <a:ea typeface="Calibri Light" panose="020F0302020204030204"/>
                <a:cs typeface="Calibri Light" panose="020F0302020204030204"/>
              </a:rPr>
              <a:t>a</a:t>
            </a:r>
            <a:r>
              <a:rPr sz="3085" kern="0" spc="-50" dirty="0">
                <a:solidFill>
                  <a:srgbClr val="000000">
                    <a:alpha val="100000"/>
                  </a:srgbClr>
                </a:solidFill>
                <a:latin typeface="Calibri Light" panose="020F0302020204030204"/>
                <a:ea typeface="Calibri Light" panose="020F0302020204030204"/>
                <a:cs typeface="Calibri Light" panose="020F0302020204030204"/>
              </a:rPr>
              <a:t>l.</a:t>
            </a:r>
            <a:r>
              <a:rPr sz="3085" kern="0" spc="250" dirty="0">
                <a:solidFill>
                  <a:srgbClr val="000000">
                    <a:alpha val="100000"/>
                  </a:srgbClr>
                </a:solidFill>
                <a:latin typeface="Calibri Light" panose="020F0302020204030204"/>
                <a:ea typeface="Calibri Light" panose="020F0302020204030204"/>
                <a:cs typeface="Calibri Light" panose="020F0302020204030204"/>
              </a:rPr>
              <a:t> </a:t>
            </a:r>
            <a:r>
              <a:rPr sz="3085" kern="0" spc="-50" dirty="0">
                <a:solidFill>
                  <a:srgbClr val="000000">
                    <a:alpha val="100000"/>
                  </a:srgbClr>
                </a:solidFill>
                <a:latin typeface="Calibri Light" panose="020F0302020204030204"/>
                <a:ea typeface="Calibri Light" panose="020F0302020204030204"/>
                <a:cs typeface="Calibri Light" panose="020F0302020204030204"/>
              </a:rPr>
              <a:t>(2020,</a:t>
            </a:r>
            <a:r>
              <a:rPr sz="3085" kern="0" spc="300" dirty="0">
                <a:solidFill>
                  <a:srgbClr val="000000">
                    <a:alpha val="100000"/>
                  </a:srgbClr>
                </a:solidFill>
                <a:latin typeface="Calibri Light" panose="020F0302020204030204"/>
                <a:ea typeface="Calibri Light" panose="020F0302020204030204"/>
                <a:cs typeface="Calibri Light" panose="020F0302020204030204"/>
              </a:rPr>
              <a:t> </a:t>
            </a:r>
            <a:r>
              <a:rPr sz="3085" kern="0" spc="-50" dirty="0">
                <a:solidFill>
                  <a:srgbClr val="000000">
                    <a:alpha val="100000"/>
                  </a:srgbClr>
                </a:solidFill>
                <a:latin typeface="Calibri Light" panose="020F0302020204030204"/>
                <a:ea typeface="Calibri Light" panose="020F0302020204030204"/>
                <a:cs typeface="Calibri Light" panose="020F0302020204030204"/>
              </a:rPr>
              <a:t>RFS)</a:t>
            </a:r>
            <a:endParaRPr sz="3085" dirty="0">
              <a:latin typeface="Calibri Light" panose="020F0302020204030204"/>
              <a:ea typeface="Calibri Light" panose="020F0302020204030204"/>
              <a:cs typeface="Calibri Light" panose="020F030202020403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1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730"/>
              </a:spcBef>
            </a:pPr>
            <a:r>
              <a:rPr sz="2175" kern="0" spc="-3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Data</a:t>
            </a:r>
            <a:r>
              <a:rPr sz="2175" kern="0" spc="14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in a</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nu</a:t>
            </a:r>
            <a:r>
              <a:rPr sz="2175" kern="0" spc="-40" dirty="0">
                <a:solidFill>
                  <a:srgbClr val="000000">
                    <a:alpha val="100000"/>
                  </a:srgbClr>
                </a:solidFill>
                <a:latin typeface="Calibri Light" panose="020F0302020204030204"/>
                <a:ea typeface="Calibri Light" panose="020F0302020204030204"/>
                <a:cs typeface="Calibri Light" panose="020F0302020204030204"/>
              </a:rPr>
              <a:t>tshell</a:t>
            </a:r>
            <a:endParaRPr sz="2175" dirty="0">
              <a:latin typeface="Calibri Light" panose="020F0302020204030204"/>
              <a:ea typeface="Calibri Light" panose="020F0302020204030204"/>
              <a:cs typeface="Calibri Light" panose="020F0302020204030204"/>
            </a:endParaRPr>
          </a:p>
          <a:p>
            <a:pPr marL="12700" algn="l" rtl="0" eaLnBrk="0">
              <a:lnSpc>
                <a:spcPct val="77000"/>
              </a:lnSpc>
              <a:spcBef>
                <a:spcPts val="1190"/>
              </a:spcBef>
            </a:pPr>
            <a:r>
              <a:rPr sz="2175" kern="0" spc="-30" dirty="0">
                <a:solidFill>
                  <a:srgbClr val="000000">
                    <a:alpha val="100000"/>
                  </a:srgbClr>
                </a:solidFill>
                <a:latin typeface="Arial" panose="020B0604020202020204"/>
                <a:ea typeface="Arial" panose="020B0604020202020204"/>
                <a:cs typeface="Arial" panose="020B0604020202020204"/>
              </a:rPr>
              <a:t>•</a:t>
            </a:r>
            <a:r>
              <a:rPr sz="2175" kern="0" spc="260" dirty="0">
                <a:solidFill>
                  <a:srgbClr val="000000">
                    <a:alpha val="100000"/>
                  </a:srgbClr>
                </a:solidFill>
                <a:latin typeface="Arial" panose="020B0604020202020204"/>
                <a:ea typeface="Arial" panose="020B0604020202020204"/>
                <a:cs typeface="Arial" panose="020B060402020202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Learning</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in</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nutshell</a:t>
            </a:r>
            <a:endParaRPr sz="2175" dirty="0">
              <a:latin typeface="Calibri Light" panose="020F0302020204030204"/>
              <a:ea typeface="Calibri Light" panose="020F0302020204030204"/>
              <a:cs typeface="Calibri Light" panose="020F0302020204030204"/>
            </a:endParaRPr>
          </a:p>
          <a:p>
            <a:pPr marL="12700" algn="l" rtl="0" eaLnBrk="0">
              <a:lnSpc>
                <a:spcPct val="77000"/>
              </a:lnSpc>
              <a:spcBef>
                <a:spcPts val="1190"/>
              </a:spcBef>
            </a:pPr>
            <a:r>
              <a:rPr sz="2175" kern="0" spc="-10" dirty="0">
                <a:solidFill>
                  <a:srgbClr val="000000">
                    <a:alpha val="100000"/>
                  </a:srgbClr>
                </a:solidFill>
                <a:latin typeface="Arial" panose="020B0604020202020204"/>
                <a:ea typeface="Arial" panose="020B0604020202020204"/>
                <a:cs typeface="Arial" panose="020B0604020202020204"/>
              </a:rPr>
              <a:t>•</a:t>
            </a:r>
            <a:r>
              <a:rPr sz="2175" kern="0" spc="22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Machine</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learning algorithms</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under considerat</a:t>
            </a:r>
            <a:r>
              <a:rPr sz="2175" kern="0" spc="-20" dirty="0">
                <a:solidFill>
                  <a:srgbClr val="000000">
                    <a:alpha val="100000"/>
                  </a:srgbClr>
                </a:solidFill>
                <a:latin typeface="Calibri Light" panose="020F0302020204030204"/>
                <a:ea typeface="Calibri Light" panose="020F0302020204030204"/>
                <a:cs typeface="Calibri Light" panose="020F0302020204030204"/>
              </a:rPr>
              <a:t>ion</a:t>
            </a:r>
            <a:endParaRPr sz="2175" dirty="0">
              <a:latin typeface="Calibri Light" panose="020F0302020204030204"/>
              <a:ea typeface="Calibri Light" panose="020F0302020204030204"/>
              <a:cs typeface="Calibri Light" panose="020F0302020204030204"/>
            </a:endParaRPr>
          </a:p>
          <a:p>
            <a:pPr algn="l" rtl="0" eaLnBrk="0">
              <a:lnSpc>
                <a:spcPct val="110000"/>
              </a:lnSpc>
            </a:pPr>
            <a:endParaRPr sz="815" dirty="0">
              <a:latin typeface="Arial" panose="020B0604020202020204"/>
              <a:ea typeface="Arial" panose="020B0604020202020204"/>
              <a:cs typeface="Arial" panose="020B0604020202020204"/>
            </a:endParaRPr>
          </a:p>
          <a:p>
            <a:pPr marL="12700" algn="l" rtl="0" eaLnBrk="0">
              <a:lnSpc>
                <a:spcPct val="77000"/>
              </a:lnSpc>
              <a:spcBef>
                <a:spcPts val="5"/>
              </a:spcBef>
            </a:pPr>
            <a:r>
              <a:rPr sz="2175" kern="0" spc="-1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Empirical fi</a:t>
            </a:r>
            <a:r>
              <a:rPr sz="2175" kern="0" spc="-20" dirty="0">
                <a:solidFill>
                  <a:srgbClr val="000000">
                    <a:alpha val="100000"/>
                  </a:srgbClr>
                </a:solidFill>
                <a:latin typeface="Calibri Light" panose="020F0302020204030204"/>
                <a:ea typeface="Calibri Light" panose="020F0302020204030204"/>
                <a:cs typeface="Calibri Light" panose="020F0302020204030204"/>
              </a:rPr>
              <a:t>ndings</a:t>
            </a:r>
            <a:endParaRPr sz="2175" dirty="0">
              <a:latin typeface="Calibri Light" panose="020F0302020204030204"/>
              <a:ea typeface="Calibri Light" panose="020F0302020204030204"/>
              <a:cs typeface="Calibri Light" panose="020F03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 name="textbox 1730"/>
          <p:cNvSpPr/>
          <p:nvPr/>
        </p:nvSpPr>
        <p:spPr>
          <a:xfrm>
            <a:off x="1697264" y="1255805"/>
            <a:ext cx="8121877" cy="4297411"/>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49225" algn="l" rtl="0" eaLnBrk="0">
              <a:lnSpc>
                <a:spcPts val="4640"/>
              </a:lnSpc>
            </a:pPr>
            <a:r>
              <a:rPr sz="3445" kern="0" spc="-100" dirty="0">
                <a:solidFill>
                  <a:srgbClr val="000000">
                    <a:alpha val="100000"/>
                  </a:srgbClr>
                </a:solidFill>
                <a:latin typeface="Calibri Light" panose="020F0302020204030204"/>
                <a:ea typeface="Calibri Light" panose="020F0302020204030204"/>
                <a:cs typeface="Calibri Light" panose="020F0302020204030204"/>
              </a:rPr>
              <a:t>Data</a:t>
            </a:r>
            <a:r>
              <a:rPr sz="3445" kern="0" spc="260" dirty="0">
                <a:solidFill>
                  <a:srgbClr val="000000">
                    <a:alpha val="100000"/>
                  </a:srgbClr>
                </a:solidFill>
                <a:latin typeface="Calibri Light" panose="020F0302020204030204"/>
                <a:ea typeface="Calibri Light" panose="020F0302020204030204"/>
                <a:cs typeface="Calibri Light" panose="020F0302020204030204"/>
              </a:rPr>
              <a:t> </a:t>
            </a:r>
            <a:r>
              <a:rPr sz="3445" kern="0" spc="-100" dirty="0">
                <a:solidFill>
                  <a:srgbClr val="000000">
                    <a:alpha val="100000"/>
                  </a:srgbClr>
                </a:solidFill>
                <a:latin typeface="Calibri Light" panose="020F0302020204030204"/>
                <a:ea typeface="Calibri Light" panose="020F0302020204030204"/>
                <a:cs typeface="Calibri Light" panose="020F0302020204030204"/>
              </a:rPr>
              <a:t>in</a:t>
            </a:r>
            <a:r>
              <a:rPr sz="3445" kern="0" spc="160" dirty="0">
                <a:solidFill>
                  <a:srgbClr val="000000">
                    <a:alpha val="100000"/>
                  </a:srgbClr>
                </a:solidFill>
                <a:latin typeface="Calibri Light" panose="020F0302020204030204"/>
                <a:ea typeface="Calibri Light" panose="020F0302020204030204"/>
                <a:cs typeface="Calibri Light" panose="020F0302020204030204"/>
              </a:rPr>
              <a:t> </a:t>
            </a:r>
            <a:r>
              <a:rPr sz="3445" kern="0" spc="-100" dirty="0">
                <a:solidFill>
                  <a:srgbClr val="000000">
                    <a:alpha val="100000"/>
                  </a:srgbClr>
                </a:solidFill>
                <a:latin typeface="Calibri Light" panose="020F0302020204030204"/>
                <a:ea typeface="Calibri Light" panose="020F0302020204030204"/>
                <a:cs typeface="Calibri Light" panose="020F0302020204030204"/>
              </a:rPr>
              <a:t>a</a:t>
            </a:r>
            <a:r>
              <a:rPr sz="3445" kern="0" spc="320" dirty="0">
                <a:solidFill>
                  <a:srgbClr val="000000">
                    <a:alpha val="100000"/>
                  </a:srgbClr>
                </a:solidFill>
                <a:latin typeface="Calibri Light" panose="020F0302020204030204"/>
                <a:ea typeface="Calibri Light" panose="020F0302020204030204"/>
                <a:cs typeface="Calibri Light" panose="020F0302020204030204"/>
              </a:rPr>
              <a:t> </a:t>
            </a:r>
            <a:r>
              <a:rPr sz="3445" kern="0" spc="-100" dirty="0">
                <a:solidFill>
                  <a:srgbClr val="000000">
                    <a:alpha val="100000"/>
                  </a:srgbClr>
                </a:solidFill>
                <a:latin typeface="Calibri Light" panose="020F0302020204030204"/>
                <a:ea typeface="Calibri Light" panose="020F0302020204030204"/>
                <a:cs typeface="Calibri Light" panose="020F0302020204030204"/>
              </a:rPr>
              <a:t>Nutshell</a:t>
            </a:r>
            <a:endParaRPr sz="3445" dirty="0">
              <a:latin typeface="Calibri Light" panose="020F0302020204030204"/>
              <a:ea typeface="Calibri Light" panose="020F0302020204030204"/>
              <a:cs typeface="Calibri Light" panose="020F0302020204030204"/>
            </a:endParaRPr>
          </a:p>
          <a:p>
            <a:pPr algn="l" rtl="0" eaLnBrk="0">
              <a:lnSpc>
                <a:spcPct val="171000"/>
              </a:lnSpc>
            </a:pPr>
            <a:endParaRPr sz="905" dirty="0">
              <a:latin typeface="Arial" panose="020B0604020202020204"/>
              <a:ea typeface="Arial" panose="020B0604020202020204"/>
              <a:cs typeface="Arial" panose="020B0604020202020204"/>
            </a:endParaRPr>
          </a:p>
          <a:p>
            <a:pPr marL="195580" indent="-183515" algn="l" rtl="0" eaLnBrk="0">
              <a:lnSpc>
                <a:spcPct val="79000"/>
              </a:lnSpc>
              <a:spcBef>
                <a:spcPts val="725"/>
              </a:spcBef>
            </a:pPr>
            <a:r>
              <a:rPr sz="2175" kern="0" spc="-1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Monthly</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individual equity</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returns from CRSP for all fi</a:t>
            </a:r>
            <a:r>
              <a:rPr sz="2175" kern="0" spc="-20" dirty="0">
                <a:solidFill>
                  <a:srgbClr val="000000">
                    <a:alpha val="100000"/>
                  </a:srgbClr>
                </a:solidFill>
                <a:latin typeface="Calibri Light" panose="020F0302020204030204"/>
                <a:ea typeface="Calibri Light" panose="020F0302020204030204"/>
                <a:cs typeface="Calibri Light" panose="020F0302020204030204"/>
              </a:rPr>
              <a:t>rms</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listed</a:t>
            </a:r>
            <a:r>
              <a:rPr sz="2175" kern="0" spc="16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in</a:t>
            </a:r>
            <a:r>
              <a:rPr sz="2175" kern="0" spc="20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NYSE,</a:t>
            </a:r>
            <a:r>
              <a:rPr sz="2175" kern="0" spc="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AMEX,</a:t>
            </a:r>
            <a:r>
              <a:rPr sz="2175" kern="0" spc="23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NASDAQ</a:t>
            </a:r>
            <a:endParaRPr sz="2175" dirty="0">
              <a:latin typeface="Calibri Light" panose="020F0302020204030204"/>
              <a:ea typeface="Calibri Light" panose="020F0302020204030204"/>
              <a:cs typeface="Calibri Light" panose="020F0302020204030204"/>
            </a:endParaRPr>
          </a:p>
          <a:p>
            <a:pPr algn="l" rtl="0" eaLnBrk="0">
              <a:lnSpc>
                <a:spcPct val="141000"/>
              </a:lnSpc>
            </a:pPr>
            <a:endParaRPr sz="905" dirty="0">
              <a:latin typeface="Arial" panose="020B0604020202020204"/>
              <a:ea typeface="Arial" panose="020B0604020202020204"/>
              <a:cs typeface="Arial" panose="020B0604020202020204"/>
            </a:endParaRPr>
          </a:p>
          <a:p>
            <a:pPr algn="l" rtl="0" eaLnBrk="0">
              <a:lnSpc>
                <a:spcPct val="141000"/>
              </a:lnSpc>
            </a:pPr>
            <a:endParaRPr sz="905" dirty="0">
              <a:latin typeface="Arial" panose="020B0604020202020204"/>
              <a:ea typeface="Arial" panose="020B0604020202020204"/>
              <a:cs typeface="Arial" panose="020B0604020202020204"/>
            </a:endParaRPr>
          </a:p>
          <a:p>
            <a:pPr marL="12700" algn="l" rtl="0" eaLnBrk="0">
              <a:lnSpc>
                <a:spcPct val="73000"/>
              </a:lnSpc>
              <a:spcBef>
                <a:spcPts val="730"/>
              </a:spcBef>
            </a:pPr>
            <a:r>
              <a:rPr sz="2175" kern="0" spc="-40" dirty="0">
                <a:solidFill>
                  <a:srgbClr val="000000">
                    <a:alpha val="100000"/>
                  </a:srgbClr>
                </a:solidFill>
                <a:latin typeface="Arial" panose="020B0604020202020204"/>
                <a:ea typeface="Arial" panose="020B0604020202020204"/>
                <a:cs typeface="Arial" panose="020B0604020202020204"/>
              </a:rPr>
              <a:t>•</a:t>
            </a:r>
            <a:r>
              <a:rPr sz="2175" kern="0" spc="290" dirty="0">
                <a:solidFill>
                  <a:srgbClr val="000000">
                    <a:alpha val="100000"/>
                  </a:srgbClr>
                </a:solidFill>
                <a:latin typeface="Arial" panose="020B0604020202020204"/>
                <a:ea typeface="Arial" panose="020B0604020202020204"/>
                <a:cs typeface="Arial" panose="020B0604020202020204"/>
              </a:rPr>
              <a:t> </a:t>
            </a:r>
            <a:r>
              <a:rPr sz="2175" kern="0" spc="-40" dirty="0">
                <a:solidFill>
                  <a:srgbClr val="000000">
                    <a:alpha val="100000"/>
                  </a:srgbClr>
                </a:solidFill>
                <a:latin typeface="Calibri Light" panose="020F0302020204030204"/>
                <a:ea typeface="Calibri Light" panose="020F0302020204030204"/>
                <a:cs typeface="Calibri Light" panose="020F0302020204030204"/>
              </a:rPr>
              <a:t>1957-2016</a:t>
            </a:r>
            <a:endParaRPr sz="2175" dirty="0">
              <a:latin typeface="Calibri Light" panose="020F0302020204030204"/>
              <a:ea typeface="Calibri Light" panose="020F0302020204030204"/>
              <a:cs typeface="Calibri Light" panose="020F0302020204030204"/>
            </a:endParaRPr>
          </a:p>
          <a:p>
            <a:pPr marL="12700" algn="l" rtl="0" eaLnBrk="0">
              <a:lnSpc>
                <a:spcPct val="78000"/>
              </a:lnSpc>
              <a:spcBef>
                <a:spcPts val="945"/>
              </a:spcBef>
            </a:pPr>
            <a:r>
              <a:rPr sz="2175" kern="0" spc="-20" dirty="0">
                <a:solidFill>
                  <a:srgbClr val="000000">
                    <a:alpha val="100000"/>
                  </a:srgbClr>
                </a:solidFill>
                <a:latin typeface="Arial" panose="020B0604020202020204"/>
                <a:ea typeface="Arial" panose="020B0604020202020204"/>
                <a:cs typeface="Arial" panose="020B060402020202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On average 6,200</a:t>
            </a:r>
            <a:r>
              <a:rPr sz="2175" kern="0" spc="11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stocks</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per</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month</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(30,000</a:t>
            </a:r>
            <a:r>
              <a:rPr sz="2175" kern="0" spc="16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in</a:t>
            </a:r>
            <a:r>
              <a:rPr sz="2175" kern="0" spc="3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total)</a:t>
            </a:r>
            <a:endParaRPr sz="2175" dirty="0">
              <a:latin typeface="Calibri Light" panose="020F0302020204030204"/>
              <a:ea typeface="Calibri Light" panose="020F0302020204030204"/>
              <a:cs typeface="Calibri Light" panose="020F0302020204030204"/>
            </a:endParaRPr>
          </a:p>
          <a:p>
            <a:pPr algn="l" rtl="0" eaLnBrk="0">
              <a:lnSpc>
                <a:spcPct val="136000"/>
              </a:lnSpc>
            </a:pPr>
            <a:endParaRPr sz="905" dirty="0">
              <a:latin typeface="Arial" panose="020B0604020202020204"/>
              <a:ea typeface="Arial" panose="020B0604020202020204"/>
              <a:cs typeface="Arial" panose="020B0604020202020204"/>
            </a:endParaRPr>
          </a:p>
          <a:p>
            <a:pPr algn="l" rtl="0" eaLnBrk="0">
              <a:lnSpc>
                <a:spcPct val="137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725"/>
              </a:spcBef>
            </a:pPr>
            <a:r>
              <a:rPr sz="2175" kern="0" spc="-3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Predictors</a:t>
            </a:r>
            <a:r>
              <a:rPr sz="2175" kern="0" spc="-40" dirty="0">
                <a:solidFill>
                  <a:srgbClr val="000000">
                    <a:alpha val="100000"/>
                  </a:srgbClr>
                </a:solidFill>
                <a:latin typeface="Calibri Light" panose="020F0302020204030204"/>
                <a:ea typeface="Calibri Light" panose="020F0302020204030204"/>
                <a:cs typeface="Calibri Light" panose="020F0302020204030204"/>
              </a:rPr>
              <a:t>:</a:t>
            </a:r>
            <a:endParaRPr sz="2175" dirty="0">
              <a:latin typeface="Calibri Light" panose="020F0302020204030204"/>
              <a:ea typeface="Calibri Light" panose="020F0302020204030204"/>
              <a:cs typeface="Calibri Light" panose="020F0302020204030204"/>
            </a:endParaRPr>
          </a:p>
          <a:p>
            <a:pPr marL="400050" algn="l" rtl="0" eaLnBrk="0">
              <a:lnSpc>
                <a:spcPct val="77000"/>
              </a:lnSpc>
              <a:spcBef>
                <a:spcPts val="555"/>
              </a:spcBef>
            </a:pPr>
            <a:r>
              <a:rPr sz="1815" kern="0" spc="50" dirty="0">
                <a:solidFill>
                  <a:srgbClr val="000000">
                    <a:alpha val="100000"/>
                  </a:srgbClr>
                </a:solidFill>
                <a:latin typeface="Arial" panose="020B0604020202020204"/>
                <a:ea typeface="Arial" panose="020B0604020202020204"/>
                <a:cs typeface="Arial" panose="020B0604020202020204"/>
              </a:rPr>
              <a:t>•</a:t>
            </a:r>
            <a:r>
              <a:rPr sz="1815" kern="0" spc="410" dirty="0">
                <a:solidFill>
                  <a:srgbClr val="000000">
                    <a:alpha val="100000"/>
                  </a:srgbClr>
                </a:solidFill>
                <a:latin typeface="Arial" panose="020B0604020202020204"/>
                <a:ea typeface="Arial" panose="020B0604020202020204"/>
                <a:cs typeface="Arial" panose="020B0604020202020204"/>
              </a:rPr>
              <a:t> </a:t>
            </a:r>
            <a:r>
              <a:rPr sz="1815" kern="0" spc="50" dirty="0">
                <a:solidFill>
                  <a:srgbClr val="000000">
                    <a:alpha val="100000"/>
                  </a:srgbClr>
                </a:solidFill>
                <a:latin typeface="Calibri Light" panose="020F0302020204030204"/>
                <a:ea typeface="Calibri Light" panose="020F0302020204030204"/>
                <a:cs typeface="Calibri Light" panose="020F0302020204030204"/>
              </a:rPr>
              <a:t>94 </a:t>
            </a:r>
            <a:r>
              <a:rPr sz="1815" kern="0" spc="0" dirty="0">
                <a:solidFill>
                  <a:srgbClr val="000000">
                    <a:alpha val="100000"/>
                  </a:srgbClr>
                </a:solidFill>
                <a:latin typeface="Calibri Light" panose="020F0302020204030204"/>
                <a:ea typeface="Calibri Light" panose="020F0302020204030204"/>
                <a:cs typeface="Calibri Light" panose="020F0302020204030204"/>
              </a:rPr>
              <a:t>stock</a:t>
            </a:r>
            <a:r>
              <a:rPr sz="1815" kern="0" spc="5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characteristics</a:t>
            </a:r>
            <a:r>
              <a:rPr sz="1815" kern="0" spc="50" dirty="0">
                <a:solidFill>
                  <a:srgbClr val="000000">
                    <a:alpha val="100000"/>
                  </a:srgbClr>
                </a:solidFill>
                <a:latin typeface="Calibri Light" panose="020F0302020204030204"/>
                <a:ea typeface="Calibri Light" panose="020F0302020204030204"/>
                <a:cs typeface="Calibri Light" panose="020F0302020204030204"/>
              </a:rPr>
              <a:t>,</a:t>
            </a:r>
            <a:r>
              <a:rPr sz="1815" kern="0" spc="15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interacted</a:t>
            </a:r>
            <a:r>
              <a:rPr sz="1815" kern="0" spc="9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with</a:t>
            </a:r>
            <a:endParaRPr sz="1815" dirty="0">
              <a:latin typeface="Calibri Light" panose="020F0302020204030204"/>
              <a:ea typeface="Calibri Light" panose="020F0302020204030204"/>
              <a:cs typeface="Calibri Light" panose="020F0302020204030204"/>
            </a:endParaRPr>
          </a:p>
          <a:p>
            <a:pPr marL="400050" algn="l" rtl="0" eaLnBrk="0">
              <a:lnSpc>
                <a:spcPct val="78000"/>
              </a:lnSpc>
              <a:spcBef>
                <a:spcPts val="430"/>
              </a:spcBef>
            </a:pPr>
            <a:r>
              <a:rPr sz="1815" kern="0" spc="70" dirty="0">
                <a:solidFill>
                  <a:srgbClr val="000000">
                    <a:alpha val="100000"/>
                  </a:srgbClr>
                </a:solidFill>
                <a:latin typeface="Arial" panose="020B0604020202020204"/>
                <a:ea typeface="Arial" panose="020B0604020202020204"/>
                <a:cs typeface="Arial" panose="020B0604020202020204"/>
              </a:rPr>
              <a:t>•</a:t>
            </a:r>
            <a:r>
              <a:rPr sz="1815" kern="0" spc="400" dirty="0">
                <a:solidFill>
                  <a:srgbClr val="000000">
                    <a:alpha val="100000"/>
                  </a:srgbClr>
                </a:solidFill>
                <a:latin typeface="Arial" panose="020B0604020202020204"/>
                <a:ea typeface="Arial" panose="020B0604020202020204"/>
                <a:cs typeface="Arial" panose="020B0604020202020204"/>
              </a:rPr>
              <a:t> </a:t>
            </a:r>
            <a:r>
              <a:rPr sz="1815" kern="0" spc="70" dirty="0">
                <a:solidFill>
                  <a:srgbClr val="000000">
                    <a:alpha val="100000"/>
                  </a:srgbClr>
                </a:solidFill>
                <a:latin typeface="Calibri Light" panose="020F0302020204030204"/>
                <a:ea typeface="Calibri Light" panose="020F0302020204030204"/>
                <a:cs typeface="Calibri Light" panose="020F0302020204030204"/>
              </a:rPr>
              <a:t>8 </a:t>
            </a:r>
            <a:r>
              <a:rPr sz="1815" kern="0" spc="0" dirty="0">
                <a:solidFill>
                  <a:srgbClr val="000000">
                    <a:alpha val="100000"/>
                  </a:srgbClr>
                </a:solidFill>
                <a:latin typeface="Calibri Light" panose="020F0302020204030204"/>
                <a:ea typeface="Calibri Light" panose="020F0302020204030204"/>
                <a:cs typeface="Calibri Light" panose="020F0302020204030204"/>
              </a:rPr>
              <a:t>aggregate</a:t>
            </a:r>
            <a:r>
              <a:rPr sz="1815" kern="0" spc="7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variables</a:t>
            </a:r>
            <a:r>
              <a:rPr sz="1815" kern="0" spc="160" dirty="0">
                <a:solidFill>
                  <a:srgbClr val="000000">
                    <a:alpha val="100000"/>
                  </a:srgbClr>
                </a:solidFill>
                <a:latin typeface="Calibri Light" panose="020F0302020204030204"/>
                <a:ea typeface="Calibri Light" panose="020F0302020204030204"/>
                <a:cs typeface="Calibri Light" panose="020F0302020204030204"/>
              </a:rPr>
              <a:t> </a:t>
            </a:r>
            <a:r>
              <a:rPr sz="1815" kern="0" spc="70" dirty="0">
                <a:solidFill>
                  <a:srgbClr val="000000">
                    <a:alpha val="100000"/>
                  </a:srgbClr>
                </a:solidFill>
                <a:latin typeface="Calibri Light" panose="020F0302020204030204"/>
                <a:ea typeface="Calibri Light" panose="020F0302020204030204"/>
                <a:cs typeface="Calibri Light" panose="020F0302020204030204"/>
              </a:rPr>
              <a:t>(</a:t>
            </a:r>
            <a:r>
              <a:rPr sz="1815" kern="0" spc="0" dirty="0">
                <a:solidFill>
                  <a:srgbClr val="000000">
                    <a:alpha val="100000"/>
                  </a:srgbClr>
                </a:solidFill>
                <a:latin typeface="Calibri Light" panose="020F0302020204030204"/>
                <a:ea typeface="Calibri Light" panose="020F0302020204030204"/>
                <a:cs typeface="Calibri Light" panose="020F0302020204030204"/>
              </a:rPr>
              <a:t>dividend</a:t>
            </a:r>
            <a:r>
              <a:rPr sz="1815" kern="0" spc="7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yield</a:t>
            </a:r>
            <a:r>
              <a:rPr sz="1815" kern="0" spc="12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etc</a:t>
            </a:r>
            <a:r>
              <a:rPr sz="1815" kern="0" spc="70" dirty="0">
                <a:solidFill>
                  <a:srgbClr val="000000">
                    <a:alpha val="100000"/>
                  </a:srgbClr>
                </a:solidFill>
                <a:latin typeface="Calibri Light" panose="020F0302020204030204"/>
                <a:ea typeface="Calibri Light" panose="020F0302020204030204"/>
                <a:cs typeface="Calibri Light" panose="020F0302020204030204"/>
              </a:rPr>
              <a:t>)</a:t>
            </a:r>
            <a:r>
              <a:rPr sz="1815" kern="0" spc="11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and</a:t>
            </a:r>
            <a:endParaRPr sz="1815" dirty="0">
              <a:latin typeface="Calibri Light" panose="020F0302020204030204"/>
              <a:ea typeface="Calibri Light" panose="020F0302020204030204"/>
              <a:cs typeface="Calibri Light" panose="020F0302020204030204"/>
            </a:endParaRPr>
          </a:p>
          <a:p>
            <a:pPr marL="400050" algn="l" rtl="0" eaLnBrk="0">
              <a:lnSpc>
                <a:spcPct val="76000"/>
              </a:lnSpc>
              <a:spcBef>
                <a:spcPts val="575"/>
              </a:spcBef>
            </a:pPr>
            <a:r>
              <a:rPr sz="1815" kern="0" spc="0" dirty="0">
                <a:solidFill>
                  <a:srgbClr val="000000">
                    <a:alpha val="100000"/>
                  </a:srgbClr>
                </a:solidFill>
                <a:latin typeface="Arial" panose="020B0604020202020204"/>
                <a:ea typeface="Arial" panose="020B0604020202020204"/>
                <a:cs typeface="Arial" panose="020B0604020202020204"/>
              </a:rPr>
              <a:t>•</a:t>
            </a:r>
            <a:r>
              <a:rPr sz="1815" kern="0" spc="400" dirty="0">
                <a:solidFill>
                  <a:srgbClr val="000000">
                    <a:alpha val="100000"/>
                  </a:srgbClr>
                </a:solidFill>
                <a:latin typeface="Arial" panose="020B0604020202020204"/>
                <a:ea typeface="Arial" panose="020B0604020202020204"/>
                <a:cs typeface="Arial" panose="020B060402020202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74</a:t>
            </a:r>
            <a:r>
              <a:rPr sz="1815" kern="0" spc="16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industry</a:t>
            </a:r>
            <a:r>
              <a:rPr sz="1815" kern="0" spc="12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dummies</a:t>
            </a:r>
            <a:endParaRPr sz="1815" dirty="0">
              <a:latin typeface="Calibri Light" panose="020F0302020204030204"/>
              <a:ea typeface="Calibri Light" panose="020F0302020204030204"/>
              <a:cs typeface="Calibri Light" panose="020F0302020204030204"/>
            </a:endParaRPr>
          </a:p>
          <a:p>
            <a:pPr marL="400050" algn="l" rtl="0" eaLnBrk="0">
              <a:lnSpc>
                <a:spcPct val="77000"/>
              </a:lnSpc>
              <a:spcBef>
                <a:spcPts val="550"/>
              </a:spcBef>
            </a:pPr>
            <a:r>
              <a:rPr sz="1815" kern="0" spc="0" dirty="0">
                <a:solidFill>
                  <a:srgbClr val="000000">
                    <a:alpha val="100000"/>
                  </a:srgbClr>
                </a:solidFill>
                <a:latin typeface="Arial" panose="020B0604020202020204"/>
                <a:ea typeface="Arial" panose="020B0604020202020204"/>
                <a:cs typeface="Arial" panose="020B0604020202020204"/>
              </a:rPr>
              <a:t>•</a:t>
            </a:r>
            <a:r>
              <a:rPr sz="1815" kern="0" spc="440" dirty="0">
                <a:solidFill>
                  <a:srgbClr val="000000">
                    <a:alpha val="100000"/>
                  </a:srgbClr>
                </a:solidFill>
                <a:latin typeface="Arial" panose="020B0604020202020204"/>
                <a:ea typeface="Arial" panose="020B0604020202020204"/>
                <a:cs typeface="Arial" panose="020B060402020202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Resulting</a:t>
            </a:r>
            <a:r>
              <a:rPr sz="1815" kern="0" spc="16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in</a:t>
            </a:r>
            <a:r>
              <a:rPr sz="1815" kern="0" spc="11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900</a:t>
            </a:r>
            <a:r>
              <a:rPr sz="1815" kern="0" spc="18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baseline</a:t>
            </a:r>
            <a:r>
              <a:rPr sz="1815" kern="0" spc="12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signals</a:t>
            </a:r>
            <a:endParaRPr sz="1815" dirty="0">
              <a:latin typeface="Calibri Light" panose="020F0302020204030204"/>
              <a:ea typeface="Calibri Light" panose="020F0302020204030204"/>
              <a:cs typeface="Calibri Light" panose="020F03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2" name="textbox 1732"/>
          <p:cNvSpPr/>
          <p:nvPr/>
        </p:nvSpPr>
        <p:spPr>
          <a:xfrm>
            <a:off x="1697355" y="1256030"/>
            <a:ext cx="9660890" cy="35344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40640" algn="l" rtl="0" eaLnBrk="0">
              <a:lnSpc>
                <a:spcPts val="4640"/>
              </a:lnSpc>
            </a:pPr>
            <a:r>
              <a:rPr sz="3445" kern="0" spc="-70" dirty="0">
                <a:solidFill>
                  <a:srgbClr val="000000">
                    <a:alpha val="100000"/>
                  </a:srgbClr>
                </a:solidFill>
                <a:latin typeface="Calibri Light" panose="020F0302020204030204"/>
                <a:ea typeface="Calibri Light" panose="020F0302020204030204"/>
                <a:cs typeface="Calibri Light" panose="020F0302020204030204"/>
              </a:rPr>
              <a:t>Learing</a:t>
            </a:r>
            <a:r>
              <a:rPr sz="3445" kern="0" spc="280" dirty="0">
                <a:solidFill>
                  <a:srgbClr val="000000">
                    <a:alpha val="100000"/>
                  </a:srgbClr>
                </a:solidFill>
                <a:latin typeface="Calibri Light" panose="020F0302020204030204"/>
                <a:ea typeface="Calibri Light" panose="020F0302020204030204"/>
                <a:cs typeface="Calibri Light" panose="020F0302020204030204"/>
              </a:rPr>
              <a:t> </a:t>
            </a:r>
            <a:r>
              <a:rPr sz="3445" kern="0" spc="-70" dirty="0">
                <a:solidFill>
                  <a:srgbClr val="000000">
                    <a:alpha val="100000"/>
                  </a:srgbClr>
                </a:solidFill>
                <a:latin typeface="Calibri Light" panose="020F0302020204030204"/>
                <a:ea typeface="Calibri Light" panose="020F0302020204030204"/>
                <a:cs typeface="Calibri Light" panose="020F0302020204030204"/>
              </a:rPr>
              <a:t>in a</a:t>
            </a:r>
            <a:r>
              <a:rPr sz="3445" kern="0" spc="310" dirty="0">
                <a:solidFill>
                  <a:srgbClr val="000000">
                    <a:alpha val="100000"/>
                  </a:srgbClr>
                </a:solidFill>
                <a:latin typeface="Calibri Light" panose="020F0302020204030204"/>
                <a:ea typeface="Calibri Light" panose="020F0302020204030204"/>
                <a:cs typeface="Calibri Light" panose="020F0302020204030204"/>
              </a:rPr>
              <a:t> </a:t>
            </a:r>
            <a:r>
              <a:rPr sz="3445" kern="0" spc="-70" dirty="0">
                <a:solidFill>
                  <a:srgbClr val="000000">
                    <a:alpha val="100000"/>
                  </a:srgbClr>
                </a:solidFill>
                <a:latin typeface="Calibri Light" panose="020F0302020204030204"/>
                <a:ea typeface="Calibri Light" panose="020F0302020204030204"/>
                <a:cs typeface="Calibri Light" panose="020F0302020204030204"/>
              </a:rPr>
              <a:t>Nutshell</a:t>
            </a:r>
            <a:endParaRPr sz="3445" dirty="0">
              <a:latin typeface="Calibri Light" panose="020F0302020204030204"/>
              <a:ea typeface="Calibri Light" panose="020F0302020204030204"/>
              <a:cs typeface="Calibri Light" panose="020F0302020204030204"/>
            </a:endParaRPr>
          </a:p>
          <a:p>
            <a:pPr algn="l" rtl="0" eaLnBrk="0">
              <a:lnSpc>
                <a:spcPct val="189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730"/>
              </a:spcBef>
            </a:pPr>
            <a:r>
              <a:rPr sz="2175" kern="0" spc="-10" dirty="0">
                <a:solidFill>
                  <a:srgbClr val="000000">
                    <a:alpha val="100000"/>
                  </a:srgbClr>
                </a:solidFill>
                <a:latin typeface="Arial" panose="020B0604020202020204"/>
                <a:ea typeface="Arial" panose="020B0604020202020204"/>
                <a:cs typeface="Arial" panose="020B0604020202020204"/>
                <a:sym typeface="+mn-ea"/>
              </a:rPr>
              <a:t>• </a:t>
            </a:r>
            <a:r>
              <a:rPr sz="2175" kern="0" spc="-10" dirty="0">
                <a:solidFill>
                  <a:srgbClr val="000000">
                    <a:alpha val="100000"/>
                  </a:srgbClr>
                </a:solidFill>
                <a:latin typeface="Calibri Light" panose="020F0302020204030204"/>
                <a:ea typeface="Calibri Light" panose="020F0302020204030204"/>
                <a:cs typeface="Calibri Light" panose="020F0302020204030204"/>
                <a:sym typeface="+mn-ea"/>
              </a:rPr>
              <a:t>C</a:t>
            </a:r>
            <a:r>
              <a:rPr lang="en-US" altLang="zh-CN" sz="2175" dirty="0">
                <a:latin typeface="Calibri Light" panose="020F0302020204030204"/>
                <a:ea typeface="Calibri Light" panose="020F0302020204030204"/>
                <a:cs typeface="Calibri Light" panose="020F0302020204030204"/>
                <a:sym typeface="+mn-ea"/>
              </a:rPr>
              <a:t>onceptual explanations</a:t>
            </a:r>
            <a:endParaRPr sz="2175" kern="0" spc="-10" dirty="0">
              <a:solidFill>
                <a:srgbClr val="000000">
                  <a:alpha val="100000"/>
                </a:srgbClr>
              </a:solidFill>
              <a:latin typeface="Arial" panose="020B0604020202020204"/>
              <a:ea typeface="Arial" panose="020B0604020202020204"/>
              <a:cs typeface="Arial" panose="020B0604020202020204"/>
            </a:endParaRPr>
          </a:p>
          <a:p>
            <a:pPr marL="12700" algn="l" rtl="0" eaLnBrk="0">
              <a:lnSpc>
                <a:spcPct val="77000"/>
              </a:lnSpc>
              <a:spcBef>
                <a:spcPts val="730"/>
              </a:spcBef>
            </a:pPr>
            <a:r>
              <a:rPr sz="2175" kern="0" spc="-1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Classical</a:t>
            </a:r>
            <a:r>
              <a:rPr sz="2175" kern="0" spc="19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ML approach</a:t>
            </a:r>
            <a:r>
              <a:rPr sz="2175" kern="0" spc="-20" dirty="0">
                <a:solidFill>
                  <a:srgbClr val="000000">
                    <a:alpha val="100000"/>
                  </a:srgbClr>
                </a:solidFill>
                <a:latin typeface="Calibri Light" panose="020F0302020204030204"/>
                <a:ea typeface="Calibri Light" panose="020F0302020204030204"/>
                <a:cs typeface="Calibri Light" panose="020F0302020204030204"/>
              </a:rPr>
              <a:t>es are</a:t>
            </a:r>
            <a:r>
              <a:rPr sz="2175" kern="0" spc="16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used to</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predict</a:t>
            </a:r>
            <a:r>
              <a:rPr sz="2175" kern="0" spc="9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stock</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returns</a:t>
            </a:r>
            <a:r>
              <a:rPr sz="2175" kern="0" spc="0" dirty="0">
                <a:solidFill>
                  <a:srgbClr val="000000">
                    <a:alpha val="100000"/>
                  </a:srgbClr>
                </a:solidFill>
                <a:latin typeface="Arial" panose="020B0604020202020204"/>
                <a:ea typeface="Arial" panose="020B0604020202020204"/>
                <a:cs typeface="Arial" panose="020B0604020202020204"/>
              </a:rPr>
              <a:t> </a:t>
            </a:r>
            <a:r>
              <a:rPr lang="en-US" sz="2175" kern="0" spc="0" dirty="0">
                <a:solidFill>
                  <a:srgbClr val="000000">
                    <a:alpha val="100000"/>
                  </a:srgbClr>
                </a:solidFill>
                <a:latin typeface="Arial" panose="020B0604020202020204"/>
                <a:ea typeface="Arial" panose="020B0604020202020204"/>
                <a:cs typeface="Arial" panose="020B0604020202020204"/>
              </a:rPr>
              <a:t>:</a:t>
            </a:r>
            <a:r>
              <a:rPr sz="1995" kern="0" spc="0" dirty="0">
                <a:solidFill>
                  <a:srgbClr val="000000">
                    <a:alpha val="100000"/>
                  </a:srgbClr>
                </a:solidFill>
                <a:latin typeface="Calibri Light" panose="020F0302020204030204"/>
                <a:ea typeface="Calibri Light" panose="020F0302020204030204"/>
                <a:cs typeface="Calibri Light" panose="020F0302020204030204"/>
              </a:rPr>
              <a:t>E_t(R_i_tp1) =</a:t>
            </a:r>
            <a:r>
              <a:rPr sz="1995" kern="0" spc="80" dirty="0">
                <a:solidFill>
                  <a:srgbClr val="000000">
                    <a:alpha val="100000"/>
                  </a:srgbClr>
                </a:solidFill>
                <a:latin typeface="Calibri Light" panose="020F0302020204030204"/>
                <a:ea typeface="Calibri Light" panose="020F0302020204030204"/>
                <a:cs typeface="Calibri Light" panose="020F0302020204030204"/>
              </a:rPr>
              <a:t> </a:t>
            </a:r>
            <a:r>
              <a:rPr sz="1995" kern="0" spc="0" dirty="0">
                <a:solidFill>
                  <a:srgbClr val="000000">
                    <a:alpha val="100000"/>
                  </a:srgbClr>
                </a:solidFill>
                <a:latin typeface="Calibri Light" panose="020F0302020204030204"/>
                <a:ea typeface="Calibri Light" panose="020F0302020204030204"/>
                <a:cs typeface="Calibri Light" panose="020F0302020204030204"/>
              </a:rPr>
              <a:t>g(z_i_t;</a:t>
            </a:r>
            <a:r>
              <a:rPr sz="1995" kern="0" spc="50" dirty="0">
                <a:solidFill>
                  <a:srgbClr val="000000">
                    <a:alpha val="100000"/>
                  </a:srgbClr>
                </a:solidFill>
                <a:latin typeface="Calibri Light" panose="020F0302020204030204"/>
                <a:ea typeface="Calibri Light" panose="020F0302020204030204"/>
                <a:cs typeface="Calibri Light" panose="020F0302020204030204"/>
              </a:rPr>
              <a:t> </a:t>
            </a:r>
            <a:r>
              <a:rPr sz="1995" kern="0" spc="0" dirty="0">
                <a:solidFill>
                  <a:srgbClr val="000000">
                    <a:alpha val="100000"/>
                  </a:srgbClr>
                </a:solidFill>
                <a:latin typeface="Calibri Light" panose="020F0302020204030204"/>
                <a:ea typeface="Calibri Light" panose="020F0302020204030204"/>
                <a:cs typeface="Calibri Light" panose="020F0302020204030204"/>
              </a:rPr>
              <a:t>theta)</a:t>
            </a:r>
            <a:endParaRPr sz="1995" dirty="0">
              <a:latin typeface="Calibri Light" panose="020F0302020204030204"/>
              <a:ea typeface="Calibri Light" panose="020F0302020204030204"/>
              <a:cs typeface="Calibri Light" panose="020F0302020204030204"/>
            </a:endParaRPr>
          </a:p>
          <a:p>
            <a:pPr marL="12700" algn="l" rtl="0" eaLnBrk="0">
              <a:lnSpc>
                <a:spcPct val="77000"/>
              </a:lnSpc>
              <a:spcBef>
                <a:spcPts val="1260"/>
              </a:spcBef>
            </a:pPr>
            <a:r>
              <a:rPr sz="2175" kern="0" spc="-1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Starting</a:t>
            </a:r>
            <a:r>
              <a:rPr sz="2175" kern="0" spc="16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configuration:</a:t>
            </a:r>
            <a:endParaRPr sz="2175" dirty="0">
              <a:latin typeface="Calibri Light" panose="020F0302020204030204"/>
              <a:ea typeface="Calibri Light" panose="020F0302020204030204"/>
              <a:cs typeface="Calibri Light" panose="020F0302020204030204"/>
            </a:endParaRPr>
          </a:p>
          <a:p>
            <a:pPr marL="400050" algn="l" rtl="0" eaLnBrk="0">
              <a:lnSpc>
                <a:spcPct val="73000"/>
              </a:lnSpc>
              <a:spcBef>
                <a:spcPts val="865"/>
              </a:spcBef>
            </a:pPr>
            <a:r>
              <a:rPr sz="1815" kern="0" spc="-10" dirty="0">
                <a:solidFill>
                  <a:srgbClr val="000000">
                    <a:alpha val="100000"/>
                  </a:srgbClr>
                </a:solidFill>
                <a:latin typeface="Arial" panose="020B0604020202020204"/>
                <a:ea typeface="Arial" panose="020B0604020202020204"/>
                <a:cs typeface="Arial" panose="020B0604020202020204"/>
              </a:rPr>
              <a:t>•</a:t>
            </a:r>
            <a:r>
              <a:rPr sz="1815" kern="0" spc="310" dirty="0">
                <a:solidFill>
                  <a:srgbClr val="000000">
                    <a:alpha val="100000"/>
                  </a:srgbClr>
                </a:solidFill>
                <a:latin typeface="Arial" panose="020B0604020202020204"/>
                <a:ea typeface="Arial" panose="020B0604020202020204"/>
                <a:cs typeface="Arial" panose="020B060402020202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Tr:</a:t>
            </a:r>
            <a:r>
              <a:rPr sz="1815" kern="0" spc="180" dirty="0">
                <a:solidFill>
                  <a:srgbClr val="000000">
                    <a:alpha val="100000"/>
                  </a:srgbClr>
                </a:solidFill>
                <a:latin typeface="Calibri Light" panose="020F0302020204030204"/>
                <a:ea typeface="Calibri Light" panose="020F0302020204030204"/>
                <a:cs typeface="Calibri Light" panose="020F030202020403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1957-1974,</a:t>
            </a:r>
            <a:r>
              <a:rPr sz="1815" kern="0" spc="190" dirty="0">
                <a:solidFill>
                  <a:srgbClr val="000000">
                    <a:alpha val="100000"/>
                  </a:srgbClr>
                </a:solidFill>
                <a:latin typeface="Calibri Light" panose="020F0302020204030204"/>
                <a:ea typeface="Calibri Light" panose="020F0302020204030204"/>
                <a:cs typeface="Calibri Light" panose="020F030202020403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18 years</a:t>
            </a:r>
            <a:endParaRPr sz="1815" dirty="0">
              <a:latin typeface="Calibri Light" panose="020F0302020204030204"/>
              <a:ea typeface="Calibri Light" panose="020F0302020204030204"/>
              <a:cs typeface="Calibri Light" panose="020F0302020204030204"/>
            </a:endParaRPr>
          </a:p>
          <a:p>
            <a:pPr marL="400050" algn="l" rtl="0" eaLnBrk="0">
              <a:lnSpc>
                <a:spcPct val="77000"/>
              </a:lnSpc>
              <a:spcBef>
                <a:spcPts val="745"/>
              </a:spcBef>
            </a:pPr>
            <a:r>
              <a:rPr sz="1815" kern="0" spc="-10" dirty="0">
                <a:solidFill>
                  <a:srgbClr val="000000">
                    <a:alpha val="100000"/>
                  </a:srgbClr>
                </a:solidFill>
                <a:latin typeface="Arial" panose="020B0604020202020204"/>
                <a:ea typeface="Arial" panose="020B0604020202020204"/>
                <a:cs typeface="Arial" panose="020B0604020202020204"/>
              </a:rPr>
              <a:t>•</a:t>
            </a:r>
            <a:r>
              <a:rPr sz="1815" kern="0" spc="300" dirty="0">
                <a:solidFill>
                  <a:srgbClr val="000000">
                    <a:alpha val="100000"/>
                  </a:srgbClr>
                </a:solidFill>
                <a:latin typeface="Arial" panose="020B0604020202020204"/>
                <a:ea typeface="Arial" panose="020B0604020202020204"/>
                <a:cs typeface="Arial" panose="020B060402020202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Vald</a:t>
            </a:r>
            <a:r>
              <a:rPr sz="1815" kern="0" spc="-230" dirty="0">
                <a:solidFill>
                  <a:srgbClr val="000000">
                    <a:alpha val="100000"/>
                  </a:srgbClr>
                </a:solidFill>
                <a:latin typeface="Calibri Light" panose="020F0302020204030204"/>
                <a:ea typeface="Calibri Light" panose="020F0302020204030204"/>
                <a:cs typeface="Calibri Light" panose="020F030202020403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a:t>
            </a:r>
            <a:r>
              <a:rPr sz="1815" kern="0" spc="180" dirty="0">
                <a:solidFill>
                  <a:srgbClr val="000000">
                    <a:alpha val="100000"/>
                  </a:srgbClr>
                </a:solidFill>
                <a:latin typeface="Calibri Light" panose="020F0302020204030204"/>
                <a:ea typeface="Calibri Light" panose="020F0302020204030204"/>
                <a:cs typeface="Calibri Light" panose="020F030202020403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1975-1986,</a:t>
            </a:r>
            <a:r>
              <a:rPr sz="1815" kern="0" spc="190" dirty="0">
                <a:solidFill>
                  <a:srgbClr val="000000">
                    <a:alpha val="100000"/>
                  </a:srgbClr>
                </a:solidFill>
                <a:latin typeface="Calibri Light" panose="020F0302020204030204"/>
                <a:ea typeface="Calibri Light" panose="020F0302020204030204"/>
                <a:cs typeface="Calibri Light" panose="020F0302020204030204"/>
              </a:rPr>
              <a:t> </a:t>
            </a:r>
            <a:r>
              <a:rPr sz="1815" kern="0" spc="-20" dirty="0">
                <a:solidFill>
                  <a:srgbClr val="000000">
                    <a:alpha val="100000"/>
                  </a:srgbClr>
                </a:solidFill>
                <a:latin typeface="Calibri Light" panose="020F0302020204030204"/>
                <a:ea typeface="Calibri Light" panose="020F0302020204030204"/>
                <a:cs typeface="Calibri Light" panose="020F0302020204030204"/>
              </a:rPr>
              <a:t>12 years</a:t>
            </a:r>
            <a:endParaRPr sz="1815" kern="0" spc="-20" dirty="0">
              <a:solidFill>
                <a:srgbClr val="000000">
                  <a:alpha val="100000"/>
                </a:srgbClr>
              </a:solidFill>
              <a:latin typeface="Calibri Light" panose="020F0302020204030204"/>
              <a:ea typeface="Calibri Light" panose="020F0302020204030204"/>
              <a:cs typeface="Calibri Light" panose="020F0302020204030204"/>
            </a:endParaRPr>
          </a:p>
          <a:p>
            <a:pPr marL="400050" algn="l" rtl="0" eaLnBrk="0">
              <a:lnSpc>
                <a:spcPct val="77000"/>
              </a:lnSpc>
              <a:spcBef>
                <a:spcPts val="745"/>
              </a:spcBef>
            </a:pPr>
            <a:r>
              <a:rPr sz="1815" kern="0" spc="-10" dirty="0">
                <a:solidFill>
                  <a:srgbClr val="000000">
                    <a:alpha val="100000"/>
                  </a:srgbClr>
                </a:solidFill>
                <a:latin typeface="Arial" panose="020B0604020202020204"/>
                <a:ea typeface="Arial" panose="020B0604020202020204"/>
                <a:cs typeface="Arial" panose="020B0604020202020204"/>
                <a:sym typeface="+mn-ea"/>
              </a:rPr>
              <a:t>•</a:t>
            </a:r>
            <a:r>
              <a:rPr sz="1815" kern="0" spc="300" dirty="0">
                <a:solidFill>
                  <a:srgbClr val="000000">
                    <a:alpha val="100000"/>
                  </a:srgbClr>
                </a:solidFill>
                <a:latin typeface="Arial" panose="020B0604020202020204"/>
                <a:ea typeface="Arial" panose="020B0604020202020204"/>
                <a:cs typeface="Arial" panose="020B0604020202020204"/>
                <a:sym typeface="+mn-ea"/>
              </a:rPr>
              <a:t> </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Test</a:t>
            </a:r>
            <a:r>
              <a:rPr lang="en-US"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 </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a:t>
            </a:r>
            <a:r>
              <a:rPr sz="1815" kern="0" spc="180" dirty="0">
                <a:solidFill>
                  <a:srgbClr val="000000">
                    <a:alpha val="100000"/>
                  </a:srgbClr>
                </a:solidFill>
                <a:latin typeface="Calibri Light" panose="020F0302020204030204"/>
                <a:ea typeface="Calibri Light" panose="020F0302020204030204"/>
                <a:cs typeface="Calibri Light" panose="020F0302020204030204"/>
                <a:sym typeface="+mn-ea"/>
              </a:rPr>
              <a:t> </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19</a:t>
            </a:r>
            <a:r>
              <a:rPr lang="en-US"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87</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a:t>
            </a:r>
            <a:r>
              <a:rPr lang="en-US"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2016</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a:t>
            </a:r>
            <a:r>
              <a:rPr sz="1815" kern="0" spc="190" dirty="0">
                <a:solidFill>
                  <a:srgbClr val="000000">
                    <a:alpha val="100000"/>
                  </a:srgbClr>
                </a:solidFill>
                <a:latin typeface="Calibri Light" panose="020F0302020204030204"/>
                <a:ea typeface="Calibri Light" panose="020F0302020204030204"/>
                <a:cs typeface="Calibri Light" panose="020F0302020204030204"/>
                <a:sym typeface="+mn-ea"/>
              </a:rPr>
              <a:t> </a:t>
            </a:r>
            <a:r>
              <a:rPr sz="1815" kern="0" spc="-20" dirty="0">
                <a:solidFill>
                  <a:srgbClr val="000000">
                    <a:alpha val="100000"/>
                  </a:srgbClr>
                </a:solidFill>
                <a:latin typeface="Calibri Light" panose="020F0302020204030204"/>
                <a:ea typeface="Calibri Light" panose="020F0302020204030204"/>
                <a:cs typeface="Calibri Light" panose="020F0302020204030204"/>
                <a:sym typeface="+mn-ea"/>
              </a:rPr>
              <a:t>12 years</a:t>
            </a:r>
            <a:endParaRPr sz="1815" dirty="0">
              <a:latin typeface="Calibri Light" panose="020F0302020204030204"/>
              <a:ea typeface="Calibri Light" panose="020F0302020204030204"/>
              <a:cs typeface="Calibri Light" panose="020F0302020204030204"/>
            </a:endParaRPr>
          </a:p>
          <a:p>
            <a:pPr marL="12700" algn="l" rtl="0" eaLnBrk="0">
              <a:lnSpc>
                <a:spcPct val="78000"/>
              </a:lnSpc>
              <a:spcBef>
                <a:spcPts val="1160"/>
              </a:spcBef>
            </a:pPr>
            <a:r>
              <a:rPr sz="2175" kern="0" spc="-1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Models get</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re-trained once every year</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(st</a:t>
            </a:r>
            <a:r>
              <a:rPr sz="2175" kern="0" spc="-20" dirty="0">
                <a:solidFill>
                  <a:srgbClr val="000000">
                    <a:alpha val="100000"/>
                  </a:srgbClr>
                </a:solidFill>
                <a:latin typeface="Calibri Light" panose="020F0302020204030204"/>
                <a:ea typeface="Calibri Light" panose="020F0302020204030204"/>
                <a:cs typeface="Calibri Light" panose="020F0302020204030204"/>
              </a:rPr>
              <a:t>arting</a:t>
            </a:r>
            <a:r>
              <a:rPr sz="2175" kern="0" spc="19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1987),</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increasing the</a:t>
            </a:r>
            <a:endParaRPr sz="2175" dirty="0">
              <a:latin typeface="Calibri Light" panose="020F0302020204030204"/>
              <a:ea typeface="Calibri Light" panose="020F0302020204030204"/>
              <a:cs typeface="Calibri Light" panose="020F0302020204030204"/>
            </a:endParaRPr>
          </a:p>
          <a:p>
            <a:pPr marL="204470" indent="-8255" algn="l" rtl="0" eaLnBrk="0">
              <a:lnSpc>
                <a:spcPct val="82000"/>
              </a:lnSpc>
              <a:spcBef>
                <a:spcPts val="365"/>
              </a:spcBef>
            </a:pPr>
            <a:r>
              <a:rPr sz="2175" kern="0" spc="-10" dirty="0">
                <a:solidFill>
                  <a:srgbClr val="000000">
                    <a:alpha val="100000"/>
                  </a:srgbClr>
                </a:solidFill>
                <a:latin typeface="Calibri Light" panose="020F0302020204030204"/>
                <a:ea typeface="Calibri Light" panose="020F0302020204030204"/>
                <a:cs typeface="Calibri Light" panose="020F0302020204030204"/>
              </a:rPr>
              <a:t>training set</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by</a:t>
            </a:r>
            <a:r>
              <a:rPr sz="2175" kern="0" spc="19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1 year,</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keeping va</a:t>
            </a:r>
            <a:r>
              <a:rPr sz="2175" kern="0" spc="-20" dirty="0">
                <a:solidFill>
                  <a:srgbClr val="000000">
                    <a:alpha val="100000"/>
                  </a:srgbClr>
                </a:solidFill>
                <a:latin typeface="Calibri Light" panose="020F0302020204030204"/>
                <a:ea typeface="Calibri Light" panose="020F0302020204030204"/>
                <a:cs typeface="Calibri Light" panose="020F0302020204030204"/>
              </a:rPr>
              <a:t>lidation set at</a:t>
            </a:r>
            <a:r>
              <a:rPr sz="2175" kern="0" spc="20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12 years</a:t>
            </a:r>
            <a:r>
              <a:rPr sz="2175" kern="0" spc="11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and testing</a:t>
            </a:r>
            <a:r>
              <a:rPr sz="2175" kern="0" spc="3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forecasts</a:t>
            </a:r>
            <a:r>
              <a:rPr sz="2175" kern="0" spc="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on</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next year‘s</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realized</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mont</a:t>
            </a:r>
            <a:r>
              <a:rPr sz="2175" kern="0" spc="-30" dirty="0">
                <a:solidFill>
                  <a:srgbClr val="000000">
                    <a:alpha val="100000"/>
                  </a:srgbClr>
                </a:solidFill>
                <a:latin typeface="Calibri Light" panose="020F0302020204030204"/>
                <a:ea typeface="Calibri Light" panose="020F0302020204030204"/>
                <a:cs typeface="Calibri Light" panose="020F0302020204030204"/>
              </a:rPr>
              <a:t>hly</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returns</a:t>
            </a:r>
            <a:endParaRPr sz="2175" dirty="0">
              <a:latin typeface="Calibri Light" panose="020F0302020204030204"/>
              <a:ea typeface="Calibri Light" panose="020F0302020204030204"/>
              <a:cs typeface="Calibri Light" panose="020F03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sz="2810" kern="0" spc="-10" dirty="0">
                <a:solidFill>
                  <a:srgbClr val="000000">
                    <a:alpha val="100000"/>
                  </a:srgbClr>
                </a:solidFill>
                <a:latin typeface="Calibri Light" panose="020F0302020204030204"/>
                <a:ea typeface="Calibri Light" panose="020F0302020204030204"/>
                <a:cs typeface="Calibri Light" panose="020F0302020204030204"/>
                <a:sym typeface="+mn-ea"/>
              </a:rPr>
              <a:t>C</a:t>
            </a:r>
            <a:r>
              <a:rPr lang="en-US" altLang="zh-CN" sz="2810" dirty="0">
                <a:latin typeface="Calibri Light" panose="020F0302020204030204"/>
                <a:ea typeface="Calibri Light" panose="020F0302020204030204"/>
                <a:cs typeface="Calibri Light" panose="020F0302020204030204"/>
                <a:sym typeface="+mn-ea"/>
              </a:rPr>
              <a:t>onceptual explanations</a:t>
            </a:r>
            <a:endParaRPr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The definition of machine learning</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lang="en-US" altLang="zh-CN" sz="1540" dirty="0">
                <a:latin typeface="Calibri Light" panose="020F0302020204030204"/>
                <a:ea typeface="Calibri Light" panose="020F0302020204030204"/>
                <a:cs typeface="Calibri Light" panose="020F0302020204030204"/>
              </a:rPr>
              <a:t>The definition of machine learning in statistical prediction encompasses three core elements: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lang="en-US" altLang="zh-CN" sz="1540" dirty="0">
                <a:latin typeface="Calibri Light" panose="020F0302020204030204"/>
                <a:ea typeface="Calibri Light" panose="020F0302020204030204"/>
                <a:cs typeface="Calibri Light" panose="020F0302020204030204"/>
              </a:rPr>
              <a:t>(a) a diverse collection of high-dimensional models for statistical prediction, combined with (b) so-called “regularization” methods for model selection and mitigation of overfit, and (c) efficient algorithms for searching among a vast number of potential model specifications.</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spc="0" dirty="0">
                <a:solidFill>
                  <a:srgbClr val="000000">
                    <a:alpha val="100000"/>
                  </a:srgbClr>
                </a:solidFill>
                <a:latin typeface="Arial" panose="020B0604020202020204"/>
                <a:ea typeface="Arial" panose="020B0604020202020204"/>
                <a:cs typeface="Arial" panose="020B0604020202020204"/>
              </a:rPr>
              <a:t>•</a:t>
            </a:r>
            <a:r>
              <a:rPr lang="en-US"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sym typeface="+mn-ea"/>
              </a:rPr>
              <a:t>(a) </a:t>
            </a:r>
            <a:r>
              <a:rPr lang="en-US" altLang="zh-CN" sz="1540" dirty="0">
                <a:latin typeface="Calibri Light" panose="020F0302020204030204"/>
                <a:ea typeface="Calibri Light" panose="020F0302020204030204"/>
                <a:cs typeface="Calibri Light" panose="020F0302020204030204"/>
              </a:rPr>
              <a:t>High-Dimensional Models</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The objective is to predict the target variable through a complex functional mapping</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where X∈R      represents the high-dimensional feature matrix, f(X)     is a nonlinear mapping function, and </a:t>
            </a:r>
            <a:r>
              <a:rPr lang="en-US" altLang="en-US" sz="1540" dirty="0">
                <a:latin typeface="Calibri Light" panose="020F0302020204030204"/>
                <a:ea typeface="Calibri Light" panose="020F0302020204030204"/>
                <a:cs typeface="Calibri Light" panose="020F0302020204030204"/>
              </a:rPr>
              <a:t>ϵ</a:t>
            </a:r>
            <a:r>
              <a:rPr lang="en-US" altLang="zh-CN" sz="1540" dirty="0">
                <a:latin typeface="Calibri Light" panose="020F0302020204030204"/>
                <a:ea typeface="Calibri Light" panose="020F0302020204030204"/>
                <a:cs typeface="Calibri Light" panose="020F0302020204030204"/>
              </a:rPr>
              <a:t> denotes the error term.</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spc="-1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(b) </a:t>
            </a:r>
            <a:r>
              <a:rPr lang="en-US" altLang="zh-CN" sz="1540" dirty="0">
                <a:latin typeface="Calibri Light" panose="020F0302020204030204"/>
                <a:ea typeface="Calibri Light" panose="020F0302020204030204"/>
                <a:cs typeface="Calibri Light" panose="020F0302020204030204"/>
              </a:rPr>
              <a:t>Regularization Methods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To mitigate overfitting, a regularization constraint is added to the optimization objective:</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spc="-1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(c) </a:t>
            </a:r>
            <a:r>
              <a:rPr lang="en-US" altLang="zh-CN" sz="1540" dirty="0">
                <a:latin typeface="Calibri Light" panose="020F0302020204030204"/>
                <a:ea typeface="Calibri Light" panose="020F0302020204030204"/>
                <a:cs typeface="Calibri Light" panose="020F0302020204030204"/>
              </a:rPr>
              <a:t>Efficient Algorithms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rPr>
              <a:t>Efficient algorithms are employed to search for the optimal model within the function space     :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1"/>
          <a:stretch>
            <a:fillRect/>
          </a:stretch>
        </p:blipFill>
        <p:spPr>
          <a:xfrm>
            <a:off x="1033145" y="2332990"/>
            <a:ext cx="1562100" cy="495300"/>
          </a:xfrm>
          <a:prstGeom prst="rect">
            <a:avLst/>
          </a:prstGeom>
        </p:spPr>
      </p:pic>
      <p:pic>
        <p:nvPicPr>
          <p:cNvPr id="3" name="图片 2"/>
          <p:cNvPicPr>
            <a:picLocks noChangeAspect="1"/>
          </p:cNvPicPr>
          <p:nvPr/>
        </p:nvPicPr>
        <p:blipFill>
          <a:blip r:embed="rId2"/>
          <a:stretch>
            <a:fillRect/>
          </a:stretch>
        </p:blipFill>
        <p:spPr>
          <a:xfrm>
            <a:off x="1584325" y="2865120"/>
            <a:ext cx="647700" cy="281940"/>
          </a:xfrm>
          <a:prstGeom prst="rect">
            <a:avLst/>
          </a:prstGeom>
        </p:spPr>
      </p:pic>
      <p:pic>
        <p:nvPicPr>
          <p:cNvPr id="4" name="图片 3"/>
          <p:cNvPicPr>
            <a:picLocks noChangeAspect="1"/>
          </p:cNvPicPr>
          <p:nvPr/>
        </p:nvPicPr>
        <p:blipFill>
          <a:blip r:embed="rId3"/>
          <a:stretch>
            <a:fillRect/>
          </a:stretch>
        </p:blipFill>
        <p:spPr>
          <a:xfrm>
            <a:off x="6032500" y="2885440"/>
            <a:ext cx="472440" cy="274320"/>
          </a:xfrm>
          <a:prstGeom prst="rect">
            <a:avLst/>
          </a:prstGeom>
        </p:spPr>
      </p:pic>
      <p:pic>
        <p:nvPicPr>
          <p:cNvPr id="5" name="图片 4"/>
          <p:cNvPicPr>
            <a:picLocks noChangeAspect="1"/>
          </p:cNvPicPr>
          <p:nvPr/>
        </p:nvPicPr>
        <p:blipFill>
          <a:blip r:embed="rId4"/>
          <a:stretch>
            <a:fillRect/>
          </a:stretch>
        </p:blipFill>
        <p:spPr>
          <a:xfrm>
            <a:off x="9406890" y="2938780"/>
            <a:ext cx="160020" cy="129540"/>
          </a:xfrm>
          <a:prstGeom prst="rect">
            <a:avLst/>
          </a:prstGeom>
        </p:spPr>
      </p:pic>
      <p:pic>
        <p:nvPicPr>
          <p:cNvPr id="7" name="图片 6"/>
          <p:cNvPicPr>
            <a:picLocks noChangeAspect="1"/>
          </p:cNvPicPr>
          <p:nvPr/>
        </p:nvPicPr>
        <p:blipFill>
          <a:blip r:embed="rId5"/>
          <a:stretch>
            <a:fillRect/>
          </a:stretch>
        </p:blipFill>
        <p:spPr>
          <a:xfrm>
            <a:off x="1033145" y="3729990"/>
            <a:ext cx="2758440" cy="556260"/>
          </a:xfrm>
          <a:prstGeom prst="rect">
            <a:avLst/>
          </a:prstGeom>
        </p:spPr>
      </p:pic>
      <p:pic>
        <p:nvPicPr>
          <p:cNvPr id="8" name="图片 7"/>
          <p:cNvPicPr>
            <a:picLocks noChangeAspect="1"/>
          </p:cNvPicPr>
          <p:nvPr/>
        </p:nvPicPr>
        <p:blipFill>
          <a:blip r:embed="rId6"/>
          <a:stretch>
            <a:fillRect/>
          </a:stretch>
        </p:blipFill>
        <p:spPr>
          <a:xfrm>
            <a:off x="3991610" y="3742690"/>
            <a:ext cx="4480560" cy="655320"/>
          </a:xfrm>
          <a:prstGeom prst="rect">
            <a:avLst/>
          </a:prstGeom>
        </p:spPr>
      </p:pic>
      <p:pic>
        <p:nvPicPr>
          <p:cNvPr id="10" name="图片 9"/>
          <p:cNvPicPr>
            <a:picLocks noChangeAspect="1"/>
          </p:cNvPicPr>
          <p:nvPr/>
        </p:nvPicPr>
        <p:blipFill>
          <a:blip r:embed="rId7"/>
          <a:stretch>
            <a:fillRect/>
          </a:stretch>
        </p:blipFill>
        <p:spPr>
          <a:xfrm>
            <a:off x="8247380" y="4687570"/>
            <a:ext cx="167640" cy="205740"/>
          </a:xfrm>
          <a:prstGeom prst="rect">
            <a:avLst/>
          </a:prstGeom>
        </p:spPr>
      </p:pic>
      <p:pic>
        <p:nvPicPr>
          <p:cNvPr id="11" name="图片 10"/>
          <p:cNvPicPr>
            <a:picLocks noChangeAspect="1"/>
          </p:cNvPicPr>
          <p:nvPr/>
        </p:nvPicPr>
        <p:blipFill>
          <a:blip r:embed="rId8"/>
          <a:stretch>
            <a:fillRect/>
          </a:stretch>
        </p:blipFill>
        <p:spPr>
          <a:xfrm>
            <a:off x="1083945" y="4876800"/>
            <a:ext cx="3695700" cy="548640"/>
          </a:xfrm>
          <a:prstGeom prst="rect">
            <a:avLst/>
          </a:prstGeom>
        </p:spPr>
      </p:pic>
      <p:sp>
        <p:nvSpPr>
          <p:cNvPr id="12" name="文本框 11"/>
          <p:cNvSpPr txBox="1"/>
          <p:nvPr/>
        </p:nvSpPr>
        <p:spPr>
          <a:xfrm>
            <a:off x="1076960" y="5541645"/>
            <a:ext cx="10598150" cy="583565"/>
          </a:xfrm>
          <a:prstGeom prst="rect">
            <a:avLst/>
          </a:prstGeom>
        </p:spPr>
        <p:txBody>
          <a:bodyPr wrap="square">
            <a:spAutoFit/>
          </a:bodyPr>
          <a:p>
            <a:r>
              <a:rPr lang="en-US" altLang="zh-CN" sz="1600"/>
              <a:t>Heuristic methods or gradient-based optimization techniques (e.g., random forests, gradient boosting machines, neural networks) are used to approximate the optimal solution, significantly reducing computational complexity.</a:t>
            </a:r>
            <a:endParaRPr lang="en-US" altLang="zh-CN"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sz="2810" kern="0" spc="-10" dirty="0">
                <a:solidFill>
                  <a:srgbClr val="000000">
                    <a:alpha val="100000"/>
                  </a:srgbClr>
                </a:solidFill>
                <a:latin typeface="Calibri Light" panose="020F0302020204030204"/>
                <a:ea typeface="Calibri Light" panose="020F0302020204030204"/>
                <a:cs typeface="Calibri Light" panose="020F0302020204030204"/>
                <a:sym typeface="+mn-ea"/>
              </a:rPr>
              <a:t>C</a:t>
            </a:r>
            <a:r>
              <a:rPr lang="en-US" altLang="zh-CN" sz="2810" dirty="0">
                <a:latin typeface="Calibri Light" panose="020F0302020204030204"/>
                <a:ea typeface="Calibri Light" panose="020F0302020204030204"/>
                <a:cs typeface="Calibri Light" panose="020F0302020204030204"/>
                <a:sym typeface="+mn-ea"/>
              </a:rPr>
              <a:t>onceptual explanations</a:t>
            </a:r>
            <a:endParaRPr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Why Apply Machine Learning Methods to Empirical Asset Pricing?</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lang="en-US" altLang="zh-CN" sz="1540" dirty="0">
                <a:latin typeface="Calibri Light" panose="020F0302020204030204"/>
                <a:ea typeface="Calibri Light" panose="020F0302020204030204"/>
                <a:cs typeface="Calibri Light" panose="020F0302020204030204"/>
              </a:rPr>
              <a:t>Three features of empirical asset pricing make it ideal for machine learning analysis: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spc="0" dirty="0">
                <a:solidFill>
                  <a:srgbClr val="000000">
                    <a:alpha val="100000"/>
                  </a:srgbClr>
                </a:solidFill>
                <a:latin typeface="Arial" panose="020B0604020202020204"/>
                <a:ea typeface="Arial" panose="020B0604020202020204"/>
                <a:cs typeface="Arial" panose="020B0604020202020204"/>
              </a:rPr>
              <a:t>•</a:t>
            </a:r>
            <a:r>
              <a:rPr lang="en-US"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sym typeface="+mn-ea"/>
              </a:rPr>
              <a:t>1.</a:t>
            </a:r>
            <a:r>
              <a:rPr lang="en-US" altLang="zh-CN" sz="1540" dirty="0">
                <a:latin typeface="Calibri Light" panose="020F0302020204030204"/>
                <a:ea typeface="Calibri Light" panose="020F0302020204030204"/>
                <a:cs typeface="Calibri Light" panose="020F0302020204030204"/>
              </a:rPr>
              <a:t>The Predictive Power</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First, the two core research agendas in asset pricing—explaining differences in expected returns across assets and analyzing the dynamics of the aggregate market equity risk premium—are fundamentally predictive problems. Machine learning is particularly well-suited to such tasks due to its strength in prediction.</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dirty="0">
                <a:solidFill>
                  <a:srgbClr val="000000">
                    <a:alpha val="100000"/>
                  </a:srgbClr>
                </a:solidFill>
                <a:latin typeface="Arial" panose="020B0604020202020204"/>
                <a:ea typeface="Arial" panose="020B0604020202020204"/>
                <a:cs typeface="Arial" panose="020B0604020202020204"/>
                <a:sym typeface="+mn-ea"/>
              </a:rPr>
              <a:t>•</a:t>
            </a:r>
            <a:r>
              <a:rPr lang="en-US"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2.Dimensionality</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Second, the set of candidate predictors for risk premiums is vast, including hundreds of stock-level characteristics and dozens of macroeconomic variables documented in the literature. Traditional methods often struggle when the number of predictors approaches the number of observations or when predictors are highly correlated. Machine learning, with its emphasis on variable selection and dimension reduction, effectively addresses these challenges.</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dirty="0">
                <a:solidFill>
                  <a:srgbClr val="000000">
                    <a:alpha val="100000"/>
                  </a:srgbClr>
                </a:solidFill>
                <a:latin typeface="Arial" panose="020B0604020202020204"/>
                <a:ea typeface="Arial" panose="020B0604020202020204"/>
                <a:cs typeface="Arial" panose="020B0604020202020204"/>
                <a:sym typeface="+mn-ea"/>
              </a:rPr>
              <a:t>•</a:t>
            </a:r>
            <a:r>
              <a:rPr lang="en-US"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3.</a:t>
            </a:r>
            <a:r>
              <a:rPr lang="en-US" altLang="zh-CN" sz="1540" dirty="0">
                <a:latin typeface="Calibri Light" panose="020F0302020204030204"/>
                <a:ea typeface="Calibri Light" panose="020F0302020204030204"/>
                <a:cs typeface="Calibri Light" panose="020F0302020204030204"/>
              </a:rPr>
              <a:t>Flexibility</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Finally, the functional forms through which high-dimensional predictors influence risk premiums are highly uncertain, encompassing possibilities such as linearity, nonlinearity, and interactions among predictors. Machine learning excels in handling such uncertainties with its methodological diversity, capability to model complex nonlinear relationships, and use of parameter penalization mechanisms, which collectively enable it to balance model flexibility with overfitting avoidance.</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4500" y="3212465"/>
            <a:ext cx="2066925" cy="955675"/>
          </a:xfrm>
          <a:prstGeom prst="rect">
            <a:avLst/>
          </a:prstGeom>
          <a:noFill/>
        </p:spPr>
        <p:txBody>
          <a:bodyPr wrap="square" rtlCol="0">
            <a:spAutoFit/>
          </a:bodyPr>
          <a:p>
            <a:r>
              <a:rPr sz="2810" kern="0" spc="-10" dirty="0">
                <a:solidFill>
                  <a:srgbClr val="000000">
                    <a:alpha val="100000"/>
                  </a:srgbClr>
                </a:solidFill>
                <a:latin typeface="Calibri Light" panose="020F0302020204030204"/>
                <a:ea typeface="Calibri Light" panose="020F0302020204030204"/>
                <a:cs typeface="Calibri Light" panose="020F0302020204030204"/>
              </a:rPr>
              <a:t>model construction</a:t>
            </a:r>
            <a:endParaRPr lang="en-US" sz="2400" dirty="0" smtClean="0">
              <a:solidFill>
                <a:srgbClr val="26927D"/>
              </a:solidFill>
            </a:endParaRPr>
          </a:p>
        </p:txBody>
      </p:sp>
      <p:sp>
        <p:nvSpPr>
          <p:cNvPr id="6" name="左大括号 5"/>
          <p:cNvSpPr/>
          <p:nvPr/>
        </p:nvSpPr>
        <p:spPr>
          <a:xfrm>
            <a:off x="2160905" y="2319020"/>
            <a:ext cx="1048385" cy="254635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文本框 7"/>
          <p:cNvSpPr txBox="1"/>
          <p:nvPr/>
        </p:nvSpPr>
        <p:spPr>
          <a:xfrm>
            <a:off x="3277870" y="3140710"/>
            <a:ext cx="1903730" cy="645160"/>
          </a:xfrm>
          <a:prstGeom prst="rect">
            <a:avLst/>
          </a:prstGeom>
          <a:noFill/>
        </p:spPr>
        <p:txBody>
          <a:bodyPr wrap="square" rtlCol="0">
            <a:spAutoFit/>
          </a:bodyPr>
          <a:p>
            <a:r>
              <a:rPr lang="zh-CN" altLang="en-US"/>
              <a:t>the most general form</a:t>
            </a:r>
            <a:endParaRPr lang="zh-CN" altLang="en-US"/>
          </a:p>
        </p:txBody>
      </p:sp>
      <p:sp>
        <p:nvSpPr>
          <p:cNvPr id="2" name="文本框 1"/>
          <p:cNvSpPr txBox="1"/>
          <p:nvPr/>
        </p:nvSpPr>
        <p:spPr>
          <a:xfrm>
            <a:off x="3251200" y="2122170"/>
            <a:ext cx="2393315" cy="502285"/>
          </a:xfrm>
          <a:prstGeom prst="rect">
            <a:avLst/>
          </a:prstGeom>
          <a:noFill/>
        </p:spPr>
        <p:txBody>
          <a:bodyPr wrap="square" rtlCol="0">
            <a:noAutofit/>
          </a:bodyPr>
          <a:p>
            <a:r>
              <a:rPr lang="en-US" altLang="zh-CN">
                <a:sym typeface="+mn-ea"/>
              </a:rPr>
              <a:t>t</a:t>
            </a:r>
            <a:r>
              <a:rPr lang="zh-CN" altLang="en-US">
                <a:sym typeface="+mn-ea"/>
              </a:rPr>
              <a:t>heoretical </a:t>
            </a:r>
            <a:r>
              <a:rPr lang="en-US" altLang="zh-CN">
                <a:sym typeface="+mn-ea"/>
              </a:rPr>
              <a:t>f</a:t>
            </a:r>
            <a:r>
              <a:rPr lang="zh-CN" altLang="en-US">
                <a:sym typeface="+mn-ea"/>
              </a:rPr>
              <a:t>oundation</a:t>
            </a:r>
            <a:endParaRPr lang="zh-CN" altLang="en-US"/>
          </a:p>
          <a:p>
            <a:endParaRPr lang="zh-CN" altLang="en-US"/>
          </a:p>
        </p:txBody>
      </p:sp>
      <p:sp>
        <p:nvSpPr>
          <p:cNvPr id="3" name="文本框 2"/>
          <p:cNvSpPr txBox="1"/>
          <p:nvPr/>
        </p:nvSpPr>
        <p:spPr>
          <a:xfrm>
            <a:off x="3284855" y="4469130"/>
            <a:ext cx="2580640" cy="645160"/>
          </a:xfrm>
          <a:prstGeom prst="rect">
            <a:avLst/>
          </a:prstGeom>
          <a:noFill/>
        </p:spPr>
        <p:txBody>
          <a:bodyPr wrap="square" rtlCol="0" anchor="t">
            <a:spAutoFit/>
          </a:bodyPr>
          <a:p>
            <a:r>
              <a:rPr lang="zh-CN" altLang="en-US">
                <a:sym typeface="+mn-ea"/>
              </a:rPr>
              <a:t>g-function methods considered</a:t>
            </a:r>
            <a:endParaRPr lang="zh-CN" altLang="en-US">
              <a:sym typeface="+mn-ea"/>
            </a:endParaRPr>
          </a:p>
        </p:txBody>
      </p:sp>
      <p:sp>
        <p:nvSpPr>
          <p:cNvPr id="14" name="文本框 13"/>
          <p:cNvSpPr txBox="1"/>
          <p:nvPr/>
        </p:nvSpPr>
        <p:spPr>
          <a:xfrm>
            <a:off x="5908040" y="3212465"/>
            <a:ext cx="2077085" cy="955675"/>
          </a:xfrm>
          <a:prstGeom prst="rect">
            <a:avLst/>
          </a:prstGeom>
          <a:noFill/>
        </p:spPr>
        <p:txBody>
          <a:bodyPr wrap="square" rtlCol="0">
            <a:spAutoFit/>
          </a:bodyPr>
          <a:p>
            <a:r>
              <a:rPr sz="2810" kern="0" spc="-10" dirty="0">
                <a:solidFill>
                  <a:srgbClr val="000000">
                    <a:alpha val="100000"/>
                  </a:srgbClr>
                </a:solidFill>
                <a:latin typeface="Calibri Light" panose="020F0302020204030204"/>
                <a:ea typeface="Calibri Light" panose="020F0302020204030204"/>
                <a:cs typeface="Calibri Light" panose="020F0302020204030204"/>
              </a:rPr>
              <a:t>performance evaluation</a:t>
            </a:r>
            <a:endParaRPr sz="2810" kern="0" spc="-10" dirty="0">
              <a:solidFill>
                <a:srgbClr val="000000">
                  <a:alpha val="100000"/>
                </a:srgbClr>
              </a:solidFill>
              <a:latin typeface="Calibri Light" panose="020F0302020204030204"/>
              <a:ea typeface="Calibri Light" panose="020F0302020204030204"/>
              <a:cs typeface="Calibri Light" panose="020F0302020204030204"/>
            </a:endParaRPr>
          </a:p>
        </p:txBody>
      </p:sp>
      <p:sp>
        <p:nvSpPr>
          <p:cNvPr id="4" name="左大括号 3"/>
          <p:cNvSpPr/>
          <p:nvPr/>
        </p:nvSpPr>
        <p:spPr>
          <a:xfrm>
            <a:off x="7854950" y="2491740"/>
            <a:ext cx="1048385" cy="254635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a:off x="9006205" y="2327275"/>
            <a:ext cx="2814955" cy="368300"/>
          </a:xfrm>
          <a:prstGeom prst="rect">
            <a:avLst/>
          </a:prstGeom>
          <a:noFill/>
        </p:spPr>
        <p:txBody>
          <a:bodyPr wrap="square" rtlCol="0" anchor="t">
            <a:spAutoFit/>
          </a:bodyPr>
          <a:p>
            <a:r>
              <a:rPr lang="zh-CN" altLang="en-US" sz="1800">
                <a:sym typeface="+mn-ea"/>
              </a:rPr>
              <a:t>Assessing predictive power</a:t>
            </a:r>
            <a:endParaRPr lang="zh-CN" altLang="en-US" sz="1800">
              <a:sym typeface="+mn-ea"/>
            </a:endParaRPr>
          </a:p>
        </p:txBody>
      </p:sp>
      <p:sp>
        <p:nvSpPr>
          <p:cNvPr id="9" name="文本框 8"/>
          <p:cNvSpPr txBox="1"/>
          <p:nvPr/>
        </p:nvSpPr>
        <p:spPr>
          <a:xfrm>
            <a:off x="9231630" y="3408680"/>
            <a:ext cx="2195195" cy="368300"/>
          </a:xfrm>
          <a:prstGeom prst="rect">
            <a:avLst/>
          </a:prstGeom>
          <a:noFill/>
        </p:spPr>
        <p:txBody>
          <a:bodyPr wrap="square" rtlCol="0" anchor="t">
            <a:spAutoFit/>
          </a:bodyPr>
          <a:p>
            <a:r>
              <a:rPr lang="zh-CN" altLang="en-US" sz="1800">
                <a:sym typeface="+mn-ea"/>
              </a:rPr>
              <a:t>Forecast comparison</a:t>
            </a:r>
            <a:endParaRPr lang="zh-CN" altLang="en-US" sz="1800">
              <a:sym typeface="+mn-ea"/>
            </a:endParaRPr>
          </a:p>
        </p:txBody>
      </p:sp>
      <p:sp>
        <p:nvSpPr>
          <p:cNvPr id="10" name="文本框 9"/>
          <p:cNvSpPr txBox="1"/>
          <p:nvPr/>
        </p:nvSpPr>
        <p:spPr>
          <a:xfrm>
            <a:off x="9170035" y="4599305"/>
            <a:ext cx="2651125" cy="645160"/>
          </a:xfrm>
          <a:prstGeom prst="rect">
            <a:avLst/>
          </a:prstGeom>
          <a:noFill/>
        </p:spPr>
        <p:txBody>
          <a:bodyPr wrap="square" rtlCol="0" anchor="t">
            <a:spAutoFit/>
          </a:bodyPr>
          <a:p>
            <a:r>
              <a:rPr lang="zh-CN" altLang="en-US" sz="1800">
                <a:sym typeface="+mn-ea"/>
              </a:rPr>
              <a:t>Variable Importance and Marginal Relationships</a:t>
            </a:r>
            <a:endParaRPr lang="zh-CN" altLang="en-US" sz="1800">
              <a:sym typeface="+mn-ea"/>
            </a:endParaRPr>
          </a:p>
        </p:txBody>
      </p:sp>
      <p:sp>
        <p:nvSpPr>
          <p:cNvPr id="11" name="文本框 10"/>
          <p:cNvSpPr txBox="1"/>
          <p:nvPr/>
        </p:nvSpPr>
        <p:spPr>
          <a:xfrm>
            <a:off x="678180" y="418465"/>
            <a:ext cx="2759710" cy="760095"/>
          </a:xfrm>
          <a:prstGeom prst="rect">
            <a:avLst/>
          </a:prstGeom>
          <a:noFill/>
        </p:spPr>
        <p:txBody>
          <a:bodyPr wrap="square" rtlCol="0">
            <a:noAutofit/>
          </a:bodyPr>
          <a:p>
            <a:r>
              <a:rPr lang="en-US" altLang="zh-CN" sz="3200"/>
              <a:t>Framework</a:t>
            </a:r>
            <a:endParaRPr lang="en-US" altLang="zh-CN"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ym typeface="+mn-ea"/>
              </a:rPr>
              <a:t>Theoretical Foundation</a:t>
            </a:r>
            <a:endParaRPr lang="en-US" sz="3600" b="1" dirty="0" smtClean="0">
              <a:hlinkClick r:id="rId1" action="ppaction://hlinksldjump"/>
            </a:endParaRPr>
          </a:p>
        </p:txBody>
      </p:sp>
      <p:sp>
        <p:nvSpPr>
          <p:cNvPr id="3" name="Content Placeholder 2"/>
          <p:cNvSpPr>
            <a:spLocks noGrp="1"/>
          </p:cNvSpPr>
          <p:nvPr>
            <p:ph idx="1"/>
          </p:nvPr>
        </p:nvSpPr>
        <p:spPr/>
        <p:txBody>
          <a:bodyPr>
            <a:normAutofit lnSpcReduction="10000"/>
          </a:bodyPr>
          <a:lstStyle/>
          <a:p>
            <a:r>
              <a:rPr lang="en-US" altLang="zh-CN" sz="2800">
                <a:sym typeface="+mn-ea"/>
              </a:rPr>
              <a:t>How to Predict Asset Returns?</a:t>
            </a:r>
            <a:endParaRPr lang="en-US" altLang="zh-CN" sz="2800"/>
          </a:p>
          <a:p>
            <a:pPr marL="0" indent="0">
              <a:buNone/>
            </a:pPr>
            <a:r>
              <a:rPr lang="en-US" sz="2400" dirty="0">
                <a:solidFill>
                  <a:srgbClr val="0070C0"/>
                </a:solidFill>
              </a:rPr>
              <a:t> </a:t>
            </a:r>
            <a:r>
              <a:rPr lang="en-US" sz="2400" dirty="0" smtClean="0">
                <a:solidFill>
                  <a:srgbClr val="0070C0"/>
                </a:solidFill>
              </a:rPr>
              <a:t>  </a:t>
            </a:r>
            <a:endParaRPr lang="en-US" sz="2400" dirty="0" smtClean="0">
              <a:solidFill>
                <a:srgbClr val="0070C0"/>
              </a:solidFill>
            </a:endParaRPr>
          </a:p>
          <a:p>
            <a:pPr marL="0" indent="0">
              <a:buNone/>
            </a:pPr>
            <a:r>
              <a:rPr lang="en-US" sz="2400" dirty="0" smtClean="0"/>
              <a:t>Characteristics-based asset pricing             Link future stock returns to ex-ante characteristics derived from both stock-level features and macroeconomic variables.</a:t>
            </a:r>
            <a:endParaRPr lang="en-US" sz="2400" dirty="0" smtClean="0"/>
          </a:p>
          <a:p>
            <a:pPr marL="0" indent="0">
              <a:buNone/>
            </a:pPr>
            <a:endParaRPr lang="en-US" sz="2400" dirty="0" smtClean="0"/>
          </a:p>
          <a:p>
            <a:pPr marL="0" indent="0">
              <a:buNone/>
            </a:pPr>
            <a:r>
              <a:rPr lang="en-US" sz="2400" dirty="0" smtClean="0"/>
              <a:t>Characteristics-based asset pricing refers to a method of explaining and predicting asset returns through specific characteristics of the assets, such as market capitalization, book-to-market ratio, momentum, volatility, etc. The core idea of this approach is that asset returns are determined not only by overall market factors but also by the significant influence of the assets' own characteristics.</a:t>
            </a:r>
            <a:endParaRPr lang="en-US" sz="2400" dirty="0" smtClean="0"/>
          </a:p>
          <a:p>
            <a:pPr marL="0" indent="0">
              <a:buNone/>
            </a:pPr>
            <a:endParaRPr lang="en-US" sz="2400" dirty="0">
              <a:solidFill>
                <a:schemeClr val="accent4">
                  <a:lumMod val="50000"/>
                </a:schemeClr>
              </a:solidFill>
            </a:endParaRPr>
          </a:p>
        </p:txBody>
      </p:sp>
      <p:sp>
        <p:nvSpPr>
          <p:cNvPr id="5" name="Slide Number Placeholder 4"/>
          <p:cNvSpPr>
            <a:spLocks noGrp="1"/>
          </p:cNvSpPr>
          <p:nvPr>
            <p:ph type="sldNum" sz="quarter" idx="12"/>
          </p:nvPr>
        </p:nvSpPr>
        <p:spPr/>
        <p:txBody>
          <a:bodyPr/>
          <a:lstStyle/>
          <a:p>
            <a:fld id="{107D843B-1DED-40DC-AF70-C1B4F17B1EA6}" type="slidenum">
              <a:rPr lang="en-US" smtClean="0"/>
            </a:fld>
            <a:endParaRPr lang="en-US"/>
          </a:p>
        </p:txBody>
      </p:sp>
      <p:sp>
        <p:nvSpPr>
          <p:cNvPr id="4" name="右箭头 3"/>
          <p:cNvSpPr/>
          <p:nvPr/>
        </p:nvSpPr>
        <p:spPr>
          <a:xfrm>
            <a:off x="5446395" y="2741295"/>
            <a:ext cx="351155" cy="21717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r>
              <a:rPr lang="en-US" sz="3600" b="1" dirty="0" smtClean="0">
                <a:sym typeface="+mn-ea"/>
              </a:rPr>
              <a:t>Most general form</a:t>
            </a:r>
            <a:endParaRPr lang="en-US" sz="3600" b="1" dirty="0" smtClean="0">
              <a:hlinkClick r:id="rId1" action="ppaction://hlinksldjump"/>
            </a:endParaRPr>
          </a:p>
        </p:txBody>
      </p:sp>
      <p:sp>
        <p:nvSpPr>
          <p:cNvPr id="3" name="Content Placeholder 2"/>
          <p:cNvSpPr>
            <a:spLocks noGrp="1"/>
          </p:cNvSpPr>
          <p:nvPr>
            <p:ph idx="1"/>
          </p:nvPr>
        </p:nvSpPr>
        <p:spPr>
          <a:xfrm>
            <a:off x="838200" y="1825625"/>
            <a:ext cx="10515600" cy="4895215"/>
          </a:xfrm>
        </p:spPr>
        <p:txBody>
          <a:bodyPr>
            <a:normAutofit lnSpcReduction="20000"/>
          </a:bodyPr>
          <a:lstStyle/>
          <a:p>
            <a:r>
              <a:rPr lang="en-US" altLang="zh-CN">
                <a:sym typeface="+mn-ea"/>
              </a:rPr>
              <a:t>Defining the </a:t>
            </a:r>
            <a:r>
              <a:rPr lang="en-US" altLang="zh-CN"/>
              <a:t>A</a:t>
            </a:r>
            <a:r>
              <a:rPr lang="en-US" altLang="zh-CN"/>
              <a:t>sset’s Excess Return</a:t>
            </a:r>
            <a:r>
              <a:rPr lang="en-US" altLang="zh-CN">
                <a:sym typeface="+mn-ea"/>
              </a:rPr>
              <a:t> Prediction Model</a:t>
            </a:r>
            <a:endParaRPr lang="en-US" altLang="zh-CN"/>
          </a:p>
          <a:p>
            <a:pPr marL="0" indent="0">
              <a:buNone/>
            </a:pPr>
            <a:endParaRPr lang="en-US" dirty="0" smtClean="0"/>
          </a:p>
          <a:p>
            <a:pPr marL="0" indent="0">
              <a:buNone/>
            </a:pPr>
            <a:endParaRPr lang="en-US" sz="2400" dirty="0"/>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altLang="zh-CN" sz="1600">
                <a:sym typeface="+mn-ea"/>
              </a:rPr>
              <a:t>      g∗(⋅)</a:t>
            </a:r>
            <a:r>
              <a:rPr lang="en-US" altLang="zh-CN" sz="1600">
                <a:sym typeface="+mn-ea"/>
              </a:rPr>
              <a:t>          Methods considered（References）： linear and nonlinear models.</a:t>
            </a:r>
            <a:endParaRPr lang="zh-CN" altLang="en-US" sz="2400" dirty="0">
              <a:sym typeface="+mn-ea"/>
            </a:endParaRPr>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9" name="右箭头 8"/>
          <p:cNvSpPr/>
          <p:nvPr/>
        </p:nvSpPr>
        <p:spPr>
          <a:xfrm>
            <a:off x="1898015" y="4979670"/>
            <a:ext cx="351155" cy="21717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2"/>
          <a:stretch>
            <a:fillRect/>
          </a:stretch>
        </p:blipFill>
        <p:spPr>
          <a:xfrm>
            <a:off x="1400810" y="2512060"/>
            <a:ext cx="3465830" cy="527050"/>
          </a:xfrm>
          <a:prstGeom prst="rect">
            <a:avLst/>
          </a:prstGeom>
        </p:spPr>
      </p:pic>
      <p:pic>
        <p:nvPicPr>
          <p:cNvPr id="6" name="图片 5"/>
          <p:cNvPicPr>
            <a:picLocks noChangeAspect="1"/>
          </p:cNvPicPr>
          <p:nvPr/>
        </p:nvPicPr>
        <p:blipFill>
          <a:blip r:embed="rId3"/>
          <a:stretch>
            <a:fillRect/>
          </a:stretch>
        </p:blipFill>
        <p:spPr>
          <a:xfrm>
            <a:off x="5610225" y="2471420"/>
            <a:ext cx="2027555" cy="509270"/>
          </a:xfrm>
          <a:prstGeom prst="rect">
            <a:avLst/>
          </a:prstGeom>
        </p:spPr>
      </p:pic>
      <p:sp>
        <p:nvSpPr>
          <p:cNvPr id="7" name="文本框 6"/>
          <p:cNvSpPr txBox="1"/>
          <p:nvPr/>
        </p:nvSpPr>
        <p:spPr>
          <a:xfrm>
            <a:off x="1097915" y="3214370"/>
            <a:ext cx="9811385" cy="1076325"/>
          </a:xfrm>
          <a:prstGeom prst="rect">
            <a:avLst/>
          </a:prstGeom>
        </p:spPr>
        <p:txBody>
          <a:bodyPr wrap="square">
            <a:spAutoFit/>
          </a:bodyPr>
          <a:p>
            <a:r>
              <a:rPr lang="en-US" altLang="zh-CN" sz="1600"/>
              <a:t>ri,t+1​ represents the excess return of asset i at time t+1.</a:t>
            </a:r>
            <a:endParaRPr lang="en-US" altLang="zh-CN" sz="1600"/>
          </a:p>
          <a:p>
            <a:r>
              <a:rPr lang="en-US" altLang="zh-CN" sz="1600"/>
              <a:t>Et​(ri,t+1​) is the conditional expectation of future excess returns given the information set Ft at time t, often referred to as the risk premium.</a:t>
            </a:r>
            <a:endParaRPr lang="en-US" altLang="zh-CN" sz="1600"/>
          </a:p>
          <a:p>
            <a:r>
              <a:rPr lang="en-US" altLang="zh-CN" sz="1600"/>
              <a:t>εi,t+1​ denotes the prediction error or unpredictable random component, reflecting unanticipated market shocks.</a:t>
            </a:r>
            <a:endParaRPr lang="en-US" altLang="zh-CN" sz="1600"/>
          </a:p>
        </p:txBody>
      </p:sp>
      <p:sp>
        <p:nvSpPr>
          <p:cNvPr id="8" name="文本框 7"/>
          <p:cNvSpPr txBox="1"/>
          <p:nvPr/>
        </p:nvSpPr>
        <p:spPr>
          <a:xfrm>
            <a:off x="1108710" y="4260215"/>
            <a:ext cx="9698990" cy="583565"/>
          </a:xfrm>
          <a:prstGeom prst="rect">
            <a:avLst/>
          </a:prstGeom>
        </p:spPr>
        <p:txBody>
          <a:bodyPr wrap="square">
            <a:spAutoFit/>
          </a:bodyPr>
          <a:p>
            <a:r>
              <a:rPr lang="en-US" altLang="zh-CN" sz="1600"/>
              <a:t>zi,t​ is the vector of feature variables for asset i at time t.</a:t>
            </a:r>
            <a:endParaRPr lang="en-US" altLang="zh-CN" sz="1600"/>
          </a:p>
          <a:p>
            <a:r>
              <a:rPr lang="en-US" altLang="zh-CN" sz="1600"/>
              <a:t>g∗(⋅) is a general prediction function that maps the feature variables zi,t to the conditional expectation Et(ri,t+1).</a:t>
            </a:r>
            <a:endParaRPr lang="en-US" altLang="zh-CN" sz="1600"/>
          </a:p>
        </p:txBody>
      </p:sp>
      <p:sp>
        <p:nvSpPr>
          <p:cNvPr id="10" name="文本框 9"/>
          <p:cNvSpPr txBox="1"/>
          <p:nvPr/>
        </p:nvSpPr>
        <p:spPr>
          <a:xfrm>
            <a:off x="1097915" y="5436235"/>
            <a:ext cx="10079990" cy="829945"/>
          </a:xfrm>
          <a:prstGeom prst="rect">
            <a:avLst/>
          </a:prstGeom>
        </p:spPr>
        <p:txBody>
          <a:bodyPr wrap="square">
            <a:spAutoFit/>
          </a:bodyPr>
          <a:p>
            <a:r>
              <a:rPr lang="en-US" altLang="zh-CN" sz="1600"/>
              <a:t>The </a:t>
            </a:r>
            <a:r>
              <a:rPr lang="en-US" altLang="zh-CN" sz="1600">
                <a:sym typeface="+mn-ea"/>
              </a:rPr>
              <a:t>Most general form </a:t>
            </a:r>
            <a:r>
              <a:rPr lang="en-US" altLang="zh-CN" sz="1600"/>
              <a:t>decomposes asset returns into two parts: the predictable component Et(ri,t+1) and the unpredictable component εi,t+1​. The core research objective is to accurately estimate Et(ri,t+1), and machine learning methods are applied to enhance this estimation.</a:t>
            </a:r>
            <a:endParaRPr lang="en-US" altLang="zh-CN" sz="16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205"/>
            <a:ext cx="10515600" cy="1325563"/>
          </a:xfrm>
        </p:spPr>
        <p:txBody>
          <a:bodyPr>
            <a:normAutofit/>
          </a:bodyPr>
          <a:lstStyle/>
          <a:p>
            <a:r>
              <a:rPr lang="en-US" sz="3600" dirty="0">
                <a:sym typeface="+mn-ea"/>
              </a:rPr>
              <a:t>   </a:t>
            </a:r>
            <a:r>
              <a:rPr lang="en-US" sz="3600" b="1" dirty="0" smtClean="0">
                <a:sym typeface="+mn-ea"/>
              </a:rPr>
              <a:t>                 </a:t>
            </a:r>
            <a:r>
              <a:rPr lang="en-US" sz="3600" dirty="0">
                <a:sym typeface="+mn-ea"/>
              </a:rPr>
              <a:t>                       </a:t>
            </a:r>
            <a:r>
              <a:rPr lang="en-US" sz="3600" b="1" dirty="0" smtClean="0">
                <a:sym typeface="+mn-ea"/>
              </a:rPr>
              <a:t>Methods considered</a:t>
            </a:r>
            <a:endParaRPr lang="en-US" sz="3600" b="1" dirty="0" smtClean="0">
              <a:hlinkClick r:id="rId1" action="ppaction://hlinksldjump"/>
            </a:endParaRPr>
          </a:p>
        </p:txBody>
      </p:sp>
      <p:sp>
        <p:nvSpPr>
          <p:cNvPr id="10" name="Content Placeholder 9"/>
          <p:cNvSpPr>
            <a:spLocks noGrp="1"/>
          </p:cNvSpPr>
          <p:nvPr>
            <p:ph idx="1"/>
          </p:nvPr>
        </p:nvSpPr>
        <p:spPr>
          <a:xfrm>
            <a:off x="838200" y="1212215"/>
            <a:ext cx="10515600" cy="5645785"/>
          </a:xfrm>
        </p:spPr>
        <p:txBody>
          <a:bodyPr>
            <a:normAutofit/>
          </a:bodyPr>
          <a:lstStyle/>
          <a:p>
            <a:r>
              <a:rPr lang="en-US" sz="2400" dirty="0" smtClean="0">
                <a:solidFill>
                  <a:srgbClr val="26927D"/>
                </a:solidFill>
                <a:sym typeface="+mn-ea"/>
              </a:rPr>
              <a:t>linear models</a:t>
            </a:r>
            <a:endParaRPr lang="en-US" sz="2400" dirty="0" smtClean="0">
              <a:solidFill>
                <a:srgbClr val="26927D"/>
              </a:solidFill>
              <a:sym typeface="+mn-ea"/>
            </a:endParaRPr>
          </a:p>
          <a:p>
            <a:pPr marL="0" indent="0">
              <a:buNone/>
            </a:pPr>
            <a:r>
              <a:rPr lang="en-US" sz="2400" dirty="0" smtClean="0">
                <a:sym typeface="+mn-ea"/>
              </a:rPr>
              <a:t>OLS </a:t>
            </a:r>
            <a:r>
              <a:rPr lang="en-US" sz="2400" dirty="0" smtClean="0">
                <a:sym typeface="+mn-ea"/>
              </a:rPr>
              <a:t>Regression</a:t>
            </a:r>
            <a:endParaRPr lang="en-US" sz="2400" dirty="0" smtClean="0">
              <a:sym typeface="+mn-ea"/>
            </a:endParaRPr>
          </a:p>
          <a:p>
            <a:pPr marL="0" indent="0">
              <a:buNone/>
            </a:pPr>
            <a:r>
              <a:rPr lang="en-US" altLang="zh-CN" sz="2400">
                <a:sym typeface="+mn-ea"/>
              </a:rPr>
              <a:t>The weighted loss function(an extension of OLS)</a:t>
            </a:r>
            <a:endParaRPr lang="zh-CN" altLang="en-US" sz="2400" dirty="0" smtClean="0">
              <a:sym typeface="+mn-ea"/>
            </a:endParaRPr>
          </a:p>
          <a:p>
            <a:pPr marL="0" indent="0">
              <a:buNone/>
            </a:pPr>
            <a:r>
              <a:rPr lang="en-US" altLang="zh-CN" sz="2400">
                <a:sym typeface="+mn-ea"/>
              </a:rPr>
              <a:t>The Huber loss function(a variant of OLS)</a:t>
            </a:r>
            <a:r>
              <a:rPr lang="en-US" sz="2400" dirty="0" smtClean="0">
                <a:sym typeface="+mn-ea"/>
              </a:rPr>
              <a:t>                                     </a:t>
            </a:r>
            <a:endParaRPr lang="en-US" sz="2400" dirty="0" smtClean="0">
              <a:sym typeface="+mn-ea"/>
            </a:endParaRPr>
          </a:p>
          <a:p>
            <a:pPr marL="0" indent="0">
              <a:buNone/>
            </a:pPr>
            <a:r>
              <a:rPr lang="en-US" sz="2400" dirty="0" smtClean="0">
                <a:sym typeface="+mn-ea"/>
              </a:rPr>
              <a:t>Elastic Net Regression</a:t>
            </a:r>
            <a:endParaRPr lang="zh-CN" altLang="en-US" sz="2400" dirty="0" smtClean="0">
              <a:sym typeface="+mn-ea"/>
            </a:endParaRPr>
          </a:p>
          <a:p>
            <a:pPr marL="0" indent="0">
              <a:buNone/>
            </a:pPr>
            <a:r>
              <a:rPr lang="en-US" sz="2400" dirty="0" smtClean="0">
                <a:sym typeface="+mn-ea"/>
              </a:rPr>
              <a:t>Principal Component Regression (PCR)</a:t>
            </a:r>
            <a:endParaRPr lang="zh-CN" altLang="en-US" sz="2400" dirty="0" smtClean="0">
              <a:sym typeface="+mn-ea"/>
            </a:endParaRPr>
          </a:p>
          <a:p>
            <a:pPr marL="0" algn="l">
              <a:buClrTx/>
              <a:buSzTx/>
              <a:buNone/>
            </a:pPr>
            <a:r>
              <a:rPr lang="zh-CN" altLang="en-US" sz="2400" dirty="0" smtClean="0">
                <a:sym typeface="+mn-ea"/>
              </a:rPr>
              <a:t>Partial Least Squares Regression (PLS)</a:t>
            </a:r>
            <a:endParaRPr lang="zh-CN" altLang="en-US" sz="2400" dirty="0" smtClean="0">
              <a:sym typeface="+mn-ea"/>
            </a:endParaRPr>
          </a:p>
          <a:p>
            <a:pPr marL="0" algn="l">
              <a:buClrTx/>
              <a:buSzTx/>
              <a:buNone/>
            </a:pPr>
            <a:endParaRPr lang="zh-CN" altLang="en-US" sz="2400" dirty="0" smtClean="0">
              <a:sym typeface="+mn-ea"/>
            </a:endParaRPr>
          </a:p>
          <a:p>
            <a:r>
              <a:rPr lang="en-US" sz="2400" dirty="0" smtClean="0">
                <a:solidFill>
                  <a:srgbClr val="26927D"/>
                </a:solidFill>
                <a:sym typeface="+mn-ea"/>
              </a:rPr>
              <a:t>nonlinear models</a:t>
            </a:r>
            <a:endParaRPr lang="en-US" sz="2400" dirty="0" smtClean="0">
              <a:solidFill>
                <a:srgbClr val="26927D"/>
              </a:solidFill>
              <a:sym typeface="+mn-ea"/>
            </a:endParaRPr>
          </a:p>
          <a:p>
            <a:pPr marL="0" indent="0">
              <a:buNone/>
            </a:pPr>
            <a:r>
              <a:rPr lang="en-US" sz="2400" dirty="0" smtClean="0">
                <a:sym typeface="+mn-ea"/>
              </a:rPr>
              <a:t>Random Forest </a:t>
            </a:r>
            <a:endParaRPr lang="en-US" sz="2400" dirty="0" smtClean="0">
              <a:sym typeface="+mn-ea"/>
            </a:endParaRPr>
          </a:p>
          <a:p>
            <a:pPr marL="0" indent="0">
              <a:buNone/>
            </a:pPr>
            <a:r>
              <a:rPr lang="en-US" altLang="zh-CN" sz="2400">
                <a:sym typeface="+mn-ea"/>
              </a:rPr>
              <a:t>Boosted regression trees</a:t>
            </a:r>
            <a:endParaRPr lang="en-US" sz="2400" dirty="0" smtClean="0"/>
          </a:p>
          <a:p>
            <a:pPr marL="0" indent="0">
              <a:buNone/>
            </a:pPr>
            <a:endParaRPr lang="en-US" sz="2400" dirty="0" smtClean="0"/>
          </a:p>
          <a:p>
            <a:pPr marL="0" indent="0">
              <a:buNone/>
            </a:pPr>
            <a:endParaRPr lang="en-US" sz="2400" dirty="0" smtClean="0"/>
          </a:p>
        </p:txBody>
      </p:sp>
      <p:sp>
        <p:nvSpPr>
          <p:cNvPr id="3" name="Slide Number Placeholder 2"/>
          <p:cNvSpPr>
            <a:spLocks noGrp="1"/>
          </p:cNvSpPr>
          <p:nvPr>
            <p:ph type="sldNum" sz="quarter" idx="12"/>
          </p:nvPr>
        </p:nvSpPr>
        <p:spPr/>
        <p:txBody>
          <a:bodyPr/>
          <a:lstStyle/>
          <a:p>
            <a:fld id="{107D843B-1DED-40DC-AF70-C1B4F17B1EA6}" type="slidenum">
              <a:rPr lang="en-US" smtClean="0"/>
            </a:fld>
            <a:endParaRPr lang="en-US"/>
          </a:p>
        </p:txBody>
      </p:sp>
      <p:sp>
        <p:nvSpPr>
          <p:cNvPr id="9" name="右箭头 8"/>
          <p:cNvSpPr/>
          <p:nvPr/>
        </p:nvSpPr>
        <p:spPr>
          <a:xfrm>
            <a:off x="4790440" y="64706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右大括号 3"/>
          <p:cNvSpPr/>
          <p:nvPr/>
        </p:nvSpPr>
        <p:spPr>
          <a:xfrm>
            <a:off x="5916295" y="3655695"/>
            <a:ext cx="1397635" cy="56705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文本框 5"/>
          <p:cNvSpPr txBox="1"/>
          <p:nvPr/>
        </p:nvSpPr>
        <p:spPr>
          <a:xfrm>
            <a:off x="7531100" y="3476625"/>
            <a:ext cx="4107815" cy="528955"/>
          </a:xfrm>
          <a:prstGeom prst="rect">
            <a:avLst/>
          </a:prstGeom>
          <a:noFill/>
        </p:spPr>
        <p:txBody>
          <a:bodyPr wrap="square" rtlCol="0">
            <a:noAutofit/>
          </a:bodyPr>
          <a:p>
            <a:r>
              <a:rPr lang="zh-CN" altLang="en-US" sz="2400"/>
              <a:t>Linear Dimension Reduction Techniques</a:t>
            </a:r>
            <a:endParaRPr lang="zh-CN" altLang="en-US" sz="2400"/>
          </a:p>
        </p:txBody>
      </p:sp>
      <p:sp>
        <p:nvSpPr>
          <p:cNvPr id="7" name="右大括号 6"/>
          <p:cNvSpPr/>
          <p:nvPr/>
        </p:nvSpPr>
        <p:spPr>
          <a:xfrm>
            <a:off x="4262120" y="5372100"/>
            <a:ext cx="1527175" cy="651510"/>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文本框 10"/>
          <p:cNvSpPr txBox="1"/>
          <p:nvPr/>
        </p:nvSpPr>
        <p:spPr>
          <a:xfrm>
            <a:off x="6923405" y="5403850"/>
            <a:ext cx="2712720" cy="460375"/>
          </a:xfrm>
          <a:prstGeom prst="rect">
            <a:avLst/>
          </a:prstGeom>
          <a:noFill/>
        </p:spPr>
        <p:txBody>
          <a:bodyPr wrap="square" rtlCol="0">
            <a:spAutoFit/>
          </a:bodyPr>
          <a:p>
            <a:r>
              <a:rPr lang="zh-CN" altLang="en-US" sz="2400"/>
              <a:t>Tree-based Models</a:t>
            </a:r>
            <a:endParaRPr lang="zh-CN" altLang="en-US" sz="2400"/>
          </a:p>
        </p:txBody>
      </p:sp>
      <p:sp>
        <p:nvSpPr>
          <p:cNvPr id="13" name="文本框 12"/>
          <p:cNvSpPr txBox="1"/>
          <p:nvPr/>
        </p:nvSpPr>
        <p:spPr>
          <a:xfrm>
            <a:off x="866140" y="6255385"/>
            <a:ext cx="2166620" cy="460375"/>
          </a:xfrm>
          <a:prstGeom prst="rect">
            <a:avLst/>
          </a:prstGeom>
        </p:spPr>
        <p:txBody>
          <a:bodyPr wrap="square">
            <a:spAutoFit/>
          </a:bodyPr>
          <a:p>
            <a:r>
              <a:rPr lang="zh-CN" altLang="en-US" sz="2400"/>
              <a:t>Neural Network</a:t>
            </a:r>
            <a:endParaRPr lang="zh-CN" altLang="en-US" sz="2400"/>
          </a:p>
        </p:txBody>
      </p:sp>
      <p:cxnSp>
        <p:nvCxnSpPr>
          <p:cNvPr id="8" name="直接箭头连接符 7"/>
          <p:cNvCxnSpPr/>
          <p:nvPr/>
        </p:nvCxnSpPr>
        <p:spPr>
          <a:xfrm flipV="1">
            <a:off x="3837305" y="3202940"/>
            <a:ext cx="1097280" cy="101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8255635" y="1962785"/>
            <a:ext cx="1850390" cy="363220"/>
          </a:xfrm>
          <a:prstGeom prst="rect">
            <a:avLst/>
          </a:prstGeom>
          <a:noFill/>
        </p:spPr>
        <p:txBody>
          <a:bodyPr wrap="square" rtlCol="0">
            <a:noAutofit/>
          </a:bodyPr>
          <a:p>
            <a:r>
              <a:rPr lang="en-US" altLang="zh-CN" sz="2400">
                <a:sym typeface="+mn-ea"/>
              </a:rPr>
              <a:t>Simple linear</a:t>
            </a:r>
            <a:endParaRPr lang="en-US" altLang="zh-CN" sz="2400"/>
          </a:p>
          <a:p>
            <a:endParaRPr lang="zh-CN" altLang="en-US" sz="2400"/>
          </a:p>
        </p:txBody>
      </p:sp>
      <p:sp>
        <p:nvSpPr>
          <p:cNvPr id="18" name="文本框 17"/>
          <p:cNvSpPr txBox="1"/>
          <p:nvPr/>
        </p:nvSpPr>
        <p:spPr>
          <a:xfrm>
            <a:off x="1065530" y="410845"/>
            <a:ext cx="4132580" cy="500380"/>
          </a:xfrm>
          <a:prstGeom prst="rect">
            <a:avLst/>
          </a:prstGeom>
        </p:spPr>
        <p:txBody>
          <a:bodyPr wrap="square">
            <a:noAutofit/>
          </a:bodyPr>
          <a:p>
            <a:r>
              <a:rPr lang="en-US" altLang="zh-CN" sz="3600"/>
              <a:t>Et​(ri,t+1​)=g∗(zi,t​)</a:t>
            </a:r>
            <a:endParaRPr lang="en-US" altLang="zh-CN" sz="3600"/>
          </a:p>
        </p:txBody>
      </p:sp>
      <p:sp>
        <p:nvSpPr>
          <p:cNvPr id="24" name="文本框 23"/>
          <p:cNvSpPr txBox="1"/>
          <p:nvPr/>
        </p:nvSpPr>
        <p:spPr>
          <a:xfrm>
            <a:off x="5085080" y="2959735"/>
            <a:ext cx="4125595" cy="533400"/>
          </a:xfrm>
          <a:prstGeom prst="rect">
            <a:avLst/>
          </a:prstGeom>
          <a:noFill/>
        </p:spPr>
        <p:txBody>
          <a:bodyPr wrap="square" rtlCol="0">
            <a:noAutofit/>
          </a:bodyPr>
          <a:p>
            <a:r>
              <a:rPr lang="en-US" sz="2400" dirty="0" smtClean="0">
                <a:sym typeface="+mn-ea"/>
              </a:rPr>
              <a:t>Penalized Linear Models</a:t>
            </a:r>
            <a:endParaRPr lang="en-US" dirty="0" smtClean="0">
              <a:sym typeface="+mn-ea"/>
            </a:endParaRPr>
          </a:p>
          <a:p>
            <a:endParaRPr lang="zh-CN" altLang="en-US"/>
          </a:p>
        </p:txBody>
      </p:sp>
      <p:sp>
        <p:nvSpPr>
          <p:cNvPr id="25" name="右大括号 24"/>
          <p:cNvSpPr/>
          <p:nvPr/>
        </p:nvSpPr>
        <p:spPr>
          <a:xfrm>
            <a:off x="6640195" y="1818640"/>
            <a:ext cx="1397635" cy="885190"/>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文本框 25"/>
          <p:cNvSpPr txBox="1"/>
          <p:nvPr/>
        </p:nvSpPr>
        <p:spPr>
          <a:xfrm>
            <a:off x="836295" y="4323398"/>
            <a:ext cx="5080000" cy="460375"/>
          </a:xfrm>
          <a:prstGeom prst="rect">
            <a:avLst/>
          </a:prstGeom>
        </p:spPr>
        <p:txBody>
          <a:bodyPr>
            <a:spAutoFit/>
          </a:bodyPr>
          <a:p>
            <a:r>
              <a:rPr lang="en-US" altLang="zh-CN" sz="2400"/>
              <a:t>Generalized Linear Regression</a:t>
            </a:r>
            <a:endParaRPr lang="en-US" altLang="zh-CN" sz="24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pPr algn="l">
              <a:lnSpc>
                <a:spcPct val="100000"/>
              </a:lnSpc>
              <a:buClrTx/>
              <a:buSzTx/>
              <a:buFontTx/>
            </a:pPr>
            <a:r>
              <a:rPr lang="en-US" sz="3600" dirty="0" smtClean="0">
                <a:sym typeface="+mn-ea"/>
              </a:rPr>
              <a:t>                                            </a:t>
            </a:r>
            <a:r>
              <a:rPr lang="en-US" altLang="zh-CN" sz="3600">
                <a:latin typeface="+mn-lt"/>
                <a:ea typeface="+mn-ea"/>
                <a:cs typeface="+mn-cs"/>
                <a:sym typeface="+mn-ea"/>
              </a:rPr>
              <a:t>OLS Regression</a:t>
            </a:r>
            <a:endParaRPr lang="en-US" altLang="zh-CN" sz="3600">
              <a:latin typeface="+mn-lt"/>
              <a:ea typeface="+mn-ea"/>
              <a:cs typeface="+mn-cs"/>
            </a:endParaRPr>
          </a:p>
        </p:txBody>
      </p:sp>
      <p:sp>
        <p:nvSpPr>
          <p:cNvPr id="3" name="Content Placeholder 2"/>
          <p:cNvSpPr>
            <a:spLocks noGrp="1"/>
          </p:cNvSpPr>
          <p:nvPr>
            <p:ph idx="1"/>
          </p:nvPr>
        </p:nvSpPr>
        <p:spPr>
          <a:xfrm>
            <a:off x="838200" y="1825625"/>
            <a:ext cx="10515600" cy="4895215"/>
          </a:xfrm>
        </p:spPr>
        <p:txBody>
          <a:bodyPr>
            <a:normAutofit/>
          </a:bodyPr>
          <a:lstStyle/>
          <a:p>
            <a:r>
              <a:rPr lang="en-US" dirty="0" smtClean="0">
                <a:solidFill>
                  <a:srgbClr val="26927D"/>
                </a:solidFill>
              </a:rPr>
              <a:t>Objective function:</a:t>
            </a:r>
            <a:endParaRPr lang="en-US" dirty="0" smtClean="0">
              <a:solidFill>
                <a:srgbClr val="26927D"/>
              </a:solidFill>
            </a:endParaRPr>
          </a:p>
          <a:p>
            <a:pPr marL="0" indent="0">
              <a:buNone/>
            </a:pPr>
            <a:endParaRPr lang="en-US" dirty="0" smtClean="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4792345" y="90170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645795" y="67691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pic>
        <p:nvPicPr>
          <p:cNvPr id="9" name="图片 8"/>
          <p:cNvPicPr>
            <a:picLocks noChangeAspect="1"/>
          </p:cNvPicPr>
          <p:nvPr/>
        </p:nvPicPr>
        <p:blipFill>
          <a:blip r:embed="rId1"/>
          <a:stretch>
            <a:fillRect/>
          </a:stretch>
        </p:blipFill>
        <p:spPr>
          <a:xfrm>
            <a:off x="858520" y="2360295"/>
            <a:ext cx="3200400" cy="739140"/>
          </a:xfrm>
          <a:prstGeom prst="rect">
            <a:avLst/>
          </a:prstGeom>
        </p:spPr>
      </p:pic>
      <p:pic>
        <p:nvPicPr>
          <p:cNvPr id="10" name="图片 9"/>
          <p:cNvPicPr>
            <a:picLocks noChangeAspect="1"/>
          </p:cNvPicPr>
          <p:nvPr/>
        </p:nvPicPr>
        <p:blipFill>
          <a:blip r:embed="rId2"/>
          <a:stretch>
            <a:fillRect/>
          </a:stretch>
        </p:blipFill>
        <p:spPr>
          <a:xfrm>
            <a:off x="4792345" y="2380615"/>
            <a:ext cx="2484120" cy="662940"/>
          </a:xfrm>
          <a:prstGeom prst="rect">
            <a:avLst/>
          </a:prstGeom>
        </p:spPr>
      </p:pic>
      <p:sp>
        <p:nvSpPr>
          <p:cNvPr id="11" name="文本框 10"/>
          <p:cNvSpPr txBox="1"/>
          <p:nvPr/>
        </p:nvSpPr>
        <p:spPr>
          <a:xfrm>
            <a:off x="679450" y="3016885"/>
            <a:ext cx="10389870" cy="1568450"/>
          </a:xfrm>
          <a:prstGeom prst="rect">
            <a:avLst/>
          </a:prstGeom>
        </p:spPr>
        <p:txBody>
          <a:bodyPr wrap="square">
            <a:spAutoFit/>
          </a:bodyPr>
          <a:p>
            <a:r>
              <a:rPr lang="en-US" altLang="zh-CN" sz="1600"/>
              <a:t>L(θ): The loss function, which measures the error between model predictions and actual returns. Specifically, it represents the mean squared error (MSE) of the predictions, serves as the optimization target, minimized to obtain the optimal parameter vector θ.</a:t>
            </a:r>
            <a:endParaRPr lang="en-US" altLang="zh-CN" sz="1600"/>
          </a:p>
          <a:p>
            <a:r>
              <a:rPr lang="en-US" altLang="zh-CN" sz="1600"/>
              <a:t>ri,t+1: The actual excess return of asset i at time t+1, serving as the prediction target.</a:t>
            </a:r>
            <a:endParaRPr lang="en-US" altLang="zh-CN" sz="1600"/>
          </a:p>
          <a:p>
            <a:r>
              <a:rPr lang="en-US" altLang="zh-CN" sz="1600"/>
              <a:t>N:The total number of assets in the sample.</a:t>
            </a:r>
            <a:endParaRPr lang="en-US" altLang="zh-CN" sz="1600"/>
          </a:p>
          <a:p>
            <a:r>
              <a:rPr lang="en-US" altLang="zh-CN" sz="1600"/>
              <a:t>T:The total number of time periods.</a:t>
            </a:r>
            <a:endParaRPr lang="en-US" altLang="zh-CN" sz="1600"/>
          </a:p>
        </p:txBody>
      </p:sp>
      <p:sp>
        <p:nvSpPr>
          <p:cNvPr id="12" name="文本框 11"/>
          <p:cNvSpPr txBox="1"/>
          <p:nvPr/>
        </p:nvSpPr>
        <p:spPr>
          <a:xfrm>
            <a:off x="590550" y="4446270"/>
            <a:ext cx="11047095" cy="2061210"/>
          </a:xfrm>
          <a:prstGeom prst="rect">
            <a:avLst/>
          </a:prstGeom>
        </p:spPr>
        <p:txBody>
          <a:bodyPr wrap="square">
            <a:spAutoFit/>
          </a:bodyPr>
          <a:p>
            <a:pPr indent="0">
              <a:buNone/>
            </a:pPr>
            <a:r>
              <a:rPr lang="en-US" altLang="zh-CN" sz="1600"/>
              <a:t>  g(zi,t​;θ):Represents the prediction function used to forecast the excess return of asset i at time t+1.</a:t>
            </a:r>
            <a:endParaRPr lang="en-US" altLang="zh-CN" sz="1600"/>
          </a:p>
          <a:p>
            <a:pPr indent="0">
              <a:buNone/>
            </a:pPr>
            <a:r>
              <a:rPr lang="en-US" altLang="zh-CN" sz="1600"/>
              <a:t>   zi,t′ :Denotes the inner product of the feature vector zi,t and the parameter θ, forming the linear model representation.</a:t>
            </a:r>
            <a:endParaRPr lang="en-US" altLang="zh-CN" sz="1600"/>
          </a:p>
          <a:p>
            <a:pPr indent="0">
              <a:buNone/>
            </a:pPr>
            <a:r>
              <a:rPr lang="en-US" altLang="zh-CN" sz="1600"/>
              <a:t>⋅                        </a:t>
            </a:r>
            <a:endParaRPr lang="en-US" altLang="zh-CN" sz="1600"/>
          </a:p>
          <a:p>
            <a:pPr indent="0">
              <a:buNone/>
            </a:pPr>
            <a:r>
              <a:rPr lang="en-US" altLang="zh-CN" sz="1600"/>
              <a:t>                            :Represents the explicit expansion of the inner product, </a:t>
            </a:r>
            <a:r>
              <a:rPr lang="en-US" altLang="zh-CN" sz="1600">
                <a:sym typeface="+mn-ea"/>
              </a:rPr>
              <a:t>illustrates that the predicted value g(zi,t;θ); g(zi,t​;θ) is obtained by weighting each feature zi,t with its corresponding coefficient θ and summing the results.</a:t>
            </a:r>
            <a:endParaRPr lang="en-US" altLang="zh-CN" sz="1600">
              <a:sym typeface="+mn-ea"/>
            </a:endParaRPr>
          </a:p>
          <a:p>
            <a:pPr indent="0">
              <a:buNone/>
            </a:pPr>
            <a:r>
              <a:rPr lang="en-US" altLang="zh-CN" sz="1600">
                <a:sym typeface="+mn-ea"/>
              </a:rPr>
              <a:t>   </a:t>
            </a:r>
            <a:r>
              <a:rPr lang="en-US" altLang="zh-CN" sz="1600"/>
              <a:t>j : the index of the feature, ranging from 1 to P.</a:t>
            </a:r>
            <a:endParaRPr lang="en-US" altLang="zh-CN" sz="1600"/>
          </a:p>
          <a:p>
            <a:pPr indent="0">
              <a:buNone/>
            </a:pPr>
            <a:r>
              <a:rPr lang="en-US" altLang="zh-CN" sz="1600"/>
              <a:t>  zi,t,j : the value of the j-th feature.</a:t>
            </a:r>
            <a:endParaRPr lang="en-US" altLang="zh-CN" sz="1600"/>
          </a:p>
          <a:p>
            <a:pPr indent="0">
              <a:buNone/>
            </a:pPr>
            <a:r>
              <a:rPr lang="en-US" altLang="zh-CN" sz="1600"/>
              <a:t>  θj : the regression coefficient for the j-th feature.</a:t>
            </a:r>
            <a:endParaRPr lang="en-US" altLang="zh-CN" sz="1600"/>
          </a:p>
        </p:txBody>
      </p:sp>
      <p:pic>
        <p:nvPicPr>
          <p:cNvPr id="13" name="图片 12"/>
          <p:cNvPicPr>
            <a:picLocks noChangeAspect="1"/>
          </p:cNvPicPr>
          <p:nvPr/>
        </p:nvPicPr>
        <p:blipFill>
          <a:blip r:embed="rId3"/>
          <a:stretch>
            <a:fillRect/>
          </a:stretch>
        </p:blipFill>
        <p:spPr>
          <a:xfrm>
            <a:off x="815340" y="5163185"/>
            <a:ext cx="1052830" cy="341630"/>
          </a:xfrm>
          <a:prstGeom prst="rect">
            <a:avLst/>
          </a:prstGeom>
        </p:spPr>
      </p:pic>
      <p:pic>
        <p:nvPicPr>
          <p:cNvPr id="14" name="图片 13"/>
          <p:cNvPicPr>
            <a:picLocks noChangeAspect="1"/>
          </p:cNvPicPr>
          <p:nvPr/>
        </p:nvPicPr>
        <p:blipFill>
          <a:blip r:embed="rId4"/>
          <a:stretch>
            <a:fillRect/>
          </a:stretch>
        </p:blipFill>
        <p:spPr>
          <a:xfrm>
            <a:off x="808355" y="4731385"/>
            <a:ext cx="330835" cy="292100"/>
          </a:xfrm>
          <a:prstGeom prst="rect">
            <a:avLst/>
          </a:prstGeom>
        </p:spPr>
      </p:pic>
      <p:sp>
        <p:nvSpPr>
          <p:cNvPr id="15" name="文本框 14"/>
          <p:cNvSpPr txBox="1"/>
          <p:nvPr/>
        </p:nvSpPr>
        <p:spPr>
          <a:xfrm>
            <a:off x="3082925" y="666750"/>
            <a:ext cx="1461135" cy="645160"/>
          </a:xfrm>
          <a:prstGeom prst="rect">
            <a:avLst/>
          </a:prstGeom>
        </p:spPr>
        <p:txBody>
          <a:bodyPr wrap="square">
            <a:spAutoFit/>
          </a:bodyPr>
          <a:p>
            <a:r>
              <a:rPr lang="en-US" altLang="zh-CN" sz="3600"/>
              <a:t>g(zi,t​;θ)</a:t>
            </a:r>
            <a:endParaRPr lang="en-US" altLang="zh-CN" sz="1600"/>
          </a:p>
        </p:txBody>
      </p:sp>
      <p:sp>
        <p:nvSpPr>
          <p:cNvPr id="16" name="右箭头 15"/>
          <p:cNvSpPr/>
          <p:nvPr/>
        </p:nvSpPr>
        <p:spPr>
          <a:xfrm>
            <a:off x="2419350" y="92519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nvPicPr>
        <p:blipFill>
          <a:blip r:embed="rId5"/>
          <a:stretch>
            <a:fillRect/>
          </a:stretch>
        </p:blipFill>
        <p:spPr>
          <a:xfrm>
            <a:off x="7820660" y="1452880"/>
            <a:ext cx="3423920" cy="584835"/>
          </a:xfrm>
          <a:prstGeom prst="rect">
            <a:avLst/>
          </a:prstGeom>
        </p:spPr>
      </p:pic>
      <p:pic>
        <p:nvPicPr>
          <p:cNvPr id="8" name="图片 7"/>
          <p:cNvPicPr>
            <a:picLocks noChangeAspect="1"/>
          </p:cNvPicPr>
          <p:nvPr/>
        </p:nvPicPr>
        <p:blipFill>
          <a:blip r:embed="rId6"/>
          <a:stretch>
            <a:fillRect/>
          </a:stretch>
        </p:blipFill>
        <p:spPr>
          <a:xfrm>
            <a:off x="8009890" y="2357755"/>
            <a:ext cx="2674620" cy="2286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OLS Regression</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Generate synthetic sample data</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Generate stock characteristics (ci,t)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Generate macroeconomic factors (xt)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Generate interaction variables (zi,t)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1"/>
          <a:stretch>
            <a:fillRect/>
          </a:stretch>
        </p:blipFill>
        <p:spPr>
          <a:xfrm>
            <a:off x="709295" y="1094105"/>
            <a:ext cx="4282440" cy="876300"/>
          </a:xfrm>
          <a:prstGeom prst="rect">
            <a:avLst/>
          </a:prstGeom>
        </p:spPr>
      </p:pic>
      <p:pic>
        <p:nvPicPr>
          <p:cNvPr id="3" name="图片 2"/>
          <p:cNvPicPr>
            <a:picLocks noChangeAspect="1"/>
          </p:cNvPicPr>
          <p:nvPr/>
        </p:nvPicPr>
        <p:blipFill>
          <a:blip r:embed="rId2"/>
          <a:stretch>
            <a:fillRect/>
          </a:stretch>
        </p:blipFill>
        <p:spPr>
          <a:xfrm>
            <a:off x="991870" y="2500630"/>
            <a:ext cx="1714500" cy="861060"/>
          </a:xfrm>
          <a:prstGeom prst="rect">
            <a:avLst/>
          </a:prstGeom>
        </p:spPr>
      </p:pic>
      <p:pic>
        <p:nvPicPr>
          <p:cNvPr id="4" name="图片 3"/>
          <p:cNvPicPr>
            <a:picLocks noChangeAspect="1"/>
          </p:cNvPicPr>
          <p:nvPr/>
        </p:nvPicPr>
        <p:blipFill>
          <a:blip r:embed="rId3"/>
          <a:stretch>
            <a:fillRect/>
          </a:stretch>
        </p:blipFill>
        <p:spPr>
          <a:xfrm>
            <a:off x="709295" y="3821430"/>
            <a:ext cx="5920740" cy="441960"/>
          </a:xfrm>
          <a:prstGeom prst="rect">
            <a:avLst/>
          </a:prstGeom>
        </p:spPr>
      </p:pic>
      <p:pic>
        <p:nvPicPr>
          <p:cNvPr id="7" name="图片 6"/>
          <p:cNvPicPr>
            <a:picLocks noChangeAspect="1"/>
          </p:cNvPicPr>
          <p:nvPr/>
        </p:nvPicPr>
        <p:blipFill>
          <a:blip r:embed="rId4"/>
          <a:stretch>
            <a:fillRect/>
          </a:stretch>
        </p:blipFill>
        <p:spPr>
          <a:xfrm>
            <a:off x="678815" y="4704715"/>
            <a:ext cx="4434840" cy="236220"/>
          </a:xfrm>
          <a:prstGeom prst="rect">
            <a:avLst/>
          </a:prstGeom>
        </p:spPr>
      </p:pic>
      <p:pic>
        <p:nvPicPr>
          <p:cNvPr id="8" name="图片 7"/>
          <p:cNvPicPr>
            <a:picLocks noChangeAspect="1"/>
          </p:cNvPicPr>
          <p:nvPr/>
        </p:nvPicPr>
        <p:blipFill>
          <a:blip r:embed="rId5"/>
          <a:stretch>
            <a:fillRect/>
          </a:stretch>
        </p:blipFill>
        <p:spPr>
          <a:xfrm>
            <a:off x="678815" y="5382260"/>
            <a:ext cx="6644640" cy="891540"/>
          </a:xfrm>
          <a:prstGeom prst="rect">
            <a:avLst/>
          </a:prstGeom>
        </p:spPr>
      </p:pic>
      <p:sp>
        <p:nvSpPr>
          <p:cNvPr id="5" name="文本框 4"/>
          <p:cNvSpPr txBox="1"/>
          <p:nvPr/>
        </p:nvSpPr>
        <p:spPr>
          <a:xfrm>
            <a:off x="5076190" y="1053465"/>
            <a:ext cx="6096000" cy="953135"/>
          </a:xfrm>
          <a:prstGeom prst="rect">
            <a:avLst/>
          </a:prstGeom>
          <a:noFill/>
        </p:spPr>
        <p:txBody>
          <a:bodyPr wrap="square" rtlCol="0" anchor="t">
            <a:spAutoFit/>
          </a:bodyPr>
          <a:p>
            <a:r>
              <a:rPr lang="en-US" altLang="zh-CN" sz="1400"/>
              <a:t>Import the NumPy library for scientific computing</a:t>
            </a:r>
            <a:endParaRPr lang="en-US" altLang="zh-CN" sz="1400"/>
          </a:p>
          <a:p>
            <a:r>
              <a:rPr lang="en-US" altLang="zh-CN" sz="1400"/>
              <a:t>Import the Pandas library for data processing and analysis</a:t>
            </a:r>
            <a:endParaRPr lang="en-US" altLang="zh-CN" sz="1400"/>
          </a:p>
          <a:p>
            <a:r>
              <a:rPr lang="en-US" altLang="zh-CN" sz="1400"/>
              <a:t>Import the Linear Regression model from the Scikit-learn library</a:t>
            </a:r>
            <a:endParaRPr lang="en-US" altLang="zh-CN" sz="1400"/>
          </a:p>
          <a:p>
            <a:r>
              <a:rPr lang="en-US" altLang="zh-CN" sz="1400"/>
              <a:t>Import the train-test split function from the Scikit-learn library</a:t>
            </a:r>
            <a:endParaRPr lang="zh-CN" altLang="en-US" sz="1400"/>
          </a:p>
        </p:txBody>
      </p:sp>
      <p:sp>
        <p:nvSpPr>
          <p:cNvPr id="6" name="文本框 5"/>
          <p:cNvSpPr txBox="1"/>
          <p:nvPr/>
        </p:nvSpPr>
        <p:spPr>
          <a:xfrm>
            <a:off x="2873375" y="2419985"/>
            <a:ext cx="3961130" cy="953135"/>
          </a:xfrm>
          <a:prstGeom prst="rect">
            <a:avLst/>
          </a:prstGeom>
          <a:noFill/>
        </p:spPr>
        <p:txBody>
          <a:bodyPr wrap="square" rtlCol="0" anchor="t">
            <a:spAutoFit/>
          </a:bodyPr>
          <a:p>
            <a:pPr algn="l">
              <a:buClrTx/>
              <a:buSzTx/>
              <a:buNone/>
            </a:pPr>
            <a:r>
              <a:rPr lang="en-US" altLang="zh-CN" sz="1400"/>
              <a:t>Define the number of stocks as 10</a:t>
            </a:r>
            <a:endParaRPr lang="en-US" altLang="zh-CN" sz="1400"/>
          </a:p>
          <a:p>
            <a:pPr algn="l">
              <a:buClrTx/>
              <a:buSzTx/>
              <a:buNone/>
            </a:pPr>
            <a:r>
              <a:rPr lang="en-US" altLang="zh-CN" sz="1400"/>
              <a:t>Define the number of months as 24</a:t>
            </a:r>
            <a:endParaRPr lang="en-US" altLang="zh-CN" sz="1400"/>
          </a:p>
          <a:p>
            <a:pPr algn="l">
              <a:buClrTx/>
              <a:buSzTx/>
              <a:buNone/>
            </a:pPr>
            <a:r>
              <a:rPr lang="en-US" altLang="zh-CN" sz="1400"/>
              <a:t>Define the number of characteristics per stock as 5</a:t>
            </a:r>
            <a:endParaRPr lang="en-US" altLang="zh-CN" sz="1400"/>
          </a:p>
          <a:p>
            <a:pPr algn="l">
              <a:buClrTx/>
              <a:buSzTx/>
              <a:buNone/>
            </a:pPr>
            <a:r>
              <a:rPr lang="en-US" altLang="zh-CN" sz="1400"/>
              <a:t>Define the number of macroeconomic factors as 3</a:t>
            </a:r>
            <a:endParaRPr lang="en-US" altLang="zh-CN" sz="1400"/>
          </a:p>
        </p:txBody>
      </p:sp>
      <p:sp>
        <p:nvSpPr>
          <p:cNvPr id="9" name="文本框 8"/>
          <p:cNvSpPr txBox="1"/>
          <p:nvPr/>
        </p:nvSpPr>
        <p:spPr>
          <a:xfrm>
            <a:off x="6724650" y="3811270"/>
            <a:ext cx="5466715" cy="521970"/>
          </a:xfrm>
          <a:prstGeom prst="rect">
            <a:avLst/>
          </a:prstGeom>
          <a:noFill/>
        </p:spPr>
        <p:txBody>
          <a:bodyPr wrap="square" rtlCol="0" anchor="t">
            <a:spAutoFit/>
          </a:bodyPr>
          <a:p>
            <a:pPr algn="l">
              <a:buClrTx/>
              <a:buSzTx/>
              <a:buNone/>
            </a:pPr>
            <a:r>
              <a:rPr lang="en-US" altLang="zh-CN" sz="1400"/>
              <a:t>Set the random seed to ensure reproducibility</a:t>
            </a:r>
            <a:endParaRPr lang="en-US" altLang="zh-CN" sz="1400"/>
          </a:p>
          <a:p>
            <a:pPr algn="l">
              <a:buClrTx/>
              <a:buSzTx/>
              <a:buNone/>
            </a:pPr>
            <a:r>
              <a:rPr lang="en-US" altLang="zh-CN" sz="1400"/>
              <a:t>Generate random stock characteristics data</a:t>
            </a:r>
            <a:endParaRPr lang="en-US" altLang="zh-CN" sz="1400"/>
          </a:p>
        </p:txBody>
      </p:sp>
      <p:sp>
        <p:nvSpPr>
          <p:cNvPr id="10" name="文本框 9"/>
          <p:cNvSpPr txBox="1"/>
          <p:nvPr/>
        </p:nvSpPr>
        <p:spPr>
          <a:xfrm>
            <a:off x="5292090" y="4683125"/>
            <a:ext cx="4290695" cy="306705"/>
          </a:xfrm>
          <a:prstGeom prst="rect">
            <a:avLst/>
          </a:prstGeom>
          <a:noFill/>
        </p:spPr>
        <p:txBody>
          <a:bodyPr wrap="square" rtlCol="0" anchor="t">
            <a:spAutoFit/>
          </a:bodyPr>
          <a:p>
            <a:r>
              <a:rPr lang="en-US" altLang="zh-CN" sz="1400"/>
              <a:t>Generate random macroeconomic factors data</a:t>
            </a:r>
            <a:endParaRPr lang="en-US" altLang="zh-CN" sz="1400"/>
          </a:p>
        </p:txBody>
      </p:sp>
      <p:sp>
        <p:nvSpPr>
          <p:cNvPr id="11" name="文本框 10"/>
          <p:cNvSpPr txBox="1"/>
          <p:nvPr/>
        </p:nvSpPr>
        <p:spPr>
          <a:xfrm>
            <a:off x="7371080" y="5308600"/>
            <a:ext cx="4798695" cy="1168400"/>
          </a:xfrm>
          <a:prstGeom prst="rect">
            <a:avLst/>
          </a:prstGeom>
          <a:noFill/>
        </p:spPr>
        <p:txBody>
          <a:bodyPr wrap="square" rtlCol="0" anchor="t">
            <a:spAutoFit/>
          </a:bodyPr>
          <a:p>
            <a:pPr algn="l">
              <a:buClrTx/>
              <a:buSzTx/>
              <a:buNone/>
            </a:pPr>
            <a:r>
              <a:rPr lang="en-US" altLang="zh-CN" sz="1400"/>
              <a:t>Initialize the zi_t matrix</a:t>
            </a:r>
            <a:endParaRPr lang="en-US" altLang="zh-CN" sz="1400"/>
          </a:p>
          <a:p>
            <a:pPr algn="l">
              <a:buClrTx/>
              <a:buSzTx/>
              <a:buNone/>
            </a:pPr>
            <a:r>
              <a:rPr lang="en-US" altLang="zh-CN" sz="1400"/>
              <a:t>Iterate through all months</a:t>
            </a:r>
            <a:endParaRPr lang="en-US" altLang="zh-CN" sz="1400"/>
          </a:p>
          <a:p>
            <a:pPr algn="l">
              <a:buClrTx/>
              <a:buSzTx/>
              <a:buNone/>
            </a:pPr>
            <a:r>
              <a:rPr lang="en-US" altLang="zh-CN" sz="1400"/>
              <a:t>Iterate through all stocks</a:t>
            </a:r>
            <a:endParaRPr lang="en-US" altLang="zh-CN" sz="1400"/>
          </a:p>
          <a:p>
            <a:pPr algn="l">
              <a:buClrTx/>
              <a:buSzTx/>
              <a:buNone/>
            </a:pPr>
            <a:r>
              <a:rPr lang="en-US" altLang="zh-CN" sz="1400"/>
              <a:t>Compute the outer product of macro factors and stock characteristics</a:t>
            </a:r>
            <a:endParaRPr lang="en-US" altLang="zh-CN"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-OLS Regression</a:t>
            </a:r>
            <a:endParaRPr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Define a simple linear model for excess returns (ri,t+1)</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Flatten data for further analysis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rPr>
              <a:t>Combine data for regression</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5" name="图片 4"/>
          <p:cNvPicPr>
            <a:picLocks noChangeAspect="1"/>
          </p:cNvPicPr>
          <p:nvPr/>
        </p:nvPicPr>
        <p:blipFill>
          <a:blip r:embed="rId1"/>
          <a:stretch>
            <a:fillRect/>
          </a:stretch>
        </p:blipFill>
        <p:spPr>
          <a:xfrm>
            <a:off x="638175" y="1066800"/>
            <a:ext cx="6004560" cy="1066800"/>
          </a:xfrm>
          <a:prstGeom prst="rect">
            <a:avLst/>
          </a:prstGeom>
        </p:spPr>
      </p:pic>
      <p:pic>
        <p:nvPicPr>
          <p:cNvPr id="13" name="图片 12"/>
          <p:cNvPicPr>
            <a:picLocks noChangeAspect="1"/>
          </p:cNvPicPr>
          <p:nvPr/>
        </p:nvPicPr>
        <p:blipFill>
          <a:blip r:embed="rId2"/>
          <a:stretch>
            <a:fillRect/>
          </a:stretch>
        </p:blipFill>
        <p:spPr>
          <a:xfrm>
            <a:off x="638175" y="2788920"/>
            <a:ext cx="4244340" cy="426720"/>
          </a:xfrm>
          <a:prstGeom prst="rect">
            <a:avLst/>
          </a:prstGeom>
        </p:spPr>
      </p:pic>
      <p:pic>
        <p:nvPicPr>
          <p:cNvPr id="15" name="图片 14"/>
          <p:cNvPicPr>
            <a:picLocks noChangeAspect="1"/>
          </p:cNvPicPr>
          <p:nvPr/>
        </p:nvPicPr>
        <p:blipFill>
          <a:blip r:embed="rId3"/>
          <a:stretch>
            <a:fillRect/>
          </a:stretch>
        </p:blipFill>
        <p:spPr>
          <a:xfrm>
            <a:off x="567055" y="3357880"/>
            <a:ext cx="7856220" cy="731520"/>
          </a:xfrm>
          <a:prstGeom prst="rect">
            <a:avLst/>
          </a:prstGeom>
        </p:spPr>
      </p:pic>
      <p:pic>
        <p:nvPicPr>
          <p:cNvPr id="17" name="图片 16"/>
          <p:cNvPicPr>
            <a:picLocks noChangeAspect="1"/>
          </p:cNvPicPr>
          <p:nvPr/>
        </p:nvPicPr>
        <p:blipFill>
          <a:blip r:embed="rId4"/>
          <a:stretch>
            <a:fillRect/>
          </a:stretch>
        </p:blipFill>
        <p:spPr>
          <a:xfrm>
            <a:off x="587375" y="4201160"/>
            <a:ext cx="4663440" cy="1143000"/>
          </a:xfrm>
          <a:prstGeom prst="rect">
            <a:avLst/>
          </a:prstGeom>
        </p:spPr>
      </p:pic>
      <p:pic>
        <p:nvPicPr>
          <p:cNvPr id="20" name="图片 19"/>
          <p:cNvPicPr>
            <a:picLocks noChangeAspect="1"/>
          </p:cNvPicPr>
          <p:nvPr/>
        </p:nvPicPr>
        <p:blipFill>
          <a:blip r:embed="rId5"/>
          <a:stretch>
            <a:fillRect/>
          </a:stretch>
        </p:blipFill>
        <p:spPr>
          <a:xfrm>
            <a:off x="638175" y="5883910"/>
            <a:ext cx="5387340" cy="190500"/>
          </a:xfrm>
          <a:prstGeom prst="rect">
            <a:avLst/>
          </a:prstGeom>
        </p:spPr>
      </p:pic>
      <p:sp>
        <p:nvSpPr>
          <p:cNvPr id="2" name="文本框 1"/>
          <p:cNvSpPr txBox="1"/>
          <p:nvPr/>
        </p:nvSpPr>
        <p:spPr>
          <a:xfrm>
            <a:off x="6742430" y="991235"/>
            <a:ext cx="5026025" cy="1383665"/>
          </a:xfrm>
          <a:prstGeom prst="rect">
            <a:avLst/>
          </a:prstGeom>
          <a:noFill/>
        </p:spPr>
        <p:txBody>
          <a:bodyPr wrap="square" rtlCol="0" anchor="t">
            <a:spAutoFit/>
          </a:bodyPr>
          <a:p>
            <a:pPr algn="l">
              <a:buClrTx/>
              <a:buSzTx/>
              <a:buNone/>
            </a:pPr>
            <a:r>
              <a:rPr lang="en-US" altLang="zh-CN" sz="1400"/>
              <a:t>theta Generate a random parameter vector theta</a:t>
            </a:r>
            <a:endParaRPr lang="en-US" altLang="zh-CN" sz="1400"/>
          </a:p>
          <a:p>
            <a:pPr algn="l">
              <a:buClrTx/>
              <a:buSzTx/>
              <a:buNone/>
            </a:pPr>
            <a:r>
              <a:rPr lang="en-US" altLang="zh-CN" sz="1400"/>
              <a:t>Initialize the excess return matrix</a:t>
            </a:r>
            <a:endParaRPr lang="en-US" altLang="zh-CN" sz="1400"/>
          </a:p>
          <a:p>
            <a:r>
              <a:rPr lang="en-US" altLang="zh-CN" sz="1400"/>
              <a:t>Iterate through all months</a:t>
            </a:r>
            <a:endParaRPr lang="en-US" altLang="zh-CN" sz="1400"/>
          </a:p>
          <a:p>
            <a:r>
              <a:rPr lang="en-US" altLang="zh-CN" sz="1400"/>
              <a:t>Iterate through all stocks</a:t>
            </a:r>
            <a:endParaRPr lang="en-US" altLang="zh-CN" sz="1400"/>
          </a:p>
          <a:p>
            <a:r>
              <a:rPr lang="en-US" altLang="zh-CN" sz="1400"/>
              <a:t>Calculate excess returns based on the linear model and add random noise</a:t>
            </a:r>
            <a:endParaRPr lang="zh-CN" altLang="en-US" sz="1400"/>
          </a:p>
        </p:txBody>
      </p:sp>
      <p:sp>
        <p:nvSpPr>
          <p:cNvPr id="3" name="文本框 2"/>
          <p:cNvSpPr txBox="1"/>
          <p:nvPr/>
        </p:nvSpPr>
        <p:spPr>
          <a:xfrm>
            <a:off x="4961890" y="2707005"/>
            <a:ext cx="1950085" cy="521970"/>
          </a:xfrm>
          <a:prstGeom prst="rect">
            <a:avLst/>
          </a:prstGeom>
          <a:noFill/>
        </p:spPr>
        <p:txBody>
          <a:bodyPr wrap="square" rtlCol="0" anchor="t">
            <a:spAutoFit/>
          </a:bodyPr>
          <a:p>
            <a:pPr algn="l">
              <a:buClrTx/>
              <a:buSzTx/>
              <a:buNone/>
            </a:pPr>
            <a:r>
              <a:rPr lang="en-US" altLang="zh-CN" sz="1400"/>
              <a:t>Flatten the zi_t matrix</a:t>
            </a:r>
            <a:endParaRPr lang="en-US" altLang="zh-CN" sz="1400"/>
          </a:p>
          <a:p>
            <a:pPr algn="l">
              <a:buClrTx/>
              <a:buSzTx/>
              <a:buNone/>
            </a:pPr>
            <a:r>
              <a:rPr lang="en-US" altLang="zh-CN" sz="1400"/>
              <a:t>Flatten the ri_t+1 matrix</a:t>
            </a:r>
            <a:endParaRPr lang="en-US" altLang="zh-CN" sz="1400"/>
          </a:p>
        </p:txBody>
      </p:sp>
      <p:sp>
        <p:nvSpPr>
          <p:cNvPr id="4" name="文本框 3"/>
          <p:cNvSpPr txBox="1"/>
          <p:nvPr/>
        </p:nvSpPr>
        <p:spPr>
          <a:xfrm>
            <a:off x="8623300" y="3336290"/>
            <a:ext cx="1887855" cy="737235"/>
          </a:xfrm>
          <a:prstGeom prst="rect">
            <a:avLst/>
          </a:prstGeom>
          <a:noFill/>
        </p:spPr>
        <p:txBody>
          <a:bodyPr wrap="square" rtlCol="0" anchor="t">
            <a:spAutoFit/>
          </a:bodyPr>
          <a:p>
            <a:pPr algn="l">
              <a:buClrTx/>
              <a:buSzTx/>
              <a:buNone/>
            </a:pPr>
            <a:r>
              <a:rPr lang="en-US" altLang="zh-CN" sz="1400"/>
              <a:t>Create a DataFrame</a:t>
            </a:r>
            <a:endParaRPr lang="en-US" altLang="zh-CN" sz="1400"/>
          </a:p>
          <a:p>
            <a:pPr algn="l">
              <a:buClrTx/>
              <a:buSzTx/>
              <a:buNone/>
            </a:pPr>
            <a:r>
              <a:rPr lang="en-US" altLang="zh-CN" sz="1400"/>
              <a:t>Add Stock ID column</a:t>
            </a:r>
            <a:endParaRPr lang="en-US" altLang="zh-CN" sz="1400"/>
          </a:p>
          <a:p>
            <a:pPr algn="l">
              <a:buClrTx/>
              <a:buSzTx/>
              <a:buNone/>
            </a:pPr>
            <a:r>
              <a:rPr lang="en-US" altLang="zh-CN" sz="1400"/>
              <a:t>Add Month column</a:t>
            </a:r>
            <a:endParaRPr lang="en-US" altLang="zh-CN" sz="1400"/>
          </a:p>
        </p:txBody>
      </p:sp>
      <p:sp>
        <p:nvSpPr>
          <p:cNvPr id="6" name="文本框 5"/>
          <p:cNvSpPr txBox="1"/>
          <p:nvPr/>
        </p:nvSpPr>
        <p:spPr>
          <a:xfrm>
            <a:off x="5325745" y="4189095"/>
            <a:ext cx="6096000" cy="953135"/>
          </a:xfrm>
          <a:prstGeom prst="rect">
            <a:avLst/>
          </a:prstGeom>
          <a:noFill/>
        </p:spPr>
        <p:txBody>
          <a:bodyPr wrap="square" rtlCol="0" anchor="t">
            <a:spAutoFit/>
          </a:bodyPr>
          <a:p>
            <a:pPr algn="l">
              <a:buClrTx/>
              <a:buSzTx/>
              <a:buNone/>
            </a:pPr>
            <a:r>
              <a:rPr lang="en-US" altLang="zh-CN" sz="1400"/>
              <a:t>Create a DataFrame for excess returns</a:t>
            </a:r>
            <a:endParaRPr lang="en-US" altLang="zh-CN" sz="1400"/>
          </a:p>
          <a:p>
            <a:pPr algn="l">
              <a:buClrTx/>
              <a:buSzTx/>
              <a:buNone/>
            </a:pPr>
            <a:r>
              <a:rPr lang="en-US" altLang="zh-CN" sz="1400"/>
              <a:t> Add Stock ID column</a:t>
            </a:r>
            <a:endParaRPr lang="en-US" altLang="zh-CN" sz="1400"/>
          </a:p>
          <a:p>
            <a:pPr algn="l">
              <a:buClrTx/>
              <a:buSzTx/>
              <a:buNone/>
            </a:pPr>
            <a:r>
              <a:rPr lang="en-US" altLang="zh-CN" sz="1400"/>
              <a:t> Add Month column</a:t>
            </a:r>
            <a:endParaRPr lang="en-US" altLang="zh-CN" sz="1400"/>
          </a:p>
          <a:p>
            <a:pPr algn="l">
              <a:buClrTx/>
              <a:buSzTx/>
              <a:buNone/>
            </a:pPr>
            <a:r>
              <a:rPr lang="en-US" altLang="zh-CN" sz="1400"/>
              <a:t> Add excess return column</a:t>
            </a:r>
            <a:endParaRPr lang="en-US" altLang="zh-CN" sz="1400"/>
          </a:p>
        </p:txBody>
      </p:sp>
      <p:sp>
        <p:nvSpPr>
          <p:cNvPr id="7" name="文本框 6"/>
          <p:cNvSpPr txBox="1"/>
          <p:nvPr/>
        </p:nvSpPr>
        <p:spPr>
          <a:xfrm>
            <a:off x="6096000" y="5820410"/>
            <a:ext cx="3011170" cy="306705"/>
          </a:xfrm>
          <a:prstGeom prst="rect">
            <a:avLst/>
          </a:prstGeom>
          <a:noFill/>
        </p:spPr>
        <p:txBody>
          <a:bodyPr wrap="square" rtlCol="0" anchor="t">
            <a:spAutoFit/>
          </a:bodyPr>
          <a:p>
            <a:pPr algn="l">
              <a:buClrTx/>
              <a:buSzTx/>
              <a:buNone/>
            </a:pPr>
            <a:r>
              <a:rPr lang="en-US" altLang="zh-CN" sz="1400"/>
              <a:t>Combine zi_t and ri_t_plus_1 data</a:t>
            </a:r>
            <a:endParaRPr lang="en-US" altLang="zh-CN"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-OLS Regression</a:t>
            </a:r>
            <a:endParaRPr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Split the dataset into training and testing sets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Split the dataset into training and testing sets</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Train OLS regression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rPr>
              <a:t>Evaluate the model</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2" name="图片 21"/>
          <p:cNvPicPr>
            <a:picLocks noChangeAspect="1"/>
          </p:cNvPicPr>
          <p:nvPr/>
        </p:nvPicPr>
        <p:blipFill>
          <a:blip r:embed="rId1"/>
          <a:srcRect r="533" b="36172"/>
          <a:stretch>
            <a:fillRect/>
          </a:stretch>
        </p:blipFill>
        <p:spPr>
          <a:xfrm>
            <a:off x="581660" y="1020445"/>
            <a:ext cx="6866890" cy="442595"/>
          </a:xfrm>
          <a:prstGeom prst="rect">
            <a:avLst/>
          </a:prstGeom>
        </p:spPr>
      </p:pic>
      <p:pic>
        <p:nvPicPr>
          <p:cNvPr id="3" name="图片 2"/>
          <p:cNvPicPr>
            <a:picLocks noChangeAspect="1"/>
          </p:cNvPicPr>
          <p:nvPr/>
        </p:nvPicPr>
        <p:blipFill>
          <a:blip r:embed="rId2"/>
          <a:stretch>
            <a:fillRect/>
          </a:stretch>
        </p:blipFill>
        <p:spPr>
          <a:xfrm>
            <a:off x="722630" y="3211195"/>
            <a:ext cx="2537460" cy="426720"/>
          </a:xfrm>
          <a:prstGeom prst="rect">
            <a:avLst/>
          </a:prstGeom>
        </p:spPr>
      </p:pic>
      <p:pic>
        <p:nvPicPr>
          <p:cNvPr id="6" name="图片 5"/>
          <p:cNvPicPr>
            <a:picLocks noChangeAspect="1"/>
          </p:cNvPicPr>
          <p:nvPr/>
        </p:nvPicPr>
        <p:blipFill>
          <a:blip r:embed="rId3"/>
          <a:stretch>
            <a:fillRect/>
          </a:stretch>
        </p:blipFill>
        <p:spPr>
          <a:xfrm>
            <a:off x="664210" y="4167505"/>
            <a:ext cx="2674620" cy="228600"/>
          </a:xfrm>
          <a:prstGeom prst="rect">
            <a:avLst/>
          </a:prstGeom>
        </p:spPr>
      </p:pic>
      <p:pic>
        <p:nvPicPr>
          <p:cNvPr id="9" name="图片 8"/>
          <p:cNvPicPr>
            <a:picLocks noChangeAspect="1"/>
          </p:cNvPicPr>
          <p:nvPr/>
        </p:nvPicPr>
        <p:blipFill>
          <a:blip r:embed="rId4"/>
          <a:stretch>
            <a:fillRect/>
          </a:stretch>
        </p:blipFill>
        <p:spPr>
          <a:xfrm>
            <a:off x="581660" y="1884680"/>
            <a:ext cx="9502140" cy="388620"/>
          </a:xfrm>
          <a:prstGeom prst="rect">
            <a:avLst/>
          </a:prstGeom>
        </p:spPr>
      </p:pic>
      <p:sp>
        <p:nvSpPr>
          <p:cNvPr id="2" name="文本框 1"/>
          <p:cNvSpPr txBox="1"/>
          <p:nvPr/>
        </p:nvSpPr>
        <p:spPr>
          <a:xfrm>
            <a:off x="7661910" y="939165"/>
            <a:ext cx="2819400" cy="521970"/>
          </a:xfrm>
          <a:prstGeom prst="rect">
            <a:avLst/>
          </a:prstGeom>
          <a:noFill/>
        </p:spPr>
        <p:txBody>
          <a:bodyPr wrap="square" rtlCol="0" anchor="t">
            <a:spAutoFit/>
          </a:bodyPr>
          <a:p>
            <a:r>
              <a:rPr lang="en-US" altLang="zh-CN" sz="1400"/>
              <a:t>Extract predictor variables</a:t>
            </a:r>
            <a:endParaRPr lang="en-US" altLang="zh-CN" sz="1400"/>
          </a:p>
          <a:p>
            <a:r>
              <a:rPr lang="en-US" altLang="zh-CN" sz="1400"/>
              <a:t>Extract the target variable</a:t>
            </a:r>
            <a:endParaRPr lang="zh-CN" altLang="en-US" sz="1400"/>
          </a:p>
        </p:txBody>
      </p:sp>
      <p:sp>
        <p:nvSpPr>
          <p:cNvPr id="4" name="文本框 3"/>
          <p:cNvSpPr txBox="1"/>
          <p:nvPr/>
        </p:nvSpPr>
        <p:spPr>
          <a:xfrm>
            <a:off x="3378200" y="3155950"/>
            <a:ext cx="3098800" cy="521970"/>
          </a:xfrm>
          <a:prstGeom prst="rect">
            <a:avLst/>
          </a:prstGeom>
          <a:noFill/>
        </p:spPr>
        <p:txBody>
          <a:bodyPr wrap="square" rtlCol="0" anchor="t">
            <a:spAutoFit/>
          </a:bodyPr>
          <a:p>
            <a:pPr algn="l">
              <a:buClrTx/>
              <a:buSzTx/>
              <a:buNone/>
            </a:pPr>
            <a:r>
              <a:rPr lang="en-US" altLang="zh-CN" sz="1400"/>
              <a:t>Initialize the Linear Regression model</a:t>
            </a:r>
            <a:endParaRPr lang="en-US" altLang="zh-CN" sz="1400"/>
          </a:p>
          <a:p>
            <a:pPr algn="l">
              <a:buClrTx/>
              <a:buSzTx/>
              <a:buFontTx/>
              <a:buNone/>
            </a:pPr>
            <a:r>
              <a:rPr lang="en-US" altLang="zh-CN" sz="1400"/>
              <a:t>Fit the model</a:t>
            </a:r>
            <a:endParaRPr lang="en-US" altLang="zh-CN" sz="1400"/>
          </a:p>
        </p:txBody>
      </p:sp>
      <p:sp>
        <p:nvSpPr>
          <p:cNvPr id="5" name="文本框 4"/>
          <p:cNvSpPr txBox="1"/>
          <p:nvPr/>
        </p:nvSpPr>
        <p:spPr>
          <a:xfrm>
            <a:off x="3314700" y="4128135"/>
            <a:ext cx="6096000" cy="306705"/>
          </a:xfrm>
          <a:prstGeom prst="rect">
            <a:avLst/>
          </a:prstGeom>
          <a:noFill/>
        </p:spPr>
        <p:txBody>
          <a:bodyPr wrap="square" rtlCol="0" anchor="t">
            <a:spAutoFit/>
          </a:bodyPr>
          <a:p>
            <a:r>
              <a:rPr lang="en-US" altLang="zh-CN" sz="1400"/>
              <a:t>Generate predictions using the test dataset</a:t>
            </a:r>
            <a:endParaRPr lang="en-US" altLang="zh-CN" sz="1400"/>
          </a:p>
        </p:txBody>
      </p:sp>
      <p:pic>
        <p:nvPicPr>
          <p:cNvPr id="7" name="图片 6"/>
          <p:cNvPicPr>
            <a:picLocks noChangeAspect="1"/>
          </p:cNvPicPr>
          <p:nvPr/>
        </p:nvPicPr>
        <p:blipFill>
          <a:blip r:embed="rId5"/>
          <a:stretch>
            <a:fillRect/>
          </a:stretch>
        </p:blipFill>
        <p:spPr>
          <a:xfrm>
            <a:off x="6411595" y="3037840"/>
            <a:ext cx="3200400" cy="739140"/>
          </a:xfrm>
          <a:prstGeom prst="rect">
            <a:avLst/>
          </a:prstGeom>
        </p:spPr>
      </p:pic>
      <p:pic>
        <p:nvPicPr>
          <p:cNvPr id="10" name="图片 9"/>
          <p:cNvPicPr>
            <a:picLocks noChangeAspect="1"/>
          </p:cNvPicPr>
          <p:nvPr/>
        </p:nvPicPr>
        <p:blipFill>
          <a:blip r:embed="rId6"/>
          <a:stretch>
            <a:fillRect/>
          </a:stretch>
        </p:blipFill>
        <p:spPr>
          <a:xfrm>
            <a:off x="6574155" y="3961130"/>
            <a:ext cx="2484120" cy="662940"/>
          </a:xfrm>
          <a:prstGeom prst="rect">
            <a:avLst/>
          </a:prstGeom>
        </p:spPr>
      </p:pic>
      <p:sp>
        <p:nvSpPr>
          <p:cNvPr id="8" name="文本框 7"/>
          <p:cNvSpPr txBox="1"/>
          <p:nvPr/>
        </p:nvSpPr>
        <p:spPr>
          <a:xfrm>
            <a:off x="549275" y="2317750"/>
            <a:ext cx="6269990" cy="521970"/>
          </a:xfrm>
          <a:prstGeom prst="rect">
            <a:avLst/>
          </a:prstGeom>
        </p:spPr>
        <p:txBody>
          <a:bodyPr wrap="square">
            <a:spAutoFit/>
          </a:bodyPr>
          <a:p>
            <a:pPr algn="l">
              <a:buClrTx/>
              <a:buSzTx/>
              <a:buNone/>
            </a:pPr>
            <a:r>
              <a:rPr lang="en-US" altLang="zh-CN" sz="1400"/>
              <a:t>Split 70% of data for training/validation and 30% for testing </a:t>
            </a:r>
            <a:endParaRPr lang="en-US" altLang="zh-CN" sz="1400"/>
          </a:p>
          <a:p>
            <a:pPr algn="l">
              <a:buClrTx/>
              <a:buSzTx/>
              <a:buNone/>
            </a:pPr>
            <a:r>
              <a:rPr lang="en-US" altLang="zh-CN" sz="1400"/>
              <a:t>Further split the training/validation set to get approximately 20% for validation</a:t>
            </a:r>
            <a:endParaRPr lang="en-US" altLang="zh-CN"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rPr>
              <a:t>OLS Regression Results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7" name="图片 6" descr="OLS-Time Series "/>
          <p:cNvPicPr>
            <a:picLocks noChangeAspect="1"/>
          </p:cNvPicPr>
          <p:nvPr/>
        </p:nvPicPr>
        <p:blipFill>
          <a:blip r:embed="rId1"/>
          <a:stretch>
            <a:fillRect/>
          </a:stretch>
        </p:blipFill>
        <p:spPr>
          <a:xfrm>
            <a:off x="1322705" y="960120"/>
            <a:ext cx="10085705" cy="58369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pPr algn="l">
              <a:lnSpc>
                <a:spcPct val="100000"/>
              </a:lnSpc>
              <a:buClrTx/>
              <a:buSzTx/>
              <a:buFontTx/>
            </a:pPr>
            <a:r>
              <a:rPr lang="en-US" sz="3600" dirty="0" smtClean="0">
                <a:sym typeface="+mn-ea"/>
              </a:rPr>
              <a:t>                                          </a:t>
            </a:r>
            <a:r>
              <a:rPr lang="en-US" altLang="zh-CN" sz="3600">
                <a:latin typeface="+mn-lt"/>
                <a:ea typeface="+mn-ea"/>
                <a:cs typeface="+mn-cs"/>
              </a:rPr>
              <a:t>an extension of OLS</a:t>
            </a:r>
            <a:endParaRPr lang="en-US" altLang="zh-CN" sz="3600">
              <a:latin typeface="+mn-lt"/>
              <a:ea typeface="+mn-ea"/>
              <a:cs typeface="+mn-cs"/>
            </a:endParaRPr>
          </a:p>
        </p:txBody>
      </p:sp>
      <p:sp>
        <p:nvSpPr>
          <p:cNvPr id="3" name="Content Placeholder 2"/>
          <p:cNvSpPr>
            <a:spLocks noGrp="1"/>
          </p:cNvSpPr>
          <p:nvPr>
            <p:ph idx="1"/>
          </p:nvPr>
        </p:nvSpPr>
        <p:spPr>
          <a:xfrm>
            <a:off x="838200" y="1825625"/>
            <a:ext cx="10515600" cy="4895215"/>
          </a:xfrm>
        </p:spPr>
        <p:txBody>
          <a:bodyPr>
            <a:normAutofit/>
          </a:bodyPr>
          <a:lstStyle/>
          <a:p>
            <a:r>
              <a:rPr lang="en-US" dirty="0" smtClean="0">
                <a:solidFill>
                  <a:srgbClr val="26927D"/>
                </a:solidFill>
              </a:rPr>
              <a:t>Objective function:</a:t>
            </a:r>
            <a:endParaRPr lang="en-US" dirty="0" smtClean="0">
              <a:solidFill>
                <a:srgbClr val="26927D"/>
              </a:solidFill>
            </a:endParaRPr>
          </a:p>
          <a:p>
            <a:pPr marL="0" indent="0">
              <a:buNone/>
            </a:pPr>
            <a:endParaRPr lang="en-US" dirty="0" smtClean="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4749165" y="94234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807085" y="781685"/>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pic>
        <p:nvPicPr>
          <p:cNvPr id="6" name="图片 5"/>
          <p:cNvPicPr>
            <a:picLocks noChangeAspect="1"/>
          </p:cNvPicPr>
          <p:nvPr/>
        </p:nvPicPr>
        <p:blipFill>
          <a:blip r:embed="rId1"/>
          <a:stretch>
            <a:fillRect/>
          </a:stretch>
        </p:blipFill>
        <p:spPr>
          <a:xfrm>
            <a:off x="968375" y="2342515"/>
            <a:ext cx="3710940" cy="731520"/>
          </a:xfrm>
          <a:prstGeom prst="rect">
            <a:avLst/>
          </a:prstGeom>
        </p:spPr>
      </p:pic>
      <p:sp>
        <p:nvSpPr>
          <p:cNvPr id="8" name="文本框 7"/>
          <p:cNvSpPr txBox="1"/>
          <p:nvPr/>
        </p:nvSpPr>
        <p:spPr>
          <a:xfrm>
            <a:off x="845185" y="4300220"/>
            <a:ext cx="9780905" cy="829945"/>
          </a:xfrm>
          <a:prstGeom prst="rect">
            <a:avLst/>
          </a:prstGeom>
        </p:spPr>
        <p:txBody>
          <a:bodyPr wrap="square">
            <a:spAutoFit/>
          </a:bodyPr>
          <a:p>
            <a:r>
              <a:rPr lang="en-US" altLang="zh-CN" sz="1600"/>
              <a:t>L</a:t>
            </a:r>
            <a:r>
              <a:rPr lang="en-US" altLang="zh-CN" sz="1600" baseline="-25000"/>
              <a:t>W​</a:t>
            </a:r>
            <a:r>
              <a:rPr lang="en-US" altLang="zh-CN" sz="1600"/>
              <a:t>(θ):The weighted loss function, which allows observations to contribute differently to the overall error.</a:t>
            </a:r>
            <a:endParaRPr lang="en-US" altLang="zh-CN" sz="1600"/>
          </a:p>
          <a:p>
            <a:r>
              <a:rPr lang="en-US" altLang="zh-CN" sz="1600"/>
              <a:t>wi,t:Weights assigned to individual observations, reflecting their importance. These weights can be based on factors such as time period, asset size, or statistical properties like variance.</a:t>
            </a:r>
            <a:endParaRPr lang="zh-CN" altLang="en-US" sz="1600"/>
          </a:p>
        </p:txBody>
      </p:sp>
      <p:sp>
        <p:nvSpPr>
          <p:cNvPr id="15" name="文本框 14"/>
          <p:cNvSpPr txBox="1"/>
          <p:nvPr/>
        </p:nvSpPr>
        <p:spPr>
          <a:xfrm>
            <a:off x="845185" y="5560060"/>
            <a:ext cx="9780905" cy="829945"/>
          </a:xfrm>
          <a:prstGeom prst="rect">
            <a:avLst/>
          </a:prstGeom>
        </p:spPr>
        <p:txBody>
          <a:bodyPr wrap="square">
            <a:spAutoFit/>
          </a:bodyPr>
          <a:p>
            <a:r>
              <a:rPr lang="en-US" altLang="zh-CN" sz="1600"/>
              <a:t>The Equation is an extension of OLS with weights wi,t. This allows the model to emphasize certain observations while de-emphasizing others, providing flexibility in handling heterogeneous data, such as prioritizing large-cap stocks or balancing observations across time periods.</a:t>
            </a:r>
            <a:endParaRPr lang="en-US" altLang="zh-CN" sz="1600"/>
          </a:p>
        </p:txBody>
      </p:sp>
      <p:sp>
        <p:nvSpPr>
          <p:cNvPr id="16" name="文本框 15"/>
          <p:cNvSpPr txBox="1"/>
          <p:nvPr/>
        </p:nvSpPr>
        <p:spPr>
          <a:xfrm>
            <a:off x="3082925" y="737870"/>
            <a:ext cx="1461135" cy="645160"/>
          </a:xfrm>
          <a:prstGeom prst="rect">
            <a:avLst/>
          </a:prstGeom>
        </p:spPr>
        <p:txBody>
          <a:bodyPr wrap="square">
            <a:spAutoFit/>
          </a:bodyPr>
          <a:p>
            <a:r>
              <a:rPr lang="en-US" altLang="zh-CN" sz="3600"/>
              <a:t>g(zi,t​;θ)</a:t>
            </a:r>
            <a:endParaRPr lang="en-US" altLang="zh-CN" sz="1600"/>
          </a:p>
        </p:txBody>
      </p:sp>
      <p:sp>
        <p:nvSpPr>
          <p:cNvPr id="17" name="右箭头 16"/>
          <p:cNvSpPr/>
          <p:nvPr/>
        </p:nvSpPr>
        <p:spPr>
          <a:xfrm>
            <a:off x="2620010" y="96266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p:cNvPicPr>
            <a:picLocks noChangeAspect="1"/>
          </p:cNvPicPr>
          <p:nvPr/>
        </p:nvPicPr>
        <p:blipFill>
          <a:blip r:embed="rId2"/>
          <a:stretch>
            <a:fillRect/>
          </a:stretch>
        </p:blipFill>
        <p:spPr>
          <a:xfrm>
            <a:off x="5549900" y="1426845"/>
            <a:ext cx="4991100" cy="2209800"/>
          </a:xfrm>
          <a:prstGeom prst="rect">
            <a:avLst/>
          </a:prstGeom>
        </p:spPr>
      </p:pic>
      <p:pic>
        <p:nvPicPr>
          <p:cNvPr id="9" name="图片 8"/>
          <p:cNvPicPr>
            <a:picLocks noChangeAspect="1"/>
          </p:cNvPicPr>
          <p:nvPr/>
        </p:nvPicPr>
        <p:blipFill>
          <a:blip r:embed="rId3"/>
          <a:stretch>
            <a:fillRect/>
          </a:stretch>
        </p:blipFill>
        <p:spPr>
          <a:xfrm>
            <a:off x="5549900" y="3706495"/>
            <a:ext cx="2781300" cy="388620"/>
          </a:xfrm>
          <a:prstGeom prst="rect">
            <a:avLst/>
          </a:prstGeom>
        </p:spPr>
      </p:pic>
      <p:sp>
        <p:nvSpPr>
          <p:cNvPr id="11" name="文本框 10"/>
          <p:cNvSpPr txBox="1"/>
          <p:nvPr/>
        </p:nvSpPr>
        <p:spPr>
          <a:xfrm>
            <a:off x="860425" y="5200968"/>
            <a:ext cx="5080000" cy="337185"/>
          </a:xfrm>
          <a:prstGeom prst="rect">
            <a:avLst/>
          </a:prstGeom>
        </p:spPr>
        <p:txBody>
          <a:bodyPr>
            <a:spAutoFit/>
          </a:bodyPr>
          <a:p>
            <a:r>
              <a:rPr lang="en-US" altLang="zh-CN" sz="1600"/>
              <a:t>Theta is obtained through the weighted normal equation.</a:t>
            </a:r>
            <a:endParaRPr lang="en-US" altLang="zh-CN" sz="16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an extension of OLS</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The sample data construction part is the same as the OLS part.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Create a DataFrame for modeling</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Extract predictors, target, and weights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1"/>
          <a:stretch>
            <a:fillRect/>
          </a:stretch>
        </p:blipFill>
        <p:spPr>
          <a:xfrm>
            <a:off x="709295" y="1069975"/>
            <a:ext cx="4046220" cy="632460"/>
          </a:xfrm>
          <a:prstGeom prst="rect">
            <a:avLst/>
          </a:prstGeom>
        </p:spPr>
      </p:pic>
      <p:pic>
        <p:nvPicPr>
          <p:cNvPr id="10" name="图片 9"/>
          <p:cNvPicPr>
            <a:picLocks noChangeAspect="1"/>
          </p:cNvPicPr>
          <p:nvPr/>
        </p:nvPicPr>
        <p:blipFill>
          <a:blip r:embed="rId2"/>
          <a:stretch>
            <a:fillRect/>
          </a:stretch>
        </p:blipFill>
        <p:spPr>
          <a:xfrm>
            <a:off x="452120" y="2686685"/>
            <a:ext cx="7589520" cy="685800"/>
          </a:xfrm>
          <a:prstGeom prst="rect">
            <a:avLst/>
          </a:prstGeom>
        </p:spPr>
      </p:pic>
      <p:pic>
        <p:nvPicPr>
          <p:cNvPr id="13" name="图片 12"/>
          <p:cNvPicPr>
            <a:picLocks noChangeAspect="1"/>
          </p:cNvPicPr>
          <p:nvPr/>
        </p:nvPicPr>
        <p:blipFill>
          <a:blip r:embed="rId3"/>
          <a:stretch>
            <a:fillRect/>
          </a:stretch>
        </p:blipFill>
        <p:spPr>
          <a:xfrm>
            <a:off x="452120" y="3997960"/>
            <a:ext cx="5463540" cy="1409700"/>
          </a:xfrm>
          <a:prstGeom prst="rect">
            <a:avLst/>
          </a:prstGeom>
        </p:spPr>
      </p:pic>
      <p:sp>
        <p:nvSpPr>
          <p:cNvPr id="5" name="文本框 4"/>
          <p:cNvSpPr txBox="1"/>
          <p:nvPr/>
        </p:nvSpPr>
        <p:spPr>
          <a:xfrm>
            <a:off x="4800600" y="998855"/>
            <a:ext cx="6096000" cy="678180"/>
          </a:xfrm>
          <a:prstGeom prst="rect">
            <a:avLst/>
          </a:prstGeom>
          <a:noFill/>
        </p:spPr>
        <p:txBody>
          <a:bodyPr wrap="square" rtlCol="0" anchor="t">
            <a:noAutofit/>
          </a:bodyPr>
          <a:p>
            <a:r>
              <a:rPr lang="en-US" altLang="zh-CN" sz="1400"/>
              <a:t>Import NumPy library for numerical computation</a:t>
            </a:r>
            <a:endParaRPr lang="en-US" altLang="zh-CN" sz="1400"/>
          </a:p>
          <a:p>
            <a:pPr algn="l">
              <a:buClrTx/>
              <a:buSzTx/>
              <a:buNone/>
            </a:pPr>
            <a:r>
              <a:rPr lang="en-US" altLang="zh-CN" sz="1400"/>
              <a:t>Import Pandas library for data processing</a:t>
            </a:r>
            <a:endParaRPr lang="en-US" altLang="zh-CN" sz="1400"/>
          </a:p>
          <a:p>
            <a:pPr algn="l">
              <a:buClrTx/>
              <a:buSzTx/>
              <a:buNone/>
            </a:pPr>
            <a:r>
              <a:rPr lang="en-US" altLang="zh-CN" sz="1400"/>
              <a:t>Import function to split dataset into training and testing sets</a:t>
            </a:r>
            <a:endParaRPr lang="en-US" altLang="zh-CN" sz="1400"/>
          </a:p>
          <a:p>
            <a:pPr algn="l">
              <a:buClrTx/>
              <a:buSzTx/>
              <a:buNone/>
            </a:pPr>
            <a:endParaRPr lang="en-US" altLang="zh-CN" sz="1400"/>
          </a:p>
        </p:txBody>
      </p:sp>
      <p:sp>
        <p:nvSpPr>
          <p:cNvPr id="6" name="文本框 5"/>
          <p:cNvSpPr txBox="1"/>
          <p:nvPr/>
        </p:nvSpPr>
        <p:spPr>
          <a:xfrm>
            <a:off x="8053705" y="2414270"/>
            <a:ext cx="4137660" cy="953135"/>
          </a:xfrm>
          <a:prstGeom prst="rect">
            <a:avLst/>
          </a:prstGeom>
          <a:noFill/>
        </p:spPr>
        <p:txBody>
          <a:bodyPr wrap="square" rtlCol="0" anchor="t">
            <a:spAutoFit/>
          </a:bodyPr>
          <a:p>
            <a:pPr algn="l">
              <a:buClrTx/>
              <a:buSzTx/>
              <a:buNone/>
            </a:pPr>
            <a:r>
              <a:rPr lang="en-US" altLang="zh-CN" sz="1400"/>
              <a:t>Create DataFrame containing interaction variables, each column represents an interaction factor</a:t>
            </a:r>
            <a:endParaRPr lang="en-US" altLang="zh-CN" sz="1400"/>
          </a:p>
          <a:p>
            <a:pPr algn="l">
              <a:buClrTx/>
              <a:buSzTx/>
              <a:buNone/>
            </a:pPr>
            <a:r>
              <a:rPr lang="en-US" altLang="zh-CN" sz="1400"/>
              <a:t>Add excess return column</a:t>
            </a:r>
            <a:endParaRPr lang="en-US" altLang="zh-CN" sz="1400"/>
          </a:p>
          <a:p>
            <a:pPr algn="l">
              <a:buClrTx/>
              <a:buSzTx/>
              <a:buNone/>
            </a:pPr>
            <a:r>
              <a:rPr lang="en-US" altLang="zh-CN" sz="1400"/>
              <a:t>Generate random weights</a:t>
            </a:r>
            <a:endParaRPr lang="en-US" altLang="zh-CN" sz="1400"/>
          </a:p>
        </p:txBody>
      </p:sp>
      <p:sp>
        <p:nvSpPr>
          <p:cNvPr id="7" name="文本框 6"/>
          <p:cNvSpPr txBox="1"/>
          <p:nvPr/>
        </p:nvSpPr>
        <p:spPr>
          <a:xfrm>
            <a:off x="6096000" y="3900170"/>
            <a:ext cx="4655820" cy="1568450"/>
          </a:xfrm>
          <a:prstGeom prst="rect">
            <a:avLst/>
          </a:prstGeom>
          <a:noFill/>
        </p:spPr>
        <p:txBody>
          <a:bodyPr wrap="square" rtlCol="0" anchor="t">
            <a:spAutoFit/>
          </a:bodyPr>
          <a:p>
            <a:r>
              <a:rPr lang="en-US" altLang="zh-CN" sz="1400"/>
              <a:t>Extract predictor matrix for training set</a:t>
            </a:r>
            <a:endParaRPr lang="en-US" altLang="zh-CN" sz="1400"/>
          </a:p>
          <a:p>
            <a:r>
              <a:rPr lang="en-US" altLang="zh-CN" sz="1400"/>
              <a:t>Extract target variable (excess return) for training set</a:t>
            </a:r>
            <a:endParaRPr lang="en-US" altLang="zh-CN" sz="1400"/>
          </a:p>
          <a:p>
            <a:r>
              <a:rPr lang="en-US" altLang="zh-CN" sz="1400"/>
              <a:t>Extract sample weights for training set</a:t>
            </a:r>
            <a:endParaRPr lang="en-US" altLang="zh-CN" sz="1400"/>
          </a:p>
          <a:p>
            <a:endParaRPr lang="en-US" altLang="zh-CN" sz="1200"/>
          </a:p>
          <a:p>
            <a:pPr algn="l">
              <a:buClrTx/>
              <a:buSzTx/>
              <a:buNone/>
            </a:pPr>
            <a:r>
              <a:rPr lang="en-US" altLang="zh-CN" sz="1400"/>
              <a:t>Extract predictor matrix for test set</a:t>
            </a:r>
            <a:endParaRPr lang="en-US" altLang="zh-CN" sz="1400"/>
          </a:p>
          <a:p>
            <a:pPr algn="l">
              <a:buClrTx/>
              <a:buSzTx/>
              <a:buNone/>
            </a:pPr>
            <a:r>
              <a:rPr lang="en-US" altLang="zh-CN" sz="1400"/>
              <a:t>Extract target variable (excess return) for test set</a:t>
            </a:r>
            <a:endParaRPr lang="en-US" altLang="zh-CN" sz="1400"/>
          </a:p>
          <a:p>
            <a:pPr algn="l">
              <a:buClrTx/>
              <a:buSzTx/>
              <a:buNone/>
            </a:pPr>
            <a:r>
              <a:rPr lang="en-US" altLang="zh-CN" sz="1400"/>
              <a:t>Extract sample weights for test set</a:t>
            </a:r>
            <a:endParaRPr lang="en-US" altLang="zh-CN"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an extension of OLS</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sym typeface="+mn-ea"/>
              </a:rPr>
              <a:t>Define the weighted loss function</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Define the weighted loss function</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Train the weighted linear regression model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Predict on the test dataset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16" name="图片 15"/>
          <p:cNvPicPr>
            <a:picLocks noChangeAspect="1"/>
          </p:cNvPicPr>
          <p:nvPr/>
        </p:nvPicPr>
        <p:blipFill>
          <a:blip r:embed="rId1"/>
          <a:stretch>
            <a:fillRect/>
          </a:stretch>
        </p:blipFill>
        <p:spPr>
          <a:xfrm>
            <a:off x="804545" y="4067810"/>
            <a:ext cx="2781300" cy="388620"/>
          </a:xfrm>
          <a:prstGeom prst="rect">
            <a:avLst/>
          </a:prstGeom>
        </p:spPr>
      </p:pic>
      <p:pic>
        <p:nvPicPr>
          <p:cNvPr id="18" name="图片 17"/>
          <p:cNvPicPr>
            <a:picLocks noChangeAspect="1"/>
          </p:cNvPicPr>
          <p:nvPr/>
        </p:nvPicPr>
        <p:blipFill>
          <a:blip r:embed="rId2"/>
          <a:stretch>
            <a:fillRect/>
          </a:stretch>
        </p:blipFill>
        <p:spPr>
          <a:xfrm>
            <a:off x="723265" y="5073650"/>
            <a:ext cx="2339340" cy="228600"/>
          </a:xfrm>
          <a:prstGeom prst="rect">
            <a:avLst/>
          </a:prstGeom>
        </p:spPr>
      </p:pic>
      <p:pic>
        <p:nvPicPr>
          <p:cNvPr id="4" name="图片 3"/>
          <p:cNvPicPr>
            <a:picLocks noChangeAspect="1"/>
          </p:cNvPicPr>
          <p:nvPr/>
        </p:nvPicPr>
        <p:blipFill>
          <a:blip r:embed="rId3"/>
          <a:stretch>
            <a:fillRect/>
          </a:stretch>
        </p:blipFill>
        <p:spPr>
          <a:xfrm>
            <a:off x="642620" y="991870"/>
            <a:ext cx="4991100" cy="2209800"/>
          </a:xfrm>
          <a:prstGeom prst="rect">
            <a:avLst/>
          </a:prstGeom>
        </p:spPr>
      </p:pic>
      <p:sp>
        <p:nvSpPr>
          <p:cNvPr id="3" name="文本框 2"/>
          <p:cNvSpPr txBox="1"/>
          <p:nvPr/>
        </p:nvSpPr>
        <p:spPr>
          <a:xfrm>
            <a:off x="5725160" y="890270"/>
            <a:ext cx="6096000" cy="2153285"/>
          </a:xfrm>
          <a:prstGeom prst="rect">
            <a:avLst/>
          </a:prstGeom>
          <a:noFill/>
        </p:spPr>
        <p:txBody>
          <a:bodyPr wrap="square" rtlCol="0" anchor="t">
            <a:spAutoFit/>
          </a:bodyPr>
          <a:p>
            <a:endParaRPr lang="en-US" altLang="zh-CN" sz="1200"/>
          </a:p>
          <a:p>
            <a:r>
              <a:rPr lang="en-US" altLang="zh-CN" sz="1400"/>
              <a:t>Initialize model parameters as None</a:t>
            </a:r>
            <a:endParaRPr lang="en-US" altLang="zh-CN" sz="1400"/>
          </a:p>
          <a:p>
            <a:endParaRPr lang="en-US" altLang="zh-CN" sz="1200"/>
          </a:p>
          <a:p>
            <a:endParaRPr lang="en-US" altLang="zh-CN" sz="1200"/>
          </a:p>
          <a:p>
            <a:pPr algn="l">
              <a:buClrTx/>
              <a:buSzTx/>
              <a:buFontTx/>
            </a:pPr>
            <a:r>
              <a:rPr lang="en-US" altLang="zh-CN" sz="1400"/>
              <a:t>Solve parameters using the weighted normal equation</a:t>
            </a:r>
            <a:endParaRPr lang="en-US" altLang="zh-CN" sz="1400"/>
          </a:p>
          <a:p>
            <a:pPr algn="l">
              <a:buClrTx/>
              <a:buSzTx/>
              <a:buFontTx/>
            </a:pPr>
            <a:r>
              <a:rPr lang="en-US" altLang="zh-CN" sz="1400"/>
              <a:t>Create diagonal weight matrix</a:t>
            </a:r>
            <a:endParaRPr lang="en-US" altLang="zh-CN" sz="1400"/>
          </a:p>
          <a:p>
            <a:pPr algn="l">
              <a:buClrTx/>
              <a:buSzTx/>
              <a:buFontTx/>
            </a:pPr>
            <a:r>
              <a:rPr lang="en-US" altLang="zh-CN" sz="1400"/>
              <a:t>Calculate parameters</a:t>
            </a:r>
            <a:endParaRPr lang="en-US" altLang="zh-CN" sz="1400"/>
          </a:p>
          <a:p>
            <a:pPr algn="l">
              <a:buClrTx/>
              <a:buSzTx/>
              <a:buFontTx/>
            </a:pPr>
            <a:endParaRPr lang="en-US" altLang="zh-CN" sz="1400"/>
          </a:p>
          <a:p>
            <a:pPr algn="l">
              <a:buClrTx/>
              <a:buSzTx/>
              <a:buFontTx/>
            </a:pPr>
            <a:endParaRPr lang="en-US" altLang="zh-CN" sz="1400"/>
          </a:p>
          <a:p>
            <a:pPr algn="l">
              <a:buClrTx/>
              <a:buSzTx/>
              <a:buFontTx/>
            </a:pPr>
            <a:r>
              <a:rPr lang="en-US" altLang="zh-CN" sz="1400"/>
              <a:t>Make predictions using model parameters</a:t>
            </a:r>
            <a:endParaRPr lang="en-US" altLang="zh-CN" sz="1400"/>
          </a:p>
        </p:txBody>
      </p:sp>
      <p:sp>
        <p:nvSpPr>
          <p:cNvPr id="5" name="文本框 4"/>
          <p:cNvSpPr txBox="1"/>
          <p:nvPr/>
        </p:nvSpPr>
        <p:spPr>
          <a:xfrm>
            <a:off x="3821430" y="3989705"/>
            <a:ext cx="3063240" cy="521970"/>
          </a:xfrm>
          <a:prstGeom prst="rect">
            <a:avLst/>
          </a:prstGeom>
          <a:noFill/>
        </p:spPr>
        <p:txBody>
          <a:bodyPr wrap="square" rtlCol="0" anchor="t">
            <a:spAutoFit/>
          </a:bodyPr>
          <a:p>
            <a:r>
              <a:rPr lang="en-US" altLang="zh-CN" sz="1400"/>
              <a:t>Create model instance</a:t>
            </a:r>
            <a:endParaRPr lang="en-US" altLang="zh-CN" sz="1400"/>
          </a:p>
          <a:p>
            <a:pPr algn="l">
              <a:buClrTx/>
              <a:buSzTx/>
              <a:buNone/>
            </a:pPr>
            <a:r>
              <a:rPr lang="en-US" altLang="zh-CN" sz="1400"/>
              <a:t>Fit model using training data</a:t>
            </a:r>
            <a:endParaRPr lang="en-US" altLang="zh-CN" sz="1400"/>
          </a:p>
        </p:txBody>
      </p:sp>
      <p:sp>
        <p:nvSpPr>
          <p:cNvPr id="6" name="文本框 5"/>
          <p:cNvSpPr txBox="1"/>
          <p:nvPr/>
        </p:nvSpPr>
        <p:spPr>
          <a:xfrm>
            <a:off x="3211195" y="5020310"/>
            <a:ext cx="2314575" cy="306705"/>
          </a:xfrm>
          <a:prstGeom prst="rect">
            <a:avLst/>
          </a:prstGeom>
          <a:noFill/>
        </p:spPr>
        <p:txBody>
          <a:bodyPr wrap="square" rtlCol="0" anchor="t">
            <a:spAutoFit/>
          </a:bodyPr>
          <a:p>
            <a:pPr algn="l">
              <a:buClrTx/>
              <a:buSzTx/>
              <a:buNone/>
            </a:pPr>
            <a:r>
              <a:rPr lang="en-US" altLang="zh-CN" sz="1400"/>
              <a:t>Generate predictions</a:t>
            </a:r>
            <a:endParaRPr lang="en-US" altLang="zh-CN" sz="1400"/>
          </a:p>
        </p:txBody>
      </p:sp>
      <p:pic>
        <p:nvPicPr>
          <p:cNvPr id="2" name="图片 1"/>
          <p:cNvPicPr>
            <a:picLocks noChangeAspect="1"/>
          </p:cNvPicPr>
          <p:nvPr/>
        </p:nvPicPr>
        <p:blipFill>
          <a:blip r:embed="rId4"/>
          <a:stretch>
            <a:fillRect/>
          </a:stretch>
        </p:blipFill>
        <p:spPr>
          <a:xfrm>
            <a:off x="8324850" y="1899920"/>
            <a:ext cx="3710940" cy="731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An extension of OLS</a:t>
            </a:r>
            <a:r>
              <a:rPr lang="en-US" altLang="zh-CN" sz="2810" dirty="0">
                <a:latin typeface="Calibri Light" panose="020F0302020204030204"/>
                <a:ea typeface="Calibri Light" panose="020F0302020204030204"/>
                <a:cs typeface="Calibri Light" panose="020F0302020204030204"/>
                <a:sym typeface="+mn-ea"/>
              </a:rPr>
              <a:t> Regression</a:t>
            </a:r>
            <a:r>
              <a:rPr lang="en-US" altLang="zh-CN" sz="2810" dirty="0">
                <a:latin typeface="Calibri Light" panose="020F0302020204030204"/>
                <a:ea typeface="Calibri Light" panose="020F0302020204030204"/>
                <a:cs typeface="Calibri Light" panose="020F0302020204030204"/>
              </a:rPr>
              <a:t> Results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descr="Extension Ols-Time Series"/>
          <p:cNvPicPr>
            <a:picLocks noChangeAspect="1"/>
          </p:cNvPicPr>
          <p:nvPr/>
        </p:nvPicPr>
        <p:blipFill>
          <a:blip r:embed="rId1"/>
          <a:stretch>
            <a:fillRect/>
          </a:stretch>
        </p:blipFill>
        <p:spPr>
          <a:xfrm>
            <a:off x="976630" y="988695"/>
            <a:ext cx="10090150" cy="58381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pPr algn="l">
              <a:lnSpc>
                <a:spcPct val="100000"/>
              </a:lnSpc>
              <a:buClrTx/>
              <a:buSzTx/>
              <a:buFontTx/>
            </a:pPr>
            <a:r>
              <a:rPr lang="en-US" sz="3600" dirty="0" smtClean="0">
                <a:sym typeface="+mn-ea"/>
              </a:rPr>
              <a:t>                                        </a:t>
            </a:r>
            <a:r>
              <a:rPr lang="en-US" altLang="zh-CN" sz="3600">
                <a:latin typeface="+mn-lt"/>
                <a:ea typeface="+mn-ea"/>
                <a:cs typeface="+mn-cs"/>
              </a:rPr>
              <a:t>a variant of OLS</a:t>
            </a:r>
            <a:endParaRPr lang="en-US" altLang="zh-CN" sz="3600">
              <a:latin typeface="+mn-lt"/>
              <a:ea typeface="+mn-ea"/>
              <a:cs typeface="+mn-cs"/>
            </a:endParaRPr>
          </a:p>
        </p:txBody>
      </p:sp>
      <p:sp>
        <p:nvSpPr>
          <p:cNvPr id="3" name="Content Placeholder 2"/>
          <p:cNvSpPr>
            <a:spLocks noGrp="1"/>
          </p:cNvSpPr>
          <p:nvPr>
            <p:ph idx="1"/>
          </p:nvPr>
        </p:nvSpPr>
        <p:spPr>
          <a:xfrm>
            <a:off x="838200" y="1825625"/>
            <a:ext cx="10515600" cy="4895215"/>
          </a:xfrm>
        </p:spPr>
        <p:txBody>
          <a:bodyPr>
            <a:normAutofit/>
          </a:bodyPr>
          <a:lstStyle/>
          <a:p>
            <a:r>
              <a:rPr lang="en-US" dirty="0" smtClean="0">
                <a:solidFill>
                  <a:srgbClr val="26927D"/>
                </a:solidFill>
              </a:rPr>
              <a:t>Objective function:</a:t>
            </a:r>
            <a:endParaRPr lang="en-US" dirty="0" smtClean="0">
              <a:solidFill>
                <a:srgbClr val="26927D"/>
              </a:solidFill>
            </a:endParaRPr>
          </a:p>
          <a:p>
            <a:pPr marL="0" indent="0">
              <a:buNone/>
            </a:pPr>
            <a:endParaRPr lang="en-US" dirty="0" smtClean="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361565" y="90170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635635" y="69723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pic>
        <p:nvPicPr>
          <p:cNvPr id="9" name="图片 8"/>
          <p:cNvPicPr>
            <a:picLocks noChangeAspect="1"/>
          </p:cNvPicPr>
          <p:nvPr/>
        </p:nvPicPr>
        <p:blipFill>
          <a:blip r:embed="rId1"/>
          <a:stretch>
            <a:fillRect/>
          </a:stretch>
        </p:blipFill>
        <p:spPr>
          <a:xfrm>
            <a:off x="1117600" y="2286000"/>
            <a:ext cx="3619500" cy="762000"/>
          </a:xfrm>
          <a:prstGeom prst="rect">
            <a:avLst/>
          </a:prstGeom>
        </p:spPr>
      </p:pic>
      <p:pic>
        <p:nvPicPr>
          <p:cNvPr id="10" name="图片 9"/>
          <p:cNvPicPr>
            <a:picLocks noChangeAspect="1"/>
          </p:cNvPicPr>
          <p:nvPr/>
        </p:nvPicPr>
        <p:blipFill>
          <a:blip r:embed="rId2"/>
          <a:stretch>
            <a:fillRect/>
          </a:stretch>
        </p:blipFill>
        <p:spPr>
          <a:xfrm>
            <a:off x="1117600" y="3017520"/>
            <a:ext cx="3009900" cy="822960"/>
          </a:xfrm>
          <a:prstGeom prst="rect">
            <a:avLst/>
          </a:prstGeom>
        </p:spPr>
      </p:pic>
      <p:sp>
        <p:nvSpPr>
          <p:cNvPr id="11" name="文本框 10"/>
          <p:cNvSpPr txBox="1"/>
          <p:nvPr/>
        </p:nvSpPr>
        <p:spPr>
          <a:xfrm>
            <a:off x="690880" y="3901440"/>
            <a:ext cx="9740265" cy="2733675"/>
          </a:xfrm>
          <a:prstGeom prst="rect">
            <a:avLst/>
          </a:prstGeom>
        </p:spPr>
        <p:txBody>
          <a:bodyPr wrap="square">
            <a:spAutoFit/>
          </a:bodyPr>
          <a:p>
            <a:pPr indent="0">
              <a:buFont typeface="Arial" panose="020B0604020202020204"/>
              <a:buNone/>
            </a:pPr>
            <a:r>
              <a:rPr lang="en-US" altLang="zh-CN" sz="1600"/>
              <a:t>L</a:t>
            </a:r>
            <a:r>
              <a:rPr lang="en-US" altLang="zh-CN" sz="1600" baseline="-25000"/>
              <a:t>H​</a:t>
            </a:r>
            <a:r>
              <a:rPr lang="en-US" altLang="zh-CN" sz="1600"/>
              <a:t>(θ):The Huber loss function, which combines the advantages of mean squared error (MSE) and mean absolute error (MAE).</a:t>
            </a:r>
            <a:endParaRPr lang="en-US" altLang="zh-CN" sz="1600"/>
          </a:p>
          <a:p>
            <a:pPr indent="0">
              <a:buFont typeface="Arial" panose="020B0604020202020204"/>
              <a:buNone/>
            </a:pPr>
            <a:r>
              <a:rPr lang="en-US" altLang="zh-CN" sz="1600"/>
              <a:t>H(x;ξ):The Huber loss function form:</a:t>
            </a:r>
            <a:endParaRPr lang="en-US" altLang="zh-CN" sz="1600"/>
          </a:p>
          <a:p>
            <a:pPr lvl="2">
              <a:buFont typeface="Arial" panose="020B0604020202020204"/>
              <a:buChar char="•"/>
            </a:pPr>
            <a:r>
              <a:rPr lang="en-US" altLang="zh-CN" sz="1600"/>
              <a:t>For small residuals (|x| ≤ξ), it uses squared error to retain efficiency.</a:t>
            </a:r>
            <a:endParaRPr lang="en-US" altLang="zh-CN" sz="1600"/>
          </a:p>
          <a:p>
            <a:pPr lvl="2">
              <a:buFont typeface="Arial" panose="020B0604020202020204"/>
              <a:buChar char="•"/>
            </a:pPr>
            <a:r>
              <a:rPr lang="en-US" altLang="zh-CN" sz="1600"/>
              <a:t>For large residuals (|x| &gt; ξ), it uses absolute error to reduce sensitivity to outliers.</a:t>
            </a:r>
            <a:endParaRPr lang="en-US" altLang="zh-CN" sz="1600"/>
          </a:p>
          <a:p>
            <a:pPr indent="0">
              <a:buFont typeface="Arial" panose="020B0604020202020204"/>
              <a:buNone/>
            </a:pPr>
            <a:r>
              <a:rPr lang="en-US" altLang="zh-CN" sz="1600"/>
              <a:t>ξ:A tuning parameter that controls the threshold between squared and absolute error regimes.</a:t>
            </a:r>
            <a:endParaRPr lang="en-US" altLang="zh-CN" sz="1600"/>
          </a:p>
          <a:p>
            <a:pPr>
              <a:spcAft>
                <a:spcPct val="60000"/>
              </a:spcAft>
            </a:pPr>
            <a:endParaRPr lang="en-US" altLang="zh-CN" sz="1600"/>
          </a:p>
          <a:p>
            <a:pPr>
              <a:spcAft>
                <a:spcPct val="60000"/>
              </a:spcAft>
            </a:pPr>
            <a:r>
              <a:rPr lang="en-US" altLang="zh-CN" sz="1600"/>
              <a:t>The equation defines a robust loss function, minimizing the impact of extreme observations (outliers) on the model. For small errors, it behaves like MSE to preserve estimation efficiency, while for large errors, it switches to MAE to mitigate the influence of outliers.</a:t>
            </a:r>
            <a:endParaRPr lang="en-US" altLang="zh-CN" sz="1600"/>
          </a:p>
        </p:txBody>
      </p:sp>
      <p:sp>
        <p:nvSpPr>
          <p:cNvPr id="12" name="右箭头 11"/>
          <p:cNvSpPr/>
          <p:nvPr/>
        </p:nvSpPr>
        <p:spPr>
          <a:xfrm>
            <a:off x="4527550" y="91186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2835910" y="668020"/>
            <a:ext cx="1461135" cy="645160"/>
          </a:xfrm>
          <a:prstGeom prst="rect">
            <a:avLst/>
          </a:prstGeom>
        </p:spPr>
        <p:txBody>
          <a:bodyPr wrap="square">
            <a:spAutoFit/>
          </a:bodyPr>
          <a:p>
            <a:r>
              <a:rPr lang="en-US" altLang="zh-CN" sz="3600"/>
              <a:t>g(zi,t​;θ)</a:t>
            </a:r>
            <a:endParaRPr lang="en-US" altLang="zh-CN" sz="1600"/>
          </a:p>
        </p:txBody>
      </p:sp>
      <p:pic>
        <p:nvPicPr>
          <p:cNvPr id="8" name="图片 7"/>
          <p:cNvPicPr>
            <a:picLocks noChangeAspect="1"/>
          </p:cNvPicPr>
          <p:nvPr/>
        </p:nvPicPr>
        <p:blipFill>
          <a:blip r:embed="rId3"/>
          <a:stretch>
            <a:fillRect/>
          </a:stretch>
        </p:blipFill>
        <p:spPr>
          <a:xfrm>
            <a:off x="5899150" y="2303780"/>
            <a:ext cx="4918075" cy="119507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a variant of OLS</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The sample data construction part is the same as the OLS part.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Train using Huber loss function</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Make predictions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6" name="图片 5"/>
          <p:cNvPicPr>
            <a:picLocks noChangeAspect="1"/>
          </p:cNvPicPr>
          <p:nvPr/>
        </p:nvPicPr>
        <p:blipFill>
          <a:blip r:embed="rId1"/>
          <a:stretch>
            <a:fillRect/>
          </a:stretch>
        </p:blipFill>
        <p:spPr>
          <a:xfrm>
            <a:off x="827405" y="2994660"/>
            <a:ext cx="2567940" cy="434340"/>
          </a:xfrm>
          <a:prstGeom prst="rect">
            <a:avLst/>
          </a:prstGeom>
        </p:spPr>
      </p:pic>
      <p:pic>
        <p:nvPicPr>
          <p:cNvPr id="12" name="图片 11"/>
          <p:cNvPicPr>
            <a:picLocks noChangeAspect="1"/>
          </p:cNvPicPr>
          <p:nvPr/>
        </p:nvPicPr>
        <p:blipFill>
          <a:blip r:embed="rId2"/>
          <a:stretch>
            <a:fillRect/>
          </a:stretch>
        </p:blipFill>
        <p:spPr>
          <a:xfrm>
            <a:off x="638175" y="4042410"/>
            <a:ext cx="3665220" cy="312420"/>
          </a:xfrm>
          <a:prstGeom prst="rect">
            <a:avLst/>
          </a:prstGeom>
        </p:spPr>
      </p:pic>
      <p:sp>
        <p:nvSpPr>
          <p:cNvPr id="2" name="文本框 1"/>
          <p:cNvSpPr txBox="1"/>
          <p:nvPr/>
        </p:nvSpPr>
        <p:spPr>
          <a:xfrm>
            <a:off x="4860290" y="1015365"/>
            <a:ext cx="5114925" cy="953135"/>
          </a:xfrm>
          <a:prstGeom prst="rect">
            <a:avLst/>
          </a:prstGeom>
          <a:noFill/>
        </p:spPr>
        <p:txBody>
          <a:bodyPr wrap="square" rtlCol="0" anchor="t">
            <a:spAutoFit/>
          </a:bodyPr>
          <a:p>
            <a:pPr algn="l">
              <a:buClrTx/>
              <a:buSzTx/>
              <a:buNone/>
            </a:pPr>
            <a:r>
              <a:rPr lang="en-US" altLang="zh-CN" sz="1400"/>
              <a:t>Import NumPy library for numerical computations</a:t>
            </a:r>
            <a:endParaRPr lang="en-US" altLang="zh-CN" sz="1400"/>
          </a:p>
          <a:p>
            <a:pPr algn="l">
              <a:buClrTx/>
              <a:buSzTx/>
              <a:buNone/>
            </a:pPr>
            <a:r>
              <a:rPr lang="en-US" altLang="zh-CN" sz="1400"/>
              <a:t>Import Pandas library for data handling and analysis</a:t>
            </a:r>
            <a:endParaRPr lang="en-US" altLang="zh-CN" sz="1400"/>
          </a:p>
          <a:p>
            <a:r>
              <a:rPr lang="en-US" altLang="zh-CN" sz="1400"/>
              <a:t>Import function to split data into training and testing sets</a:t>
            </a:r>
            <a:endParaRPr lang="en-US" altLang="zh-CN" sz="1400"/>
          </a:p>
          <a:p>
            <a:r>
              <a:rPr lang="en-US" altLang="zh-CN" sz="1400"/>
              <a:t>Import Huber Regressor</a:t>
            </a:r>
            <a:endParaRPr lang="zh-CN" altLang="en-US" sz="1400"/>
          </a:p>
        </p:txBody>
      </p:sp>
      <p:pic>
        <p:nvPicPr>
          <p:cNvPr id="4" name="图片 3"/>
          <p:cNvPicPr>
            <a:picLocks noChangeAspect="1"/>
          </p:cNvPicPr>
          <p:nvPr/>
        </p:nvPicPr>
        <p:blipFill>
          <a:blip r:embed="rId3"/>
          <a:stretch>
            <a:fillRect/>
          </a:stretch>
        </p:blipFill>
        <p:spPr>
          <a:xfrm>
            <a:off x="708660" y="1105535"/>
            <a:ext cx="4015740" cy="815340"/>
          </a:xfrm>
          <a:prstGeom prst="rect">
            <a:avLst/>
          </a:prstGeom>
        </p:spPr>
      </p:pic>
      <p:sp>
        <p:nvSpPr>
          <p:cNvPr id="5" name="文本框 4"/>
          <p:cNvSpPr txBox="1"/>
          <p:nvPr/>
        </p:nvSpPr>
        <p:spPr>
          <a:xfrm>
            <a:off x="3596640" y="2932430"/>
            <a:ext cx="3303905" cy="521970"/>
          </a:xfrm>
          <a:prstGeom prst="rect">
            <a:avLst/>
          </a:prstGeom>
          <a:noFill/>
        </p:spPr>
        <p:txBody>
          <a:bodyPr wrap="square" rtlCol="0" anchor="t">
            <a:spAutoFit/>
          </a:bodyPr>
          <a:p>
            <a:r>
              <a:rPr lang="en-US" altLang="zh-CN" sz="1400"/>
              <a:t>Create Huber regression model instance</a:t>
            </a:r>
            <a:endParaRPr lang="en-US" altLang="zh-CN" sz="1400"/>
          </a:p>
          <a:p>
            <a:r>
              <a:rPr lang="en-US" altLang="zh-CN" sz="1400"/>
              <a:t>Fit model to training data</a:t>
            </a:r>
            <a:endParaRPr lang="zh-CN" altLang="en-US" sz="1400"/>
          </a:p>
        </p:txBody>
      </p:sp>
      <p:sp>
        <p:nvSpPr>
          <p:cNvPr id="7" name="文本框 6"/>
          <p:cNvSpPr txBox="1"/>
          <p:nvPr/>
        </p:nvSpPr>
        <p:spPr>
          <a:xfrm>
            <a:off x="4374515" y="4048125"/>
            <a:ext cx="6096000" cy="306705"/>
          </a:xfrm>
          <a:prstGeom prst="rect">
            <a:avLst/>
          </a:prstGeom>
          <a:noFill/>
        </p:spPr>
        <p:txBody>
          <a:bodyPr wrap="square" rtlCol="0" anchor="t">
            <a:spAutoFit/>
          </a:bodyPr>
          <a:p>
            <a:r>
              <a:rPr lang="en-US" altLang="zh-CN" sz="1400"/>
              <a:t>Predictions from Huber model</a:t>
            </a:r>
            <a:endParaRPr lang="en-US" altLang="zh-CN" sz="1400"/>
          </a:p>
        </p:txBody>
      </p:sp>
      <p:pic>
        <p:nvPicPr>
          <p:cNvPr id="9" name="图片 8"/>
          <p:cNvPicPr>
            <a:picLocks noChangeAspect="1"/>
          </p:cNvPicPr>
          <p:nvPr/>
        </p:nvPicPr>
        <p:blipFill>
          <a:blip r:embed="rId4"/>
          <a:stretch>
            <a:fillRect/>
          </a:stretch>
        </p:blipFill>
        <p:spPr>
          <a:xfrm>
            <a:off x="6960235" y="2809240"/>
            <a:ext cx="3619500" cy="762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A variant of OLS</a:t>
            </a:r>
            <a:r>
              <a:rPr lang="en-US" altLang="zh-CN" sz="2810" dirty="0">
                <a:latin typeface="Calibri Light" panose="020F0302020204030204"/>
                <a:ea typeface="Calibri Light" panose="020F0302020204030204"/>
                <a:cs typeface="Calibri Light" panose="020F0302020204030204"/>
                <a:sym typeface="+mn-ea"/>
              </a:rPr>
              <a:t> Results </a:t>
            </a:r>
            <a:r>
              <a:rPr lang="en-US" altLang="zh-CN" sz="2810" dirty="0">
                <a:latin typeface="Calibri Light" panose="020F0302020204030204"/>
                <a:ea typeface="Calibri Light" panose="020F0302020204030204"/>
                <a:cs typeface="Calibri Light" panose="020F0302020204030204"/>
              </a:rPr>
              <a:t>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3" name="图片 2" descr="Huber Ols-Time Series"/>
          <p:cNvPicPr>
            <a:picLocks noChangeAspect="1"/>
          </p:cNvPicPr>
          <p:nvPr/>
        </p:nvPicPr>
        <p:blipFill>
          <a:blip r:embed="rId1"/>
          <a:stretch>
            <a:fillRect/>
          </a:stretch>
        </p:blipFill>
        <p:spPr>
          <a:xfrm>
            <a:off x="1279525" y="982345"/>
            <a:ext cx="10120630" cy="58566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pPr algn="l">
              <a:lnSpc>
                <a:spcPct val="100000"/>
              </a:lnSpc>
              <a:buClrTx/>
              <a:buSzTx/>
              <a:buFontTx/>
            </a:pPr>
            <a:r>
              <a:rPr lang="en-US" sz="3600" dirty="0" smtClean="0">
                <a:sym typeface="+mn-ea"/>
              </a:rPr>
              <a:t>                                            </a:t>
            </a:r>
            <a:endParaRPr lang="en-US" altLang="zh-CN" sz="3600">
              <a:latin typeface="+mn-lt"/>
              <a:ea typeface="+mn-ea"/>
              <a:cs typeface="+mn-cs"/>
            </a:endParaRPr>
          </a:p>
        </p:txBody>
      </p:sp>
      <p:sp>
        <p:nvSpPr>
          <p:cNvPr id="3" name="Content Placeholder 2"/>
          <p:cNvSpPr>
            <a:spLocks noGrp="1"/>
          </p:cNvSpPr>
          <p:nvPr>
            <p:ph idx="1"/>
          </p:nvPr>
        </p:nvSpPr>
        <p:spPr>
          <a:xfrm>
            <a:off x="838200" y="1825625"/>
            <a:ext cx="10515600" cy="4895215"/>
          </a:xfrm>
        </p:spPr>
        <p:txBody>
          <a:bodyPr>
            <a:normAutofit/>
          </a:bodyPr>
          <a:lstStyle/>
          <a:p>
            <a:r>
              <a:rPr lang="en-US" dirty="0" smtClean="0">
                <a:solidFill>
                  <a:srgbClr val="26927D"/>
                </a:solidFill>
              </a:rPr>
              <a:t>Objective function:</a:t>
            </a:r>
            <a:endParaRPr lang="en-US" dirty="0" smtClean="0">
              <a:solidFill>
                <a:srgbClr val="26927D"/>
              </a:solidFill>
            </a:endParaRPr>
          </a:p>
          <a:p>
            <a:pPr marL="0" indent="0">
              <a:buNone/>
            </a:pPr>
            <a:endParaRPr lang="en-US" dirty="0" smtClean="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4792345" y="49149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645795" y="277495"/>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082925" y="278130"/>
            <a:ext cx="1461135" cy="645160"/>
          </a:xfrm>
          <a:prstGeom prst="rect">
            <a:avLst/>
          </a:prstGeom>
        </p:spPr>
        <p:txBody>
          <a:bodyPr wrap="square">
            <a:spAutoFit/>
          </a:bodyPr>
          <a:p>
            <a:r>
              <a:rPr lang="en-US" altLang="zh-CN" sz="3600"/>
              <a:t>g(zi,t​;θ)</a:t>
            </a:r>
            <a:endParaRPr lang="en-US" altLang="zh-CN" sz="1600"/>
          </a:p>
        </p:txBody>
      </p:sp>
      <p:sp>
        <p:nvSpPr>
          <p:cNvPr id="16" name="右箭头 15"/>
          <p:cNvSpPr/>
          <p:nvPr/>
        </p:nvSpPr>
        <p:spPr>
          <a:xfrm>
            <a:off x="2459990" y="49403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302885" y="238125"/>
            <a:ext cx="4367530" cy="645160"/>
          </a:xfrm>
          <a:prstGeom prst="rect">
            <a:avLst/>
          </a:prstGeom>
          <a:noFill/>
        </p:spPr>
        <p:txBody>
          <a:bodyPr wrap="square" rtlCol="0" anchor="t">
            <a:spAutoFit/>
          </a:bodyPr>
          <a:p>
            <a:r>
              <a:rPr lang="en-US" altLang="zh-CN" sz="3600">
                <a:sym typeface="+mn-ea"/>
              </a:rPr>
              <a:t>Elastic Net Regression</a:t>
            </a:r>
            <a:endParaRPr lang="en-US" altLang="zh-CN" sz="3600">
              <a:sym typeface="+mn-ea"/>
            </a:endParaRPr>
          </a:p>
        </p:txBody>
      </p:sp>
      <p:pic>
        <p:nvPicPr>
          <p:cNvPr id="8" name="图片 7"/>
          <p:cNvPicPr>
            <a:picLocks noChangeAspect="1"/>
          </p:cNvPicPr>
          <p:nvPr/>
        </p:nvPicPr>
        <p:blipFill>
          <a:blip r:embed="rId1"/>
          <a:stretch>
            <a:fillRect/>
          </a:stretch>
        </p:blipFill>
        <p:spPr>
          <a:xfrm>
            <a:off x="1286510" y="2402205"/>
            <a:ext cx="2335530" cy="366395"/>
          </a:xfrm>
          <a:prstGeom prst="rect">
            <a:avLst/>
          </a:prstGeom>
        </p:spPr>
      </p:pic>
      <p:pic>
        <p:nvPicPr>
          <p:cNvPr id="17" name="图片 16"/>
          <p:cNvPicPr>
            <a:picLocks noChangeAspect="1"/>
          </p:cNvPicPr>
          <p:nvPr/>
        </p:nvPicPr>
        <p:blipFill>
          <a:blip r:embed="rId2"/>
          <a:stretch>
            <a:fillRect/>
          </a:stretch>
        </p:blipFill>
        <p:spPr>
          <a:xfrm>
            <a:off x="4411980" y="2251710"/>
            <a:ext cx="3978275" cy="765175"/>
          </a:xfrm>
          <a:prstGeom prst="rect">
            <a:avLst/>
          </a:prstGeom>
        </p:spPr>
      </p:pic>
      <p:sp>
        <p:nvSpPr>
          <p:cNvPr id="18" name="文本框 17"/>
          <p:cNvSpPr txBox="1"/>
          <p:nvPr/>
        </p:nvSpPr>
        <p:spPr>
          <a:xfrm>
            <a:off x="553085" y="2906395"/>
            <a:ext cx="11303000" cy="1076325"/>
          </a:xfrm>
          <a:prstGeom prst="rect">
            <a:avLst/>
          </a:prstGeom>
        </p:spPr>
        <p:txBody>
          <a:bodyPr wrap="square">
            <a:spAutoFit/>
          </a:bodyPr>
          <a:p>
            <a:r>
              <a:rPr lang="en-US" altLang="zh-CN" sz="1600"/>
              <a:t>L(θ):The base loss function, which measures prediction error, such as Mean Squared Error (MSE) or robust alternatives like the Huber loss function.</a:t>
            </a:r>
            <a:endParaRPr lang="en-US" altLang="zh-CN" sz="1600"/>
          </a:p>
          <a:p>
            <a:r>
              <a:rPr lang="en-US" altLang="zh-CN" sz="1600"/>
              <a:t>ϕ(θ;⋅):The penalty function, used for model regularization by introducing bias to reduce sensitivity to noise. The specific form depends on the choice of regularization method.</a:t>
            </a:r>
            <a:endParaRPr lang="en-US" altLang="zh-CN" sz="1600"/>
          </a:p>
        </p:txBody>
      </p:sp>
      <p:sp>
        <p:nvSpPr>
          <p:cNvPr id="19" name="文本框 18"/>
          <p:cNvSpPr txBox="1"/>
          <p:nvPr/>
        </p:nvSpPr>
        <p:spPr>
          <a:xfrm>
            <a:off x="553085" y="3891915"/>
            <a:ext cx="11179175" cy="2061210"/>
          </a:xfrm>
          <a:prstGeom prst="rect">
            <a:avLst/>
          </a:prstGeom>
        </p:spPr>
        <p:txBody>
          <a:bodyPr wrap="square">
            <a:spAutoFit/>
          </a:bodyPr>
          <a:p>
            <a:r>
              <a:rPr lang="en-US" altLang="zh-CN" sz="1600"/>
              <a:t>λ:The regularization strength parameter. Larger λ values impose stronger penalties, further shrinking parameter values and reducing model complexity.</a:t>
            </a:r>
            <a:endParaRPr lang="en-US" altLang="zh-CN" sz="1600"/>
          </a:p>
          <a:p>
            <a:r>
              <a:rPr lang="en-US" altLang="zh-CN" sz="1600"/>
              <a:t>ρ:The mixing parameter that determines the relative weights of L1(lasso) and L2(ridge) penalties:</a:t>
            </a:r>
            <a:endParaRPr lang="en-US" altLang="zh-CN" sz="1600"/>
          </a:p>
          <a:p>
            <a:pPr lvl="1" indent="0">
              <a:buFont typeface="Arial" panose="020B0604020202020204"/>
              <a:buNone/>
            </a:pPr>
            <a:r>
              <a:rPr lang="en-US" altLang="zh-CN" sz="1600"/>
              <a:t>When ρ=0, only L1 penalty is retained, resulting in pure lasso regression, which achieves feature selection by shrinking some parameters to exactly zero.</a:t>
            </a:r>
            <a:endParaRPr lang="en-US" altLang="zh-CN" sz="1600"/>
          </a:p>
          <a:p>
            <a:pPr lvl="1" indent="0">
              <a:buFont typeface="Arial" panose="020B0604020202020204"/>
              <a:buNone/>
            </a:pPr>
            <a:r>
              <a:rPr lang="en-US" altLang="zh-CN" sz="1600"/>
              <a:t>When ρ=1, only L2 penalty is retained, resulting in pure ridge regression, which reduces parameter magnitudes without driving them to zero.</a:t>
            </a:r>
            <a:endParaRPr lang="en-US" altLang="zh-CN" sz="1600"/>
          </a:p>
          <a:p>
            <a:r>
              <a:rPr lang="en-US" altLang="zh-CN" sz="1600"/>
              <a:t>P:The number of predictors or features.</a:t>
            </a:r>
            <a:endParaRPr lang="en-US" altLang="zh-CN" sz="1600"/>
          </a:p>
        </p:txBody>
      </p:sp>
      <p:sp>
        <p:nvSpPr>
          <p:cNvPr id="20" name="文本框 19"/>
          <p:cNvSpPr txBox="1"/>
          <p:nvPr/>
        </p:nvSpPr>
        <p:spPr>
          <a:xfrm>
            <a:off x="553720" y="5865495"/>
            <a:ext cx="10974705" cy="993140"/>
          </a:xfrm>
          <a:prstGeom prst="rect">
            <a:avLst/>
          </a:prstGeom>
        </p:spPr>
        <p:txBody>
          <a:bodyPr wrap="square">
            <a:noAutofit/>
          </a:bodyPr>
          <a:p>
            <a:r>
              <a:rPr lang="en-US" altLang="zh-CN" sz="1600"/>
              <a:t>                                 : The L1(lasso) component tends to reduce unimportant or redundant feature coefficients to zero, effectively selecting a subset of features that are most useful for prediction.</a:t>
            </a:r>
            <a:endParaRPr lang="en-US" altLang="zh-CN" sz="1600"/>
          </a:p>
          <a:p>
            <a:r>
              <a:rPr lang="en-US" altLang="zh-CN" sz="1600"/>
              <a:t>                      : The L2(ridge) component, which controls the absolute values of parameters to prevent them from becoming excessively large.</a:t>
            </a:r>
            <a:endParaRPr lang="en-US" altLang="zh-CN" sz="1600"/>
          </a:p>
        </p:txBody>
      </p:sp>
      <p:pic>
        <p:nvPicPr>
          <p:cNvPr id="21" name="图片 20"/>
          <p:cNvPicPr>
            <a:picLocks noChangeAspect="1"/>
          </p:cNvPicPr>
          <p:nvPr/>
        </p:nvPicPr>
        <p:blipFill>
          <a:blip r:embed="rId3"/>
          <a:stretch>
            <a:fillRect/>
          </a:stretch>
        </p:blipFill>
        <p:spPr>
          <a:xfrm>
            <a:off x="635000" y="5916295"/>
            <a:ext cx="1432560" cy="281940"/>
          </a:xfrm>
          <a:prstGeom prst="rect">
            <a:avLst/>
          </a:prstGeom>
        </p:spPr>
      </p:pic>
      <p:pic>
        <p:nvPicPr>
          <p:cNvPr id="22" name="图片 21"/>
          <p:cNvPicPr>
            <a:picLocks noChangeAspect="1"/>
          </p:cNvPicPr>
          <p:nvPr/>
        </p:nvPicPr>
        <p:blipFill>
          <a:blip r:embed="rId4"/>
          <a:stretch>
            <a:fillRect/>
          </a:stretch>
        </p:blipFill>
        <p:spPr>
          <a:xfrm>
            <a:off x="742950" y="6381115"/>
            <a:ext cx="805180" cy="329565"/>
          </a:xfrm>
          <a:prstGeom prst="rect">
            <a:avLst/>
          </a:prstGeom>
        </p:spPr>
      </p:pic>
      <p:pic>
        <p:nvPicPr>
          <p:cNvPr id="10" name="图片 9"/>
          <p:cNvPicPr>
            <a:picLocks noChangeAspect="1"/>
          </p:cNvPicPr>
          <p:nvPr/>
        </p:nvPicPr>
        <p:blipFill>
          <a:blip r:embed="rId5"/>
          <a:stretch>
            <a:fillRect/>
          </a:stretch>
        </p:blipFill>
        <p:spPr>
          <a:xfrm>
            <a:off x="1704975" y="1233805"/>
            <a:ext cx="8999220" cy="46482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Explanation-Elastic Net Regression</a:t>
            </a:r>
            <a:endParaRPr lang="en-US" altLang="zh-CN" sz="2810" dirty="0">
              <a:latin typeface="Calibri Light" panose="020F0302020204030204"/>
              <a:ea typeface="Calibri Light" panose="020F0302020204030204"/>
              <a:cs typeface="Calibri Light" panose="020F0302020204030204"/>
              <a:sym typeface="+mn-ea"/>
            </a:endParaRPr>
          </a:p>
          <a:p>
            <a:pPr marL="86360" algn="l" rtl="0" eaLnBrk="0">
              <a:lnSpc>
                <a:spcPts val="3785"/>
              </a:lnSpc>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The sample data construction part is the same as the OLS part.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Hyperparameter tuning using validation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1"/>
          <a:stretch>
            <a:fillRect/>
          </a:stretch>
        </p:blipFill>
        <p:spPr>
          <a:xfrm>
            <a:off x="558800" y="1320800"/>
            <a:ext cx="4511040" cy="822960"/>
          </a:xfrm>
          <a:prstGeom prst="rect">
            <a:avLst/>
          </a:prstGeom>
        </p:spPr>
      </p:pic>
      <p:pic>
        <p:nvPicPr>
          <p:cNvPr id="13" name="图片 12"/>
          <p:cNvPicPr>
            <a:picLocks noChangeAspect="1"/>
          </p:cNvPicPr>
          <p:nvPr/>
        </p:nvPicPr>
        <p:blipFill>
          <a:blip r:embed="rId2"/>
          <a:stretch>
            <a:fillRect/>
          </a:stretch>
        </p:blipFill>
        <p:spPr>
          <a:xfrm>
            <a:off x="1270" y="2958465"/>
            <a:ext cx="8496300" cy="2438400"/>
          </a:xfrm>
          <a:prstGeom prst="rect">
            <a:avLst/>
          </a:prstGeom>
        </p:spPr>
      </p:pic>
      <p:sp>
        <p:nvSpPr>
          <p:cNvPr id="3" name="文本框 2"/>
          <p:cNvSpPr txBox="1"/>
          <p:nvPr/>
        </p:nvSpPr>
        <p:spPr>
          <a:xfrm>
            <a:off x="5330190" y="1249045"/>
            <a:ext cx="6064250" cy="953135"/>
          </a:xfrm>
          <a:prstGeom prst="rect">
            <a:avLst/>
          </a:prstGeom>
          <a:noFill/>
        </p:spPr>
        <p:txBody>
          <a:bodyPr wrap="square" rtlCol="0" anchor="t">
            <a:spAutoFit/>
          </a:bodyPr>
          <a:p>
            <a:r>
              <a:rPr lang="en-US" altLang="zh-CN" sz="1400"/>
              <a:t>Import the numpy library for numerical computations and data generation</a:t>
            </a:r>
            <a:endParaRPr lang="en-US" altLang="zh-CN" sz="1400"/>
          </a:p>
          <a:p>
            <a:r>
              <a:rPr lang="en-US" altLang="zh-CN" sz="1400"/>
              <a:t>Import the pandas library for data manipulation and creating dataframes</a:t>
            </a:r>
            <a:endParaRPr lang="en-US" altLang="zh-CN" sz="1400"/>
          </a:p>
          <a:p>
            <a:r>
              <a:rPr lang="en-US" altLang="zh-CN" sz="1400"/>
              <a:t>Import train_test_split for splitting datasets</a:t>
            </a:r>
            <a:endParaRPr lang="en-US" altLang="zh-CN" sz="1400"/>
          </a:p>
          <a:p>
            <a:r>
              <a:rPr lang="en-US" altLang="zh-CN" sz="1400"/>
              <a:t>Import ElasticNet for implementing Elastic Net regression</a:t>
            </a:r>
            <a:endParaRPr lang="zh-CN" altLang="en-US" sz="1400"/>
          </a:p>
        </p:txBody>
      </p:sp>
      <p:sp>
        <p:nvSpPr>
          <p:cNvPr id="4" name="文本框 3"/>
          <p:cNvSpPr txBox="1"/>
          <p:nvPr/>
        </p:nvSpPr>
        <p:spPr>
          <a:xfrm>
            <a:off x="8507730" y="2889250"/>
            <a:ext cx="3553460" cy="2676525"/>
          </a:xfrm>
          <a:prstGeom prst="rect">
            <a:avLst/>
          </a:prstGeom>
          <a:noFill/>
        </p:spPr>
        <p:txBody>
          <a:bodyPr wrap="square" rtlCol="0" anchor="t">
            <a:spAutoFit/>
          </a:bodyPr>
          <a:p>
            <a:pPr algn="l">
              <a:buClrTx/>
              <a:buSzTx/>
              <a:buNone/>
            </a:pPr>
            <a:r>
              <a:rPr lang="en-US" altLang="zh-CN" sz="1400"/>
              <a:t>Candidate values for regularization strength</a:t>
            </a:r>
            <a:endParaRPr lang="en-US" altLang="zh-CN" sz="1400"/>
          </a:p>
          <a:p>
            <a:pPr algn="l">
              <a:buClrTx/>
              <a:buSzTx/>
              <a:buNone/>
            </a:pPr>
            <a:r>
              <a:rPr lang="en-US" altLang="zh-CN" sz="1400"/>
              <a:t>Candidate values for L1/L2 mixing parameter</a:t>
            </a:r>
            <a:endParaRPr lang="en-US" altLang="zh-CN" sz="1400"/>
          </a:p>
          <a:p>
            <a:pPr algn="l">
              <a:buClrTx/>
              <a:buSzTx/>
              <a:buNone/>
            </a:pPr>
            <a:r>
              <a:rPr lang="en-US" altLang="zh-CN" sz="1400"/>
              <a:t>Initialize Elastic Net model for regression</a:t>
            </a:r>
            <a:endParaRPr lang="en-US" altLang="zh-CN" sz="1400"/>
          </a:p>
          <a:p>
            <a:pPr algn="l">
              <a:buClrTx/>
              <a:buSzTx/>
              <a:buNone/>
            </a:pPr>
            <a:r>
              <a:rPr lang="en-US" altLang="zh-CN" sz="1400"/>
              <a:t>Train model on training set</a:t>
            </a:r>
            <a:endParaRPr lang="en-US" altLang="zh-CN" sz="1400"/>
          </a:p>
          <a:p>
            <a:pPr algn="l">
              <a:buClrTx/>
              <a:buSzTx/>
              <a:buNone/>
            </a:pPr>
            <a:r>
              <a:rPr lang="en-US" altLang="zh-CN" sz="1400"/>
              <a:t>Predict on validation set</a:t>
            </a:r>
            <a:endParaRPr lang="en-US" altLang="zh-CN" sz="1400"/>
          </a:p>
          <a:p>
            <a:pPr algn="l">
              <a:buClrTx/>
              <a:buSzTx/>
              <a:buNone/>
            </a:pPr>
            <a:r>
              <a:rPr lang="en-US" altLang="zh-CN" sz="1400"/>
              <a:t>Calculate validation set MSE</a:t>
            </a:r>
            <a:endParaRPr lang="en-US" altLang="zh-CN" sz="1400"/>
          </a:p>
          <a:p>
            <a:pPr algn="l">
              <a:buClrTx/>
              <a:buSzTx/>
              <a:buNone/>
            </a:pPr>
            <a:endParaRPr lang="en-US" altLang="zh-CN" sz="1400"/>
          </a:p>
          <a:p>
            <a:pPr algn="l">
              <a:buClrTx/>
              <a:buSzTx/>
              <a:buNone/>
            </a:pPr>
            <a:r>
              <a:rPr lang="en-US" altLang="zh-CN" sz="1400"/>
              <a:t>Update best hyperparameters if current MSE is lower</a:t>
            </a:r>
            <a:endParaRPr lang="en-US" altLang="zh-CN" sz="1400"/>
          </a:p>
          <a:p>
            <a:pPr algn="l">
              <a:buClrTx/>
              <a:buSzTx/>
              <a:buNone/>
            </a:pPr>
            <a:r>
              <a:rPr lang="en-US" altLang="zh-CN" sz="1400"/>
              <a:t>Update best MSE value</a:t>
            </a:r>
            <a:endParaRPr lang="en-US" altLang="zh-CN" sz="1400"/>
          </a:p>
          <a:p>
            <a:pPr algn="l">
              <a:buClrTx/>
              <a:buSzTx/>
              <a:buNone/>
            </a:pPr>
            <a:r>
              <a:rPr lang="en-US" altLang="zh-CN" sz="1400"/>
              <a:t>Update best alpha value</a:t>
            </a:r>
            <a:endParaRPr lang="en-US" altLang="zh-CN" sz="1400"/>
          </a:p>
          <a:p>
            <a:pPr algn="l">
              <a:buClrTx/>
              <a:buSzTx/>
              <a:buNone/>
            </a:pPr>
            <a:r>
              <a:rPr lang="en-US" altLang="zh-CN" sz="1400"/>
              <a:t>Update best l1_ratio value</a:t>
            </a:r>
            <a:endParaRPr lang="en-US" altLang="zh-CN"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Elastic Net Regression</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Train final model with best hyperparameters from validation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Evaluate the model on the test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8" name="图片 7"/>
          <p:cNvPicPr>
            <a:picLocks noChangeAspect="1"/>
          </p:cNvPicPr>
          <p:nvPr/>
        </p:nvPicPr>
        <p:blipFill>
          <a:blip r:embed="rId1"/>
          <a:stretch>
            <a:fillRect/>
          </a:stretch>
        </p:blipFill>
        <p:spPr>
          <a:xfrm>
            <a:off x="638175" y="1022350"/>
            <a:ext cx="8999220" cy="464820"/>
          </a:xfrm>
          <a:prstGeom prst="rect">
            <a:avLst/>
          </a:prstGeom>
        </p:spPr>
      </p:pic>
      <p:pic>
        <p:nvPicPr>
          <p:cNvPr id="10" name="图片 9"/>
          <p:cNvPicPr>
            <a:picLocks noChangeAspect="1"/>
          </p:cNvPicPr>
          <p:nvPr/>
        </p:nvPicPr>
        <p:blipFill>
          <a:blip r:embed="rId2"/>
          <a:stretch>
            <a:fillRect/>
          </a:stretch>
        </p:blipFill>
        <p:spPr>
          <a:xfrm>
            <a:off x="734060" y="2778760"/>
            <a:ext cx="2758440" cy="175260"/>
          </a:xfrm>
          <a:prstGeom prst="rect">
            <a:avLst/>
          </a:prstGeom>
        </p:spPr>
      </p:pic>
      <p:sp>
        <p:nvSpPr>
          <p:cNvPr id="2" name="文本框 1"/>
          <p:cNvSpPr txBox="1"/>
          <p:nvPr/>
        </p:nvSpPr>
        <p:spPr>
          <a:xfrm>
            <a:off x="638175" y="1620520"/>
            <a:ext cx="4759325" cy="521970"/>
          </a:xfrm>
          <a:prstGeom prst="rect">
            <a:avLst/>
          </a:prstGeom>
          <a:noFill/>
        </p:spPr>
        <p:txBody>
          <a:bodyPr wrap="square" rtlCol="0" anchor="t">
            <a:spAutoFit/>
          </a:bodyPr>
          <a:p>
            <a:r>
              <a:rPr lang="en-US" altLang="zh-CN" sz="1400"/>
              <a:t>Initialize the final Elastic Net model with best hyperparameters</a:t>
            </a:r>
            <a:endParaRPr lang="en-US" altLang="zh-CN" sz="1400"/>
          </a:p>
          <a:p>
            <a:r>
              <a:rPr lang="en-US" altLang="zh-CN" sz="1400"/>
              <a:t>Train the final model on the training set</a:t>
            </a:r>
            <a:endParaRPr lang="zh-CN" altLang="en-US" sz="1400"/>
          </a:p>
        </p:txBody>
      </p:sp>
      <p:sp>
        <p:nvSpPr>
          <p:cNvPr id="3" name="文本框 2"/>
          <p:cNvSpPr txBox="1"/>
          <p:nvPr/>
        </p:nvSpPr>
        <p:spPr>
          <a:xfrm>
            <a:off x="3646170" y="2725420"/>
            <a:ext cx="3434080" cy="306705"/>
          </a:xfrm>
          <a:prstGeom prst="rect">
            <a:avLst/>
          </a:prstGeom>
          <a:noFill/>
        </p:spPr>
        <p:txBody>
          <a:bodyPr wrap="square" rtlCol="0" anchor="t">
            <a:spAutoFit/>
          </a:bodyPr>
          <a:p>
            <a:r>
              <a:rPr lang="en-US" altLang="zh-CN" sz="1400"/>
              <a:t>Make predictions on the test set</a:t>
            </a:r>
            <a:endParaRPr lang="zh-CN" altLang="en-US" sz="1400"/>
          </a:p>
        </p:txBody>
      </p:sp>
      <p:pic>
        <p:nvPicPr>
          <p:cNvPr id="4" name="图片 3"/>
          <p:cNvPicPr>
            <a:picLocks noChangeAspect="1"/>
          </p:cNvPicPr>
          <p:nvPr/>
        </p:nvPicPr>
        <p:blipFill>
          <a:blip r:embed="rId3"/>
          <a:stretch>
            <a:fillRect/>
          </a:stretch>
        </p:blipFill>
        <p:spPr>
          <a:xfrm>
            <a:off x="5443855" y="1566545"/>
            <a:ext cx="2335530" cy="3663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Elastic Net Regression</a:t>
            </a:r>
            <a:r>
              <a:rPr lang="en-US" altLang="zh-CN" sz="2810" dirty="0">
                <a:latin typeface="Calibri Light" panose="020F0302020204030204"/>
                <a:ea typeface="Calibri Light" panose="020F0302020204030204"/>
                <a:cs typeface="Calibri Light" panose="020F0302020204030204"/>
              </a:rPr>
              <a:t> Results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descr="ElasticNet-Time Series"/>
          <p:cNvPicPr>
            <a:picLocks noChangeAspect="1"/>
          </p:cNvPicPr>
          <p:nvPr/>
        </p:nvPicPr>
        <p:blipFill>
          <a:blip r:embed="rId1"/>
          <a:stretch>
            <a:fillRect/>
          </a:stretch>
        </p:blipFill>
        <p:spPr>
          <a:xfrm>
            <a:off x="947420" y="977900"/>
            <a:ext cx="10144760" cy="58699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1: Define the Linear Model</a:t>
            </a: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5710555" y="389890"/>
            <a:ext cx="6037580" cy="460375"/>
          </a:xfrm>
          <a:prstGeom prst="rect">
            <a:avLst/>
          </a:prstGeom>
          <a:noFill/>
        </p:spPr>
        <p:txBody>
          <a:bodyPr wrap="square" rtlCol="0" anchor="t">
            <a:spAutoFit/>
          </a:bodyPr>
          <a:p>
            <a:r>
              <a:rPr lang="en-US" altLang="zh-CN" sz="2400">
                <a:sym typeface="+mn-ea"/>
              </a:rPr>
              <a:t>Principal Component Regression (PCR)</a:t>
            </a:r>
            <a:endParaRPr lang="en-US" altLang="zh-CN" sz="2400">
              <a:sym typeface="+mn-ea"/>
            </a:endParaRPr>
          </a:p>
        </p:txBody>
      </p:sp>
      <p:pic>
        <p:nvPicPr>
          <p:cNvPr id="12" name="图片 11"/>
          <p:cNvPicPr>
            <a:picLocks noChangeAspect="1"/>
          </p:cNvPicPr>
          <p:nvPr/>
        </p:nvPicPr>
        <p:blipFill>
          <a:blip r:embed="rId1"/>
          <a:stretch>
            <a:fillRect/>
          </a:stretch>
        </p:blipFill>
        <p:spPr>
          <a:xfrm>
            <a:off x="1619250" y="2193925"/>
            <a:ext cx="1051560" cy="312420"/>
          </a:xfrm>
          <a:prstGeom prst="rect">
            <a:avLst/>
          </a:prstGeom>
        </p:spPr>
      </p:pic>
      <p:sp>
        <p:nvSpPr>
          <p:cNvPr id="14" name="文本框 13"/>
          <p:cNvSpPr txBox="1"/>
          <p:nvPr/>
        </p:nvSpPr>
        <p:spPr>
          <a:xfrm>
            <a:off x="5759450" y="885190"/>
            <a:ext cx="6096000" cy="460375"/>
          </a:xfrm>
          <a:prstGeom prst="rect">
            <a:avLst/>
          </a:prstGeom>
          <a:noFill/>
        </p:spPr>
        <p:txBody>
          <a:bodyPr wrap="square" rtlCol="0" anchor="t">
            <a:spAutoFit/>
          </a:bodyPr>
          <a:p>
            <a:r>
              <a:rPr lang="en-US" altLang="zh-CN" sz="2400">
                <a:sym typeface="+mn-ea"/>
              </a:rPr>
              <a:t>Partial Least Squares Regression (PLS)</a:t>
            </a:r>
            <a:endParaRPr lang="en-US" altLang="zh-CN" sz="2400">
              <a:sym typeface="+mn-ea"/>
            </a:endParaRPr>
          </a:p>
        </p:txBody>
      </p:sp>
      <p:sp>
        <p:nvSpPr>
          <p:cNvPr id="16" name="文本框 15"/>
          <p:cNvSpPr txBox="1"/>
          <p:nvPr/>
        </p:nvSpPr>
        <p:spPr>
          <a:xfrm>
            <a:off x="838200" y="2468245"/>
            <a:ext cx="10852150" cy="1076325"/>
          </a:xfrm>
          <a:prstGeom prst="rect">
            <a:avLst/>
          </a:prstGeom>
        </p:spPr>
        <p:txBody>
          <a:bodyPr wrap="square">
            <a:spAutoFit/>
          </a:bodyPr>
          <a:p>
            <a:r>
              <a:rPr lang="en-US" altLang="zh-CN" sz="1600"/>
              <a:t>R: A NT×1 vector of realized excess returns, containing all assets i and time periods t with observations ri,t+1.</a:t>
            </a:r>
            <a:endParaRPr lang="en-US" altLang="zh-CN" sz="1600"/>
          </a:p>
          <a:p>
            <a:r>
              <a:rPr lang="en-US" altLang="zh-CN" sz="1600"/>
              <a:t>Z: A NT×P predictor matrix, where each row corresponds to the P-dimensional predictor vector zi,t for a specific asset i at time t.</a:t>
            </a:r>
            <a:endParaRPr lang="en-US" altLang="zh-CN" sz="1600"/>
          </a:p>
          <a:p>
            <a:r>
              <a:rPr lang="en-US" altLang="zh-CN" sz="1600"/>
              <a:t>θ: A P×1 vector of regression coefficients.</a:t>
            </a:r>
            <a:endParaRPr lang="en-US" altLang="zh-CN" sz="1600"/>
          </a:p>
          <a:p>
            <a:r>
              <a:rPr lang="en-US" altLang="zh-CN" sz="1600"/>
              <a:t>E: A residual vector of size NT×1, representing deviations between predicted and actual returns.</a:t>
            </a:r>
            <a:endParaRPr lang="en-US" altLang="zh-CN" sz="1600"/>
          </a:p>
        </p:txBody>
      </p:sp>
      <p:sp>
        <p:nvSpPr>
          <p:cNvPr id="17" name="文本框 16"/>
          <p:cNvSpPr txBox="1"/>
          <p:nvPr/>
        </p:nvSpPr>
        <p:spPr>
          <a:xfrm>
            <a:off x="849630" y="3539490"/>
            <a:ext cx="10607675" cy="583565"/>
          </a:xfrm>
          <a:prstGeom prst="rect">
            <a:avLst/>
          </a:prstGeom>
        </p:spPr>
        <p:txBody>
          <a:bodyPr wrap="square">
            <a:spAutoFit/>
          </a:bodyPr>
          <a:p>
            <a:r>
              <a:rPr lang="en-US" altLang="zh-CN" sz="1600"/>
              <a:t>The equation expresses the linear regression model                                       in a compact matrix form. This serves as the foundational setup for applying dimensionality reduction techniques like PCR and PLS.</a:t>
            </a:r>
            <a:endParaRPr lang="en-US" altLang="zh-CN" sz="1600"/>
          </a:p>
        </p:txBody>
      </p:sp>
      <p:pic>
        <p:nvPicPr>
          <p:cNvPr id="18" name="图片 17"/>
          <p:cNvPicPr>
            <a:picLocks noChangeAspect="1"/>
          </p:cNvPicPr>
          <p:nvPr/>
        </p:nvPicPr>
        <p:blipFill>
          <a:blip r:embed="rId2"/>
          <a:stretch>
            <a:fillRect/>
          </a:stretch>
        </p:blipFill>
        <p:spPr>
          <a:xfrm>
            <a:off x="5227320" y="3548380"/>
            <a:ext cx="1700530" cy="287655"/>
          </a:xfrm>
          <a:prstGeom prst="rect">
            <a:avLst/>
          </a:prstGeom>
        </p:spPr>
      </p:pic>
      <p:sp>
        <p:nvSpPr>
          <p:cNvPr id="19" name="文本框 18"/>
          <p:cNvSpPr txBox="1"/>
          <p:nvPr/>
        </p:nvSpPr>
        <p:spPr>
          <a:xfrm>
            <a:off x="829310" y="4237673"/>
            <a:ext cx="5080000" cy="337185"/>
          </a:xfrm>
          <a:prstGeom prst="rect">
            <a:avLst/>
          </a:prstGeom>
        </p:spPr>
        <p:txBody>
          <a:bodyPr>
            <a:spAutoFit/>
          </a:bodyPr>
          <a:p>
            <a:r>
              <a:rPr lang="en-US" altLang="zh-CN" sz="1600"/>
              <a:t>Step 2: Perform Dimensionality Reduction</a:t>
            </a:r>
            <a:endParaRPr lang="en-US" altLang="zh-CN" sz="1600"/>
          </a:p>
        </p:txBody>
      </p:sp>
      <p:pic>
        <p:nvPicPr>
          <p:cNvPr id="20" name="图片 19"/>
          <p:cNvPicPr>
            <a:picLocks noChangeAspect="1"/>
          </p:cNvPicPr>
          <p:nvPr/>
        </p:nvPicPr>
        <p:blipFill>
          <a:blip r:embed="rId3"/>
          <a:stretch>
            <a:fillRect/>
          </a:stretch>
        </p:blipFill>
        <p:spPr>
          <a:xfrm>
            <a:off x="1403350" y="4504690"/>
            <a:ext cx="1653540" cy="266700"/>
          </a:xfrm>
          <a:prstGeom prst="rect">
            <a:avLst/>
          </a:prstGeom>
        </p:spPr>
      </p:pic>
      <p:sp>
        <p:nvSpPr>
          <p:cNvPr id="21" name="文本框 20"/>
          <p:cNvSpPr txBox="1"/>
          <p:nvPr/>
        </p:nvSpPr>
        <p:spPr>
          <a:xfrm>
            <a:off x="849630" y="4730750"/>
            <a:ext cx="10897870" cy="1076325"/>
          </a:xfrm>
          <a:prstGeom prst="rect">
            <a:avLst/>
          </a:prstGeom>
        </p:spPr>
        <p:txBody>
          <a:bodyPr wrap="square">
            <a:spAutoFit/>
          </a:bodyPr>
          <a:p>
            <a:r>
              <a:rPr lang="en-US" altLang="zh-CN" sz="1600"/>
              <a:t>ZΩ</a:t>
            </a:r>
            <a:r>
              <a:rPr lang="en-US" altLang="zh-CN" sz="1600" baseline="-25000"/>
              <a:t>K​</a:t>
            </a:r>
            <a:r>
              <a:rPr lang="en-US" altLang="zh-CN" sz="1600"/>
              <a:t>: The dimension-reduced version of Z, projected onto a K-dimensional linear subspace using Ω</a:t>
            </a:r>
            <a:r>
              <a:rPr lang="en-US" altLang="zh-CN" sz="1600" baseline="-25000"/>
              <a:t>K</a:t>
            </a:r>
            <a:r>
              <a:rPr lang="en-US" altLang="zh-CN" sz="1600"/>
              <a:t>.</a:t>
            </a:r>
            <a:endParaRPr lang="en-US" altLang="zh-CN" sz="1600"/>
          </a:p>
          <a:p>
            <a:r>
              <a:rPr lang="en-US" altLang="zh-CN" sz="1600"/>
              <a:t>Ω</a:t>
            </a:r>
            <a:r>
              <a:rPr lang="en-US" altLang="zh-CN" sz="1600" baseline="-25000"/>
              <a:t>K</a:t>
            </a:r>
            <a:r>
              <a:rPr lang="en-US" altLang="zh-CN" sz="1600"/>
              <a:t>: A P×K dimensionality reduction matrix, defining the K linear combinations of predictors.</a:t>
            </a:r>
            <a:endParaRPr lang="en-US" altLang="zh-CN" sz="1600"/>
          </a:p>
          <a:p>
            <a:r>
              <a:rPr lang="en-US" altLang="zh-CN" sz="1600"/>
              <a:t>θ</a:t>
            </a:r>
            <a:r>
              <a:rPr lang="en-US" altLang="zh-CN" sz="1600" baseline="-25000"/>
              <a:t>K</a:t>
            </a:r>
            <a:r>
              <a:rPr lang="en-US" altLang="zh-CN" sz="1600"/>
              <a:t>: A K×1 vector of regression coefficients for the dimension-reduced predictors.</a:t>
            </a:r>
            <a:endParaRPr lang="en-US" altLang="zh-CN" sz="1600"/>
          </a:p>
          <a:p>
            <a:r>
              <a:rPr lang="en-US" altLang="zh-CN" sz="1600"/>
              <a:t>E~: Residuals in the dimension-reduced model.</a:t>
            </a:r>
            <a:endParaRPr lang="en-US" altLang="zh-CN" sz="1600"/>
          </a:p>
        </p:txBody>
      </p:sp>
      <p:pic>
        <p:nvPicPr>
          <p:cNvPr id="23" name="图片 22"/>
          <p:cNvPicPr>
            <a:picLocks noChangeAspect="1"/>
          </p:cNvPicPr>
          <p:nvPr/>
        </p:nvPicPr>
        <p:blipFill>
          <a:blip r:embed="rId4"/>
          <a:stretch>
            <a:fillRect/>
          </a:stretch>
        </p:blipFill>
        <p:spPr>
          <a:xfrm>
            <a:off x="960120" y="5523865"/>
            <a:ext cx="183515" cy="224155"/>
          </a:xfrm>
          <a:prstGeom prst="rect">
            <a:avLst/>
          </a:prstGeom>
        </p:spPr>
      </p:pic>
      <p:sp>
        <p:nvSpPr>
          <p:cNvPr id="24" name="文本框 23"/>
          <p:cNvSpPr txBox="1"/>
          <p:nvPr/>
        </p:nvSpPr>
        <p:spPr>
          <a:xfrm>
            <a:off x="695960" y="5731510"/>
            <a:ext cx="10429875" cy="1076325"/>
          </a:xfrm>
          <a:prstGeom prst="rect">
            <a:avLst/>
          </a:prstGeom>
        </p:spPr>
        <p:txBody>
          <a:bodyPr wrap="square">
            <a:spAutoFit/>
          </a:bodyPr>
          <a:p>
            <a:r>
              <a:rPr lang="en-US" altLang="zh-CN" sz="1600"/>
              <a:t>Compute the reduction matrix ΩK to project Z onto a lower-dimensional subspace.</a:t>
            </a:r>
            <a:endParaRPr lang="en-US" altLang="zh-CN" sz="1600"/>
          </a:p>
          <a:p>
            <a:pPr>
              <a:buFont typeface="Arial" panose="020B0604020202020204"/>
              <a:buChar char="•"/>
            </a:pPr>
            <a:r>
              <a:rPr lang="en-US" altLang="zh-CN" sz="1600"/>
              <a:t>For PCR, compute principal components by maximizing the variance of Zw.</a:t>
            </a:r>
            <a:endParaRPr lang="en-US" altLang="zh-CN" sz="1600"/>
          </a:p>
          <a:p>
            <a:pPr>
              <a:buFont typeface="Arial" panose="020B0604020202020204"/>
              <a:buChar char="•"/>
            </a:pPr>
            <a:r>
              <a:rPr lang="en-US" altLang="zh-CN" sz="1600"/>
              <a:t>For PLS, compute components that maximize the correlation with R.</a:t>
            </a:r>
            <a:endParaRPr lang="en-US" altLang="zh-CN" sz="1600"/>
          </a:p>
          <a:p>
            <a:r>
              <a:rPr lang="en-US" altLang="zh-CN" sz="1600"/>
              <a:t>Transform Z into its reduced form ZΩ</a:t>
            </a:r>
            <a:r>
              <a:rPr lang="en-US" altLang="zh-CN" sz="1600" baseline="-25000"/>
              <a:t>K</a:t>
            </a:r>
            <a:r>
              <a:rPr lang="en-US" altLang="zh-CN" sz="1600"/>
              <a:t> using the projection matrix.</a:t>
            </a:r>
            <a:endParaRPr lang="en-US" altLang="zh-CN" sz="1600"/>
          </a:p>
        </p:txBody>
      </p:sp>
      <p:sp>
        <p:nvSpPr>
          <p:cNvPr id="25" name="文本框 24"/>
          <p:cNvSpPr txBox="1"/>
          <p:nvPr/>
        </p:nvSpPr>
        <p:spPr>
          <a:xfrm>
            <a:off x="8124825" y="5523865"/>
            <a:ext cx="4286250" cy="675640"/>
          </a:xfrm>
          <a:prstGeom prst="rect">
            <a:avLst/>
          </a:prstGeom>
        </p:spPr>
        <p:txBody>
          <a:bodyPr>
            <a:noAutofit/>
          </a:bodyPr>
          <a:p>
            <a:r>
              <a:rPr lang="en-US" altLang="zh-CN" sz="1600"/>
              <a:t>To reduce feature redundancy and multicollinearity while retaining the most important predictive information.</a:t>
            </a:r>
            <a:endParaRPr lang="en-US" altLang="zh-CN" sz="1600"/>
          </a:p>
        </p:txBody>
      </p:sp>
      <p:sp>
        <p:nvSpPr>
          <p:cNvPr id="26" name="文本框 25"/>
          <p:cNvSpPr txBox="1"/>
          <p:nvPr/>
        </p:nvSpPr>
        <p:spPr>
          <a:xfrm>
            <a:off x="5710555" y="1470660"/>
            <a:ext cx="5973445" cy="829945"/>
          </a:xfrm>
          <a:prstGeom prst="rect">
            <a:avLst/>
          </a:prstGeom>
        </p:spPr>
        <p:txBody>
          <a:bodyPr wrap="square">
            <a:spAutoFit/>
          </a:bodyPr>
          <a:p>
            <a:r>
              <a:rPr lang="en-US" altLang="zh-CN" sz="1600"/>
              <a:t>To extract key information from the predictors by calculating components via PCR or PLS, emphasizing variance (PCR) or predictive relevance (PLS).</a:t>
            </a:r>
            <a:endParaRPr lang="en-US" altLang="zh-CN" sz="1600"/>
          </a:p>
        </p:txBody>
      </p:sp>
      <p:pic>
        <p:nvPicPr>
          <p:cNvPr id="8" name="图片 7"/>
          <p:cNvPicPr>
            <a:picLocks noChangeAspect="1"/>
          </p:cNvPicPr>
          <p:nvPr/>
        </p:nvPicPr>
        <p:blipFill>
          <a:blip r:embed="rId5"/>
          <a:stretch>
            <a:fillRect/>
          </a:stretch>
        </p:blipFill>
        <p:spPr>
          <a:xfrm>
            <a:off x="4549140" y="4098290"/>
            <a:ext cx="3093720" cy="662940"/>
          </a:xfrm>
          <a:prstGeom prst="rect">
            <a:avLst/>
          </a:prstGeom>
        </p:spPr>
      </p:pic>
      <p:pic>
        <p:nvPicPr>
          <p:cNvPr id="13" name="图片 12"/>
          <p:cNvPicPr>
            <a:picLocks noChangeAspect="1"/>
          </p:cNvPicPr>
          <p:nvPr/>
        </p:nvPicPr>
        <p:blipFill>
          <a:blip r:embed="rId6"/>
          <a:stretch>
            <a:fillRect/>
          </a:stretch>
        </p:blipFill>
        <p:spPr>
          <a:xfrm>
            <a:off x="7752080" y="4077970"/>
            <a:ext cx="4328160" cy="70104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3: Determine Combination Weights for Predictors </a:t>
            </a: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5710555" y="389890"/>
            <a:ext cx="6037580" cy="460375"/>
          </a:xfrm>
          <a:prstGeom prst="rect">
            <a:avLst/>
          </a:prstGeom>
          <a:noFill/>
        </p:spPr>
        <p:txBody>
          <a:bodyPr wrap="square" rtlCol="0" anchor="t">
            <a:spAutoFit/>
          </a:bodyPr>
          <a:p>
            <a:r>
              <a:rPr lang="en-US" altLang="zh-CN" sz="2400">
                <a:sym typeface="+mn-ea"/>
              </a:rPr>
              <a:t>Principal Component Regression (PCR)</a:t>
            </a:r>
            <a:endParaRPr lang="en-US" altLang="zh-CN" sz="2400">
              <a:sym typeface="+mn-ea"/>
            </a:endParaRPr>
          </a:p>
        </p:txBody>
      </p:sp>
      <p:sp>
        <p:nvSpPr>
          <p:cNvPr id="14" name="文本框 13"/>
          <p:cNvSpPr txBox="1"/>
          <p:nvPr/>
        </p:nvSpPr>
        <p:spPr>
          <a:xfrm>
            <a:off x="5759450" y="885190"/>
            <a:ext cx="6096000" cy="460375"/>
          </a:xfrm>
          <a:prstGeom prst="rect">
            <a:avLst/>
          </a:prstGeom>
          <a:noFill/>
        </p:spPr>
        <p:txBody>
          <a:bodyPr wrap="square" rtlCol="0" anchor="t">
            <a:spAutoFit/>
          </a:bodyPr>
          <a:p>
            <a:r>
              <a:rPr lang="en-US" altLang="zh-CN" sz="2400">
                <a:sym typeface="+mn-ea"/>
              </a:rPr>
              <a:t>Partial Least Squares Regression (PLS)</a:t>
            </a:r>
            <a:endParaRPr lang="en-US" altLang="zh-CN" sz="2400">
              <a:sym typeface="+mn-ea"/>
            </a:endParaRPr>
          </a:p>
        </p:txBody>
      </p:sp>
      <p:pic>
        <p:nvPicPr>
          <p:cNvPr id="2" name="图片 1"/>
          <p:cNvPicPr>
            <a:picLocks noChangeAspect="1"/>
          </p:cNvPicPr>
          <p:nvPr/>
        </p:nvPicPr>
        <p:blipFill>
          <a:blip r:embed="rId1"/>
          <a:stretch>
            <a:fillRect/>
          </a:stretch>
        </p:blipFill>
        <p:spPr>
          <a:xfrm>
            <a:off x="1540510" y="2607945"/>
            <a:ext cx="6111240" cy="289560"/>
          </a:xfrm>
          <a:prstGeom prst="rect">
            <a:avLst/>
          </a:prstGeom>
        </p:spPr>
      </p:pic>
      <p:sp>
        <p:nvSpPr>
          <p:cNvPr id="6" name="文本框 5"/>
          <p:cNvSpPr txBox="1"/>
          <p:nvPr/>
        </p:nvSpPr>
        <p:spPr>
          <a:xfrm>
            <a:off x="1122680" y="2884805"/>
            <a:ext cx="10347960" cy="829945"/>
          </a:xfrm>
          <a:prstGeom prst="rect">
            <a:avLst/>
          </a:prstGeom>
        </p:spPr>
        <p:txBody>
          <a:bodyPr wrap="square">
            <a:spAutoFit/>
          </a:bodyPr>
          <a:p>
            <a:r>
              <a:rPr lang="en-US" altLang="zh-CN" sz="1600"/>
              <a:t>w</a:t>
            </a:r>
            <a:r>
              <a:rPr lang="en-US" altLang="zh-CN" sz="1600" baseline="-25000"/>
              <a:t>j​</a:t>
            </a:r>
            <a:r>
              <a:rPr lang="en-US" altLang="zh-CN" sz="1600"/>
              <a:t>:The j-th principal component weight vector.</a:t>
            </a:r>
            <a:endParaRPr lang="en-US" altLang="zh-CN" sz="1600"/>
          </a:p>
          <a:p>
            <a:r>
              <a:rPr lang="en-US" altLang="zh-CN" sz="1600"/>
              <a:t>Var(Z</a:t>
            </a:r>
            <a:r>
              <a:rPr lang="en-US" altLang="zh-CN" sz="1600" baseline="-25000"/>
              <a:t>w</a:t>
            </a:r>
            <a:r>
              <a:rPr lang="en-US" altLang="zh-CN" sz="1600"/>
              <a:t>):The variance of the linear combination Zw, representing the amount of information captured by this component.</a:t>
            </a:r>
            <a:endParaRPr lang="en-US" altLang="zh-CN" sz="1600"/>
          </a:p>
          <a:p>
            <a:r>
              <a:rPr lang="en-US" altLang="zh-CN" sz="1600"/>
              <a:t>Cov(Z</a:t>
            </a:r>
            <a:r>
              <a:rPr lang="en-US" altLang="zh-CN" sz="1600" baseline="-25000"/>
              <a:t>w</a:t>
            </a:r>
            <a:r>
              <a:rPr lang="en-US" altLang="zh-CN" sz="1600"/>
              <a:t>,Z</a:t>
            </a:r>
            <a:r>
              <a:rPr lang="en-US" altLang="zh-CN" sz="1600" baseline="-25000"/>
              <a:t>wl</a:t>
            </a:r>
            <a:r>
              <a:rPr lang="en-US" altLang="zh-CN" sz="1600"/>
              <a:t>):Ensures orthogonality among the principal components.</a:t>
            </a:r>
            <a:endParaRPr lang="en-US" altLang="zh-CN" sz="1600"/>
          </a:p>
        </p:txBody>
      </p:sp>
      <p:sp>
        <p:nvSpPr>
          <p:cNvPr id="7" name="文本框 6"/>
          <p:cNvSpPr txBox="1"/>
          <p:nvPr/>
        </p:nvSpPr>
        <p:spPr>
          <a:xfrm>
            <a:off x="1168400" y="4858385"/>
            <a:ext cx="9836785" cy="829945"/>
          </a:xfrm>
          <a:prstGeom prst="rect">
            <a:avLst/>
          </a:prstGeom>
        </p:spPr>
        <p:txBody>
          <a:bodyPr wrap="square">
            <a:spAutoFit/>
          </a:bodyPr>
          <a:p>
            <a:r>
              <a:rPr lang="en-US" altLang="zh-CN" sz="1600"/>
              <a:t>PCR seeks the linear combinations of Z (principal components) that maximize the variance while ensuring that each new component is orthogonal to the previous ones. The solution to this optimization is typically obtained via singular value decomposition (SVD).</a:t>
            </a:r>
            <a:endParaRPr lang="en-US" altLang="zh-CN" sz="1600"/>
          </a:p>
        </p:txBody>
      </p:sp>
      <p:sp>
        <p:nvSpPr>
          <p:cNvPr id="8" name="文本框 7"/>
          <p:cNvSpPr txBox="1"/>
          <p:nvPr/>
        </p:nvSpPr>
        <p:spPr>
          <a:xfrm>
            <a:off x="889000" y="2229803"/>
            <a:ext cx="5080000" cy="337185"/>
          </a:xfrm>
          <a:prstGeom prst="rect">
            <a:avLst/>
          </a:prstGeom>
        </p:spPr>
        <p:txBody>
          <a:bodyPr>
            <a:spAutoFit/>
          </a:bodyPr>
          <a:p>
            <a:r>
              <a:rPr lang="en-US" altLang="zh-CN" sz="1600"/>
              <a:t>For PCR:</a:t>
            </a:r>
            <a:endParaRPr lang="en-US" altLang="zh-CN" sz="1600"/>
          </a:p>
        </p:txBody>
      </p:sp>
      <p:sp>
        <p:nvSpPr>
          <p:cNvPr id="13" name="文本框 12"/>
          <p:cNvSpPr txBox="1"/>
          <p:nvPr/>
        </p:nvSpPr>
        <p:spPr>
          <a:xfrm>
            <a:off x="1122680" y="3813175"/>
            <a:ext cx="8933180" cy="337185"/>
          </a:xfrm>
          <a:prstGeom prst="rect">
            <a:avLst/>
          </a:prstGeom>
        </p:spPr>
        <p:txBody>
          <a:bodyPr wrap="square">
            <a:spAutoFit/>
          </a:bodyPr>
          <a:p>
            <a:r>
              <a:rPr lang="en-US" altLang="zh-CN" sz="1600"/>
              <a:t>Goal: Maximize the variance explained by each principal component Zwj​.</a:t>
            </a:r>
            <a:endParaRPr lang="en-US" altLang="zh-CN" sz="1600"/>
          </a:p>
        </p:txBody>
      </p:sp>
      <p:sp>
        <p:nvSpPr>
          <p:cNvPr id="22" name="文本框 21"/>
          <p:cNvSpPr txBox="1"/>
          <p:nvPr/>
        </p:nvSpPr>
        <p:spPr>
          <a:xfrm>
            <a:off x="1122045" y="4177030"/>
            <a:ext cx="10348595" cy="583565"/>
          </a:xfrm>
          <a:prstGeom prst="rect">
            <a:avLst/>
          </a:prstGeom>
        </p:spPr>
        <p:txBody>
          <a:bodyPr wrap="square">
            <a:spAutoFit/>
          </a:bodyPr>
          <a:p>
            <a:r>
              <a:rPr lang="en-US" altLang="zh-CN" sz="1600"/>
              <a:t>Use singular value decomposition (SVD) to compute eigenvectors corresponding to the largest eigenvalues of Z′Z.</a:t>
            </a:r>
            <a:endParaRPr lang="en-US" altLang="zh-CN" sz="1600"/>
          </a:p>
          <a:p>
            <a:r>
              <a:rPr lang="en-US" altLang="zh-CN" sz="1600"/>
              <a:t>Construct ΩK by stacking the top K eigenvectors.</a:t>
            </a:r>
            <a:endParaRPr lang="en-US" altLang="zh-CN" sz="1600"/>
          </a:p>
        </p:txBody>
      </p:sp>
      <p:pic>
        <p:nvPicPr>
          <p:cNvPr id="16" name="图片 15"/>
          <p:cNvPicPr>
            <a:picLocks noChangeAspect="1"/>
          </p:cNvPicPr>
          <p:nvPr/>
        </p:nvPicPr>
        <p:blipFill>
          <a:blip r:embed="rId2"/>
          <a:stretch>
            <a:fillRect/>
          </a:stretch>
        </p:blipFill>
        <p:spPr>
          <a:xfrm>
            <a:off x="7009130" y="2062480"/>
            <a:ext cx="3596640" cy="27432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3: Determine Combination Weights for Predictors </a:t>
            </a: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5710555" y="389890"/>
            <a:ext cx="6037580" cy="460375"/>
          </a:xfrm>
          <a:prstGeom prst="rect">
            <a:avLst/>
          </a:prstGeom>
          <a:noFill/>
        </p:spPr>
        <p:txBody>
          <a:bodyPr wrap="square" rtlCol="0" anchor="t">
            <a:spAutoFit/>
          </a:bodyPr>
          <a:p>
            <a:r>
              <a:rPr lang="en-US" altLang="zh-CN" sz="2400">
                <a:sym typeface="+mn-ea"/>
              </a:rPr>
              <a:t>Principal Component Regression (PCR)</a:t>
            </a:r>
            <a:endParaRPr lang="en-US" altLang="zh-CN" sz="2400">
              <a:sym typeface="+mn-ea"/>
            </a:endParaRPr>
          </a:p>
        </p:txBody>
      </p:sp>
      <p:sp>
        <p:nvSpPr>
          <p:cNvPr id="14" name="文本框 13"/>
          <p:cNvSpPr txBox="1"/>
          <p:nvPr/>
        </p:nvSpPr>
        <p:spPr>
          <a:xfrm>
            <a:off x="5759450" y="885190"/>
            <a:ext cx="6096000" cy="460375"/>
          </a:xfrm>
          <a:prstGeom prst="rect">
            <a:avLst/>
          </a:prstGeom>
          <a:noFill/>
        </p:spPr>
        <p:txBody>
          <a:bodyPr wrap="square" rtlCol="0" anchor="t">
            <a:spAutoFit/>
          </a:bodyPr>
          <a:p>
            <a:r>
              <a:rPr lang="en-US" altLang="zh-CN" sz="2400">
                <a:sym typeface="+mn-ea"/>
              </a:rPr>
              <a:t>Partial Least Squares Regression (PLS)</a:t>
            </a:r>
            <a:endParaRPr lang="en-US" altLang="zh-CN" sz="2400">
              <a:sym typeface="+mn-ea"/>
            </a:endParaRPr>
          </a:p>
        </p:txBody>
      </p:sp>
      <p:sp>
        <p:nvSpPr>
          <p:cNvPr id="8" name="文本框 7"/>
          <p:cNvSpPr txBox="1"/>
          <p:nvPr/>
        </p:nvSpPr>
        <p:spPr>
          <a:xfrm>
            <a:off x="889000" y="2229803"/>
            <a:ext cx="5080000" cy="337185"/>
          </a:xfrm>
          <a:prstGeom prst="rect">
            <a:avLst/>
          </a:prstGeom>
        </p:spPr>
        <p:txBody>
          <a:bodyPr>
            <a:spAutoFit/>
          </a:bodyPr>
          <a:p>
            <a:r>
              <a:rPr lang="en-US" altLang="zh-CN" sz="1600"/>
              <a:t>For PLS:</a:t>
            </a:r>
            <a:endParaRPr lang="en-US" altLang="zh-CN" sz="1600"/>
          </a:p>
        </p:txBody>
      </p:sp>
      <p:pic>
        <p:nvPicPr>
          <p:cNvPr id="12" name="图片 11"/>
          <p:cNvPicPr>
            <a:picLocks noChangeAspect="1"/>
          </p:cNvPicPr>
          <p:nvPr/>
        </p:nvPicPr>
        <p:blipFill>
          <a:blip r:embed="rId1"/>
          <a:stretch>
            <a:fillRect/>
          </a:stretch>
        </p:blipFill>
        <p:spPr>
          <a:xfrm>
            <a:off x="1793240" y="2518410"/>
            <a:ext cx="6492240" cy="358140"/>
          </a:xfrm>
          <a:prstGeom prst="rect">
            <a:avLst/>
          </a:prstGeom>
        </p:spPr>
      </p:pic>
      <p:sp>
        <p:nvSpPr>
          <p:cNvPr id="16" name="文本框 15"/>
          <p:cNvSpPr txBox="1"/>
          <p:nvPr/>
        </p:nvSpPr>
        <p:spPr>
          <a:xfrm>
            <a:off x="1146810" y="3796030"/>
            <a:ext cx="8409940" cy="344170"/>
          </a:xfrm>
          <a:prstGeom prst="rect">
            <a:avLst/>
          </a:prstGeom>
        </p:spPr>
        <p:txBody>
          <a:bodyPr wrap="square">
            <a:noAutofit/>
          </a:bodyPr>
          <a:p>
            <a:r>
              <a:rPr lang="en-US" altLang="zh-CN" sz="1600"/>
              <a:t>Goal: Maximize the squared covariance between predictors and the target R.</a:t>
            </a:r>
            <a:endParaRPr lang="en-US" altLang="zh-CN" sz="1600"/>
          </a:p>
        </p:txBody>
      </p:sp>
      <p:sp>
        <p:nvSpPr>
          <p:cNvPr id="17" name="文本框 16"/>
          <p:cNvSpPr txBox="1"/>
          <p:nvPr/>
        </p:nvSpPr>
        <p:spPr>
          <a:xfrm>
            <a:off x="697230" y="4170045"/>
            <a:ext cx="9977755" cy="583565"/>
          </a:xfrm>
          <a:prstGeom prst="rect">
            <a:avLst/>
          </a:prstGeom>
        </p:spPr>
        <p:txBody>
          <a:bodyPr wrap="square">
            <a:spAutoFit/>
          </a:bodyPr>
          <a:p>
            <a:pPr lvl="1" indent="0">
              <a:buFont typeface="Arial" panose="020B0604020202020204"/>
              <a:buNone/>
            </a:pPr>
            <a:r>
              <a:rPr lang="en-US" altLang="zh-CN" sz="1600"/>
              <a:t>Compute weights wj that emphasize predictors most correlated with R. Orthogonalize Z with respect to        previously selected components to ensure independence.</a:t>
            </a:r>
            <a:endParaRPr lang="en-US" altLang="zh-CN" sz="1600"/>
          </a:p>
        </p:txBody>
      </p:sp>
      <p:sp>
        <p:nvSpPr>
          <p:cNvPr id="18" name="文本框 17"/>
          <p:cNvSpPr txBox="1"/>
          <p:nvPr/>
        </p:nvSpPr>
        <p:spPr>
          <a:xfrm>
            <a:off x="1179830" y="4856480"/>
            <a:ext cx="9782175" cy="829945"/>
          </a:xfrm>
          <a:prstGeom prst="rect">
            <a:avLst/>
          </a:prstGeom>
        </p:spPr>
        <p:txBody>
          <a:bodyPr wrap="square">
            <a:spAutoFit/>
          </a:bodyPr>
          <a:p>
            <a:r>
              <a:rPr lang="en-US" altLang="zh-CN" sz="1600"/>
              <a:t>PLS maximizes the predictive association between the reduced-dimension predictors Zw and the target variable R. Unlike PCR, which focuses on capturing the variance within predictors, PLS emphasizes predictors that are most relevant for predicting R.</a:t>
            </a:r>
            <a:endParaRPr lang="en-US" altLang="zh-CN" sz="1600"/>
          </a:p>
        </p:txBody>
      </p:sp>
      <p:sp>
        <p:nvSpPr>
          <p:cNvPr id="19" name="文本框 18"/>
          <p:cNvSpPr txBox="1"/>
          <p:nvPr/>
        </p:nvSpPr>
        <p:spPr>
          <a:xfrm>
            <a:off x="1179830" y="3093085"/>
            <a:ext cx="9688830" cy="583565"/>
          </a:xfrm>
          <a:prstGeom prst="rect">
            <a:avLst/>
          </a:prstGeom>
        </p:spPr>
        <p:txBody>
          <a:bodyPr wrap="square">
            <a:spAutoFit/>
          </a:bodyPr>
          <a:p>
            <a:r>
              <a:rPr lang="en-US" altLang="zh-CN" sz="1600"/>
              <a:t>Cov2(R,Zw):The squared covariance between the target variable R and the linear combination of predictors Zw.</a:t>
            </a:r>
            <a:endParaRPr lang="en-US" altLang="zh-CN" sz="1600"/>
          </a:p>
          <a:p>
            <a:r>
              <a:rPr lang="en-US" altLang="zh-CN" sz="1600"/>
              <a:t>Cov(Zw,Zwl): Ensures orthogonality among components, similar to PCR.</a:t>
            </a:r>
            <a:endParaRPr lang="en-US" altLang="zh-CN" sz="1600"/>
          </a:p>
        </p:txBody>
      </p:sp>
      <p:pic>
        <p:nvPicPr>
          <p:cNvPr id="6" name="图片 5"/>
          <p:cNvPicPr>
            <a:picLocks noChangeAspect="1"/>
          </p:cNvPicPr>
          <p:nvPr/>
        </p:nvPicPr>
        <p:blipFill>
          <a:blip r:embed="rId2"/>
          <a:stretch>
            <a:fillRect/>
          </a:stretch>
        </p:blipFill>
        <p:spPr>
          <a:xfrm>
            <a:off x="6154420" y="2103755"/>
            <a:ext cx="4312920" cy="19812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4: </a:t>
            </a:r>
            <a:r>
              <a:rPr lang="en-US" altLang="zh-CN" sz="1600">
                <a:sym typeface="+mn-ea"/>
              </a:rPr>
              <a:t>Perform Regression on Dimension-Reduced Predictors</a:t>
            </a: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5710555" y="389890"/>
            <a:ext cx="6037580" cy="460375"/>
          </a:xfrm>
          <a:prstGeom prst="rect">
            <a:avLst/>
          </a:prstGeom>
          <a:noFill/>
        </p:spPr>
        <p:txBody>
          <a:bodyPr wrap="square" rtlCol="0" anchor="t">
            <a:spAutoFit/>
          </a:bodyPr>
          <a:p>
            <a:r>
              <a:rPr lang="en-US" altLang="zh-CN" sz="2400">
                <a:sym typeface="+mn-ea"/>
              </a:rPr>
              <a:t>Principal Component Regression (PCR)</a:t>
            </a:r>
            <a:endParaRPr lang="en-US" altLang="zh-CN" sz="2400">
              <a:sym typeface="+mn-ea"/>
            </a:endParaRPr>
          </a:p>
        </p:txBody>
      </p:sp>
      <p:sp>
        <p:nvSpPr>
          <p:cNvPr id="14" name="文本框 13"/>
          <p:cNvSpPr txBox="1"/>
          <p:nvPr/>
        </p:nvSpPr>
        <p:spPr>
          <a:xfrm>
            <a:off x="5759450" y="885190"/>
            <a:ext cx="6096000" cy="460375"/>
          </a:xfrm>
          <a:prstGeom prst="rect">
            <a:avLst/>
          </a:prstGeom>
          <a:noFill/>
        </p:spPr>
        <p:txBody>
          <a:bodyPr wrap="square" rtlCol="0" anchor="t">
            <a:spAutoFit/>
          </a:bodyPr>
          <a:p>
            <a:r>
              <a:rPr lang="en-US" altLang="zh-CN" sz="2400">
                <a:sym typeface="+mn-ea"/>
              </a:rPr>
              <a:t>Partial Least Squares Regression (PLS)</a:t>
            </a:r>
            <a:endParaRPr lang="en-US" altLang="zh-CN" sz="2400">
              <a:sym typeface="+mn-ea"/>
            </a:endParaRPr>
          </a:p>
        </p:txBody>
      </p:sp>
      <p:sp>
        <p:nvSpPr>
          <p:cNvPr id="19" name="文本框 18"/>
          <p:cNvSpPr txBox="1"/>
          <p:nvPr/>
        </p:nvSpPr>
        <p:spPr>
          <a:xfrm>
            <a:off x="829310" y="4237990"/>
            <a:ext cx="10203815" cy="337185"/>
          </a:xfrm>
          <a:prstGeom prst="rect">
            <a:avLst/>
          </a:prstGeom>
        </p:spPr>
        <p:txBody>
          <a:bodyPr wrap="square">
            <a:spAutoFit/>
          </a:bodyPr>
          <a:p>
            <a:r>
              <a:rPr lang="en-US" altLang="zh-CN" sz="1600"/>
              <a:t>Step 5: Make Predictions Using the Dimension-Reduced Model</a:t>
            </a:r>
            <a:endParaRPr lang="en-US" altLang="zh-CN" sz="1600"/>
          </a:p>
        </p:txBody>
      </p:sp>
      <p:pic>
        <p:nvPicPr>
          <p:cNvPr id="6" name="图片 5"/>
          <p:cNvPicPr>
            <a:picLocks noChangeAspect="1"/>
          </p:cNvPicPr>
          <p:nvPr/>
        </p:nvPicPr>
        <p:blipFill>
          <a:blip r:embed="rId1"/>
          <a:stretch>
            <a:fillRect/>
          </a:stretch>
        </p:blipFill>
        <p:spPr>
          <a:xfrm>
            <a:off x="1708150" y="2186940"/>
            <a:ext cx="2522220" cy="350520"/>
          </a:xfrm>
          <a:prstGeom prst="rect">
            <a:avLst/>
          </a:prstGeom>
        </p:spPr>
      </p:pic>
      <p:sp>
        <p:nvSpPr>
          <p:cNvPr id="8" name="文本框 7"/>
          <p:cNvSpPr txBox="1"/>
          <p:nvPr/>
        </p:nvSpPr>
        <p:spPr>
          <a:xfrm>
            <a:off x="1001395" y="2531745"/>
            <a:ext cx="10210165" cy="829945"/>
          </a:xfrm>
          <a:prstGeom prst="rect">
            <a:avLst/>
          </a:prstGeom>
        </p:spPr>
        <p:txBody>
          <a:bodyPr wrap="square">
            <a:spAutoFit/>
          </a:bodyPr>
          <a:p>
            <a:r>
              <a:rPr lang="en-US" altLang="zh-CN" sz="1600"/>
              <a:t>θ</a:t>
            </a:r>
            <a:r>
              <a:rPr lang="en-US" altLang="zh-CN" sz="1600" baseline="-25000"/>
              <a:t>K​</a:t>
            </a:r>
            <a:r>
              <a:rPr lang="en-US" altLang="zh-CN" sz="1600"/>
              <a:t>:Regression coefficients for the dimension-reduced predictors, estimated by minimizing residuals.</a:t>
            </a:r>
            <a:endParaRPr lang="en-US" altLang="zh-CN" sz="1600"/>
          </a:p>
          <a:p>
            <a:r>
              <a:rPr lang="en-US" altLang="zh-CN" sz="1600"/>
              <a:t>Residual Sum of Squares (RSS):The sum of squared differences between observed and predicted returns, minimized to fit the model.</a:t>
            </a:r>
            <a:endParaRPr lang="en-US" altLang="zh-CN" sz="1600"/>
          </a:p>
        </p:txBody>
      </p:sp>
      <p:sp>
        <p:nvSpPr>
          <p:cNvPr id="13" name="文本框 12"/>
          <p:cNvSpPr txBox="1"/>
          <p:nvPr/>
        </p:nvSpPr>
        <p:spPr>
          <a:xfrm>
            <a:off x="995680" y="3270250"/>
            <a:ext cx="10205720" cy="337185"/>
          </a:xfrm>
          <a:prstGeom prst="rect">
            <a:avLst/>
          </a:prstGeom>
        </p:spPr>
        <p:txBody>
          <a:bodyPr wrap="square">
            <a:spAutoFit/>
          </a:bodyPr>
          <a:p>
            <a:r>
              <a:rPr lang="en-US" altLang="zh-CN" sz="1600"/>
              <a:t>Perform Ordinary Least Squares (OLS) regression on the reduced predictors ZΩ</a:t>
            </a:r>
            <a:r>
              <a:rPr lang="en-US" altLang="zh-CN" sz="1600" baseline="-25000"/>
              <a:t>K</a:t>
            </a:r>
            <a:r>
              <a:rPr lang="en-US" altLang="zh-CN" sz="1600"/>
              <a:t>.Solve R∼(ZΩK)    to estimate θ</a:t>
            </a:r>
            <a:r>
              <a:rPr lang="en-US" altLang="zh-CN" sz="1600" baseline="-25000"/>
              <a:t>K</a:t>
            </a:r>
            <a:r>
              <a:rPr lang="en-US" altLang="zh-CN" sz="1600"/>
              <a:t>.</a:t>
            </a:r>
            <a:endParaRPr lang="en-US" altLang="zh-CN" sz="1600"/>
          </a:p>
        </p:txBody>
      </p:sp>
      <p:pic>
        <p:nvPicPr>
          <p:cNvPr id="22" name="图片 21"/>
          <p:cNvPicPr>
            <a:picLocks noChangeAspect="1"/>
          </p:cNvPicPr>
          <p:nvPr/>
        </p:nvPicPr>
        <p:blipFill>
          <a:blip r:embed="rId2"/>
          <a:stretch>
            <a:fillRect/>
          </a:stretch>
        </p:blipFill>
        <p:spPr>
          <a:xfrm>
            <a:off x="8124825" y="3301365"/>
            <a:ext cx="929640" cy="266700"/>
          </a:xfrm>
          <a:prstGeom prst="rect">
            <a:avLst/>
          </a:prstGeom>
        </p:spPr>
      </p:pic>
      <p:sp>
        <p:nvSpPr>
          <p:cNvPr id="26" name="文本框 25"/>
          <p:cNvSpPr txBox="1"/>
          <p:nvPr/>
        </p:nvSpPr>
        <p:spPr>
          <a:xfrm>
            <a:off x="985520" y="3528695"/>
            <a:ext cx="10048240" cy="583565"/>
          </a:xfrm>
          <a:prstGeom prst="rect">
            <a:avLst/>
          </a:prstGeom>
        </p:spPr>
        <p:txBody>
          <a:bodyPr wrap="square">
            <a:spAutoFit/>
          </a:bodyPr>
          <a:p>
            <a:r>
              <a:rPr lang="en-US" altLang="zh-CN" sz="1600"/>
              <a:t>To fit the regression model using dimension-reduced predictors, achieving an optimal relationship between predictors and returns.</a:t>
            </a:r>
            <a:endParaRPr lang="en-US" altLang="zh-CN" sz="1600"/>
          </a:p>
        </p:txBody>
      </p:sp>
      <p:pic>
        <p:nvPicPr>
          <p:cNvPr id="27" name="图片 26"/>
          <p:cNvPicPr>
            <a:picLocks noChangeAspect="1"/>
          </p:cNvPicPr>
          <p:nvPr/>
        </p:nvPicPr>
        <p:blipFill>
          <a:blip r:embed="rId3"/>
          <a:stretch>
            <a:fillRect/>
          </a:stretch>
        </p:blipFill>
        <p:spPr>
          <a:xfrm>
            <a:off x="1538605" y="4531360"/>
            <a:ext cx="1226820" cy="243840"/>
          </a:xfrm>
          <a:prstGeom prst="rect">
            <a:avLst/>
          </a:prstGeom>
        </p:spPr>
      </p:pic>
      <p:sp>
        <p:nvSpPr>
          <p:cNvPr id="30" name="文本框 29"/>
          <p:cNvSpPr txBox="1"/>
          <p:nvPr/>
        </p:nvSpPr>
        <p:spPr>
          <a:xfrm>
            <a:off x="1061720" y="4773930"/>
            <a:ext cx="7773035" cy="583565"/>
          </a:xfrm>
          <a:prstGeom prst="rect">
            <a:avLst/>
          </a:prstGeom>
        </p:spPr>
        <p:txBody>
          <a:bodyPr wrap="square">
            <a:spAutoFit/>
          </a:bodyPr>
          <a:p>
            <a:r>
              <a:rPr lang="en-US" altLang="zh-CN" sz="1600"/>
              <a:t>θ^</a:t>
            </a:r>
            <a:r>
              <a:rPr lang="en-US" altLang="zh-CN" sz="1600" baseline="30000"/>
              <a:t>K​</a:t>
            </a:r>
            <a:r>
              <a:rPr lang="en-US" altLang="zh-CN" sz="1600"/>
              <a:t>:The estimated regression coefficients from the reduced model.</a:t>
            </a:r>
            <a:endParaRPr lang="en-US" altLang="zh-CN" sz="1600"/>
          </a:p>
          <a:p>
            <a:r>
              <a:rPr lang="en-US" altLang="zh-CN" sz="1600"/>
              <a:t>R^:The predicted excess returns for all assets and time periods.</a:t>
            </a:r>
            <a:endParaRPr lang="en-US" altLang="zh-CN" sz="1600"/>
          </a:p>
        </p:txBody>
      </p:sp>
      <p:pic>
        <p:nvPicPr>
          <p:cNvPr id="31" name="图片 30"/>
          <p:cNvPicPr>
            <a:picLocks noChangeAspect="1"/>
          </p:cNvPicPr>
          <p:nvPr/>
        </p:nvPicPr>
        <p:blipFill>
          <a:blip r:embed="rId4"/>
          <a:stretch>
            <a:fillRect/>
          </a:stretch>
        </p:blipFill>
        <p:spPr>
          <a:xfrm>
            <a:off x="1137285" y="4681855"/>
            <a:ext cx="284480" cy="367665"/>
          </a:xfrm>
          <a:prstGeom prst="rect">
            <a:avLst/>
          </a:prstGeom>
        </p:spPr>
      </p:pic>
      <p:pic>
        <p:nvPicPr>
          <p:cNvPr id="32" name="图片 31"/>
          <p:cNvPicPr>
            <a:picLocks noChangeAspect="1"/>
          </p:cNvPicPr>
          <p:nvPr/>
        </p:nvPicPr>
        <p:blipFill>
          <a:blip r:embed="rId5"/>
          <a:stretch>
            <a:fillRect/>
          </a:stretch>
        </p:blipFill>
        <p:spPr>
          <a:xfrm>
            <a:off x="1137285" y="5033010"/>
            <a:ext cx="213360" cy="228600"/>
          </a:xfrm>
          <a:prstGeom prst="rect">
            <a:avLst/>
          </a:prstGeom>
        </p:spPr>
      </p:pic>
      <p:sp>
        <p:nvSpPr>
          <p:cNvPr id="33" name="文本框 32"/>
          <p:cNvSpPr txBox="1"/>
          <p:nvPr/>
        </p:nvSpPr>
        <p:spPr>
          <a:xfrm>
            <a:off x="1117600" y="5349875"/>
            <a:ext cx="10274935" cy="337185"/>
          </a:xfrm>
          <a:prstGeom prst="rect">
            <a:avLst/>
          </a:prstGeom>
        </p:spPr>
        <p:txBody>
          <a:bodyPr wrap="square">
            <a:spAutoFit/>
          </a:bodyPr>
          <a:p>
            <a:r>
              <a:rPr lang="en-US" altLang="zh-CN" sz="1600"/>
              <a:t>Multiply ZΩ</a:t>
            </a:r>
            <a:r>
              <a:rPr lang="en-US" altLang="zh-CN" sz="1600" baseline="-25000"/>
              <a:t>K</a:t>
            </a:r>
            <a:r>
              <a:rPr lang="en-US" altLang="zh-CN" sz="1600"/>
              <a:t>   by the estimated coefficients θ^. Compute R^ as the predicted returns for future periods.</a:t>
            </a:r>
            <a:endParaRPr lang="en-US" altLang="zh-CN" sz="1600"/>
          </a:p>
        </p:txBody>
      </p:sp>
      <p:pic>
        <p:nvPicPr>
          <p:cNvPr id="34" name="图片 33"/>
          <p:cNvPicPr>
            <a:picLocks noChangeAspect="1"/>
          </p:cNvPicPr>
          <p:nvPr/>
        </p:nvPicPr>
        <p:blipFill>
          <a:blip r:embed="rId6"/>
          <a:stretch>
            <a:fillRect/>
          </a:stretch>
        </p:blipFill>
        <p:spPr>
          <a:xfrm>
            <a:off x="1925955" y="5420995"/>
            <a:ext cx="396240" cy="205740"/>
          </a:xfrm>
          <a:prstGeom prst="rect">
            <a:avLst/>
          </a:prstGeom>
        </p:spPr>
      </p:pic>
      <p:pic>
        <p:nvPicPr>
          <p:cNvPr id="35" name="图片 34"/>
          <p:cNvPicPr>
            <a:picLocks noChangeAspect="1"/>
          </p:cNvPicPr>
          <p:nvPr/>
        </p:nvPicPr>
        <p:blipFill>
          <a:blip r:embed="rId7"/>
          <a:stretch>
            <a:fillRect/>
          </a:stretch>
        </p:blipFill>
        <p:spPr>
          <a:xfrm>
            <a:off x="4787900" y="5360035"/>
            <a:ext cx="243840" cy="266700"/>
          </a:xfrm>
          <a:prstGeom prst="rect">
            <a:avLst/>
          </a:prstGeom>
        </p:spPr>
      </p:pic>
      <p:pic>
        <p:nvPicPr>
          <p:cNvPr id="36" name="图片 35"/>
          <p:cNvPicPr>
            <a:picLocks noChangeAspect="1"/>
          </p:cNvPicPr>
          <p:nvPr/>
        </p:nvPicPr>
        <p:blipFill>
          <a:blip r:embed="rId8"/>
          <a:stretch>
            <a:fillRect/>
          </a:stretch>
        </p:blipFill>
        <p:spPr>
          <a:xfrm>
            <a:off x="5915660" y="5339715"/>
            <a:ext cx="194945" cy="276860"/>
          </a:xfrm>
          <a:prstGeom prst="rect">
            <a:avLst/>
          </a:prstGeom>
        </p:spPr>
      </p:pic>
      <p:sp>
        <p:nvSpPr>
          <p:cNvPr id="37" name="文本框 36"/>
          <p:cNvSpPr txBox="1"/>
          <p:nvPr/>
        </p:nvSpPr>
        <p:spPr>
          <a:xfrm>
            <a:off x="1112520" y="5724525"/>
            <a:ext cx="8824595" cy="337185"/>
          </a:xfrm>
          <a:prstGeom prst="rect">
            <a:avLst/>
          </a:prstGeom>
        </p:spPr>
        <p:txBody>
          <a:bodyPr wrap="square">
            <a:spAutoFit/>
          </a:bodyPr>
          <a:p>
            <a:r>
              <a:rPr lang="en-US" altLang="zh-CN" sz="1600"/>
              <a:t>To use the regression model for forecasting future returns based on dimension-reduced predictors.</a:t>
            </a:r>
            <a:endParaRPr lang="en-US" altLang="zh-CN" sz="1600"/>
          </a:p>
        </p:txBody>
      </p:sp>
      <p:pic>
        <p:nvPicPr>
          <p:cNvPr id="18" name="图片 17"/>
          <p:cNvPicPr>
            <a:picLocks noChangeAspect="1"/>
          </p:cNvPicPr>
          <p:nvPr/>
        </p:nvPicPr>
        <p:blipFill>
          <a:blip r:embed="rId9"/>
          <a:stretch>
            <a:fillRect/>
          </a:stretch>
        </p:blipFill>
        <p:spPr>
          <a:xfrm>
            <a:off x="4616450" y="2143125"/>
            <a:ext cx="2628900" cy="464820"/>
          </a:xfrm>
          <a:prstGeom prst="rect">
            <a:avLst/>
          </a:prstGeom>
        </p:spPr>
      </p:pic>
      <p:pic>
        <p:nvPicPr>
          <p:cNvPr id="21" name="图片 20"/>
          <p:cNvPicPr>
            <a:picLocks noChangeAspect="1"/>
          </p:cNvPicPr>
          <p:nvPr/>
        </p:nvPicPr>
        <p:blipFill>
          <a:blip r:embed="rId10"/>
          <a:stretch>
            <a:fillRect/>
          </a:stretch>
        </p:blipFill>
        <p:spPr>
          <a:xfrm>
            <a:off x="7467600" y="2173605"/>
            <a:ext cx="4282440" cy="434340"/>
          </a:xfrm>
          <a:prstGeom prst="rect">
            <a:avLst/>
          </a:prstGeom>
        </p:spPr>
      </p:pic>
      <p:pic>
        <p:nvPicPr>
          <p:cNvPr id="23" name="图片 22"/>
          <p:cNvPicPr>
            <a:picLocks noChangeAspect="1"/>
          </p:cNvPicPr>
          <p:nvPr/>
        </p:nvPicPr>
        <p:blipFill>
          <a:blip r:embed="rId11"/>
          <a:stretch>
            <a:fillRect/>
          </a:stretch>
        </p:blipFill>
        <p:spPr>
          <a:xfrm>
            <a:off x="2882265" y="4585970"/>
            <a:ext cx="3032760" cy="205740"/>
          </a:xfrm>
          <a:prstGeom prst="rect">
            <a:avLst/>
          </a:prstGeom>
        </p:spPr>
      </p:pic>
      <p:pic>
        <p:nvPicPr>
          <p:cNvPr id="24" name="图片 23"/>
          <p:cNvPicPr>
            <a:picLocks noChangeAspect="1"/>
          </p:cNvPicPr>
          <p:nvPr/>
        </p:nvPicPr>
        <p:blipFill>
          <a:blip r:embed="rId12"/>
          <a:stretch>
            <a:fillRect/>
          </a:stretch>
        </p:blipFill>
        <p:spPr>
          <a:xfrm>
            <a:off x="6110605" y="4547870"/>
            <a:ext cx="2522220" cy="24384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Principal Component Regression (PCR)/Partial Least Squares Regression (PLS)</a:t>
            </a: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The sample data construction part is the same as the OLS part.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Hyperparameter tuning and Principal Component Regression (PCR)</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6" name="图片 5"/>
          <p:cNvPicPr>
            <a:picLocks noChangeAspect="1"/>
          </p:cNvPicPr>
          <p:nvPr/>
        </p:nvPicPr>
        <p:blipFill>
          <a:blip r:embed="rId1"/>
          <a:stretch>
            <a:fillRect/>
          </a:stretch>
        </p:blipFill>
        <p:spPr>
          <a:xfrm>
            <a:off x="504190" y="1384300"/>
            <a:ext cx="4152900" cy="1264920"/>
          </a:xfrm>
          <a:prstGeom prst="rect">
            <a:avLst/>
          </a:prstGeom>
        </p:spPr>
      </p:pic>
      <p:sp>
        <p:nvSpPr>
          <p:cNvPr id="2" name="文本框 1"/>
          <p:cNvSpPr txBox="1"/>
          <p:nvPr/>
        </p:nvSpPr>
        <p:spPr>
          <a:xfrm>
            <a:off x="4833620" y="1324293"/>
            <a:ext cx="5080000" cy="1383665"/>
          </a:xfrm>
          <a:prstGeom prst="rect">
            <a:avLst/>
          </a:prstGeom>
        </p:spPr>
        <p:txBody>
          <a:bodyPr>
            <a:spAutoFit/>
          </a:bodyPr>
          <a:p>
            <a:r>
              <a:rPr lang="en-US" altLang="zh-CN" sz="1400"/>
              <a:t>Import numpy for numerical operations</a:t>
            </a:r>
            <a:endParaRPr lang="en-US" altLang="zh-CN" sz="1400"/>
          </a:p>
          <a:p>
            <a:r>
              <a:rPr lang="en-US" altLang="zh-CN" sz="1400"/>
              <a:t>Import pandas for data manipulation</a:t>
            </a:r>
            <a:endParaRPr lang="en-US" altLang="zh-CN" sz="1400"/>
          </a:p>
          <a:p>
            <a:r>
              <a:rPr lang="en-US" altLang="zh-CN" sz="1400"/>
              <a:t>Import train_test_split from sklearn for splitting the dataset </a:t>
            </a:r>
            <a:endParaRPr lang="en-US" altLang="zh-CN" sz="1400"/>
          </a:p>
          <a:p>
            <a:r>
              <a:rPr lang="en-US" altLang="zh-CN" sz="1400"/>
              <a:t>Import PCA for principal component analysis</a:t>
            </a:r>
            <a:endParaRPr lang="en-US" altLang="zh-CN" sz="1400"/>
          </a:p>
          <a:p>
            <a:r>
              <a:rPr lang="en-US" altLang="zh-CN" sz="1400"/>
              <a:t>Import PLSRegression for partial least squares regression</a:t>
            </a:r>
            <a:endParaRPr lang="en-US" altLang="zh-CN" sz="1400"/>
          </a:p>
          <a:p>
            <a:r>
              <a:rPr lang="en-US" altLang="zh-CN" sz="1400"/>
              <a:t>Import LinearRegression for linear regression </a:t>
            </a:r>
            <a:endParaRPr lang="en-US" altLang="zh-CN" sz="1400"/>
          </a:p>
        </p:txBody>
      </p:sp>
      <p:pic>
        <p:nvPicPr>
          <p:cNvPr id="10" name="图片 9"/>
          <p:cNvPicPr>
            <a:picLocks noChangeAspect="1"/>
          </p:cNvPicPr>
          <p:nvPr/>
        </p:nvPicPr>
        <p:blipFill>
          <a:blip r:embed="rId2"/>
          <a:stretch>
            <a:fillRect/>
          </a:stretch>
        </p:blipFill>
        <p:spPr>
          <a:xfrm>
            <a:off x="323215" y="3932555"/>
            <a:ext cx="4663440" cy="2804160"/>
          </a:xfrm>
          <a:prstGeom prst="rect">
            <a:avLst/>
          </a:prstGeom>
        </p:spPr>
      </p:pic>
      <p:sp>
        <p:nvSpPr>
          <p:cNvPr id="5" name="文本框 4"/>
          <p:cNvSpPr txBox="1"/>
          <p:nvPr/>
        </p:nvSpPr>
        <p:spPr>
          <a:xfrm>
            <a:off x="5089525" y="3878580"/>
            <a:ext cx="5883910" cy="2891790"/>
          </a:xfrm>
          <a:prstGeom prst="rect">
            <a:avLst/>
          </a:prstGeom>
        </p:spPr>
        <p:txBody>
          <a:bodyPr wrap="square">
            <a:spAutoFit/>
          </a:bodyPr>
          <a:p>
            <a:r>
              <a:rPr lang="en-US" altLang="zh-CN" sz="1400"/>
              <a:t>Initialize the best PCR MSE as infinity</a:t>
            </a:r>
            <a:endParaRPr lang="en-US" altLang="zh-CN" sz="1400"/>
          </a:p>
          <a:p>
            <a:r>
              <a:rPr lang="en-US" altLang="zh-CN" sz="1400"/>
              <a:t>Initialize the best number of PCR components as None</a:t>
            </a:r>
            <a:endParaRPr lang="en-US" altLang="zh-CN" sz="1400"/>
          </a:p>
          <a:p>
            <a:r>
              <a:rPr lang="en-US" altLang="zh-CN" sz="1400"/>
              <a:t>Loop over number of components from 1 to min(number of features, 20) </a:t>
            </a:r>
            <a:endParaRPr lang="en-US" altLang="zh-CN" sz="1400"/>
          </a:p>
          <a:p>
            <a:r>
              <a:rPr lang="en-US" altLang="zh-CN" sz="1400"/>
              <a:t>Create a PCA object with the given number of components</a:t>
            </a:r>
            <a:endParaRPr lang="en-US" altLang="zh-CN" sz="1400"/>
          </a:p>
          <a:p>
            <a:r>
              <a:rPr lang="en-US" altLang="zh-CN" sz="1400"/>
              <a:t>Apply PCA to the training data </a:t>
            </a:r>
            <a:endParaRPr lang="en-US" altLang="zh-CN" sz="1400"/>
          </a:p>
          <a:p>
            <a:r>
              <a:rPr lang="en-US" altLang="zh-CN" sz="1400"/>
              <a:t>Transform the validation data using the fitted PCA </a:t>
            </a:r>
            <a:endParaRPr lang="en-US" altLang="zh-CN" sz="1400"/>
          </a:p>
          <a:p>
            <a:r>
              <a:rPr lang="en-US" altLang="zh-CN" sz="1400"/>
              <a:t>Initialize a linear regression model </a:t>
            </a:r>
            <a:endParaRPr lang="en-US" altLang="zh-CN" sz="1400"/>
          </a:p>
          <a:p>
            <a:r>
              <a:rPr lang="en-US" altLang="zh-CN" sz="1400"/>
              <a:t>Fit the linear regression model using the PCA-transformed training data</a:t>
            </a:r>
            <a:endParaRPr lang="en-US" altLang="zh-CN" sz="1400"/>
          </a:p>
          <a:p>
            <a:r>
              <a:rPr lang="en-US" altLang="zh-CN" sz="1400"/>
              <a:t>Predict the returns for the validation set</a:t>
            </a:r>
            <a:endParaRPr lang="en-US" altLang="zh-CN" sz="1400"/>
          </a:p>
          <a:p>
            <a:r>
              <a:rPr lang="en-US" altLang="zh-CN" sz="1400"/>
              <a:t>Calculate the mean squared error (MSE) on the validation set</a:t>
            </a:r>
            <a:endParaRPr lang="en-US" altLang="zh-CN" sz="1400"/>
          </a:p>
          <a:p>
            <a:r>
              <a:rPr lang="en-US" altLang="zh-CN" sz="1400"/>
              <a:t>If the current MSE is lower than the best recorded MSE </a:t>
            </a:r>
            <a:endParaRPr lang="en-US" altLang="zh-CN" sz="1400"/>
          </a:p>
          <a:p>
            <a:r>
              <a:rPr lang="en-US" altLang="zh-CN" sz="1400"/>
              <a:t>Update the best MSE</a:t>
            </a:r>
            <a:endParaRPr lang="en-US" altLang="zh-CN" sz="1400"/>
          </a:p>
          <a:p>
            <a:r>
              <a:rPr lang="en-US" altLang="zh-CN" sz="1400"/>
              <a:t>Update the best number of components</a:t>
            </a:r>
            <a:endParaRPr lang="en-US" altLang="zh-CN" sz="1400"/>
          </a:p>
        </p:txBody>
      </p:sp>
      <p:pic>
        <p:nvPicPr>
          <p:cNvPr id="7" name="图片 6"/>
          <p:cNvPicPr>
            <a:picLocks noChangeAspect="1"/>
          </p:cNvPicPr>
          <p:nvPr/>
        </p:nvPicPr>
        <p:blipFill>
          <a:blip r:embed="rId3"/>
          <a:stretch>
            <a:fillRect/>
          </a:stretch>
        </p:blipFill>
        <p:spPr>
          <a:xfrm>
            <a:off x="9586595" y="5631815"/>
            <a:ext cx="2522220" cy="3505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Principal Component Regression (PCR)/Partial Least Squares Regression (PLS)</a:t>
            </a: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sym typeface="+mn-ea"/>
              </a:rPr>
              <a:t>Train PCR with best hyperparameter</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Hyperparameter tuning and Partial Least Squares Regression</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Train PLS with best hyperparameter</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1"/>
          <a:stretch>
            <a:fillRect/>
          </a:stretch>
        </p:blipFill>
        <p:spPr>
          <a:xfrm>
            <a:off x="518795" y="1335405"/>
            <a:ext cx="3558540" cy="1280160"/>
          </a:xfrm>
          <a:prstGeom prst="rect">
            <a:avLst/>
          </a:prstGeom>
        </p:spPr>
      </p:pic>
      <p:pic>
        <p:nvPicPr>
          <p:cNvPr id="6" name="图片 5"/>
          <p:cNvPicPr>
            <a:picLocks noChangeAspect="1"/>
          </p:cNvPicPr>
          <p:nvPr/>
        </p:nvPicPr>
        <p:blipFill>
          <a:blip r:embed="rId2"/>
          <a:stretch>
            <a:fillRect/>
          </a:stretch>
        </p:blipFill>
        <p:spPr>
          <a:xfrm>
            <a:off x="441960" y="3171190"/>
            <a:ext cx="4671060" cy="2156460"/>
          </a:xfrm>
          <a:prstGeom prst="rect">
            <a:avLst/>
          </a:prstGeom>
        </p:spPr>
      </p:pic>
      <p:pic>
        <p:nvPicPr>
          <p:cNvPr id="7" name="图片 6"/>
          <p:cNvPicPr>
            <a:picLocks noChangeAspect="1"/>
          </p:cNvPicPr>
          <p:nvPr/>
        </p:nvPicPr>
        <p:blipFill>
          <a:blip r:embed="rId3"/>
          <a:stretch>
            <a:fillRect/>
          </a:stretch>
        </p:blipFill>
        <p:spPr>
          <a:xfrm>
            <a:off x="387985" y="5904865"/>
            <a:ext cx="4404360" cy="777240"/>
          </a:xfrm>
          <a:prstGeom prst="rect">
            <a:avLst/>
          </a:prstGeom>
        </p:spPr>
      </p:pic>
      <p:sp>
        <p:nvSpPr>
          <p:cNvPr id="4" name="文本框 3"/>
          <p:cNvSpPr txBox="1"/>
          <p:nvPr/>
        </p:nvSpPr>
        <p:spPr>
          <a:xfrm>
            <a:off x="4294505" y="1264920"/>
            <a:ext cx="5361940" cy="1383665"/>
          </a:xfrm>
          <a:prstGeom prst="rect">
            <a:avLst/>
          </a:prstGeom>
        </p:spPr>
        <p:txBody>
          <a:bodyPr wrap="square">
            <a:spAutoFit/>
          </a:bodyPr>
          <a:p>
            <a:r>
              <a:rPr lang="en-US" altLang="zh-CN" sz="1400"/>
              <a:t>Create a PCA object with the best number of components </a:t>
            </a:r>
            <a:endParaRPr lang="en-US" altLang="zh-CN" sz="1400"/>
          </a:p>
          <a:p>
            <a:r>
              <a:rPr lang="en-US" altLang="zh-CN" sz="1400"/>
              <a:t>Reapply PCA to the training data</a:t>
            </a:r>
            <a:endParaRPr lang="en-US" altLang="zh-CN" sz="1400"/>
          </a:p>
          <a:p>
            <a:r>
              <a:rPr lang="en-US" altLang="zh-CN" sz="1400"/>
              <a:t>Transform the test data using the fitted PCA </a:t>
            </a:r>
            <a:endParaRPr lang="en-US" altLang="zh-CN" sz="1400"/>
          </a:p>
          <a:p>
            <a:r>
              <a:rPr lang="en-US" altLang="zh-CN" sz="1400"/>
              <a:t>Initialize a new linear regression model </a:t>
            </a:r>
            <a:endParaRPr lang="en-US" altLang="zh-CN" sz="1400"/>
          </a:p>
          <a:p>
            <a:r>
              <a:rPr lang="en-US" altLang="zh-CN" sz="1400"/>
              <a:t>Fit the linear regression model on the PCA-transformed training data </a:t>
            </a:r>
            <a:endParaRPr lang="en-US" altLang="zh-CN" sz="1400"/>
          </a:p>
          <a:p>
            <a:r>
              <a:rPr lang="en-US" altLang="zh-CN" sz="1400"/>
              <a:t>Predict the returns for the test set</a:t>
            </a:r>
            <a:endParaRPr lang="en-US" altLang="zh-CN" sz="1400"/>
          </a:p>
        </p:txBody>
      </p:sp>
      <p:sp>
        <p:nvSpPr>
          <p:cNvPr id="5" name="文本框 4"/>
          <p:cNvSpPr txBox="1"/>
          <p:nvPr/>
        </p:nvSpPr>
        <p:spPr>
          <a:xfrm>
            <a:off x="5253355" y="3106420"/>
            <a:ext cx="5909945" cy="2245360"/>
          </a:xfrm>
          <a:prstGeom prst="rect">
            <a:avLst/>
          </a:prstGeom>
        </p:spPr>
        <p:txBody>
          <a:bodyPr wrap="square">
            <a:spAutoFit/>
          </a:bodyPr>
          <a:p>
            <a:r>
              <a:rPr lang="en-US" altLang="zh-CN" sz="1400"/>
              <a:t>Initialize the best PLS MSE as infinity </a:t>
            </a:r>
            <a:endParaRPr lang="en-US" altLang="zh-CN" sz="1400"/>
          </a:p>
          <a:p>
            <a:r>
              <a:rPr lang="en-US" altLang="zh-CN" sz="1400"/>
              <a:t>Initialize the best number of PLS components as None</a:t>
            </a:r>
            <a:endParaRPr lang="en-US" altLang="zh-CN" sz="1400"/>
          </a:p>
          <a:p>
            <a:r>
              <a:rPr lang="en-US" altLang="zh-CN" sz="1400"/>
              <a:t>Loop over number of components from 1 to min(number of features, 20) </a:t>
            </a:r>
            <a:endParaRPr lang="en-US" altLang="zh-CN" sz="1400"/>
          </a:p>
          <a:p>
            <a:r>
              <a:rPr lang="en-US" altLang="zh-CN" sz="1400"/>
              <a:t>Create a PLSRegression object with the given number of components </a:t>
            </a:r>
            <a:endParaRPr lang="en-US" altLang="zh-CN" sz="1400"/>
          </a:p>
          <a:p>
            <a:r>
              <a:rPr lang="en-US" altLang="zh-CN" sz="1400"/>
              <a:t>Fit the PLS model using the training data </a:t>
            </a:r>
            <a:endParaRPr lang="en-US" altLang="zh-CN" sz="1400"/>
          </a:p>
          <a:p>
            <a:r>
              <a:rPr lang="en-US" altLang="zh-CN" sz="1400"/>
              <a:t>Predict the returns for the validation set </a:t>
            </a:r>
            <a:endParaRPr lang="en-US" altLang="zh-CN" sz="1400"/>
          </a:p>
          <a:p>
            <a:r>
              <a:rPr lang="en-US" altLang="zh-CN" sz="1400"/>
              <a:t>Calculate the mean squared error (MSE) on the validation set</a:t>
            </a:r>
            <a:endParaRPr lang="en-US" altLang="zh-CN" sz="1400"/>
          </a:p>
          <a:p>
            <a:r>
              <a:rPr lang="en-US" altLang="zh-CN" sz="1400"/>
              <a:t>If the current MSE is lower than the best recorded MSE </a:t>
            </a:r>
            <a:endParaRPr lang="en-US" altLang="zh-CN" sz="1400"/>
          </a:p>
          <a:p>
            <a:r>
              <a:rPr lang="en-US" altLang="zh-CN" sz="1400"/>
              <a:t>Update the best MSE </a:t>
            </a:r>
            <a:endParaRPr lang="en-US" altLang="zh-CN" sz="1400"/>
          </a:p>
          <a:p>
            <a:r>
              <a:rPr lang="en-US" altLang="zh-CN" sz="1400"/>
              <a:t>Update the best number of components</a:t>
            </a:r>
            <a:endParaRPr lang="en-US" altLang="zh-CN" sz="1400"/>
          </a:p>
        </p:txBody>
      </p:sp>
      <p:sp>
        <p:nvSpPr>
          <p:cNvPr id="8" name="文本框 7"/>
          <p:cNvSpPr txBox="1"/>
          <p:nvPr/>
        </p:nvSpPr>
        <p:spPr>
          <a:xfrm>
            <a:off x="5113020" y="5850255"/>
            <a:ext cx="5080000" cy="737235"/>
          </a:xfrm>
          <a:prstGeom prst="rect">
            <a:avLst/>
          </a:prstGeom>
        </p:spPr>
        <p:txBody>
          <a:bodyPr>
            <a:spAutoFit/>
          </a:bodyPr>
          <a:p>
            <a:r>
              <a:rPr lang="en-US" altLang="zh-CN" sz="1400"/>
              <a:t>Create a PLSRegression object with the best number of components Fit the PLS model using the training data</a:t>
            </a:r>
            <a:endParaRPr lang="en-US" altLang="zh-CN" sz="1400"/>
          </a:p>
          <a:p>
            <a:r>
              <a:rPr lang="en-US" altLang="zh-CN" sz="1400"/>
              <a:t>Predict the returns for the test set and flatten the output</a:t>
            </a:r>
            <a:endParaRPr lang="en-US" altLang="zh-CN" sz="1400"/>
          </a:p>
        </p:txBody>
      </p:sp>
      <p:pic>
        <p:nvPicPr>
          <p:cNvPr id="9" name="图片 8"/>
          <p:cNvPicPr>
            <a:picLocks noChangeAspect="1"/>
          </p:cNvPicPr>
          <p:nvPr/>
        </p:nvPicPr>
        <p:blipFill>
          <a:blip r:embed="rId4"/>
          <a:stretch>
            <a:fillRect/>
          </a:stretch>
        </p:blipFill>
        <p:spPr>
          <a:xfrm>
            <a:off x="8988425" y="4074160"/>
            <a:ext cx="2522220" cy="350520"/>
          </a:xfrm>
          <a:prstGeom prst="rect">
            <a:avLst/>
          </a:prstGeom>
        </p:spPr>
      </p:pic>
      <p:pic>
        <p:nvPicPr>
          <p:cNvPr id="27" name="图片 26"/>
          <p:cNvPicPr>
            <a:picLocks noChangeAspect="1"/>
          </p:cNvPicPr>
          <p:nvPr/>
        </p:nvPicPr>
        <p:blipFill>
          <a:blip r:embed="rId5"/>
          <a:stretch>
            <a:fillRect/>
          </a:stretch>
        </p:blipFill>
        <p:spPr>
          <a:xfrm>
            <a:off x="7039610" y="2404745"/>
            <a:ext cx="1226820" cy="243840"/>
          </a:xfrm>
          <a:prstGeom prst="rect">
            <a:avLst/>
          </a:prstGeom>
        </p:spPr>
      </p:pic>
      <p:pic>
        <p:nvPicPr>
          <p:cNvPr id="11" name="图片 10"/>
          <p:cNvPicPr>
            <a:picLocks noChangeAspect="1"/>
          </p:cNvPicPr>
          <p:nvPr/>
        </p:nvPicPr>
        <p:blipFill>
          <a:blip r:embed="rId5"/>
          <a:stretch>
            <a:fillRect/>
          </a:stretch>
        </p:blipFill>
        <p:spPr>
          <a:xfrm>
            <a:off x="9394825" y="6259195"/>
            <a:ext cx="1226820" cy="2438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Principal Component Regression (PCR)</a:t>
            </a:r>
            <a:r>
              <a:rPr lang="en-US" altLang="zh-CN" sz="2810" dirty="0">
                <a:latin typeface="Calibri Light" panose="020F0302020204030204"/>
                <a:ea typeface="Calibri Light" panose="020F0302020204030204"/>
                <a:cs typeface="Calibri Light" panose="020F0302020204030204"/>
                <a:sym typeface="+mn-ea"/>
              </a:rPr>
              <a:t> Results</a:t>
            </a:r>
            <a:r>
              <a:rPr lang="en-US" altLang="zh-CN" sz="2810" dirty="0">
                <a:latin typeface="Calibri Light" panose="020F0302020204030204"/>
                <a:ea typeface="Calibri Light" panose="020F0302020204030204"/>
                <a:cs typeface="Calibri Light" panose="020F0302020204030204"/>
              </a:rPr>
              <a:t>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3" name="图片 2" descr="PCR-Time Series"/>
          <p:cNvPicPr>
            <a:picLocks noChangeAspect="1"/>
          </p:cNvPicPr>
          <p:nvPr/>
        </p:nvPicPr>
        <p:blipFill>
          <a:blip r:embed="rId1"/>
          <a:stretch>
            <a:fillRect/>
          </a:stretch>
        </p:blipFill>
        <p:spPr>
          <a:xfrm>
            <a:off x="1150620" y="974725"/>
            <a:ext cx="10119995" cy="587311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Partial Least Squares Regression (PLS)</a:t>
            </a:r>
            <a:r>
              <a:rPr lang="en-US" altLang="zh-CN" sz="2810" dirty="0">
                <a:latin typeface="Calibri Light" panose="020F0302020204030204"/>
                <a:ea typeface="Calibri Light" panose="020F0302020204030204"/>
                <a:cs typeface="Calibri Light" panose="020F0302020204030204"/>
                <a:sym typeface="+mn-ea"/>
              </a:rPr>
              <a:t> Results </a:t>
            </a:r>
            <a:r>
              <a:rPr lang="en-US" altLang="zh-CN" sz="2810" dirty="0">
                <a:latin typeface="Calibri Light" panose="020F0302020204030204"/>
                <a:ea typeface="Calibri Light" panose="020F0302020204030204"/>
                <a:cs typeface="Calibri Light" panose="020F0302020204030204"/>
              </a:rPr>
              <a:t>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3" name="图片 2" descr="Pls-Time Series"/>
          <p:cNvPicPr>
            <a:picLocks noChangeAspect="1"/>
          </p:cNvPicPr>
          <p:nvPr/>
        </p:nvPicPr>
        <p:blipFill>
          <a:blip r:embed="rId1"/>
          <a:stretch>
            <a:fillRect/>
          </a:stretch>
        </p:blipFill>
        <p:spPr>
          <a:xfrm>
            <a:off x="1032510" y="956945"/>
            <a:ext cx="10146665" cy="58705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1: Model Setup and Predictor Expansion</a:t>
            </a: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5741035" y="527685"/>
            <a:ext cx="5974715" cy="645160"/>
          </a:xfrm>
          <a:prstGeom prst="rect">
            <a:avLst/>
          </a:prstGeom>
        </p:spPr>
        <p:txBody>
          <a:bodyPr wrap="square">
            <a:spAutoFit/>
          </a:bodyPr>
          <a:p>
            <a:r>
              <a:rPr lang="en-US" altLang="zh-CN" sz="3600"/>
              <a:t>Generalized Linear Regression</a:t>
            </a:r>
            <a:endParaRPr lang="en-US" altLang="zh-CN" sz="3600"/>
          </a:p>
        </p:txBody>
      </p:sp>
      <p:pic>
        <p:nvPicPr>
          <p:cNvPr id="7" name="图片 6"/>
          <p:cNvPicPr>
            <a:picLocks noChangeAspect="1"/>
          </p:cNvPicPr>
          <p:nvPr/>
        </p:nvPicPr>
        <p:blipFill>
          <a:blip r:embed="rId1"/>
          <a:stretch>
            <a:fillRect/>
          </a:stretch>
        </p:blipFill>
        <p:spPr>
          <a:xfrm>
            <a:off x="1611630" y="2180590"/>
            <a:ext cx="2301240" cy="396240"/>
          </a:xfrm>
          <a:prstGeom prst="rect">
            <a:avLst/>
          </a:prstGeom>
        </p:spPr>
      </p:pic>
      <p:sp>
        <p:nvSpPr>
          <p:cNvPr id="12" name="文本框 11"/>
          <p:cNvSpPr txBox="1"/>
          <p:nvPr/>
        </p:nvSpPr>
        <p:spPr>
          <a:xfrm>
            <a:off x="817880" y="2652395"/>
            <a:ext cx="10476230" cy="1814830"/>
          </a:xfrm>
          <a:prstGeom prst="rect">
            <a:avLst/>
          </a:prstGeom>
        </p:spPr>
        <p:txBody>
          <a:bodyPr wrap="square">
            <a:spAutoFit/>
          </a:bodyPr>
          <a:p>
            <a:r>
              <a:rPr lang="en-US" altLang="zh-CN" sz="1600"/>
              <a:t>g(z;θ,p(⋅)): The conditional expected return as modeled by the generalized linear regression.</a:t>
            </a:r>
            <a:endParaRPr lang="en-US" altLang="zh-CN" sz="1600"/>
          </a:p>
          <a:p>
            <a:r>
              <a:rPr lang="en-US" altLang="zh-CN" sz="1600"/>
              <a:t>p(zj): The basis function vector, representing a nonlinear transformation of the original predictor zj</a:t>
            </a:r>
            <a:endParaRPr lang="en-US" altLang="zh-CN" sz="1600"/>
          </a:p>
          <a:p>
            <a:endParaRPr lang="en-US" altLang="zh-CN" sz="1600"/>
          </a:p>
          <a:p>
            <a:endParaRPr lang="en-US" altLang="zh-CN" sz="1600"/>
          </a:p>
          <a:p>
            <a:r>
              <a:rPr lang="en-US" altLang="zh-CN" sz="1600"/>
              <a:t>θj: The regression coefficients associated with the j-th predictor's basis functions.</a:t>
            </a:r>
            <a:endParaRPr lang="en-US" altLang="zh-CN" sz="1600"/>
          </a:p>
          <a:p>
            <a:r>
              <a:rPr lang="en-US" altLang="zh-CN" sz="1600"/>
              <a:t>P: The number of original stock characteristics (predictors). Examples of such characteristics include market capitalization, book-to-market ratio, momentum, and volatility.</a:t>
            </a:r>
            <a:endParaRPr lang="en-US" altLang="zh-CN" sz="1600"/>
          </a:p>
        </p:txBody>
      </p:sp>
      <p:pic>
        <p:nvPicPr>
          <p:cNvPr id="8" name="图片 7"/>
          <p:cNvPicPr>
            <a:picLocks noChangeAspect="1"/>
          </p:cNvPicPr>
          <p:nvPr/>
        </p:nvPicPr>
        <p:blipFill>
          <a:blip r:embed="rId2"/>
          <a:stretch>
            <a:fillRect/>
          </a:stretch>
        </p:blipFill>
        <p:spPr>
          <a:xfrm>
            <a:off x="4699000" y="1377950"/>
            <a:ext cx="7406640" cy="960120"/>
          </a:xfrm>
          <a:prstGeom prst="rect">
            <a:avLst/>
          </a:prstGeom>
        </p:spPr>
      </p:pic>
      <p:pic>
        <p:nvPicPr>
          <p:cNvPr id="18" name="图片 17"/>
          <p:cNvPicPr>
            <a:picLocks noChangeAspect="1"/>
          </p:cNvPicPr>
          <p:nvPr/>
        </p:nvPicPr>
        <p:blipFill>
          <a:blip r:embed="rId3"/>
          <a:stretch>
            <a:fillRect/>
          </a:stretch>
        </p:blipFill>
        <p:spPr>
          <a:xfrm>
            <a:off x="4688205" y="2454275"/>
            <a:ext cx="3672840" cy="243840"/>
          </a:xfrm>
          <a:prstGeom prst="rect">
            <a:avLst/>
          </a:prstGeom>
        </p:spPr>
      </p:pic>
      <p:sp>
        <p:nvSpPr>
          <p:cNvPr id="6" name="文本框 5"/>
          <p:cNvSpPr txBox="1"/>
          <p:nvPr/>
        </p:nvSpPr>
        <p:spPr>
          <a:xfrm>
            <a:off x="1289050" y="3126105"/>
            <a:ext cx="6253480" cy="337185"/>
          </a:xfrm>
          <a:prstGeom prst="rect">
            <a:avLst/>
          </a:prstGeom>
        </p:spPr>
        <p:txBody>
          <a:bodyPr wrap="square">
            <a:spAutoFit/>
          </a:bodyPr>
          <a:p>
            <a:r>
              <a:rPr lang="en-US" altLang="zh-CN" sz="1600"/>
              <a:t>A second-order spline expansion is adopted as the basis function:</a:t>
            </a:r>
            <a:endParaRPr lang="en-US" altLang="zh-CN" sz="1600"/>
          </a:p>
        </p:txBody>
      </p:sp>
      <p:pic>
        <p:nvPicPr>
          <p:cNvPr id="11" name="图片 10"/>
          <p:cNvPicPr>
            <a:picLocks noChangeAspect="1"/>
          </p:cNvPicPr>
          <p:nvPr/>
        </p:nvPicPr>
        <p:blipFill>
          <a:blip r:embed="rId4"/>
          <a:stretch>
            <a:fillRect/>
          </a:stretch>
        </p:blipFill>
        <p:spPr>
          <a:xfrm>
            <a:off x="6847840" y="3150235"/>
            <a:ext cx="3246120" cy="320040"/>
          </a:xfrm>
          <a:prstGeom prst="rect">
            <a:avLst/>
          </a:prstGeom>
        </p:spPr>
      </p:pic>
      <p:sp>
        <p:nvSpPr>
          <p:cNvPr id="13" name="文本框 12"/>
          <p:cNvSpPr txBox="1"/>
          <p:nvPr/>
        </p:nvSpPr>
        <p:spPr>
          <a:xfrm>
            <a:off x="1285240" y="3348355"/>
            <a:ext cx="8711565" cy="337185"/>
          </a:xfrm>
          <a:prstGeom prst="rect">
            <a:avLst/>
          </a:prstGeom>
        </p:spPr>
        <p:txBody>
          <a:bodyPr wrap="square">
            <a:spAutoFit/>
          </a:bodyPr>
          <a:p>
            <a:r>
              <a:rPr lang="en-US" altLang="zh-CN" sz="1600"/>
              <a:t>where c1,c2,...,cK−2 are knots of the spline functions.</a:t>
            </a:r>
            <a:endParaRPr lang="en-US" altLang="zh-CN" sz="1600"/>
          </a:p>
        </p:txBody>
      </p:sp>
      <p:sp>
        <p:nvSpPr>
          <p:cNvPr id="17" name="文本框 16"/>
          <p:cNvSpPr txBox="1"/>
          <p:nvPr/>
        </p:nvSpPr>
        <p:spPr>
          <a:xfrm>
            <a:off x="918210" y="5586095"/>
            <a:ext cx="10633075" cy="1076325"/>
          </a:xfrm>
          <a:prstGeom prst="rect">
            <a:avLst/>
          </a:prstGeom>
        </p:spPr>
        <p:txBody>
          <a:bodyPr wrap="square">
            <a:spAutoFit/>
          </a:bodyPr>
          <a:p>
            <a:r>
              <a:rPr lang="en-US" altLang="zh-CN" sz="1600"/>
              <a:t>The Generalized Linear Model (GLM) extends the classical linear regression model by introducing nonlinear transformations while maintaining interpretability. Spline expansion enables the prediction function g(z;θ,p(⋅)) to better capture nonlinear relationships while avoiding the complexity and lack of interpretability inherent in deep neural networks. Second-order splines allow for smooth data fitting while avoiding excessive oscillations.</a:t>
            </a:r>
            <a:endParaRPr lang="en-US" altLang="zh-CN" sz="1600"/>
          </a:p>
        </p:txBody>
      </p:sp>
      <p:sp>
        <p:nvSpPr>
          <p:cNvPr id="14" name="文本框 13"/>
          <p:cNvSpPr txBox="1"/>
          <p:nvPr/>
        </p:nvSpPr>
        <p:spPr>
          <a:xfrm>
            <a:off x="817880" y="4533900"/>
            <a:ext cx="6318250" cy="337185"/>
          </a:xfrm>
          <a:prstGeom prst="rect">
            <a:avLst/>
          </a:prstGeom>
        </p:spPr>
        <p:txBody>
          <a:bodyPr wrap="square">
            <a:spAutoFit/>
          </a:bodyPr>
          <a:p>
            <a:r>
              <a:rPr lang="en-US" altLang="zh-CN" sz="1600"/>
              <a:t>Standard linear regression assumes a direct linear relationship:</a:t>
            </a:r>
            <a:endParaRPr lang="en-US" altLang="zh-CN" sz="1600"/>
          </a:p>
        </p:txBody>
      </p:sp>
      <p:sp>
        <p:nvSpPr>
          <p:cNvPr id="19" name="文本框 18"/>
          <p:cNvSpPr txBox="1"/>
          <p:nvPr/>
        </p:nvSpPr>
        <p:spPr>
          <a:xfrm>
            <a:off x="838200" y="4899660"/>
            <a:ext cx="10981055" cy="337185"/>
          </a:xfrm>
          <a:prstGeom prst="rect">
            <a:avLst/>
          </a:prstGeom>
        </p:spPr>
        <p:txBody>
          <a:bodyPr wrap="square">
            <a:spAutoFit/>
          </a:bodyPr>
          <a:p>
            <a:r>
              <a:rPr lang="en-US" altLang="zh-CN" sz="1600"/>
              <a:t>Generalized Linear Model (GLM) with spline expansion first transforms zj​ using nonlinear basis functions, then applies regression:</a:t>
            </a:r>
            <a:endParaRPr lang="en-US" altLang="zh-CN" sz="1600"/>
          </a:p>
        </p:txBody>
      </p:sp>
      <p:pic>
        <p:nvPicPr>
          <p:cNvPr id="21" name="图片 20"/>
          <p:cNvPicPr>
            <a:picLocks noChangeAspect="1"/>
          </p:cNvPicPr>
          <p:nvPr/>
        </p:nvPicPr>
        <p:blipFill>
          <a:blip r:embed="rId5"/>
          <a:stretch>
            <a:fillRect/>
          </a:stretch>
        </p:blipFill>
        <p:spPr>
          <a:xfrm>
            <a:off x="6113780" y="4460875"/>
            <a:ext cx="1615440" cy="396240"/>
          </a:xfrm>
          <a:prstGeom prst="rect">
            <a:avLst/>
          </a:prstGeom>
        </p:spPr>
      </p:pic>
      <p:pic>
        <p:nvPicPr>
          <p:cNvPr id="22" name="图片 21"/>
          <p:cNvPicPr>
            <a:picLocks noChangeAspect="1"/>
          </p:cNvPicPr>
          <p:nvPr/>
        </p:nvPicPr>
        <p:blipFill>
          <a:blip r:embed="rId1"/>
          <a:stretch>
            <a:fillRect/>
          </a:stretch>
        </p:blipFill>
        <p:spPr>
          <a:xfrm>
            <a:off x="871220" y="5181600"/>
            <a:ext cx="2301240" cy="39624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sym typeface="+mn-ea"/>
              </a:rPr>
              <a:t>Step 2: Make Predictions Using the Dimension-Reduced Model</a:t>
            </a: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5741035" y="527685"/>
            <a:ext cx="5974715" cy="645160"/>
          </a:xfrm>
          <a:prstGeom prst="rect">
            <a:avLst/>
          </a:prstGeom>
        </p:spPr>
        <p:txBody>
          <a:bodyPr wrap="square">
            <a:spAutoFit/>
          </a:bodyPr>
          <a:p>
            <a:r>
              <a:rPr lang="en-US" altLang="zh-CN" sz="3600"/>
              <a:t>Generalized Linear Regression</a:t>
            </a:r>
            <a:endParaRPr lang="en-US" altLang="zh-CN" sz="3600"/>
          </a:p>
        </p:txBody>
      </p:sp>
      <p:pic>
        <p:nvPicPr>
          <p:cNvPr id="18" name="图片 17"/>
          <p:cNvPicPr>
            <a:picLocks noChangeAspect="1"/>
          </p:cNvPicPr>
          <p:nvPr/>
        </p:nvPicPr>
        <p:blipFill>
          <a:blip r:embed="rId1"/>
          <a:stretch>
            <a:fillRect/>
          </a:stretch>
        </p:blipFill>
        <p:spPr>
          <a:xfrm>
            <a:off x="1351915" y="2172335"/>
            <a:ext cx="2842260" cy="457200"/>
          </a:xfrm>
          <a:prstGeom prst="rect">
            <a:avLst/>
          </a:prstGeom>
        </p:spPr>
      </p:pic>
      <p:sp>
        <p:nvSpPr>
          <p:cNvPr id="6" name="文本框 5"/>
          <p:cNvSpPr txBox="1"/>
          <p:nvPr/>
        </p:nvSpPr>
        <p:spPr>
          <a:xfrm>
            <a:off x="1005840" y="2644775"/>
            <a:ext cx="8927465" cy="1076325"/>
          </a:xfrm>
          <a:prstGeom prst="rect">
            <a:avLst/>
          </a:prstGeom>
        </p:spPr>
        <p:txBody>
          <a:bodyPr wrap="square">
            <a:spAutoFit/>
          </a:bodyPr>
          <a:p>
            <a:r>
              <a:rPr lang="en-US" altLang="zh-CN" sz="1600"/>
              <a:t>ϕ(θ;λ,K): The group lasso penalty function.</a:t>
            </a:r>
            <a:endParaRPr lang="en-US" altLang="zh-CN" sz="1600"/>
          </a:p>
          <a:p>
            <a:r>
              <a:rPr lang="en-US" altLang="zh-CN" sz="1600"/>
              <a:t>λ: The penalization strength, controlling the sparsity of the selected features.</a:t>
            </a:r>
            <a:endParaRPr lang="en-US" altLang="zh-CN" sz="1600"/>
          </a:p>
          <a:p>
            <a:r>
              <a:rPr lang="en-US" altLang="zh-CN" sz="1600"/>
              <a:t>K: The number of basis functions per predictor.</a:t>
            </a:r>
            <a:endParaRPr lang="en-US" altLang="zh-CN" sz="1600"/>
          </a:p>
          <a:p>
            <a:r>
              <a:rPr lang="en-US" altLang="zh-CN" sz="1600"/>
              <a:t>θj,k: The k-th coefficient for the j-th predictor's basis functions.</a:t>
            </a:r>
            <a:endParaRPr lang="en-US" altLang="zh-CN" sz="1600"/>
          </a:p>
        </p:txBody>
      </p:sp>
      <p:sp>
        <p:nvSpPr>
          <p:cNvPr id="8" name="文本框 7"/>
          <p:cNvSpPr txBox="1"/>
          <p:nvPr/>
        </p:nvSpPr>
        <p:spPr>
          <a:xfrm>
            <a:off x="942340" y="3769995"/>
            <a:ext cx="10182860" cy="829945"/>
          </a:xfrm>
          <a:prstGeom prst="rect">
            <a:avLst/>
          </a:prstGeom>
        </p:spPr>
        <p:txBody>
          <a:bodyPr wrap="square">
            <a:spAutoFit/>
          </a:bodyPr>
          <a:p>
            <a:r>
              <a:rPr lang="en-US" altLang="zh-CN" sz="1600"/>
              <a:t>Define the penalty function to apply group-wise shrinkage to the coefficients θj,k of all basis functions for each predictor zj. Ensure that entire groups (all basis functions for a predictor) are either selected or excluded, promoting sparsity at the predictor level.</a:t>
            </a:r>
            <a:endParaRPr lang="en-US" altLang="zh-CN" sz="1600"/>
          </a:p>
        </p:txBody>
      </p:sp>
      <p:sp>
        <p:nvSpPr>
          <p:cNvPr id="11" name="文本框 10"/>
          <p:cNvSpPr txBox="1"/>
          <p:nvPr/>
        </p:nvSpPr>
        <p:spPr>
          <a:xfrm>
            <a:off x="965200" y="4599940"/>
            <a:ext cx="10160635" cy="583565"/>
          </a:xfrm>
          <a:prstGeom prst="rect">
            <a:avLst/>
          </a:prstGeom>
        </p:spPr>
        <p:txBody>
          <a:bodyPr wrap="square">
            <a:spAutoFit/>
          </a:bodyPr>
          <a:p>
            <a:r>
              <a:rPr lang="en-US" altLang="zh-CN" sz="1600"/>
              <a:t>To regularize the model by reducing overfitting, especially in the high-dimensional setting where predictors are expanded into many basis functions.</a:t>
            </a:r>
            <a:endParaRPr lang="en-US" altLang="zh-CN" sz="1600"/>
          </a:p>
        </p:txBody>
      </p:sp>
      <p:pic>
        <p:nvPicPr>
          <p:cNvPr id="12" name="图片 11"/>
          <p:cNvPicPr>
            <a:picLocks noChangeAspect="1"/>
          </p:cNvPicPr>
          <p:nvPr/>
        </p:nvPicPr>
        <p:blipFill>
          <a:blip r:embed="rId2"/>
          <a:stretch>
            <a:fillRect/>
          </a:stretch>
        </p:blipFill>
        <p:spPr>
          <a:xfrm>
            <a:off x="4876800" y="2482215"/>
            <a:ext cx="6477000" cy="28194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sym typeface="+mn-ea"/>
              </a:rPr>
              <a:t>Step 3: Optimization of the Penalized Loss Function</a:t>
            </a: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5741035" y="527685"/>
            <a:ext cx="5974715" cy="645160"/>
          </a:xfrm>
          <a:prstGeom prst="rect">
            <a:avLst/>
          </a:prstGeom>
        </p:spPr>
        <p:txBody>
          <a:bodyPr wrap="square">
            <a:spAutoFit/>
          </a:bodyPr>
          <a:p>
            <a:r>
              <a:rPr lang="en-US" altLang="zh-CN" sz="3600"/>
              <a:t>Generalized Linear Regression</a:t>
            </a:r>
            <a:endParaRPr lang="en-US" altLang="zh-CN" sz="3600"/>
          </a:p>
        </p:txBody>
      </p:sp>
      <p:sp>
        <p:nvSpPr>
          <p:cNvPr id="7" name="文本框 6"/>
          <p:cNvSpPr txBox="1"/>
          <p:nvPr/>
        </p:nvSpPr>
        <p:spPr>
          <a:xfrm>
            <a:off x="932180" y="2171383"/>
            <a:ext cx="5080000" cy="337185"/>
          </a:xfrm>
          <a:prstGeom prst="rect">
            <a:avLst/>
          </a:prstGeom>
        </p:spPr>
        <p:txBody>
          <a:bodyPr>
            <a:spAutoFit/>
          </a:bodyPr>
          <a:p>
            <a:r>
              <a:rPr lang="en-US" altLang="zh-CN" sz="1600"/>
              <a:t>The combined full objective function in a single line is:</a:t>
            </a:r>
            <a:endParaRPr lang="en-US" altLang="zh-CN" sz="1600"/>
          </a:p>
        </p:txBody>
      </p:sp>
      <p:pic>
        <p:nvPicPr>
          <p:cNvPr id="12" name="图片 11"/>
          <p:cNvPicPr>
            <a:picLocks noChangeAspect="1"/>
          </p:cNvPicPr>
          <p:nvPr/>
        </p:nvPicPr>
        <p:blipFill>
          <a:blip r:embed="rId1"/>
          <a:stretch>
            <a:fillRect/>
          </a:stretch>
        </p:blipFill>
        <p:spPr>
          <a:xfrm>
            <a:off x="1343660" y="2480310"/>
            <a:ext cx="4853940" cy="632460"/>
          </a:xfrm>
          <a:prstGeom prst="rect">
            <a:avLst/>
          </a:prstGeom>
        </p:spPr>
      </p:pic>
      <p:sp>
        <p:nvSpPr>
          <p:cNvPr id="14" name="文本框 13"/>
          <p:cNvSpPr txBox="1"/>
          <p:nvPr/>
        </p:nvSpPr>
        <p:spPr>
          <a:xfrm>
            <a:off x="1005840" y="3112770"/>
            <a:ext cx="10460355" cy="583565"/>
          </a:xfrm>
          <a:prstGeom prst="rect">
            <a:avLst/>
          </a:prstGeom>
        </p:spPr>
        <p:txBody>
          <a:bodyPr wrap="square">
            <a:spAutoFit/>
          </a:bodyPr>
          <a:p>
            <a:r>
              <a:rPr lang="en-US" altLang="zh-CN" sz="1600"/>
              <a:t>Minimize the objective function L(θ;λ,K) with respect to θ using optimization algorithms such as accelerated proximal gradient descent. Tune the hyperparameters λ (penalization strength) and K (number of basis functions) using validation data.</a:t>
            </a:r>
            <a:endParaRPr lang="en-US" altLang="zh-CN" sz="1600"/>
          </a:p>
        </p:txBody>
      </p:sp>
      <p:sp>
        <p:nvSpPr>
          <p:cNvPr id="16" name="文本框 15"/>
          <p:cNvSpPr txBox="1"/>
          <p:nvPr/>
        </p:nvSpPr>
        <p:spPr>
          <a:xfrm>
            <a:off x="995680" y="3696335"/>
            <a:ext cx="10597515" cy="337185"/>
          </a:xfrm>
          <a:prstGeom prst="rect">
            <a:avLst/>
          </a:prstGeom>
        </p:spPr>
        <p:txBody>
          <a:bodyPr wrap="square">
            <a:spAutoFit/>
          </a:bodyPr>
          <a:p>
            <a:r>
              <a:rPr lang="en-US" altLang="zh-CN" sz="1600"/>
              <a:t>To estimate the model coefficients θ while balancing fit quality and complexity through penalization.</a:t>
            </a:r>
            <a:endParaRPr lang="en-US" altLang="zh-CN" sz="1600"/>
          </a:p>
        </p:txBody>
      </p:sp>
      <p:sp>
        <p:nvSpPr>
          <p:cNvPr id="17" name="文本框 16"/>
          <p:cNvSpPr txBox="1"/>
          <p:nvPr/>
        </p:nvSpPr>
        <p:spPr>
          <a:xfrm>
            <a:off x="934720" y="4209733"/>
            <a:ext cx="5080000" cy="337185"/>
          </a:xfrm>
          <a:prstGeom prst="rect">
            <a:avLst/>
          </a:prstGeom>
        </p:spPr>
        <p:txBody>
          <a:bodyPr>
            <a:spAutoFit/>
          </a:bodyPr>
          <a:p>
            <a:r>
              <a:rPr lang="en-US" altLang="zh-CN" sz="1600"/>
              <a:t>Step 4: Out-of-Sample Prediction</a:t>
            </a:r>
            <a:endParaRPr lang="en-US" altLang="zh-CN" sz="1600"/>
          </a:p>
        </p:txBody>
      </p:sp>
      <p:sp>
        <p:nvSpPr>
          <p:cNvPr id="19" name="文本框 18"/>
          <p:cNvSpPr txBox="1"/>
          <p:nvPr/>
        </p:nvSpPr>
        <p:spPr>
          <a:xfrm>
            <a:off x="1005840" y="4464368"/>
            <a:ext cx="5080000" cy="337185"/>
          </a:xfrm>
          <a:prstGeom prst="rect">
            <a:avLst/>
          </a:prstGeom>
        </p:spPr>
        <p:txBody>
          <a:bodyPr>
            <a:spAutoFit/>
          </a:bodyPr>
          <a:p>
            <a:r>
              <a:rPr lang="en-US" altLang="zh-CN" sz="1600"/>
              <a:t>Use the optimized model to predict future returns:</a:t>
            </a:r>
            <a:endParaRPr lang="en-US" altLang="zh-CN" sz="1600"/>
          </a:p>
        </p:txBody>
      </p:sp>
      <p:pic>
        <p:nvPicPr>
          <p:cNvPr id="21" name="图片 20"/>
          <p:cNvPicPr>
            <a:picLocks noChangeAspect="1"/>
          </p:cNvPicPr>
          <p:nvPr/>
        </p:nvPicPr>
        <p:blipFill>
          <a:blip r:embed="rId2"/>
          <a:stretch>
            <a:fillRect/>
          </a:stretch>
        </p:blipFill>
        <p:spPr>
          <a:xfrm>
            <a:off x="5335270" y="4507230"/>
            <a:ext cx="1645920" cy="251460"/>
          </a:xfrm>
          <a:prstGeom prst="rect">
            <a:avLst/>
          </a:prstGeom>
        </p:spPr>
      </p:pic>
      <p:sp>
        <p:nvSpPr>
          <p:cNvPr id="23" name="文本框 22"/>
          <p:cNvSpPr txBox="1"/>
          <p:nvPr/>
        </p:nvSpPr>
        <p:spPr>
          <a:xfrm>
            <a:off x="1066800" y="4728845"/>
            <a:ext cx="9874250" cy="583565"/>
          </a:xfrm>
          <a:prstGeom prst="rect">
            <a:avLst/>
          </a:prstGeom>
        </p:spPr>
        <p:txBody>
          <a:bodyPr wrap="square">
            <a:spAutoFit/>
          </a:bodyPr>
          <a:p>
            <a:r>
              <a:rPr lang="en-US" altLang="zh-CN" sz="1600"/>
              <a:t>θ^: The estimated coefficients after optimization.</a:t>
            </a:r>
            <a:endParaRPr lang="en-US" altLang="zh-CN" sz="1600"/>
          </a:p>
          <a:p>
            <a:r>
              <a:rPr lang="en-US" altLang="zh-CN" sz="1600"/>
              <a:t>g(zi,t;θ^,p(⋅)): The predicted return based on the fitted model.</a:t>
            </a:r>
            <a:endParaRPr lang="en-US" altLang="zh-CN" sz="1600"/>
          </a:p>
        </p:txBody>
      </p:sp>
      <p:sp>
        <p:nvSpPr>
          <p:cNvPr id="24" name="文本框 23"/>
          <p:cNvSpPr txBox="1"/>
          <p:nvPr/>
        </p:nvSpPr>
        <p:spPr>
          <a:xfrm>
            <a:off x="1005840" y="5402580"/>
            <a:ext cx="10791825" cy="583565"/>
          </a:xfrm>
          <a:prstGeom prst="rect">
            <a:avLst/>
          </a:prstGeom>
        </p:spPr>
        <p:txBody>
          <a:bodyPr wrap="square">
            <a:spAutoFit/>
          </a:bodyPr>
          <a:p>
            <a:r>
              <a:rPr lang="en-US" altLang="zh-CN" sz="1600"/>
              <a:t>Apply the basis function transformations p(zj) to new predictors zi,t. Use the fitted coefficients θ^ to compute predictions r^i,t+1.</a:t>
            </a:r>
            <a:endParaRPr lang="en-US" altLang="zh-CN" sz="1600"/>
          </a:p>
          <a:p>
            <a:r>
              <a:rPr lang="en-US" altLang="zh-CN" sz="1600"/>
              <a:t>To produce predictions for asset returns based on the trained and regularized model.</a:t>
            </a:r>
            <a:endParaRPr lang="en-US" altLang="zh-CN" sz="1600"/>
          </a:p>
        </p:txBody>
      </p:sp>
      <p:pic>
        <p:nvPicPr>
          <p:cNvPr id="11" name="图片 10"/>
          <p:cNvPicPr>
            <a:picLocks noChangeAspect="1"/>
          </p:cNvPicPr>
          <p:nvPr/>
        </p:nvPicPr>
        <p:blipFill>
          <a:blip r:embed="rId3"/>
          <a:stretch>
            <a:fillRect/>
          </a:stretch>
        </p:blipFill>
        <p:spPr>
          <a:xfrm>
            <a:off x="6832600" y="2682240"/>
            <a:ext cx="2712720" cy="228600"/>
          </a:xfrm>
          <a:prstGeom prst="rect">
            <a:avLst/>
          </a:prstGeom>
        </p:spPr>
      </p:pic>
      <p:pic>
        <p:nvPicPr>
          <p:cNvPr id="18" name="图片 17"/>
          <p:cNvPicPr>
            <a:picLocks noChangeAspect="1"/>
          </p:cNvPicPr>
          <p:nvPr/>
        </p:nvPicPr>
        <p:blipFill>
          <a:blip r:embed="rId4"/>
          <a:stretch>
            <a:fillRect/>
          </a:stretch>
        </p:blipFill>
        <p:spPr>
          <a:xfrm>
            <a:off x="7268210" y="4511675"/>
            <a:ext cx="3672840" cy="24384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Generalized Linear Regression</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sym typeface="+mn-ea"/>
              </a:rPr>
              <a:t>The sample data construction part is the same as the OLS part</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sym typeface="+mn-ea"/>
              </a:rPr>
              <a:t>Spline transformation</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1"/>
          <a:stretch>
            <a:fillRect/>
          </a:stretch>
        </p:blipFill>
        <p:spPr>
          <a:xfrm>
            <a:off x="726440" y="1038860"/>
            <a:ext cx="4053840" cy="1082040"/>
          </a:xfrm>
          <a:prstGeom prst="rect">
            <a:avLst/>
          </a:prstGeom>
        </p:spPr>
      </p:pic>
      <p:pic>
        <p:nvPicPr>
          <p:cNvPr id="3" name="图片 2"/>
          <p:cNvPicPr>
            <a:picLocks noChangeAspect="1"/>
          </p:cNvPicPr>
          <p:nvPr/>
        </p:nvPicPr>
        <p:blipFill>
          <a:blip r:embed="rId2"/>
          <a:stretch>
            <a:fillRect/>
          </a:stretch>
        </p:blipFill>
        <p:spPr>
          <a:xfrm>
            <a:off x="638175" y="3329940"/>
            <a:ext cx="7406640" cy="960120"/>
          </a:xfrm>
          <a:prstGeom prst="rect">
            <a:avLst/>
          </a:prstGeom>
        </p:spPr>
      </p:pic>
      <p:sp>
        <p:nvSpPr>
          <p:cNvPr id="4" name="文本框 3"/>
          <p:cNvSpPr txBox="1"/>
          <p:nvPr/>
        </p:nvSpPr>
        <p:spPr>
          <a:xfrm>
            <a:off x="638175" y="4404360"/>
            <a:ext cx="6096000" cy="953135"/>
          </a:xfrm>
          <a:prstGeom prst="rect">
            <a:avLst/>
          </a:prstGeom>
          <a:noFill/>
        </p:spPr>
        <p:txBody>
          <a:bodyPr wrap="square" rtlCol="0" anchor="t">
            <a:spAutoFit/>
          </a:bodyPr>
          <a:p>
            <a:r>
              <a:rPr lang="en-US" altLang="zh-CN" sz="1400"/>
              <a:t>Create spline transformer with quadratic splines and 5 uniformly distributed knots</a:t>
            </a:r>
            <a:endParaRPr lang="en-US" altLang="zh-CN" sz="1400"/>
          </a:p>
          <a:p>
            <a:r>
              <a:rPr lang="en-US" altLang="zh-CN" sz="1400"/>
              <a:t>Apply spline transformation to training data</a:t>
            </a:r>
            <a:endParaRPr lang="en-US" altLang="zh-CN" sz="1400"/>
          </a:p>
          <a:p>
            <a:r>
              <a:rPr lang="en-US" altLang="zh-CN" sz="1400"/>
              <a:t>Apply spline transformation to validation data</a:t>
            </a:r>
            <a:endParaRPr lang="en-US" altLang="zh-CN" sz="1400"/>
          </a:p>
          <a:p>
            <a:r>
              <a:rPr lang="en-US" altLang="zh-CN" sz="1400"/>
              <a:t>Apply spline transformation to testing data</a:t>
            </a:r>
            <a:endParaRPr lang="zh-CN" altLang="en-US" sz="1400"/>
          </a:p>
        </p:txBody>
      </p:sp>
      <p:sp>
        <p:nvSpPr>
          <p:cNvPr id="5" name="文本框 4"/>
          <p:cNvSpPr txBox="1"/>
          <p:nvPr/>
        </p:nvSpPr>
        <p:spPr>
          <a:xfrm>
            <a:off x="4873625" y="981710"/>
            <a:ext cx="4846955" cy="1168400"/>
          </a:xfrm>
          <a:prstGeom prst="rect">
            <a:avLst/>
          </a:prstGeom>
          <a:noFill/>
        </p:spPr>
        <p:txBody>
          <a:bodyPr wrap="square" rtlCol="0" anchor="t">
            <a:spAutoFit/>
          </a:bodyPr>
          <a:p>
            <a:r>
              <a:rPr lang="en-US" altLang="zh-CN" sz="1400"/>
              <a:t>Import NumPy library for array and mathematical operations</a:t>
            </a:r>
            <a:endParaRPr lang="en-US" altLang="zh-CN" sz="1400"/>
          </a:p>
          <a:p>
            <a:r>
              <a:rPr lang="en-US" altLang="zh-CN" sz="1400"/>
              <a:t>Import Pandas library for data manipulation and analysis</a:t>
            </a:r>
            <a:endParaRPr lang="en-US" altLang="zh-CN" sz="1400"/>
          </a:p>
          <a:p>
            <a:r>
              <a:rPr lang="en-US" altLang="zh-CN" sz="1400"/>
              <a:t>Import train_test_split from scikit-learn for dataset splitting</a:t>
            </a:r>
            <a:endParaRPr lang="en-US" altLang="zh-CN" sz="1400"/>
          </a:p>
          <a:p>
            <a:r>
              <a:rPr lang="en-US" altLang="zh-CN" sz="1400"/>
              <a:t>Import SplineTransformer for spline basis transformations</a:t>
            </a:r>
            <a:endParaRPr lang="en-US" altLang="zh-CN" sz="1400"/>
          </a:p>
          <a:p>
            <a:r>
              <a:rPr lang="en-US" altLang="zh-CN" sz="1400"/>
              <a:t>Import ElasticNet for Elastic Net regression</a:t>
            </a:r>
            <a:endParaRPr lang="zh-CN" altLang="en-US" sz="1400"/>
          </a:p>
        </p:txBody>
      </p:sp>
      <p:pic>
        <p:nvPicPr>
          <p:cNvPr id="7" name="图片 6"/>
          <p:cNvPicPr>
            <a:picLocks noChangeAspect="1"/>
          </p:cNvPicPr>
          <p:nvPr/>
        </p:nvPicPr>
        <p:blipFill>
          <a:blip r:embed="rId3"/>
          <a:srcRect l="71634" t="-801" r="9961" b="-3365"/>
          <a:stretch>
            <a:fillRect/>
          </a:stretch>
        </p:blipFill>
        <p:spPr>
          <a:xfrm>
            <a:off x="8269605" y="3603625"/>
            <a:ext cx="423545" cy="41275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Generalized Linear Regression</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hyperparameter tuning</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sym typeface="+mn-ea"/>
              </a:rPr>
              <a:t>Predict on the test set</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Split data into training and testing sets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Spline transformation</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4" name="图片 3"/>
          <p:cNvPicPr>
            <a:picLocks noChangeAspect="1"/>
          </p:cNvPicPr>
          <p:nvPr/>
        </p:nvPicPr>
        <p:blipFill>
          <a:blip r:embed="rId1"/>
          <a:stretch>
            <a:fillRect/>
          </a:stretch>
        </p:blipFill>
        <p:spPr>
          <a:xfrm>
            <a:off x="420370" y="1106170"/>
            <a:ext cx="7025640" cy="2857500"/>
          </a:xfrm>
          <a:prstGeom prst="rect">
            <a:avLst/>
          </a:prstGeom>
        </p:spPr>
      </p:pic>
      <p:pic>
        <p:nvPicPr>
          <p:cNvPr id="5" name="图片 4"/>
          <p:cNvPicPr>
            <a:picLocks noChangeAspect="1"/>
          </p:cNvPicPr>
          <p:nvPr/>
        </p:nvPicPr>
        <p:blipFill>
          <a:blip r:embed="rId2"/>
          <a:stretch>
            <a:fillRect/>
          </a:stretch>
        </p:blipFill>
        <p:spPr>
          <a:xfrm>
            <a:off x="518160" y="5287645"/>
            <a:ext cx="3718560" cy="213360"/>
          </a:xfrm>
          <a:prstGeom prst="rect">
            <a:avLst/>
          </a:prstGeom>
        </p:spPr>
      </p:pic>
      <p:sp>
        <p:nvSpPr>
          <p:cNvPr id="2" name="文本框 1"/>
          <p:cNvSpPr txBox="1"/>
          <p:nvPr/>
        </p:nvSpPr>
        <p:spPr>
          <a:xfrm>
            <a:off x="7446010" y="1093470"/>
            <a:ext cx="4352290" cy="2891790"/>
          </a:xfrm>
          <a:prstGeom prst="rect">
            <a:avLst/>
          </a:prstGeom>
        </p:spPr>
        <p:txBody>
          <a:bodyPr wrap="square">
            <a:spAutoFit/>
          </a:bodyPr>
          <a:p>
            <a:r>
              <a:rPr lang="en-US" altLang="zh-CN" sz="1400"/>
              <a:t>Define list of l1_ratio values </a:t>
            </a:r>
            <a:endParaRPr lang="en-US" altLang="zh-CN" sz="1400"/>
          </a:p>
          <a:p>
            <a:r>
              <a:rPr lang="en-US" altLang="zh-CN" sz="1400"/>
              <a:t>Define list of alpha values logarithmically spaced</a:t>
            </a:r>
            <a:endParaRPr lang="en-US" altLang="zh-CN" sz="1400"/>
          </a:p>
          <a:p>
            <a:r>
              <a:rPr lang="en-US" altLang="zh-CN" sz="1400"/>
              <a:t>Initialize best_model as None</a:t>
            </a:r>
            <a:endParaRPr lang="en-US" altLang="zh-CN" sz="1400"/>
          </a:p>
          <a:p>
            <a:r>
              <a:rPr lang="en-US" altLang="zh-CN" sz="1400"/>
              <a:t>Initialize best validation MSE as infinity</a:t>
            </a:r>
            <a:endParaRPr lang="en-US" altLang="zh-CN" sz="1400"/>
          </a:p>
          <a:p>
            <a:r>
              <a:rPr lang="en-US" altLang="zh-CN" sz="1400"/>
              <a:t>Loop over each l1_ratio value</a:t>
            </a:r>
            <a:endParaRPr lang="en-US" altLang="zh-CN" sz="1400"/>
          </a:p>
          <a:p>
            <a:r>
              <a:rPr lang="en-US" altLang="zh-CN" sz="1400"/>
              <a:t>Loop over each alpha value</a:t>
            </a:r>
            <a:endParaRPr lang="en-US" altLang="zh-CN" sz="1400"/>
          </a:p>
          <a:p>
            <a:r>
              <a:rPr lang="en-US" altLang="zh-CN" sz="1400"/>
              <a:t>Initialize ElasticNet model with current hyperparameters</a:t>
            </a:r>
            <a:endParaRPr lang="en-US" altLang="zh-CN" sz="1400"/>
          </a:p>
          <a:p>
            <a:r>
              <a:rPr lang="en-US" altLang="zh-CN" sz="1400"/>
              <a:t>Fit the model on the training data</a:t>
            </a:r>
            <a:endParaRPr lang="en-US" altLang="zh-CN" sz="1400"/>
          </a:p>
          <a:p>
            <a:r>
              <a:rPr lang="en-US" altLang="zh-CN" sz="1400"/>
              <a:t>Predict on the validation set</a:t>
            </a:r>
            <a:endParaRPr lang="en-US" altLang="zh-CN" sz="1400"/>
          </a:p>
          <a:p>
            <a:r>
              <a:rPr lang="en-US" altLang="zh-CN" sz="1400"/>
              <a:t>Compute mean squared error for validation set</a:t>
            </a:r>
            <a:endParaRPr lang="en-US" altLang="zh-CN" sz="1400"/>
          </a:p>
          <a:p>
            <a:r>
              <a:rPr lang="en-US" altLang="zh-CN" sz="1400"/>
              <a:t>If current model performs better, update best model</a:t>
            </a:r>
            <a:endParaRPr lang="en-US" altLang="zh-CN" sz="1400"/>
          </a:p>
          <a:p>
            <a:r>
              <a:rPr lang="en-US" altLang="zh-CN" sz="1400"/>
              <a:t>Update best validation MSE</a:t>
            </a:r>
            <a:endParaRPr lang="en-US" altLang="zh-CN" sz="1400"/>
          </a:p>
          <a:p>
            <a:r>
              <a:rPr lang="en-US" altLang="zh-CN" sz="1400"/>
              <a:t>Set current model as best model</a:t>
            </a:r>
            <a:endParaRPr lang="zh-CN" altLang="en-US" sz="1400"/>
          </a:p>
        </p:txBody>
      </p:sp>
      <p:sp>
        <p:nvSpPr>
          <p:cNvPr id="3" name="文本框 2"/>
          <p:cNvSpPr txBox="1"/>
          <p:nvPr/>
        </p:nvSpPr>
        <p:spPr>
          <a:xfrm>
            <a:off x="4349115" y="5216207"/>
            <a:ext cx="5080000" cy="306705"/>
          </a:xfrm>
          <a:prstGeom prst="rect">
            <a:avLst/>
          </a:prstGeom>
        </p:spPr>
        <p:txBody>
          <a:bodyPr>
            <a:spAutoFit/>
          </a:bodyPr>
          <a:p>
            <a:r>
              <a:rPr lang="en-US" altLang="zh-CN" sz="1400"/>
              <a:t>Predict on the test set using the best model</a:t>
            </a:r>
            <a:endParaRPr lang="en-US" altLang="zh-CN" sz="1400"/>
          </a:p>
        </p:txBody>
      </p:sp>
      <p:pic>
        <p:nvPicPr>
          <p:cNvPr id="12" name="图片 11"/>
          <p:cNvPicPr>
            <a:picLocks noChangeAspect="1"/>
          </p:cNvPicPr>
          <p:nvPr/>
        </p:nvPicPr>
        <p:blipFill>
          <a:blip r:embed="rId3"/>
          <a:stretch>
            <a:fillRect/>
          </a:stretch>
        </p:blipFill>
        <p:spPr>
          <a:xfrm>
            <a:off x="5451475" y="4037965"/>
            <a:ext cx="4853940" cy="632460"/>
          </a:xfrm>
          <a:prstGeom prst="rect">
            <a:avLst/>
          </a:prstGeom>
        </p:spPr>
      </p:pic>
      <p:pic>
        <p:nvPicPr>
          <p:cNvPr id="21" name="图片 20"/>
          <p:cNvPicPr>
            <a:picLocks noChangeAspect="1"/>
          </p:cNvPicPr>
          <p:nvPr/>
        </p:nvPicPr>
        <p:blipFill>
          <a:blip r:embed="rId4"/>
          <a:stretch>
            <a:fillRect/>
          </a:stretch>
        </p:blipFill>
        <p:spPr>
          <a:xfrm>
            <a:off x="7856855" y="5215890"/>
            <a:ext cx="1645920" cy="2514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Generalized Linear Regression</a:t>
            </a:r>
            <a:r>
              <a:rPr lang="en-US" altLang="zh-CN" sz="2810" dirty="0">
                <a:latin typeface="Calibri Light" panose="020F0302020204030204"/>
                <a:ea typeface="Calibri Light" panose="020F0302020204030204"/>
                <a:cs typeface="Calibri Light" panose="020F0302020204030204"/>
                <a:sym typeface="+mn-ea"/>
              </a:rPr>
              <a:t> Results</a:t>
            </a:r>
            <a:r>
              <a:rPr lang="en-US" altLang="zh-CN" sz="2810" dirty="0">
                <a:latin typeface="Calibri Light" panose="020F0302020204030204"/>
                <a:ea typeface="Calibri Light" panose="020F0302020204030204"/>
                <a:cs typeface="Calibri Light" panose="020F0302020204030204"/>
              </a:rPr>
              <a:t>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4" name="图片 3" descr="Generalized Linear-Time Series"/>
          <p:cNvPicPr>
            <a:picLocks noChangeAspect="1"/>
          </p:cNvPicPr>
          <p:nvPr/>
        </p:nvPicPr>
        <p:blipFill>
          <a:blip r:embed="rId1"/>
          <a:stretch>
            <a:fillRect/>
          </a:stretch>
        </p:blipFill>
        <p:spPr>
          <a:xfrm>
            <a:off x="1143635" y="987425"/>
            <a:ext cx="10126980" cy="586041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sym typeface="+mn-ea"/>
              </a:rPr>
              <a:t>Step 1: </a:t>
            </a:r>
            <a:r>
              <a:rPr lang="en-US" altLang="zh-CN" sz="1600"/>
              <a:t>Building a single regression tree model</a:t>
            </a: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735955" y="257492"/>
            <a:ext cx="5080000" cy="1198880"/>
          </a:xfrm>
          <a:prstGeom prst="rect">
            <a:avLst/>
          </a:prstGeom>
        </p:spPr>
        <p:txBody>
          <a:bodyPr>
            <a:spAutoFit/>
          </a:bodyPr>
          <a:p>
            <a:r>
              <a:rPr lang="en-US" altLang="zh-CN" sz="3600"/>
              <a:t>Boosted regression trees and random forests</a:t>
            </a:r>
            <a:endParaRPr lang="en-US" altLang="zh-CN" sz="3600"/>
          </a:p>
        </p:txBody>
      </p:sp>
      <p:pic>
        <p:nvPicPr>
          <p:cNvPr id="11" name="图片 10"/>
          <p:cNvPicPr>
            <a:picLocks noChangeAspect="1"/>
          </p:cNvPicPr>
          <p:nvPr/>
        </p:nvPicPr>
        <p:blipFill>
          <a:blip r:embed="rId1"/>
          <a:stretch>
            <a:fillRect/>
          </a:stretch>
        </p:blipFill>
        <p:spPr>
          <a:xfrm>
            <a:off x="1323340" y="2179955"/>
            <a:ext cx="3086100" cy="617220"/>
          </a:xfrm>
          <a:prstGeom prst="rect">
            <a:avLst/>
          </a:prstGeom>
        </p:spPr>
      </p:pic>
      <p:sp>
        <p:nvSpPr>
          <p:cNvPr id="13" name="文本框 12"/>
          <p:cNvSpPr txBox="1"/>
          <p:nvPr/>
        </p:nvSpPr>
        <p:spPr>
          <a:xfrm>
            <a:off x="606425" y="2730500"/>
            <a:ext cx="10613390" cy="1814830"/>
          </a:xfrm>
          <a:prstGeom prst="rect">
            <a:avLst/>
          </a:prstGeom>
        </p:spPr>
        <p:txBody>
          <a:bodyPr wrap="square">
            <a:spAutoFit/>
          </a:bodyPr>
          <a:p>
            <a:r>
              <a:rPr lang="en-US" altLang="zh-CN" sz="1600"/>
              <a:t>g(zi,t​;θ,K,L):Prediction function of the regression tree for asset i at time t.</a:t>
            </a:r>
            <a:endParaRPr lang="en-US" altLang="zh-CN" sz="1600"/>
          </a:p>
          <a:p>
            <a:r>
              <a:rPr lang="en-US" altLang="zh-CN" sz="1600"/>
              <a:t>zi,t:Predictor vector for asset i at time t.</a:t>
            </a:r>
            <a:endParaRPr lang="en-US" altLang="zh-CN" sz="1600"/>
          </a:p>
          <a:p>
            <a:r>
              <a:rPr lang="en-US" altLang="zh-CN" sz="1600"/>
              <a:t>K:Number of leaves (terminal nodes) in the regression tree.</a:t>
            </a:r>
            <a:endParaRPr lang="en-US" altLang="zh-CN" sz="1600"/>
          </a:p>
          <a:p>
            <a:r>
              <a:rPr lang="en-US" altLang="zh-CN" sz="1600"/>
              <a:t>L:Maximum depth of the regression tree.</a:t>
            </a:r>
            <a:endParaRPr lang="en-US" altLang="zh-CN" sz="1600"/>
          </a:p>
          <a:p>
            <a:r>
              <a:rPr lang="en-US" altLang="zh-CN" sz="1600"/>
              <a:t>θk​:Mean of the target variable (ri,t+1​) within partition Ck(L).</a:t>
            </a:r>
            <a:endParaRPr lang="en-US" altLang="zh-CN" sz="1600"/>
          </a:p>
          <a:p>
            <a:r>
              <a:rPr lang="en-US" altLang="zh-CN" sz="1600"/>
              <a:t>Ck(L):Partition of the predictor space corresponding to the k-th leaf node.</a:t>
            </a:r>
            <a:endParaRPr lang="en-US" altLang="zh-CN" sz="1600"/>
          </a:p>
          <a:p>
            <a:r>
              <a:rPr lang="en-US" altLang="zh-CN" sz="1600"/>
              <a:t>1{zi,t∈Ck(L)}:Indicator function; equals 1 if zi,t​ belongs to partition Ck(L), 0 otherwise.</a:t>
            </a:r>
            <a:endParaRPr lang="en-US" altLang="zh-CN" sz="1600"/>
          </a:p>
        </p:txBody>
      </p:sp>
      <p:sp>
        <p:nvSpPr>
          <p:cNvPr id="18" name="文本框 17"/>
          <p:cNvSpPr txBox="1"/>
          <p:nvPr/>
        </p:nvSpPr>
        <p:spPr>
          <a:xfrm>
            <a:off x="675640" y="4545330"/>
            <a:ext cx="10984865" cy="337185"/>
          </a:xfrm>
          <a:prstGeom prst="rect">
            <a:avLst/>
          </a:prstGeom>
        </p:spPr>
        <p:txBody>
          <a:bodyPr wrap="square">
            <a:spAutoFit/>
          </a:bodyPr>
          <a:p>
            <a:r>
              <a:rPr lang="en-US" altLang="zh-CN" sz="1600"/>
              <a:t>To partition the predictor space into K disjoint regions and assign each region a mean value θk as the prediction.</a:t>
            </a:r>
            <a:endParaRPr lang="en-US" altLang="zh-CN" sz="1600"/>
          </a:p>
        </p:txBody>
      </p:sp>
      <p:sp>
        <p:nvSpPr>
          <p:cNvPr id="28" name="文本框 27"/>
          <p:cNvSpPr txBox="1"/>
          <p:nvPr/>
        </p:nvSpPr>
        <p:spPr>
          <a:xfrm>
            <a:off x="494030" y="5166995"/>
            <a:ext cx="10558145" cy="1322070"/>
          </a:xfrm>
          <a:prstGeom prst="rect">
            <a:avLst/>
          </a:prstGeom>
        </p:spPr>
        <p:txBody>
          <a:bodyPr wrap="square">
            <a:spAutoFit/>
          </a:bodyPr>
          <a:p>
            <a:r>
              <a:rPr lang="en-US" altLang="zh-CN" sz="1600"/>
              <a:t>Figure 1 shows an example with two predictors, “size” and “b/m.” The left panel describes how the tree assigns each observation to a partition based on its predictor values. First, observations are sorted on size. Those above the breakpoint of 0.5 are assigned to Category 3. Those with small size are then further sorted by b/m. Observations with small size and b/m below 0.3 are assigned to Category 1, while those with b/m above 0.3 go into Category 2. Finally, forecasts for observations in each partition are defined as the simple average of the outcome variable’s value among observations in that partition.</a:t>
            </a:r>
            <a:endParaRPr lang="en-US" altLang="zh-CN" sz="1600"/>
          </a:p>
        </p:txBody>
      </p:sp>
      <p:pic>
        <p:nvPicPr>
          <p:cNvPr id="29" name="图片 28"/>
          <p:cNvPicPr>
            <a:picLocks noChangeAspect="1"/>
          </p:cNvPicPr>
          <p:nvPr/>
        </p:nvPicPr>
        <p:blipFill>
          <a:blip r:embed="rId2"/>
          <a:stretch>
            <a:fillRect/>
          </a:stretch>
        </p:blipFill>
        <p:spPr>
          <a:xfrm>
            <a:off x="6877050" y="1320800"/>
            <a:ext cx="5039360" cy="2425700"/>
          </a:xfrm>
          <a:prstGeom prst="rect">
            <a:avLst/>
          </a:prstGeom>
        </p:spPr>
      </p:pic>
      <p:sp>
        <p:nvSpPr>
          <p:cNvPr id="30" name="文本框 29"/>
          <p:cNvSpPr txBox="1"/>
          <p:nvPr/>
        </p:nvSpPr>
        <p:spPr>
          <a:xfrm>
            <a:off x="6918960" y="3736340"/>
            <a:ext cx="5460365" cy="337185"/>
          </a:xfrm>
          <a:prstGeom prst="rect">
            <a:avLst/>
          </a:prstGeom>
        </p:spPr>
        <p:txBody>
          <a:bodyPr wrap="square">
            <a:spAutoFit/>
          </a:bodyPr>
          <a:p>
            <a:r>
              <a:rPr lang="en-US" altLang="zh-CN" sz="1600">
                <a:solidFill>
                  <a:srgbClr val="000000"/>
                </a:solidFill>
                <a:latin typeface="Times-Roman"/>
                <a:ea typeface="Times-Roman"/>
              </a:rPr>
              <a:t>The example in Figure 1 has the following prediction equation:</a:t>
            </a:r>
            <a:endParaRPr lang="en-US" altLang="zh-CN" sz="1600">
              <a:solidFill>
                <a:srgbClr val="000000"/>
              </a:solidFill>
              <a:latin typeface="Times-Roman"/>
              <a:ea typeface="Times-Roman"/>
            </a:endParaRPr>
          </a:p>
        </p:txBody>
      </p:sp>
      <p:pic>
        <p:nvPicPr>
          <p:cNvPr id="31" name="图片 30"/>
          <p:cNvPicPr>
            <a:picLocks noChangeAspect="1"/>
          </p:cNvPicPr>
          <p:nvPr/>
        </p:nvPicPr>
        <p:blipFill>
          <a:blip r:embed="rId3"/>
          <a:stretch>
            <a:fillRect/>
          </a:stretch>
        </p:blipFill>
        <p:spPr>
          <a:xfrm>
            <a:off x="7102475" y="4040505"/>
            <a:ext cx="4960620" cy="24384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2: Build the Tree Structure</a:t>
            </a: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735955" y="257492"/>
            <a:ext cx="5080000" cy="1198880"/>
          </a:xfrm>
          <a:prstGeom prst="rect">
            <a:avLst/>
          </a:prstGeom>
        </p:spPr>
        <p:txBody>
          <a:bodyPr>
            <a:spAutoFit/>
          </a:bodyPr>
          <a:p>
            <a:r>
              <a:rPr lang="en-US" altLang="zh-CN" sz="3600"/>
              <a:t>Boosted regression trees and random forests</a:t>
            </a:r>
            <a:endParaRPr lang="en-US" altLang="zh-CN" sz="3600"/>
          </a:p>
        </p:txBody>
      </p:sp>
      <p:pic>
        <p:nvPicPr>
          <p:cNvPr id="2" name="图片 1"/>
          <p:cNvPicPr>
            <a:picLocks noChangeAspect="1"/>
          </p:cNvPicPr>
          <p:nvPr/>
        </p:nvPicPr>
        <p:blipFill>
          <a:blip r:embed="rId1"/>
          <a:stretch>
            <a:fillRect/>
          </a:stretch>
        </p:blipFill>
        <p:spPr>
          <a:xfrm>
            <a:off x="1357630" y="2179320"/>
            <a:ext cx="4198620" cy="556260"/>
          </a:xfrm>
          <a:prstGeom prst="rect">
            <a:avLst/>
          </a:prstGeom>
        </p:spPr>
      </p:pic>
      <p:sp>
        <p:nvSpPr>
          <p:cNvPr id="7" name="文本框 6"/>
          <p:cNvSpPr txBox="1"/>
          <p:nvPr/>
        </p:nvSpPr>
        <p:spPr>
          <a:xfrm>
            <a:off x="1006475" y="2795905"/>
            <a:ext cx="9248140" cy="1076325"/>
          </a:xfrm>
          <a:prstGeom prst="rect">
            <a:avLst/>
          </a:prstGeom>
        </p:spPr>
        <p:txBody>
          <a:bodyPr wrap="square">
            <a:spAutoFit/>
          </a:bodyPr>
          <a:p>
            <a:r>
              <a:rPr lang="en-US" altLang="zh-CN" sz="1600"/>
              <a:t>H(θ,C): Impurity (or loss) of a partition C.</a:t>
            </a:r>
            <a:endParaRPr lang="en-US" altLang="zh-CN" sz="1600"/>
          </a:p>
          <a:p>
            <a:r>
              <a:rPr lang="en-US" altLang="zh-CN" sz="1600"/>
              <a:t>|C|: Number of observations in partition C.</a:t>
            </a:r>
            <a:endParaRPr lang="en-US" altLang="zh-CN" sz="1600"/>
          </a:p>
          <a:p>
            <a:r>
              <a:rPr lang="en-US" altLang="zh-CN" sz="1600"/>
              <a:t>ri,t+1: Observed outcome for asset i at time t+1 (e.g., realized excess return).</a:t>
            </a:r>
            <a:endParaRPr lang="en-US" altLang="zh-CN" sz="1600"/>
          </a:p>
          <a:p>
            <a:r>
              <a:rPr lang="en-US" altLang="zh-CN" sz="1600"/>
              <a:t>θ: Mean value of ri,t+1 in partition C.</a:t>
            </a:r>
            <a:endParaRPr lang="en-US" altLang="zh-CN" sz="1600"/>
          </a:p>
        </p:txBody>
      </p:sp>
      <p:sp>
        <p:nvSpPr>
          <p:cNvPr id="11" name="文本框 10"/>
          <p:cNvSpPr txBox="1"/>
          <p:nvPr/>
        </p:nvSpPr>
        <p:spPr>
          <a:xfrm>
            <a:off x="440055" y="3821430"/>
            <a:ext cx="11251565" cy="337185"/>
          </a:xfrm>
          <a:prstGeom prst="rect">
            <a:avLst/>
          </a:prstGeom>
        </p:spPr>
        <p:txBody>
          <a:bodyPr wrap="square">
            <a:spAutoFit/>
          </a:bodyPr>
          <a:p>
            <a:r>
              <a:rPr lang="en-US" altLang="zh-CN" sz="1600"/>
              <a:t>For a candidate split, calculate Hsplit=H(θ,C1)+H(θ,C2), where C1 and C2 are the resulting partitions.</a:t>
            </a:r>
            <a:endParaRPr lang="en-US" altLang="zh-CN" sz="1600"/>
          </a:p>
        </p:txBody>
      </p:sp>
      <p:sp>
        <p:nvSpPr>
          <p:cNvPr id="13" name="文本框 12"/>
          <p:cNvSpPr txBox="1"/>
          <p:nvPr/>
        </p:nvSpPr>
        <p:spPr>
          <a:xfrm>
            <a:off x="8743315" y="3821430"/>
            <a:ext cx="3319145" cy="337185"/>
          </a:xfrm>
          <a:prstGeom prst="rect">
            <a:avLst/>
          </a:prstGeom>
        </p:spPr>
        <p:txBody>
          <a:bodyPr wrap="square">
            <a:spAutoFit/>
          </a:bodyPr>
          <a:p>
            <a:r>
              <a:rPr lang="en-US" altLang="zh-CN" sz="1600"/>
              <a:t>Choose the split that minimizes Hsplit.</a:t>
            </a:r>
            <a:endParaRPr lang="en-US" altLang="zh-CN" sz="1600"/>
          </a:p>
        </p:txBody>
      </p:sp>
      <p:sp>
        <p:nvSpPr>
          <p:cNvPr id="17" name="文本框 16"/>
          <p:cNvSpPr txBox="1"/>
          <p:nvPr/>
        </p:nvSpPr>
        <p:spPr>
          <a:xfrm>
            <a:off x="427355" y="4064000"/>
            <a:ext cx="11579860" cy="583565"/>
          </a:xfrm>
          <a:prstGeom prst="rect">
            <a:avLst/>
          </a:prstGeom>
        </p:spPr>
        <p:txBody>
          <a:bodyPr wrap="square">
            <a:spAutoFit/>
          </a:bodyPr>
          <a:p>
            <a:r>
              <a:rPr lang="en-US" altLang="zh-CN" sz="1600"/>
              <a:t>Continue splitting recursively until a pre-specified depth L is reached or other stopping criteria are met (e.g., minimum number of observations per leaf). It ensures each split improves the homogeneity within partitions, minimizing prediction error.</a:t>
            </a:r>
            <a:endParaRPr lang="en-US" altLang="zh-CN" sz="160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3: Combine Trees for Ensemble Methods</a:t>
            </a: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735955" y="257492"/>
            <a:ext cx="5080000" cy="1198880"/>
          </a:xfrm>
          <a:prstGeom prst="rect">
            <a:avLst/>
          </a:prstGeom>
        </p:spPr>
        <p:txBody>
          <a:bodyPr>
            <a:spAutoFit/>
          </a:bodyPr>
          <a:p>
            <a:r>
              <a:rPr lang="en-US" altLang="zh-CN" sz="3600"/>
              <a:t>Boosted regression trees and random forests</a:t>
            </a:r>
            <a:endParaRPr lang="en-US" altLang="zh-CN" sz="3600"/>
          </a:p>
        </p:txBody>
      </p:sp>
      <p:sp>
        <p:nvSpPr>
          <p:cNvPr id="8" name="文本框 7"/>
          <p:cNvSpPr txBox="1"/>
          <p:nvPr/>
        </p:nvSpPr>
        <p:spPr>
          <a:xfrm>
            <a:off x="182245" y="2178685"/>
            <a:ext cx="2841625" cy="337185"/>
          </a:xfrm>
          <a:prstGeom prst="rect">
            <a:avLst/>
          </a:prstGeom>
        </p:spPr>
        <p:txBody>
          <a:bodyPr wrap="square">
            <a:spAutoFit/>
          </a:bodyPr>
          <a:p>
            <a:r>
              <a:rPr lang="en-US" altLang="zh-CN" sz="1600"/>
              <a:t>Boosted Regression Trees (BRT):</a:t>
            </a:r>
            <a:endParaRPr lang="en-US" altLang="zh-CN" sz="1600"/>
          </a:p>
        </p:txBody>
      </p:sp>
      <p:sp>
        <p:nvSpPr>
          <p:cNvPr id="12" name="文本框 11"/>
          <p:cNvSpPr txBox="1"/>
          <p:nvPr/>
        </p:nvSpPr>
        <p:spPr>
          <a:xfrm>
            <a:off x="398780" y="2515870"/>
            <a:ext cx="8154670" cy="583565"/>
          </a:xfrm>
          <a:prstGeom prst="rect">
            <a:avLst/>
          </a:prstGeom>
        </p:spPr>
        <p:txBody>
          <a:bodyPr wrap="square">
            <a:spAutoFit/>
          </a:bodyPr>
          <a:p>
            <a:r>
              <a:rPr lang="en-US" altLang="zh-CN" sz="1600"/>
              <a:t>1.Stepwise Fitting:</a:t>
            </a:r>
            <a:endParaRPr lang="en-US" altLang="zh-CN" sz="1600"/>
          </a:p>
          <a:p>
            <a:pPr>
              <a:buFont typeface="Arial" panose="020B0604020202020204"/>
              <a:buChar char="•"/>
            </a:pPr>
            <a:r>
              <a:rPr lang="en-US" altLang="zh-CN" sz="1600"/>
              <a:t>Fit a shallow tree gb(zi,t) to the residuals from the previous tree:</a:t>
            </a:r>
            <a:endParaRPr lang="en-US" altLang="zh-CN" sz="1600"/>
          </a:p>
        </p:txBody>
      </p:sp>
      <p:pic>
        <p:nvPicPr>
          <p:cNvPr id="14" name="图片 13"/>
          <p:cNvPicPr>
            <a:picLocks noChangeAspect="1"/>
          </p:cNvPicPr>
          <p:nvPr/>
        </p:nvPicPr>
        <p:blipFill>
          <a:blip r:embed="rId1"/>
          <a:stretch>
            <a:fillRect/>
          </a:stretch>
        </p:blipFill>
        <p:spPr>
          <a:xfrm>
            <a:off x="358775" y="3164205"/>
            <a:ext cx="2019300" cy="327660"/>
          </a:xfrm>
          <a:prstGeom prst="rect">
            <a:avLst/>
          </a:prstGeom>
        </p:spPr>
      </p:pic>
      <p:sp>
        <p:nvSpPr>
          <p:cNvPr id="19" name="文本框 18"/>
          <p:cNvSpPr txBox="1"/>
          <p:nvPr/>
        </p:nvSpPr>
        <p:spPr>
          <a:xfrm>
            <a:off x="395605" y="4099560"/>
            <a:ext cx="1668145" cy="337185"/>
          </a:xfrm>
          <a:prstGeom prst="rect">
            <a:avLst/>
          </a:prstGeom>
        </p:spPr>
        <p:txBody>
          <a:bodyPr wrap="square">
            <a:spAutoFit/>
          </a:bodyPr>
          <a:p>
            <a:r>
              <a:rPr lang="en-US" altLang="zh-CN" sz="1600"/>
              <a:t>2.Additive Model:</a:t>
            </a:r>
            <a:endParaRPr lang="en-US" altLang="zh-CN" sz="1600"/>
          </a:p>
        </p:txBody>
      </p:sp>
      <p:sp>
        <p:nvSpPr>
          <p:cNvPr id="20" name="文本框 19"/>
          <p:cNvSpPr txBox="1"/>
          <p:nvPr/>
        </p:nvSpPr>
        <p:spPr>
          <a:xfrm>
            <a:off x="927100" y="4397375"/>
            <a:ext cx="3308985" cy="337185"/>
          </a:xfrm>
          <a:prstGeom prst="rect">
            <a:avLst/>
          </a:prstGeom>
        </p:spPr>
        <p:txBody>
          <a:bodyPr wrap="square">
            <a:spAutoFit/>
          </a:bodyPr>
          <a:p>
            <a:r>
              <a:rPr lang="en-US" altLang="zh-CN" sz="1600"/>
              <a:t>Combine predictions from all  trees:</a:t>
            </a:r>
            <a:endParaRPr lang="en-US" altLang="zh-CN" sz="1600"/>
          </a:p>
        </p:txBody>
      </p:sp>
      <p:sp>
        <p:nvSpPr>
          <p:cNvPr id="22" name="文本框 21"/>
          <p:cNvSpPr txBox="1"/>
          <p:nvPr/>
        </p:nvSpPr>
        <p:spPr>
          <a:xfrm>
            <a:off x="430530" y="5343525"/>
            <a:ext cx="4279900" cy="583565"/>
          </a:xfrm>
          <a:prstGeom prst="rect">
            <a:avLst/>
          </a:prstGeom>
        </p:spPr>
        <p:txBody>
          <a:bodyPr wrap="square">
            <a:spAutoFit/>
          </a:bodyPr>
          <a:p>
            <a:r>
              <a:rPr lang="en-US" altLang="zh-CN" sz="1600"/>
              <a:t>where ν is a shrinkage parameter controlling the contribution of each tree.</a:t>
            </a:r>
            <a:endParaRPr lang="en-US" altLang="zh-CN" sz="1600"/>
          </a:p>
        </p:txBody>
      </p:sp>
      <p:sp>
        <p:nvSpPr>
          <p:cNvPr id="23" name="文本框 22"/>
          <p:cNvSpPr txBox="1"/>
          <p:nvPr/>
        </p:nvSpPr>
        <p:spPr>
          <a:xfrm>
            <a:off x="6203950" y="2189480"/>
            <a:ext cx="2125345" cy="337185"/>
          </a:xfrm>
          <a:prstGeom prst="rect">
            <a:avLst/>
          </a:prstGeom>
        </p:spPr>
        <p:txBody>
          <a:bodyPr wrap="square">
            <a:spAutoFit/>
          </a:bodyPr>
          <a:p>
            <a:r>
              <a:rPr lang="en-US" altLang="zh-CN" sz="1600"/>
              <a:t>Random Forests (RF):</a:t>
            </a:r>
            <a:endParaRPr lang="en-US" altLang="zh-CN" sz="1600"/>
          </a:p>
        </p:txBody>
      </p:sp>
      <p:sp>
        <p:nvSpPr>
          <p:cNvPr id="24" name="文本框 23"/>
          <p:cNvSpPr txBox="1"/>
          <p:nvPr/>
        </p:nvSpPr>
        <p:spPr>
          <a:xfrm>
            <a:off x="6276340" y="2515870"/>
            <a:ext cx="2743200" cy="337185"/>
          </a:xfrm>
          <a:prstGeom prst="rect">
            <a:avLst/>
          </a:prstGeom>
        </p:spPr>
        <p:txBody>
          <a:bodyPr wrap="square">
            <a:spAutoFit/>
          </a:bodyPr>
          <a:p>
            <a:r>
              <a:rPr lang="en-US" altLang="zh-CN" sz="1600"/>
              <a:t>1.Bootstrap Sampling:</a:t>
            </a:r>
            <a:endParaRPr lang="en-US" altLang="zh-CN" sz="1600"/>
          </a:p>
        </p:txBody>
      </p:sp>
      <p:sp>
        <p:nvSpPr>
          <p:cNvPr id="25" name="文本框 24"/>
          <p:cNvSpPr txBox="1"/>
          <p:nvPr/>
        </p:nvSpPr>
        <p:spPr>
          <a:xfrm>
            <a:off x="6276340" y="2834640"/>
            <a:ext cx="4864100" cy="337185"/>
          </a:xfrm>
          <a:prstGeom prst="rect">
            <a:avLst/>
          </a:prstGeom>
        </p:spPr>
        <p:txBody>
          <a:bodyPr wrap="square">
            <a:spAutoFit/>
          </a:bodyPr>
          <a:p>
            <a:r>
              <a:rPr lang="en-US" altLang="zh-CN" sz="1600"/>
              <a:t>Generate B bootstrap samples from the training data.</a:t>
            </a:r>
            <a:endParaRPr lang="en-US" altLang="zh-CN" sz="1600"/>
          </a:p>
        </p:txBody>
      </p:sp>
      <p:sp>
        <p:nvSpPr>
          <p:cNvPr id="26" name="文本框 25"/>
          <p:cNvSpPr txBox="1"/>
          <p:nvPr/>
        </p:nvSpPr>
        <p:spPr>
          <a:xfrm>
            <a:off x="6297930" y="3185160"/>
            <a:ext cx="2648585" cy="337185"/>
          </a:xfrm>
          <a:prstGeom prst="rect">
            <a:avLst/>
          </a:prstGeom>
        </p:spPr>
        <p:txBody>
          <a:bodyPr wrap="square">
            <a:spAutoFit/>
          </a:bodyPr>
          <a:p>
            <a:r>
              <a:rPr lang="en-US" altLang="zh-CN" sz="1600"/>
              <a:t>2.Tree Construction:</a:t>
            </a:r>
            <a:endParaRPr lang="en-US" altLang="zh-CN" sz="1600"/>
          </a:p>
        </p:txBody>
      </p:sp>
      <p:sp>
        <p:nvSpPr>
          <p:cNvPr id="27" name="文本框 26"/>
          <p:cNvSpPr txBox="1"/>
          <p:nvPr/>
        </p:nvSpPr>
        <p:spPr>
          <a:xfrm>
            <a:off x="6297930" y="3525202"/>
            <a:ext cx="5080000" cy="829945"/>
          </a:xfrm>
          <a:prstGeom prst="rect">
            <a:avLst/>
          </a:prstGeom>
        </p:spPr>
        <p:txBody>
          <a:bodyPr>
            <a:spAutoFit/>
          </a:bodyPr>
          <a:p>
            <a:r>
              <a:rPr lang="en-US" altLang="zh-CN" sz="1600"/>
              <a:t>For each sample, grow a tree Tb(zi,t) using a random subset of predictors at each split. Each tree uses formula for predictions:</a:t>
            </a:r>
            <a:endParaRPr lang="en-US" altLang="zh-CN" sz="1600"/>
          </a:p>
        </p:txBody>
      </p:sp>
      <p:pic>
        <p:nvPicPr>
          <p:cNvPr id="28" name="图片 27"/>
          <p:cNvPicPr>
            <a:picLocks noChangeAspect="1"/>
          </p:cNvPicPr>
          <p:nvPr/>
        </p:nvPicPr>
        <p:blipFill>
          <a:blip r:embed="rId2"/>
          <a:stretch>
            <a:fillRect/>
          </a:stretch>
        </p:blipFill>
        <p:spPr>
          <a:xfrm>
            <a:off x="7609205" y="4059555"/>
            <a:ext cx="2522220" cy="624840"/>
          </a:xfrm>
          <a:prstGeom prst="rect">
            <a:avLst/>
          </a:prstGeom>
        </p:spPr>
      </p:pic>
      <p:sp>
        <p:nvSpPr>
          <p:cNvPr id="29" name="文本框 28"/>
          <p:cNvSpPr txBox="1"/>
          <p:nvPr/>
        </p:nvSpPr>
        <p:spPr>
          <a:xfrm>
            <a:off x="6297930" y="4770755"/>
            <a:ext cx="2256155" cy="337185"/>
          </a:xfrm>
          <a:prstGeom prst="rect">
            <a:avLst/>
          </a:prstGeom>
        </p:spPr>
        <p:txBody>
          <a:bodyPr wrap="square">
            <a:spAutoFit/>
          </a:bodyPr>
          <a:p>
            <a:r>
              <a:rPr lang="en-US" altLang="zh-CN" sz="1600"/>
              <a:t>3.Aggregate Predictions:</a:t>
            </a:r>
            <a:endParaRPr lang="en-US" altLang="zh-CN" sz="1600"/>
          </a:p>
        </p:txBody>
      </p:sp>
      <p:sp>
        <p:nvSpPr>
          <p:cNvPr id="31" name="文本框 30"/>
          <p:cNvSpPr txBox="1"/>
          <p:nvPr/>
        </p:nvSpPr>
        <p:spPr>
          <a:xfrm>
            <a:off x="6413500" y="5064760"/>
            <a:ext cx="4964430" cy="337185"/>
          </a:xfrm>
          <a:prstGeom prst="rect">
            <a:avLst/>
          </a:prstGeom>
        </p:spPr>
        <p:txBody>
          <a:bodyPr wrap="square">
            <a:spAutoFit/>
          </a:bodyPr>
          <a:p>
            <a:r>
              <a:rPr lang="en-US" altLang="zh-CN" sz="1600"/>
              <a:t>Average predictions across all B trees:</a:t>
            </a:r>
            <a:endParaRPr lang="en-US" altLang="zh-CN" sz="1600"/>
          </a:p>
        </p:txBody>
      </p:sp>
      <p:pic>
        <p:nvPicPr>
          <p:cNvPr id="32" name="图片 31"/>
          <p:cNvPicPr>
            <a:picLocks noChangeAspect="1"/>
          </p:cNvPicPr>
          <p:nvPr/>
        </p:nvPicPr>
        <p:blipFill>
          <a:blip r:embed="rId3"/>
          <a:stretch>
            <a:fillRect/>
          </a:stretch>
        </p:blipFill>
        <p:spPr>
          <a:xfrm>
            <a:off x="7554595" y="5369560"/>
            <a:ext cx="1844040" cy="624840"/>
          </a:xfrm>
          <a:prstGeom prst="rect">
            <a:avLst/>
          </a:prstGeom>
        </p:spPr>
      </p:pic>
      <p:pic>
        <p:nvPicPr>
          <p:cNvPr id="16" name="图片 15"/>
          <p:cNvPicPr>
            <a:picLocks noChangeAspect="1"/>
          </p:cNvPicPr>
          <p:nvPr/>
        </p:nvPicPr>
        <p:blipFill>
          <a:blip r:embed="rId4"/>
          <a:stretch>
            <a:fillRect/>
          </a:stretch>
        </p:blipFill>
        <p:spPr>
          <a:xfrm>
            <a:off x="2506345" y="3002280"/>
            <a:ext cx="3322320" cy="632460"/>
          </a:xfrm>
          <a:prstGeom prst="rect">
            <a:avLst/>
          </a:prstGeom>
        </p:spPr>
      </p:pic>
      <p:pic>
        <p:nvPicPr>
          <p:cNvPr id="17" name="图片 16"/>
          <p:cNvPicPr>
            <a:picLocks noChangeAspect="1"/>
          </p:cNvPicPr>
          <p:nvPr/>
        </p:nvPicPr>
        <p:blipFill>
          <a:blip r:embed="rId5"/>
          <a:stretch>
            <a:fillRect/>
          </a:stretch>
        </p:blipFill>
        <p:spPr>
          <a:xfrm>
            <a:off x="1233170" y="4822190"/>
            <a:ext cx="2674620" cy="434340"/>
          </a:xfrm>
          <a:prstGeom prst="rect">
            <a:avLst/>
          </a:prstGeom>
        </p:spPr>
      </p:pic>
      <p:pic>
        <p:nvPicPr>
          <p:cNvPr id="11" name="图片 10"/>
          <p:cNvPicPr>
            <a:picLocks noChangeAspect="1"/>
          </p:cNvPicPr>
          <p:nvPr/>
        </p:nvPicPr>
        <p:blipFill>
          <a:blip r:embed="rId6"/>
          <a:stretch>
            <a:fillRect/>
          </a:stretch>
        </p:blipFill>
        <p:spPr>
          <a:xfrm>
            <a:off x="295910" y="6111875"/>
            <a:ext cx="9730740" cy="426720"/>
          </a:xfrm>
          <a:prstGeom prst="rect">
            <a:avLst/>
          </a:prstGeom>
        </p:spPr>
      </p:pic>
      <p:pic>
        <p:nvPicPr>
          <p:cNvPr id="13" name="图片 12"/>
          <p:cNvPicPr>
            <a:picLocks noChangeAspect="1"/>
          </p:cNvPicPr>
          <p:nvPr/>
        </p:nvPicPr>
        <p:blipFill>
          <a:blip r:embed="rId7"/>
          <a:stretch>
            <a:fillRect/>
          </a:stretch>
        </p:blipFill>
        <p:spPr>
          <a:xfrm>
            <a:off x="2063750" y="1452880"/>
            <a:ext cx="10043160" cy="45720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4: Final Prediction</a:t>
            </a: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735955" y="257492"/>
            <a:ext cx="5080000" cy="1198880"/>
          </a:xfrm>
          <a:prstGeom prst="rect">
            <a:avLst/>
          </a:prstGeom>
        </p:spPr>
        <p:txBody>
          <a:bodyPr>
            <a:spAutoFit/>
          </a:bodyPr>
          <a:p>
            <a:r>
              <a:rPr lang="en-US" altLang="zh-CN" sz="3600"/>
              <a:t>Boosted regression trees and random forests</a:t>
            </a:r>
            <a:endParaRPr lang="en-US" altLang="zh-CN" sz="3600"/>
          </a:p>
        </p:txBody>
      </p:sp>
      <p:sp>
        <p:nvSpPr>
          <p:cNvPr id="8" name="文本框 7"/>
          <p:cNvSpPr txBox="1"/>
          <p:nvPr/>
        </p:nvSpPr>
        <p:spPr>
          <a:xfrm>
            <a:off x="1229360" y="2188210"/>
            <a:ext cx="7611110" cy="337185"/>
          </a:xfrm>
          <a:prstGeom prst="rect">
            <a:avLst/>
          </a:prstGeom>
        </p:spPr>
        <p:txBody>
          <a:bodyPr wrap="square">
            <a:spAutoFit/>
          </a:bodyPr>
          <a:p>
            <a:r>
              <a:rPr lang="en-US" altLang="zh-CN" sz="1600"/>
              <a:t>For both BRT and RF, the final prediction for asset i at time t is:</a:t>
            </a:r>
            <a:endParaRPr lang="en-US" altLang="zh-CN" sz="1600"/>
          </a:p>
        </p:txBody>
      </p:sp>
      <p:pic>
        <p:nvPicPr>
          <p:cNvPr id="12" name="图片 11"/>
          <p:cNvPicPr>
            <a:picLocks noChangeAspect="1"/>
          </p:cNvPicPr>
          <p:nvPr/>
        </p:nvPicPr>
        <p:blipFill>
          <a:blip r:embed="rId1"/>
          <a:stretch>
            <a:fillRect/>
          </a:stretch>
        </p:blipFill>
        <p:spPr>
          <a:xfrm>
            <a:off x="5014595" y="2581275"/>
            <a:ext cx="1272540" cy="358140"/>
          </a:xfrm>
          <a:prstGeom prst="rect">
            <a:avLst/>
          </a:prstGeom>
        </p:spPr>
      </p:pic>
      <p:sp>
        <p:nvSpPr>
          <p:cNvPr id="14" name="文本框 13"/>
          <p:cNvSpPr txBox="1"/>
          <p:nvPr/>
        </p:nvSpPr>
        <p:spPr>
          <a:xfrm>
            <a:off x="3465195" y="3037205"/>
            <a:ext cx="4535170" cy="337185"/>
          </a:xfrm>
          <a:prstGeom prst="rect">
            <a:avLst/>
          </a:prstGeom>
        </p:spPr>
        <p:txBody>
          <a:bodyPr wrap="square">
            <a:spAutoFit/>
          </a:bodyPr>
          <a:p>
            <a:r>
              <a:rPr lang="en-US" altLang="zh-CN" sz="1600"/>
              <a:t>where g^(zi,t) is the combined output from all trees.</a:t>
            </a:r>
            <a:endParaRPr lang="en-US" altLang="zh-CN" sz="1600"/>
          </a:p>
        </p:txBody>
      </p:sp>
      <p:pic>
        <p:nvPicPr>
          <p:cNvPr id="11" name="图片 10"/>
          <p:cNvPicPr>
            <a:picLocks noChangeAspect="1"/>
          </p:cNvPicPr>
          <p:nvPr/>
        </p:nvPicPr>
        <p:blipFill>
          <a:blip r:embed="rId2"/>
          <a:stretch>
            <a:fillRect/>
          </a:stretch>
        </p:blipFill>
        <p:spPr>
          <a:xfrm>
            <a:off x="4392295" y="3585845"/>
            <a:ext cx="3291840" cy="213360"/>
          </a:xfrm>
          <a:prstGeom prst="rect">
            <a:avLst/>
          </a:prstGeom>
        </p:spPr>
      </p:pic>
      <p:pic>
        <p:nvPicPr>
          <p:cNvPr id="13" name="图片 12"/>
          <p:cNvPicPr>
            <a:picLocks noChangeAspect="1"/>
          </p:cNvPicPr>
          <p:nvPr/>
        </p:nvPicPr>
        <p:blipFill>
          <a:blip r:embed="rId3"/>
          <a:stretch>
            <a:fillRect/>
          </a:stretch>
        </p:blipFill>
        <p:spPr>
          <a:xfrm>
            <a:off x="4377690" y="3918585"/>
            <a:ext cx="3436620" cy="23622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Boosted regression trees and random forests</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sym typeface="+mn-ea"/>
              </a:rPr>
              <a:t>The sample data construction part is the same as the OLS part.</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sym typeface="+mn-ea"/>
              </a:rPr>
              <a:t>Hyperparameter Optimization for Boosted Regression Trees (BRT)</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Predict for BRT on test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4" name="图片 3"/>
          <p:cNvPicPr>
            <a:picLocks noChangeAspect="1"/>
          </p:cNvPicPr>
          <p:nvPr/>
        </p:nvPicPr>
        <p:blipFill>
          <a:blip r:embed="rId1"/>
          <a:stretch>
            <a:fillRect/>
          </a:stretch>
        </p:blipFill>
        <p:spPr>
          <a:xfrm>
            <a:off x="638175" y="1099820"/>
            <a:ext cx="6118860" cy="838200"/>
          </a:xfrm>
          <a:prstGeom prst="rect">
            <a:avLst/>
          </a:prstGeom>
        </p:spPr>
      </p:pic>
      <p:pic>
        <p:nvPicPr>
          <p:cNvPr id="5" name="图片 4"/>
          <p:cNvPicPr>
            <a:picLocks noChangeAspect="1"/>
          </p:cNvPicPr>
          <p:nvPr/>
        </p:nvPicPr>
        <p:blipFill>
          <a:blip r:embed="rId2"/>
          <a:stretch>
            <a:fillRect/>
          </a:stretch>
        </p:blipFill>
        <p:spPr>
          <a:xfrm>
            <a:off x="344170" y="3137535"/>
            <a:ext cx="7706360" cy="2519045"/>
          </a:xfrm>
          <a:prstGeom prst="rect">
            <a:avLst/>
          </a:prstGeom>
        </p:spPr>
      </p:pic>
      <p:sp>
        <p:nvSpPr>
          <p:cNvPr id="2" name="文本框 1"/>
          <p:cNvSpPr txBox="1"/>
          <p:nvPr/>
        </p:nvSpPr>
        <p:spPr>
          <a:xfrm>
            <a:off x="6797040" y="1045845"/>
            <a:ext cx="4977765" cy="953135"/>
          </a:xfrm>
          <a:prstGeom prst="rect">
            <a:avLst/>
          </a:prstGeom>
          <a:noFill/>
        </p:spPr>
        <p:txBody>
          <a:bodyPr wrap="square" rtlCol="0" anchor="t">
            <a:spAutoFit/>
          </a:bodyPr>
          <a:p>
            <a:r>
              <a:rPr lang="en-US" altLang="zh-CN" sz="1400"/>
              <a:t>Import NumPy for numerical computations</a:t>
            </a:r>
            <a:endParaRPr lang="en-US" altLang="zh-CN" sz="1400"/>
          </a:p>
          <a:p>
            <a:r>
              <a:rPr lang="en-US" altLang="zh-CN" sz="1400"/>
              <a:t>Import Pandas for data processing</a:t>
            </a:r>
            <a:endParaRPr lang="en-US" altLang="zh-CN" sz="1400"/>
          </a:p>
          <a:p>
            <a:r>
              <a:rPr lang="en-US" altLang="zh-CN" sz="1400"/>
              <a:t>Import tool for splitting train and test sets</a:t>
            </a:r>
            <a:endParaRPr lang="en-US" altLang="zh-CN" sz="1400"/>
          </a:p>
          <a:p>
            <a:r>
              <a:rPr lang="en-US" altLang="zh-CN" sz="1400"/>
              <a:t>Import GradientBoostingRegressor and RandomForestRegressor</a:t>
            </a:r>
            <a:endParaRPr lang="zh-CN" altLang="en-US" sz="1400"/>
          </a:p>
        </p:txBody>
      </p:sp>
      <p:sp>
        <p:nvSpPr>
          <p:cNvPr id="3" name="文本框 2"/>
          <p:cNvSpPr txBox="1"/>
          <p:nvPr/>
        </p:nvSpPr>
        <p:spPr>
          <a:xfrm>
            <a:off x="8049895" y="2849245"/>
            <a:ext cx="3973195" cy="3322955"/>
          </a:xfrm>
          <a:prstGeom prst="rect">
            <a:avLst/>
          </a:prstGeom>
          <a:noFill/>
        </p:spPr>
        <p:txBody>
          <a:bodyPr wrap="square" rtlCol="0" anchor="t">
            <a:spAutoFit/>
          </a:bodyPr>
          <a:p>
            <a:r>
              <a:rPr lang="en-US" altLang="zh-CN" sz="1400"/>
              <a:t>Initialize best parameters storage</a:t>
            </a:r>
            <a:endParaRPr lang="en-US" altLang="zh-CN" sz="1400"/>
          </a:p>
          <a:p>
            <a:r>
              <a:rPr lang="en-US" altLang="zh-CN" sz="1400"/>
              <a:t>Initialize best model storage</a:t>
            </a:r>
            <a:endParaRPr lang="en-US" altLang="zh-CN" sz="1400"/>
          </a:p>
          <a:p>
            <a:r>
              <a:rPr lang="en-US" altLang="zh-CN" sz="1400"/>
              <a:t>Set initial RMSE to infinity</a:t>
            </a:r>
            <a:endParaRPr lang="en-US" altLang="zh-CN" sz="1400"/>
          </a:p>
          <a:p>
            <a:r>
              <a:rPr lang="en-US" altLang="zh-CN" sz="1400"/>
              <a:t>Loop through different numbers of decision trees</a:t>
            </a:r>
            <a:endParaRPr lang="en-US" altLang="zh-CN" sz="1400"/>
          </a:p>
          <a:p>
            <a:r>
              <a:rPr lang="en-US" altLang="zh-CN" sz="1400"/>
              <a:t>Loop through different learning rates</a:t>
            </a:r>
            <a:endParaRPr lang="en-US" altLang="zh-CN" sz="1400"/>
          </a:p>
          <a:p>
            <a:r>
              <a:rPr lang="en-US" altLang="zh-CN" sz="1400"/>
              <a:t>Loop through different maximum tree depths</a:t>
            </a:r>
            <a:endParaRPr lang="en-US" altLang="zh-CN" sz="1400"/>
          </a:p>
          <a:p>
            <a:r>
              <a:rPr lang="en-US" altLang="zh-CN" sz="1400"/>
              <a:t>Create BRT model with the current hyperparameter combinationTrain the BRT model on the training set</a:t>
            </a:r>
            <a:endParaRPr lang="en-US" altLang="zh-CN" sz="1400"/>
          </a:p>
          <a:p>
            <a:r>
              <a:rPr lang="en-US" altLang="zh-CN" sz="1400"/>
              <a:t>Predict on validation set</a:t>
            </a:r>
            <a:endParaRPr lang="en-US" altLang="zh-CN" sz="1400"/>
          </a:p>
          <a:p>
            <a:r>
              <a:rPr lang="en-US" altLang="zh-CN" sz="1400"/>
              <a:t>Calculate RMSE on the validation set</a:t>
            </a:r>
            <a:endParaRPr lang="en-US" altLang="zh-CN" sz="1400"/>
          </a:p>
          <a:p>
            <a:r>
              <a:rPr lang="en-US" altLang="zh-CN" sz="1400"/>
              <a:t>Update best parameters if current RMSE is lower than previous best RMSE</a:t>
            </a:r>
            <a:endParaRPr lang="en-US" altLang="zh-CN" sz="1400"/>
          </a:p>
          <a:p>
            <a:r>
              <a:rPr lang="en-US" altLang="zh-CN" sz="1400"/>
              <a:t>Update best RMSE</a:t>
            </a:r>
            <a:endParaRPr lang="en-US" altLang="zh-CN" sz="1400"/>
          </a:p>
          <a:p>
            <a:r>
              <a:rPr lang="en-US" altLang="zh-CN" sz="1400"/>
              <a:t>Update best hyperparameters</a:t>
            </a:r>
            <a:endParaRPr lang="en-US" altLang="zh-CN" sz="1400"/>
          </a:p>
          <a:p>
            <a:r>
              <a:rPr lang="en-US" altLang="zh-CN" sz="1400"/>
              <a:t>Update best model</a:t>
            </a:r>
            <a:endParaRPr lang="zh-CN" altLang="en-US" sz="1400"/>
          </a:p>
        </p:txBody>
      </p:sp>
      <p:pic>
        <p:nvPicPr>
          <p:cNvPr id="10" name="图片 9"/>
          <p:cNvPicPr>
            <a:picLocks noChangeAspect="1"/>
          </p:cNvPicPr>
          <p:nvPr/>
        </p:nvPicPr>
        <p:blipFill>
          <a:blip r:embed="rId3"/>
          <a:stretch>
            <a:fillRect/>
          </a:stretch>
        </p:blipFill>
        <p:spPr>
          <a:xfrm>
            <a:off x="441960" y="6548755"/>
            <a:ext cx="3337560" cy="152400"/>
          </a:xfrm>
          <a:prstGeom prst="rect">
            <a:avLst/>
          </a:prstGeom>
        </p:spPr>
      </p:pic>
      <p:sp>
        <p:nvSpPr>
          <p:cNvPr id="6" name="文本框 5"/>
          <p:cNvSpPr txBox="1"/>
          <p:nvPr/>
        </p:nvSpPr>
        <p:spPr>
          <a:xfrm>
            <a:off x="3921760" y="6461442"/>
            <a:ext cx="5080000" cy="306705"/>
          </a:xfrm>
          <a:prstGeom prst="rect">
            <a:avLst/>
          </a:prstGeom>
        </p:spPr>
        <p:txBody>
          <a:bodyPr>
            <a:spAutoFit/>
          </a:bodyPr>
          <a:p>
            <a:r>
              <a:rPr lang="en-US" altLang="zh-CN" sz="1400"/>
              <a:t>Predict on the test set using the best model</a:t>
            </a:r>
            <a:endParaRPr lang="en-US" altLang="zh-CN" sz="1400"/>
          </a:p>
        </p:txBody>
      </p:sp>
      <p:pic>
        <p:nvPicPr>
          <p:cNvPr id="17" name="图片 16"/>
          <p:cNvPicPr>
            <a:picLocks noChangeAspect="1"/>
          </p:cNvPicPr>
          <p:nvPr/>
        </p:nvPicPr>
        <p:blipFill>
          <a:blip r:embed="rId4"/>
          <a:stretch>
            <a:fillRect/>
          </a:stretch>
        </p:blipFill>
        <p:spPr>
          <a:xfrm>
            <a:off x="441960" y="5701665"/>
            <a:ext cx="2544445" cy="413385"/>
          </a:xfrm>
          <a:prstGeom prst="rect">
            <a:avLst/>
          </a:prstGeom>
        </p:spPr>
      </p:pic>
      <p:pic>
        <p:nvPicPr>
          <p:cNvPr id="8" name="图片 7"/>
          <p:cNvPicPr>
            <a:picLocks noChangeAspect="1"/>
          </p:cNvPicPr>
          <p:nvPr/>
        </p:nvPicPr>
        <p:blipFill>
          <a:blip r:embed="rId5"/>
          <a:stretch>
            <a:fillRect/>
          </a:stretch>
        </p:blipFill>
        <p:spPr>
          <a:xfrm>
            <a:off x="3203575" y="5682615"/>
            <a:ext cx="3072765" cy="584835"/>
          </a:xfrm>
          <a:prstGeom prst="rect">
            <a:avLst/>
          </a:prstGeom>
        </p:spPr>
      </p:pic>
      <p:pic>
        <p:nvPicPr>
          <p:cNvPr id="12" name="图片 11"/>
          <p:cNvPicPr>
            <a:picLocks noChangeAspect="1"/>
          </p:cNvPicPr>
          <p:nvPr/>
        </p:nvPicPr>
        <p:blipFill>
          <a:blip r:embed="rId6"/>
          <a:stretch>
            <a:fillRect/>
          </a:stretch>
        </p:blipFill>
        <p:spPr>
          <a:xfrm>
            <a:off x="7481570" y="6343015"/>
            <a:ext cx="1272540" cy="3581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Boosted regression trees and random forests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rPr>
              <a:t>Hyperparameter Optimization for Random Forests (RF)</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Predict for RF on test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11" name="图片 10"/>
          <p:cNvPicPr>
            <a:picLocks noChangeAspect="1"/>
          </p:cNvPicPr>
          <p:nvPr/>
        </p:nvPicPr>
        <p:blipFill>
          <a:blip r:embed="rId1"/>
          <a:stretch>
            <a:fillRect/>
          </a:stretch>
        </p:blipFill>
        <p:spPr>
          <a:xfrm>
            <a:off x="494030" y="913765"/>
            <a:ext cx="10980420" cy="3009900"/>
          </a:xfrm>
          <a:prstGeom prst="rect">
            <a:avLst/>
          </a:prstGeom>
        </p:spPr>
      </p:pic>
      <p:pic>
        <p:nvPicPr>
          <p:cNvPr id="12" name="图片 11"/>
          <p:cNvPicPr>
            <a:picLocks noChangeAspect="1"/>
          </p:cNvPicPr>
          <p:nvPr/>
        </p:nvPicPr>
        <p:blipFill>
          <a:blip r:embed="rId2"/>
          <a:stretch>
            <a:fillRect/>
          </a:stretch>
        </p:blipFill>
        <p:spPr>
          <a:xfrm>
            <a:off x="638175" y="6484620"/>
            <a:ext cx="3291840" cy="175260"/>
          </a:xfrm>
          <a:prstGeom prst="rect">
            <a:avLst/>
          </a:prstGeom>
        </p:spPr>
      </p:pic>
      <p:sp>
        <p:nvSpPr>
          <p:cNvPr id="6" name="文本框 5"/>
          <p:cNvSpPr txBox="1"/>
          <p:nvPr/>
        </p:nvSpPr>
        <p:spPr>
          <a:xfrm>
            <a:off x="3921760" y="6385877"/>
            <a:ext cx="5080000" cy="306705"/>
          </a:xfrm>
          <a:prstGeom prst="rect">
            <a:avLst/>
          </a:prstGeom>
        </p:spPr>
        <p:txBody>
          <a:bodyPr>
            <a:spAutoFit/>
          </a:bodyPr>
          <a:p>
            <a:r>
              <a:rPr lang="en-US" altLang="zh-CN" sz="1400"/>
              <a:t>Predict on the test set using the best model</a:t>
            </a:r>
            <a:endParaRPr lang="en-US" altLang="zh-CN" sz="1400"/>
          </a:p>
        </p:txBody>
      </p:sp>
      <p:sp>
        <p:nvSpPr>
          <p:cNvPr id="4" name="文本框 3"/>
          <p:cNvSpPr txBox="1"/>
          <p:nvPr/>
        </p:nvSpPr>
        <p:spPr>
          <a:xfrm>
            <a:off x="494665" y="3890645"/>
            <a:ext cx="4973320" cy="2122805"/>
          </a:xfrm>
          <a:prstGeom prst="rect">
            <a:avLst/>
          </a:prstGeom>
          <a:noFill/>
        </p:spPr>
        <p:txBody>
          <a:bodyPr wrap="square" rtlCol="0" anchor="t">
            <a:noAutofit/>
          </a:bodyPr>
          <a:p>
            <a:r>
              <a:rPr lang="en-US" altLang="zh-CN" sz="1200"/>
              <a:t>Initialize best parameters storage</a:t>
            </a:r>
            <a:endParaRPr lang="en-US" altLang="zh-CN" sz="1200"/>
          </a:p>
          <a:p>
            <a:r>
              <a:rPr lang="en-US" altLang="zh-CN" sz="1200"/>
              <a:t>Initialize best model storage</a:t>
            </a:r>
            <a:endParaRPr lang="en-US" altLang="zh-CN" sz="1200"/>
          </a:p>
          <a:p>
            <a:r>
              <a:rPr lang="en-US" altLang="zh-CN" sz="1200"/>
              <a:t>Set initial RMSE to infinity</a:t>
            </a:r>
            <a:endParaRPr lang="en-US" altLang="zh-CN" sz="1200"/>
          </a:p>
          <a:p>
            <a:r>
              <a:rPr lang="en-US" altLang="zh-CN" sz="1200"/>
              <a:t>Loop through different hyperparameter combinations to select the best ones</a:t>
            </a:r>
            <a:endParaRPr lang="en-US" altLang="zh-CN" sz="1200"/>
          </a:p>
          <a:p>
            <a:r>
              <a:rPr lang="en-US" altLang="zh-CN" sz="1200"/>
              <a:t>Loop through different numbers of decision trees</a:t>
            </a:r>
            <a:endParaRPr lang="en-US" altLang="zh-CN" sz="1200"/>
          </a:p>
          <a:p>
            <a:r>
              <a:rPr lang="en-US" altLang="zh-CN" sz="1200"/>
              <a:t>Loop through different maximum tree depths</a:t>
            </a:r>
            <a:endParaRPr lang="en-US" altLang="zh-CN" sz="1200"/>
          </a:p>
          <a:p>
            <a:r>
              <a:rPr lang="en-US" altLang="zh-CN" sz="1200"/>
              <a:t>Loop through different minimum samples required for a split         </a:t>
            </a:r>
            <a:endParaRPr lang="en-US" altLang="zh-CN" sz="1200"/>
          </a:p>
          <a:p>
            <a:r>
              <a:rPr lang="en-US" altLang="zh-CN" sz="1200"/>
              <a:t>Create RandomForest model with the current hyperparameter combination  </a:t>
            </a:r>
            <a:endParaRPr lang="en-US" altLang="zh-CN" sz="1200"/>
          </a:p>
          <a:p>
            <a:r>
              <a:rPr lang="en-US" altLang="zh-CN" sz="1200"/>
              <a:t>Train the RandomForest model on the training set</a:t>
            </a:r>
            <a:endParaRPr lang="en-US" altLang="zh-CN" sz="1200"/>
          </a:p>
          <a:p>
            <a:r>
              <a:rPr lang="en-US" altLang="zh-CN" sz="1200"/>
              <a:t>Predict on validation set</a:t>
            </a:r>
            <a:endParaRPr lang="en-US" altLang="zh-CN" sz="1200"/>
          </a:p>
          <a:p>
            <a:r>
              <a:rPr lang="en-US" altLang="zh-CN" sz="1200"/>
              <a:t>Calculate RMSE on the validation set</a:t>
            </a:r>
            <a:endParaRPr lang="en-US" altLang="zh-CN" sz="1200"/>
          </a:p>
          <a:p>
            <a:endParaRPr lang="zh-CN" altLang="en-US" sz="1200"/>
          </a:p>
        </p:txBody>
      </p:sp>
      <p:sp>
        <p:nvSpPr>
          <p:cNvPr id="5" name="文本框 4"/>
          <p:cNvSpPr txBox="1"/>
          <p:nvPr/>
        </p:nvSpPr>
        <p:spPr>
          <a:xfrm>
            <a:off x="6876415" y="3981450"/>
            <a:ext cx="4824095" cy="829945"/>
          </a:xfrm>
          <a:prstGeom prst="rect">
            <a:avLst/>
          </a:prstGeom>
          <a:noFill/>
        </p:spPr>
        <p:txBody>
          <a:bodyPr wrap="square" rtlCol="0" anchor="t">
            <a:spAutoFit/>
          </a:bodyPr>
          <a:p>
            <a:r>
              <a:rPr lang="en-US" altLang="zh-CN" sz="1200">
                <a:sym typeface="+mn-ea"/>
              </a:rPr>
              <a:t>Update best parameters if current RMSE is lower than previous best RMSE</a:t>
            </a:r>
            <a:endParaRPr lang="en-US" altLang="zh-CN" sz="1200"/>
          </a:p>
          <a:p>
            <a:r>
              <a:rPr lang="en-US" altLang="zh-CN" sz="1200">
                <a:sym typeface="+mn-ea"/>
              </a:rPr>
              <a:t>Update best RMSE</a:t>
            </a:r>
            <a:endParaRPr lang="en-US" altLang="zh-CN" sz="1200"/>
          </a:p>
          <a:p>
            <a:r>
              <a:rPr lang="en-US" altLang="zh-CN" sz="1200">
                <a:sym typeface="+mn-ea"/>
              </a:rPr>
              <a:t>Update best hyperparameters</a:t>
            </a:r>
            <a:endParaRPr lang="en-US" altLang="zh-CN" sz="1200"/>
          </a:p>
          <a:p>
            <a:r>
              <a:rPr lang="en-US" altLang="zh-CN" sz="1200">
                <a:sym typeface="+mn-ea"/>
              </a:rPr>
              <a:t>Update best model</a:t>
            </a:r>
            <a:endParaRPr lang="en-US" altLang="zh-CN" sz="1200">
              <a:sym typeface="+mn-ea"/>
            </a:endParaRPr>
          </a:p>
        </p:txBody>
      </p:sp>
      <p:pic>
        <p:nvPicPr>
          <p:cNvPr id="28" name="图片 27"/>
          <p:cNvPicPr>
            <a:picLocks noChangeAspect="1"/>
          </p:cNvPicPr>
          <p:nvPr/>
        </p:nvPicPr>
        <p:blipFill>
          <a:blip r:embed="rId3"/>
          <a:stretch>
            <a:fillRect/>
          </a:stretch>
        </p:blipFill>
        <p:spPr>
          <a:xfrm>
            <a:off x="5908040" y="2397760"/>
            <a:ext cx="2049780" cy="508000"/>
          </a:xfrm>
          <a:prstGeom prst="rect">
            <a:avLst/>
          </a:prstGeom>
        </p:spPr>
      </p:pic>
      <p:pic>
        <p:nvPicPr>
          <p:cNvPr id="32" name="图片 31"/>
          <p:cNvPicPr>
            <a:picLocks noChangeAspect="1"/>
          </p:cNvPicPr>
          <p:nvPr/>
        </p:nvPicPr>
        <p:blipFill>
          <a:blip r:embed="rId4"/>
          <a:stretch>
            <a:fillRect/>
          </a:stretch>
        </p:blipFill>
        <p:spPr>
          <a:xfrm>
            <a:off x="8292465" y="2397760"/>
            <a:ext cx="1497965" cy="508000"/>
          </a:xfrm>
          <a:prstGeom prst="rect">
            <a:avLst/>
          </a:prstGeom>
        </p:spPr>
      </p:pic>
      <p:pic>
        <p:nvPicPr>
          <p:cNvPr id="7" name="图片 6"/>
          <p:cNvPicPr>
            <a:picLocks noChangeAspect="1"/>
          </p:cNvPicPr>
          <p:nvPr/>
        </p:nvPicPr>
        <p:blipFill>
          <a:blip r:embed="rId5"/>
          <a:stretch>
            <a:fillRect/>
          </a:stretch>
        </p:blipFill>
        <p:spPr>
          <a:xfrm>
            <a:off x="7350760" y="6356985"/>
            <a:ext cx="1272540" cy="35814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Boosted regression trees</a:t>
            </a:r>
            <a:r>
              <a:rPr lang="en-US" altLang="zh-CN" sz="2810" dirty="0">
                <a:latin typeface="Calibri Light" panose="020F0302020204030204"/>
                <a:ea typeface="Calibri Light" panose="020F0302020204030204"/>
                <a:cs typeface="Calibri Light" panose="020F0302020204030204"/>
              </a:rPr>
              <a:t> Results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descr="Boosted Regression Trees-Time Series"/>
          <p:cNvPicPr>
            <a:picLocks noChangeAspect="1"/>
          </p:cNvPicPr>
          <p:nvPr/>
        </p:nvPicPr>
        <p:blipFill>
          <a:blip r:embed="rId1"/>
          <a:stretch>
            <a:fillRect/>
          </a:stretch>
        </p:blipFill>
        <p:spPr>
          <a:xfrm>
            <a:off x="1062355" y="953135"/>
            <a:ext cx="10187940" cy="589470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Random Forests</a:t>
            </a:r>
            <a:r>
              <a:rPr lang="en-US" altLang="zh-CN" sz="2810" dirty="0">
                <a:latin typeface="Calibri Light" panose="020F0302020204030204"/>
                <a:ea typeface="Calibri Light" panose="020F0302020204030204"/>
                <a:cs typeface="Calibri Light" panose="020F0302020204030204"/>
                <a:sym typeface="+mn-ea"/>
              </a:rPr>
              <a:t> Results</a:t>
            </a:r>
            <a:r>
              <a:rPr lang="en-US" altLang="zh-CN" sz="2810" dirty="0">
                <a:latin typeface="Calibri Light" panose="020F0302020204030204"/>
                <a:ea typeface="Calibri Light" panose="020F0302020204030204"/>
                <a:cs typeface="Calibri Light" panose="020F0302020204030204"/>
              </a:rPr>
              <a:t>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sym typeface="+mn-ea"/>
              </a:rPr>
              <a:t>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descr="Random Forest-Time Series"/>
          <p:cNvPicPr>
            <a:picLocks noChangeAspect="1"/>
          </p:cNvPicPr>
          <p:nvPr/>
        </p:nvPicPr>
        <p:blipFill>
          <a:blip r:embed="rId1"/>
          <a:stretch>
            <a:fillRect/>
          </a:stretch>
        </p:blipFill>
        <p:spPr>
          <a:xfrm>
            <a:off x="1363345" y="982345"/>
            <a:ext cx="10120630" cy="585533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r>
              <a:rPr lang="en-US" altLang="zh-CN" sz="1600"/>
              <a:t>Step 1: Initialization</a:t>
            </a: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5917565" y="550228"/>
            <a:ext cx="5080000" cy="645160"/>
          </a:xfrm>
          <a:prstGeom prst="rect">
            <a:avLst/>
          </a:prstGeom>
        </p:spPr>
        <p:txBody>
          <a:bodyPr>
            <a:spAutoFit/>
          </a:bodyPr>
          <a:p>
            <a:r>
              <a:rPr lang="en-US" altLang="zh-CN" sz="3600"/>
              <a:t>Neural Network</a:t>
            </a:r>
            <a:endParaRPr lang="en-US" altLang="zh-CN" sz="3600"/>
          </a:p>
        </p:txBody>
      </p:sp>
      <p:sp>
        <p:nvSpPr>
          <p:cNvPr id="13" name="文本框 12"/>
          <p:cNvSpPr txBox="1"/>
          <p:nvPr/>
        </p:nvSpPr>
        <p:spPr>
          <a:xfrm>
            <a:off x="1404620" y="2243773"/>
            <a:ext cx="5080000" cy="337185"/>
          </a:xfrm>
          <a:prstGeom prst="rect">
            <a:avLst/>
          </a:prstGeom>
        </p:spPr>
        <p:txBody>
          <a:bodyPr>
            <a:spAutoFit/>
          </a:bodyPr>
          <a:p>
            <a:r>
              <a:rPr lang="en-US" altLang="zh-CN" sz="1600"/>
              <a:t>Define the input layer:</a:t>
            </a:r>
            <a:endParaRPr lang="en-US" altLang="zh-CN" sz="1600"/>
          </a:p>
        </p:txBody>
      </p:sp>
      <p:sp>
        <p:nvSpPr>
          <p:cNvPr id="16" name="文本框 15"/>
          <p:cNvSpPr txBox="1"/>
          <p:nvPr/>
        </p:nvSpPr>
        <p:spPr>
          <a:xfrm>
            <a:off x="1577975" y="2581275"/>
            <a:ext cx="689610" cy="337185"/>
          </a:xfrm>
          <a:prstGeom prst="rect">
            <a:avLst/>
          </a:prstGeom>
        </p:spPr>
        <p:txBody>
          <a:bodyPr wrap="square">
            <a:spAutoFit/>
          </a:bodyPr>
          <a:p>
            <a:r>
              <a:rPr lang="en-US" altLang="zh-CN" sz="1600"/>
              <a:t>Input</a:t>
            </a:r>
            <a:endParaRPr lang="en-US" altLang="zh-CN" sz="1600"/>
          </a:p>
        </p:txBody>
      </p:sp>
      <p:pic>
        <p:nvPicPr>
          <p:cNvPr id="17" name="图片 16"/>
          <p:cNvPicPr>
            <a:picLocks noChangeAspect="1"/>
          </p:cNvPicPr>
          <p:nvPr/>
        </p:nvPicPr>
        <p:blipFill>
          <a:blip r:embed="rId1"/>
          <a:stretch>
            <a:fillRect/>
          </a:stretch>
        </p:blipFill>
        <p:spPr>
          <a:xfrm>
            <a:off x="2213610" y="2630170"/>
            <a:ext cx="1379220" cy="266700"/>
          </a:xfrm>
          <a:prstGeom prst="rect">
            <a:avLst/>
          </a:prstGeom>
        </p:spPr>
      </p:pic>
      <p:sp>
        <p:nvSpPr>
          <p:cNvPr id="18" name="文本框 17"/>
          <p:cNvSpPr txBox="1"/>
          <p:nvPr/>
        </p:nvSpPr>
        <p:spPr>
          <a:xfrm>
            <a:off x="3528060" y="2581275"/>
            <a:ext cx="3244215" cy="337185"/>
          </a:xfrm>
          <a:prstGeom prst="rect">
            <a:avLst/>
          </a:prstGeom>
        </p:spPr>
        <p:txBody>
          <a:bodyPr wrap="square">
            <a:spAutoFit/>
          </a:bodyPr>
          <a:p>
            <a:r>
              <a:rPr lang="en-US" altLang="zh-CN" sz="1600"/>
              <a:t>represents raw predictor variables.</a:t>
            </a:r>
            <a:endParaRPr lang="en-US" altLang="zh-CN" sz="1600"/>
          </a:p>
        </p:txBody>
      </p:sp>
      <p:sp>
        <p:nvSpPr>
          <p:cNvPr id="19" name="文本框 18"/>
          <p:cNvSpPr txBox="1"/>
          <p:nvPr/>
        </p:nvSpPr>
        <p:spPr>
          <a:xfrm>
            <a:off x="1577975" y="2945448"/>
            <a:ext cx="5080000" cy="337185"/>
          </a:xfrm>
          <a:prstGeom prst="rect">
            <a:avLst/>
          </a:prstGeom>
        </p:spPr>
        <p:txBody>
          <a:bodyPr>
            <a:spAutoFit/>
          </a:bodyPr>
          <a:p>
            <a:r>
              <a:rPr lang="en-US" altLang="zh-CN" sz="1600"/>
              <a:t>Include a bias term by augmenting the input vector: </a:t>
            </a:r>
            <a:endParaRPr lang="en-US" altLang="zh-CN" sz="1600"/>
          </a:p>
        </p:txBody>
      </p:sp>
      <p:pic>
        <p:nvPicPr>
          <p:cNvPr id="20" name="图片 19"/>
          <p:cNvPicPr>
            <a:picLocks noChangeAspect="1"/>
          </p:cNvPicPr>
          <p:nvPr/>
        </p:nvPicPr>
        <p:blipFill>
          <a:blip r:embed="rId2"/>
          <a:stretch>
            <a:fillRect/>
          </a:stretch>
        </p:blipFill>
        <p:spPr>
          <a:xfrm>
            <a:off x="6037580" y="2978150"/>
            <a:ext cx="1485900" cy="289560"/>
          </a:xfrm>
          <a:prstGeom prst="rect">
            <a:avLst/>
          </a:prstGeom>
        </p:spPr>
      </p:pic>
      <p:sp>
        <p:nvSpPr>
          <p:cNvPr id="21" name="文本框 20"/>
          <p:cNvSpPr txBox="1"/>
          <p:nvPr/>
        </p:nvSpPr>
        <p:spPr>
          <a:xfrm>
            <a:off x="1415415" y="3288348"/>
            <a:ext cx="5080000" cy="337185"/>
          </a:xfrm>
          <a:prstGeom prst="rect">
            <a:avLst/>
          </a:prstGeom>
        </p:spPr>
        <p:txBody>
          <a:bodyPr>
            <a:spAutoFit/>
          </a:bodyPr>
          <a:p>
            <a:r>
              <a:rPr lang="en-US" altLang="zh-CN" sz="1600"/>
              <a:t>Choose network architecture:</a:t>
            </a:r>
            <a:endParaRPr lang="en-US" altLang="zh-CN" sz="1600"/>
          </a:p>
        </p:txBody>
      </p:sp>
      <p:sp>
        <p:nvSpPr>
          <p:cNvPr id="22" name="文本框 21"/>
          <p:cNvSpPr txBox="1"/>
          <p:nvPr/>
        </p:nvSpPr>
        <p:spPr>
          <a:xfrm>
            <a:off x="1692275" y="3642995"/>
            <a:ext cx="8404860" cy="337185"/>
          </a:xfrm>
          <a:prstGeom prst="rect">
            <a:avLst/>
          </a:prstGeom>
        </p:spPr>
        <p:txBody>
          <a:bodyPr wrap="square">
            <a:spAutoFit/>
          </a:bodyPr>
          <a:p>
            <a:r>
              <a:rPr lang="en-US" altLang="zh-CN" sz="1600"/>
              <a:t>Specify the number of hidden layers L, neurons per layer K</a:t>
            </a:r>
            <a:r>
              <a:rPr lang="en-US" altLang="zh-CN" sz="1600" baseline="30000"/>
              <a:t>(l)</a:t>
            </a:r>
            <a:r>
              <a:rPr lang="en-US" altLang="zh-CN" sz="1600"/>
              <a:t>, and activation functions.</a:t>
            </a:r>
            <a:endParaRPr lang="en-US" altLang="zh-CN" sz="160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5917565" y="550228"/>
            <a:ext cx="5080000" cy="645160"/>
          </a:xfrm>
          <a:prstGeom prst="rect">
            <a:avLst/>
          </a:prstGeom>
        </p:spPr>
        <p:txBody>
          <a:bodyPr>
            <a:spAutoFit/>
          </a:bodyPr>
          <a:p>
            <a:r>
              <a:rPr lang="en-US" altLang="zh-CN" sz="3600"/>
              <a:t>Neural Network</a:t>
            </a:r>
            <a:endParaRPr lang="en-US" altLang="zh-CN" sz="3600"/>
          </a:p>
        </p:txBody>
      </p:sp>
      <p:sp>
        <p:nvSpPr>
          <p:cNvPr id="23" name="文本框 22"/>
          <p:cNvSpPr txBox="1"/>
          <p:nvPr/>
        </p:nvSpPr>
        <p:spPr>
          <a:xfrm>
            <a:off x="837565" y="1811973"/>
            <a:ext cx="5080000" cy="337185"/>
          </a:xfrm>
          <a:prstGeom prst="rect">
            <a:avLst/>
          </a:prstGeom>
        </p:spPr>
        <p:txBody>
          <a:bodyPr>
            <a:spAutoFit/>
          </a:bodyPr>
          <a:p>
            <a:r>
              <a:rPr lang="en-US" altLang="zh-CN" sz="1600"/>
              <a:t>Step 2: Forward Propagation</a:t>
            </a:r>
            <a:endParaRPr lang="en-US" altLang="zh-CN" sz="1600"/>
          </a:p>
        </p:txBody>
      </p:sp>
      <p:sp>
        <p:nvSpPr>
          <p:cNvPr id="24" name="文本框 23"/>
          <p:cNvSpPr txBox="1"/>
          <p:nvPr/>
        </p:nvSpPr>
        <p:spPr>
          <a:xfrm>
            <a:off x="847725" y="2069148"/>
            <a:ext cx="5080000" cy="337185"/>
          </a:xfrm>
          <a:prstGeom prst="rect">
            <a:avLst/>
          </a:prstGeom>
        </p:spPr>
        <p:txBody>
          <a:bodyPr>
            <a:spAutoFit/>
          </a:bodyPr>
          <a:p>
            <a:r>
              <a:rPr lang="en-US" altLang="zh-CN" sz="1600"/>
              <a:t>Layer-wise transformations:</a:t>
            </a:r>
            <a:endParaRPr lang="en-US" altLang="zh-CN" sz="1600"/>
          </a:p>
        </p:txBody>
      </p:sp>
      <p:sp>
        <p:nvSpPr>
          <p:cNvPr id="25" name="文本框 24"/>
          <p:cNvSpPr txBox="1"/>
          <p:nvPr/>
        </p:nvSpPr>
        <p:spPr>
          <a:xfrm>
            <a:off x="1105535" y="2329815"/>
            <a:ext cx="6340475" cy="337185"/>
          </a:xfrm>
          <a:prstGeom prst="rect">
            <a:avLst/>
          </a:prstGeom>
        </p:spPr>
        <p:txBody>
          <a:bodyPr wrap="square">
            <a:spAutoFit/>
          </a:bodyPr>
          <a:p>
            <a:r>
              <a:rPr lang="en-US" altLang="zh-CN" sz="1600"/>
              <a:t>Compute the outputs for each hidden layer using formula :</a:t>
            </a:r>
            <a:endParaRPr lang="en-US" altLang="zh-CN" sz="1600"/>
          </a:p>
        </p:txBody>
      </p:sp>
      <p:pic>
        <p:nvPicPr>
          <p:cNvPr id="26" name="图片 25"/>
          <p:cNvPicPr>
            <a:picLocks noChangeAspect="1"/>
          </p:cNvPicPr>
          <p:nvPr/>
        </p:nvPicPr>
        <p:blipFill>
          <a:blip r:embed="rId1"/>
          <a:stretch>
            <a:fillRect/>
          </a:stretch>
        </p:blipFill>
        <p:spPr>
          <a:xfrm>
            <a:off x="1412240" y="2609850"/>
            <a:ext cx="3322320" cy="365760"/>
          </a:xfrm>
          <a:prstGeom prst="rect">
            <a:avLst/>
          </a:prstGeom>
        </p:spPr>
      </p:pic>
      <p:sp>
        <p:nvSpPr>
          <p:cNvPr id="27" name="文本框 26"/>
          <p:cNvSpPr txBox="1"/>
          <p:nvPr/>
        </p:nvSpPr>
        <p:spPr>
          <a:xfrm>
            <a:off x="786130" y="2878455"/>
            <a:ext cx="9240520" cy="1076325"/>
          </a:xfrm>
          <a:prstGeom prst="rect">
            <a:avLst/>
          </a:prstGeom>
        </p:spPr>
        <p:txBody>
          <a:bodyPr wrap="square">
            <a:spAutoFit/>
          </a:bodyPr>
          <a:p>
            <a:r>
              <a:rPr lang="en-US" altLang="zh-CN" sz="1600"/>
              <a:t>z: Input vector of raw predictors.</a:t>
            </a:r>
            <a:endParaRPr lang="en-US" altLang="zh-CN" sz="1600"/>
          </a:p>
          <a:p>
            <a:r>
              <a:rPr lang="en-US" altLang="zh-CN" sz="1600"/>
              <a:t>x</a:t>
            </a:r>
            <a:r>
              <a:rPr lang="en-US" altLang="zh-CN" sz="1600" baseline="-25000"/>
              <a:t>k</a:t>
            </a:r>
            <a:r>
              <a:rPr lang="en-US" altLang="zh-CN" sz="1600" baseline="30000"/>
              <a:t>(l)</a:t>
            </a:r>
            <a:r>
              <a:rPr lang="en-US" altLang="zh-CN" sz="1600"/>
              <a:t>: Output of neuron k in layer l.</a:t>
            </a:r>
            <a:endParaRPr lang="en-US" altLang="zh-CN" sz="1600"/>
          </a:p>
          <a:p>
            <a:r>
              <a:rPr lang="en-US" altLang="zh-CN" sz="1600"/>
              <a:t>θ</a:t>
            </a:r>
            <a:r>
              <a:rPr lang="en-US" altLang="zh-CN" sz="1600" baseline="-25000"/>
              <a:t>k</a:t>
            </a:r>
            <a:r>
              <a:rPr lang="en-US" altLang="zh-CN" sz="1600" baseline="30000"/>
              <a:t>(l)</a:t>
            </a:r>
            <a:r>
              <a:rPr lang="en-US" altLang="zh-CN" sz="1600"/>
              <a:t>: Weight parameters associated with the connections to neuron k in layer l.</a:t>
            </a:r>
            <a:endParaRPr lang="en-US" altLang="zh-CN" sz="1600"/>
          </a:p>
          <a:p>
            <a:r>
              <a:rPr lang="en-US" altLang="zh-CN" sz="1600"/>
              <a:t>ReLU(⋅): Rectified Linear Unit activation function, defined as:</a:t>
            </a:r>
            <a:endParaRPr lang="en-US" altLang="zh-CN" sz="1600"/>
          </a:p>
        </p:txBody>
      </p:sp>
      <p:pic>
        <p:nvPicPr>
          <p:cNvPr id="28" name="图片 27"/>
          <p:cNvPicPr>
            <a:picLocks noChangeAspect="1"/>
          </p:cNvPicPr>
          <p:nvPr/>
        </p:nvPicPr>
        <p:blipFill>
          <a:blip r:embed="rId2"/>
          <a:stretch>
            <a:fillRect/>
          </a:stretch>
        </p:blipFill>
        <p:spPr>
          <a:xfrm>
            <a:off x="5990590" y="3669030"/>
            <a:ext cx="2263140" cy="655320"/>
          </a:xfrm>
          <a:prstGeom prst="rect">
            <a:avLst/>
          </a:prstGeom>
        </p:spPr>
      </p:pic>
      <p:sp>
        <p:nvSpPr>
          <p:cNvPr id="6" name="文本框 5"/>
          <p:cNvSpPr txBox="1"/>
          <p:nvPr/>
        </p:nvSpPr>
        <p:spPr>
          <a:xfrm>
            <a:off x="734060" y="4323080"/>
            <a:ext cx="7921625" cy="583565"/>
          </a:xfrm>
          <a:prstGeom prst="rect">
            <a:avLst/>
          </a:prstGeom>
        </p:spPr>
        <p:txBody>
          <a:bodyPr wrap="square">
            <a:spAutoFit/>
          </a:bodyPr>
          <a:p>
            <a:r>
              <a:rPr lang="en-US" altLang="zh-CN" sz="1600"/>
              <a:t>Defines the output of neuron k in layer l. This captures the nonlinear transformation of the input signal by applying a weight matrix θ</a:t>
            </a:r>
            <a:r>
              <a:rPr lang="en-US" altLang="zh-CN" sz="1600" baseline="-25000"/>
              <a:t>k</a:t>
            </a:r>
            <a:r>
              <a:rPr lang="en-US" altLang="zh-CN" sz="1600" baseline="30000"/>
              <a:t>(l−1)</a:t>
            </a:r>
            <a:r>
              <a:rPr lang="en-US" altLang="zh-CN" sz="1600"/>
              <a:t> and an activation function (ReLU).</a:t>
            </a:r>
            <a:endParaRPr lang="en-US" altLang="zh-CN" sz="1600"/>
          </a:p>
        </p:txBody>
      </p:sp>
      <p:sp>
        <p:nvSpPr>
          <p:cNvPr id="7" name="文本框 6"/>
          <p:cNvSpPr txBox="1"/>
          <p:nvPr/>
        </p:nvSpPr>
        <p:spPr>
          <a:xfrm>
            <a:off x="734060" y="4849813"/>
            <a:ext cx="5080000" cy="337185"/>
          </a:xfrm>
          <a:prstGeom prst="rect">
            <a:avLst/>
          </a:prstGeom>
        </p:spPr>
        <p:txBody>
          <a:bodyPr>
            <a:spAutoFit/>
          </a:bodyPr>
          <a:p>
            <a:r>
              <a:rPr lang="en-US" altLang="zh-CN" sz="1600"/>
              <a:t>Final Output Layer Transformation:</a:t>
            </a:r>
            <a:endParaRPr lang="en-US" altLang="zh-CN" sz="1600"/>
          </a:p>
        </p:txBody>
      </p:sp>
      <p:sp>
        <p:nvSpPr>
          <p:cNvPr id="8" name="文本框 7"/>
          <p:cNvSpPr txBox="1"/>
          <p:nvPr/>
        </p:nvSpPr>
        <p:spPr>
          <a:xfrm>
            <a:off x="1031875" y="5380990"/>
            <a:ext cx="5895975" cy="829945"/>
          </a:xfrm>
          <a:prstGeom prst="rect">
            <a:avLst/>
          </a:prstGeom>
        </p:spPr>
        <p:txBody>
          <a:bodyPr wrap="square">
            <a:spAutoFit/>
          </a:bodyPr>
          <a:p>
            <a:r>
              <a:rPr lang="en-US" altLang="zh-CN" sz="1600"/>
              <a:t>L: Total number of layers in the neural network.</a:t>
            </a:r>
            <a:endParaRPr lang="en-US" altLang="zh-CN" sz="1600"/>
          </a:p>
          <a:p>
            <a:r>
              <a:rPr lang="en-US" altLang="zh-CN" sz="1600"/>
              <a:t>g(z; </a:t>
            </a:r>
            <a:r>
              <a:rPr lang="en-US" altLang="zh-CN" sz="1600">
                <a:sym typeface="+mn-ea"/>
              </a:rPr>
              <a:t>θ</a:t>
            </a:r>
            <a:r>
              <a:rPr lang="en-US" altLang="zh-CN" sz="1600"/>
              <a:t>): Final output, representing the predicted return.</a:t>
            </a:r>
            <a:endParaRPr lang="en-US" altLang="zh-CN" sz="1600"/>
          </a:p>
          <a:p>
            <a:r>
              <a:rPr lang="en-US" altLang="zh-CN" sz="1600"/>
              <a:t>θ: Combined parameter set for all layers in the network.</a:t>
            </a:r>
            <a:endParaRPr lang="en-US" altLang="zh-CN" sz="1600"/>
          </a:p>
        </p:txBody>
      </p:sp>
      <p:sp>
        <p:nvSpPr>
          <p:cNvPr id="12" name="文本框 11"/>
          <p:cNvSpPr txBox="1"/>
          <p:nvPr/>
        </p:nvSpPr>
        <p:spPr>
          <a:xfrm>
            <a:off x="895985" y="5119053"/>
            <a:ext cx="5080000" cy="337185"/>
          </a:xfrm>
          <a:prstGeom prst="rect">
            <a:avLst/>
          </a:prstGeom>
        </p:spPr>
        <p:txBody>
          <a:bodyPr>
            <a:spAutoFit/>
          </a:bodyPr>
          <a:p>
            <a:r>
              <a:rPr lang="en-US" altLang="zh-CN" sz="1600"/>
              <a:t>Compute the prediction using formula below:</a:t>
            </a:r>
            <a:endParaRPr lang="en-US" altLang="zh-CN" sz="1600"/>
          </a:p>
        </p:txBody>
      </p:sp>
      <p:pic>
        <p:nvPicPr>
          <p:cNvPr id="14" name="图片 13"/>
          <p:cNvPicPr>
            <a:picLocks noChangeAspect="1"/>
          </p:cNvPicPr>
          <p:nvPr/>
        </p:nvPicPr>
        <p:blipFill>
          <a:blip r:embed="rId3"/>
          <a:stretch>
            <a:fillRect/>
          </a:stretch>
        </p:blipFill>
        <p:spPr>
          <a:xfrm>
            <a:off x="4779010" y="5154930"/>
            <a:ext cx="1950720" cy="266700"/>
          </a:xfrm>
          <a:prstGeom prst="rect">
            <a:avLst/>
          </a:prstGeom>
        </p:spPr>
      </p:pic>
      <p:sp>
        <p:nvSpPr>
          <p:cNvPr id="29" name="文本框 28"/>
          <p:cNvSpPr txBox="1"/>
          <p:nvPr/>
        </p:nvSpPr>
        <p:spPr>
          <a:xfrm>
            <a:off x="735965" y="6137910"/>
            <a:ext cx="7975600" cy="337185"/>
          </a:xfrm>
          <a:prstGeom prst="rect">
            <a:avLst/>
          </a:prstGeom>
        </p:spPr>
        <p:txBody>
          <a:bodyPr wrap="square">
            <a:spAutoFit/>
          </a:bodyPr>
          <a:p>
            <a:r>
              <a:rPr lang="en-US" altLang="zh-CN" sz="1600"/>
              <a:t>Aggregates all transformed signals from the last hidden layer into a single prediction output.</a:t>
            </a:r>
            <a:endParaRPr lang="en-US" altLang="zh-CN" sz="1600"/>
          </a:p>
        </p:txBody>
      </p:sp>
      <p:pic>
        <p:nvPicPr>
          <p:cNvPr id="31" name="图片 30"/>
          <p:cNvPicPr>
            <a:picLocks noChangeAspect="1"/>
          </p:cNvPicPr>
          <p:nvPr/>
        </p:nvPicPr>
        <p:blipFill>
          <a:blip r:embed="rId4"/>
          <a:stretch>
            <a:fillRect/>
          </a:stretch>
        </p:blipFill>
        <p:spPr>
          <a:xfrm>
            <a:off x="7125970" y="1433195"/>
            <a:ext cx="4849495" cy="1632585"/>
          </a:xfrm>
          <a:prstGeom prst="rect">
            <a:avLst/>
          </a:prstGeom>
        </p:spPr>
      </p:pic>
      <p:sp>
        <p:nvSpPr>
          <p:cNvPr id="32" name="文本框 31"/>
          <p:cNvSpPr txBox="1"/>
          <p:nvPr/>
        </p:nvSpPr>
        <p:spPr>
          <a:xfrm>
            <a:off x="8946515" y="3181350"/>
            <a:ext cx="3245485" cy="2416175"/>
          </a:xfrm>
          <a:prstGeom prst="rect">
            <a:avLst/>
          </a:prstGeom>
        </p:spPr>
        <p:txBody>
          <a:bodyPr wrap="square">
            <a:noAutofit/>
          </a:bodyPr>
          <a:p>
            <a:r>
              <a:rPr lang="en-US" altLang="zh-CN" sz="1600"/>
              <a:t>Inputs (z1,z2,z3,z4) are fed into the input layer.</a:t>
            </a:r>
            <a:endParaRPr lang="en-US" altLang="zh-CN" sz="1600"/>
          </a:p>
          <a:p>
            <a:endParaRPr lang="en-US" altLang="zh-CN" sz="1600"/>
          </a:p>
          <a:p>
            <a:endParaRPr lang="en-US" altLang="zh-CN" sz="1600"/>
          </a:p>
        </p:txBody>
      </p:sp>
      <p:sp>
        <p:nvSpPr>
          <p:cNvPr id="33" name="文本框 32"/>
          <p:cNvSpPr txBox="1"/>
          <p:nvPr/>
        </p:nvSpPr>
        <p:spPr>
          <a:xfrm>
            <a:off x="8945880" y="3643630"/>
            <a:ext cx="3241675" cy="925830"/>
          </a:xfrm>
          <a:prstGeom prst="rect">
            <a:avLst/>
          </a:prstGeom>
        </p:spPr>
        <p:txBody>
          <a:bodyPr wrap="square">
            <a:noAutofit/>
          </a:bodyPr>
          <a:p>
            <a:r>
              <a:rPr lang="en-US" altLang="zh-CN" sz="1600"/>
              <a:t>Linear Aggregation: Each neuron computes a weighted sum of inputs:</a:t>
            </a:r>
            <a:endParaRPr lang="en-US" altLang="zh-CN" sz="1600"/>
          </a:p>
        </p:txBody>
      </p:sp>
      <p:pic>
        <p:nvPicPr>
          <p:cNvPr id="34" name="图片 33"/>
          <p:cNvPicPr>
            <a:picLocks noChangeAspect="1"/>
          </p:cNvPicPr>
          <p:nvPr/>
        </p:nvPicPr>
        <p:blipFill>
          <a:blip r:embed="rId5"/>
          <a:stretch>
            <a:fillRect/>
          </a:stretch>
        </p:blipFill>
        <p:spPr>
          <a:xfrm>
            <a:off x="9642475" y="4192905"/>
            <a:ext cx="1936750" cy="633095"/>
          </a:xfrm>
          <a:prstGeom prst="rect">
            <a:avLst/>
          </a:prstGeom>
        </p:spPr>
      </p:pic>
      <p:sp>
        <p:nvSpPr>
          <p:cNvPr id="35" name="文本框 34"/>
          <p:cNvSpPr txBox="1"/>
          <p:nvPr/>
        </p:nvSpPr>
        <p:spPr>
          <a:xfrm>
            <a:off x="9061450" y="4719955"/>
            <a:ext cx="3352800" cy="829945"/>
          </a:xfrm>
          <a:prstGeom prst="rect">
            <a:avLst/>
          </a:prstGeom>
        </p:spPr>
        <p:txBody>
          <a:bodyPr wrap="square">
            <a:spAutoFit/>
          </a:bodyPr>
          <a:p>
            <a:r>
              <a:rPr lang="en-US" altLang="zh-CN" sz="1600"/>
              <a:t>Nonlinear Transformation: The activation function f (ReLU)</a:t>
            </a:r>
            <a:endParaRPr lang="en-US" altLang="zh-CN" sz="1600"/>
          </a:p>
          <a:p>
            <a:r>
              <a:rPr lang="en-US" altLang="zh-CN" sz="1600"/>
              <a:t>introduces nonlinearity.</a:t>
            </a:r>
            <a:endParaRPr lang="en-US" altLang="zh-CN" sz="1600"/>
          </a:p>
        </p:txBody>
      </p:sp>
      <p:sp>
        <p:nvSpPr>
          <p:cNvPr id="36" name="文本框 35"/>
          <p:cNvSpPr txBox="1"/>
          <p:nvPr/>
        </p:nvSpPr>
        <p:spPr>
          <a:xfrm>
            <a:off x="9065260" y="5517515"/>
            <a:ext cx="3061335" cy="829945"/>
          </a:xfrm>
          <a:prstGeom prst="rect">
            <a:avLst/>
          </a:prstGeom>
        </p:spPr>
        <p:txBody>
          <a:bodyPr wrap="square">
            <a:spAutoFit/>
          </a:bodyPr>
          <a:p>
            <a:r>
              <a:rPr lang="en-US" altLang="zh-CN" sz="1600"/>
              <a:t>The final layer aggregates the outputs from the hidden layer neurons:</a:t>
            </a:r>
            <a:endParaRPr lang="en-US" altLang="zh-CN" sz="1600"/>
          </a:p>
        </p:txBody>
      </p:sp>
      <p:pic>
        <p:nvPicPr>
          <p:cNvPr id="37" name="图片 36"/>
          <p:cNvPicPr>
            <a:picLocks noChangeAspect="1"/>
          </p:cNvPicPr>
          <p:nvPr/>
        </p:nvPicPr>
        <p:blipFill>
          <a:blip r:embed="rId6"/>
          <a:stretch>
            <a:fillRect/>
          </a:stretch>
        </p:blipFill>
        <p:spPr>
          <a:xfrm>
            <a:off x="9973945" y="6101080"/>
            <a:ext cx="1736090" cy="49593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smtClean="0">
                <a:solidFill>
                  <a:srgbClr val="26927D"/>
                </a:solidFill>
              </a:rPr>
              <a:t>Steps:</a:t>
            </a:r>
            <a:endParaRPr lang="en-US" dirty="0" smtClean="0">
              <a:solidFill>
                <a:srgbClr val="26927D"/>
              </a:solidFill>
            </a:endParaRPr>
          </a:p>
          <a:p>
            <a:pPr marL="0" indent="0">
              <a:buNone/>
            </a:pP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smtClean="0"/>
          </a:p>
          <a:p>
            <a:pPr marL="0" indent="0">
              <a:buNone/>
            </a:pPr>
            <a:endParaRPr lang="en-US" sz="2400" dirty="0" smtClean="0"/>
          </a:p>
          <a:p>
            <a:pPr marL="0" indent="0">
              <a:buNone/>
            </a:pPr>
            <a:endParaRPr lang="en-US" sz="2400" dirty="0" smtClean="0">
              <a:sym typeface="+mn-ea"/>
            </a:endParaRPr>
          </a:p>
          <a:p>
            <a:pPr marL="0" indent="0">
              <a:buNone/>
            </a:pPr>
            <a:endParaRPr lang="en-US" sz="2400" dirty="0" smtClean="0"/>
          </a:p>
          <a:p>
            <a:pPr marL="0" indent="0">
              <a:buNone/>
            </a:pPr>
            <a:endParaRPr lang="en-US" sz="2400" baseline="-25000" dirty="0" smtClean="0">
              <a:sym typeface="+mn-ea"/>
            </a:endParaRPr>
          </a:p>
          <a:p>
            <a:pPr marL="0" indent="0">
              <a:buNone/>
            </a:pPr>
            <a:endParaRPr lang="en-US" sz="2400" dirty="0" smtClean="0">
              <a:sym typeface="+mn-ea"/>
            </a:endParaRPr>
          </a:p>
          <a:p>
            <a:pPr marL="0" indent="0">
              <a:buNone/>
            </a:pPr>
            <a:endParaRPr lang="en-US" sz="2400" dirty="0" smtClean="0">
              <a:sym typeface="+mn-ea"/>
            </a:endParaRPr>
          </a:p>
          <a:p>
            <a:pPr marL="0" indent="0">
              <a:buNone/>
            </a:pPr>
            <a:endParaRPr lang="en-US" sz="2400" dirty="0" smtClean="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p>
            <a:r>
              <a:rPr lang="en-US" altLang="zh-CN" sz="3600">
                <a:sym typeface="+mn-ea"/>
              </a:rPr>
              <a:t>g∗(zi,t​)</a:t>
            </a:r>
            <a:endParaRPr lang="en-US" altLang="zh-CN" sz="3600">
              <a:sym typeface="+mn-ea"/>
            </a:endParaRPr>
          </a:p>
        </p:txBody>
      </p:sp>
      <p:sp>
        <p:nvSpPr>
          <p:cNvPr id="15" name="文本框 14"/>
          <p:cNvSpPr txBox="1"/>
          <p:nvPr/>
        </p:nvSpPr>
        <p:spPr>
          <a:xfrm>
            <a:off x="3326765" y="534670"/>
            <a:ext cx="1461135" cy="645160"/>
          </a:xfrm>
          <a:prstGeom prst="rect">
            <a:avLst/>
          </a:prstGeom>
        </p:spPr>
        <p:txBody>
          <a:bodyPr wrap="square">
            <a:spAutoFit/>
          </a:bodyPr>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5917565" y="550228"/>
            <a:ext cx="5080000" cy="645160"/>
          </a:xfrm>
          <a:prstGeom prst="rect">
            <a:avLst/>
          </a:prstGeom>
        </p:spPr>
        <p:txBody>
          <a:bodyPr>
            <a:spAutoFit/>
          </a:bodyPr>
          <a:p>
            <a:r>
              <a:rPr lang="en-US" altLang="zh-CN" sz="3600"/>
              <a:t>Neural Network</a:t>
            </a:r>
            <a:endParaRPr lang="en-US" altLang="zh-CN" sz="3600"/>
          </a:p>
        </p:txBody>
      </p:sp>
      <p:sp>
        <p:nvSpPr>
          <p:cNvPr id="23" name="文本框 22"/>
          <p:cNvSpPr txBox="1"/>
          <p:nvPr/>
        </p:nvSpPr>
        <p:spPr>
          <a:xfrm>
            <a:off x="837565" y="1811973"/>
            <a:ext cx="5080000" cy="337185"/>
          </a:xfrm>
          <a:prstGeom prst="rect">
            <a:avLst/>
          </a:prstGeom>
        </p:spPr>
        <p:txBody>
          <a:bodyPr>
            <a:spAutoFit/>
          </a:bodyPr>
          <a:p>
            <a:r>
              <a:rPr lang="en-US" altLang="zh-CN" sz="1600"/>
              <a:t>Step 3: Backpropagation for Optimization</a:t>
            </a:r>
            <a:endParaRPr lang="en-US" altLang="zh-CN" sz="1600"/>
          </a:p>
        </p:txBody>
      </p:sp>
      <p:sp>
        <p:nvSpPr>
          <p:cNvPr id="2" name="文本框 1"/>
          <p:cNvSpPr txBox="1"/>
          <p:nvPr/>
        </p:nvSpPr>
        <p:spPr>
          <a:xfrm>
            <a:off x="1146810" y="2149475"/>
            <a:ext cx="2179320" cy="337185"/>
          </a:xfrm>
          <a:prstGeom prst="rect">
            <a:avLst/>
          </a:prstGeom>
        </p:spPr>
        <p:txBody>
          <a:bodyPr wrap="square">
            <a:spAutoFit/>
          </a:bodyPr>
          <a:p>
            <a:r>
              <a:rPr lang="en-US" altLang="zh-CN" sz="1600"/>
              <a:t>1.Objective Function:</a:t>
            </a:r>
            <a:endParaRPr lang="en-US" altLang="zh-CN" sz="1600"/>
          </a:p>
        </p:txBody>
      </p:sp>
      <p:sp>
        <p:nvSpPr>
          <p:cNvPr id="13" name="文本框 12"/>
          <p:cNvSpPr txBox="1"/>
          <p:nvPr/>
        </p:nvSpPr>
        <p:spPr>
          <a:xfrm>
            <a:off x="1371600" y="2466022"/>
            <a:ext cx="5080000" cy="337185"/>
          </a:xfrm>
          <a:prstGeom prst="rect">
            <a:avLst/>
          </a:prstGeom>
        </p:spPr>
        <p:txBody>
          <a:bodyPr>
            <a:spAutoFit/>
          </a:bodyPr>
          <a:p>
            <a:r>
              <a:rPr lang="en-US" altLang="zh-CN" sz="1600"/>
              <a:t>Minimize the penalized L2 objective:</a:t>
            </a:r>
            <a:endParaRPr lang="en-US" altLang="zh-CN" sz="1600"/>
          </a:p>
        </p:txBody>
      </p:sp>
      <p:pic>
        <p:nvPicPr>
          <p:cNvPr id="16" name="图片 15"/>
          <p:cNvPicPr>
            <a:picLocks noChangeAspect="1"/>
          </p:cNvPicPr>
          <p:nvPr/>
        </p:nvPicPr>
        <p:blipFill>
          <a:blip r:embed="rId1"/>
          <a:stretch>
            <a:fillRect/>
          </a:stretch>
        </p:blipFill>
        <p:spPr>
          <a:xfrm>
            <a:off x="1948815" y="2799715"/>
            <a:ext cx="3794760" cy="647700"/>
          </a:xfrm>
          <a:prstGeom prst="rect">
            <a:avLst/>
          </a:prstGeom>
        </p:spPr>
      </p:pic>
      <p:sp>
        <p:nvSpPr>
          <p:cNvPr id="17" name="文本框 16"/>
          <p:cNvSpPr txBox="1"/>
          <p:nvPr/>
        </p:nvSpPr>
        <p:spPr>
          <a:xfrm>
            <a:off x="1355725" y="3423920"/>
            <a:ext cx="9067165" cy="337185"/>
          </a:xfrm>
          <a:prstGeom prst="rect">
            <a:avLst/>
          </a:prstGeom>
        </p:spPr>
        <p:txBody>
          <a:bodyPr wrap="square">
            <a:spAutoFit/>
          </a:bodyPr>
          <a:p>
            <a:r>
              <a:rPr lang="en-US" altLang="zh-CN" sz="1600"/>
              <a:t>Regularization:              penalizes large weight magnitudes to prevent overfitting.</a:t>
            </a:r>
            <a:endParaRPr lang="en-US" altLang="zh-CN" sz="1600"/>
          </a:p>
        </p:txBody>
      </p:sp>
      <p:pic>
        <p:nvPicPr>
          <p:cNvPr id="18" name="图片 17"/>
          <p:cNvPicPr>
            <a:picLocks noChangeAspect="1"/>
          </p:cNvPicPr>
          <p:nvPr/>
        </p:nvPicPr>
        <p:blipFill>
          <a:blip r:embed="rId2"/>
          <a:stretch>
            <a:fillRect/>
          </a:stretch>
        </p:blipFill>
        <p:spPr>
          <a:xfrm>
            <a:off x="2765425" y="3472815"/>
            <a:ext cx="495300" cy="243840"/>
          </a:xfrm>
          <a:prstGeom prst="rect">
            <a:avLst/>
          </a:prstGeom>
        </p:spPr>
      </p:pic>
      <p:sp>
        <p:nvSpPr>
          <p:cNvPr id="19" name="文本框 18"/>
          <p:cNvSpPr txBox="1"/>
          <p:nvPr/>
        </p:nvSpPr>
        <p:spPr>
          <a:xfrm>
            <a:off x="1243330" y="3715068"/>
            <a:ext cx="5080000" cy="337185"/>
          </a:xfrm>
          <a:prstGeom prst="rect">
            <a:avLst/>
          </a:prstGeom>
        </p:spPr>
        <p:txBody>
          <a:bodyPr>
            <a:spAutoFit/>
          </a:bodyPr>
          <a:p>
            <a:r>
              <a:rPr lang="en-US" altLang="zh-CN" sz="1600"/>
              <a:t>2.Gradient Descent Optimization:</a:t>
            </a:r>
            <a:endParaRPr lang="en-US" altLang="zh-CN" sz="1600"/>
          </a:p>
        </p:txBody>
      </p:sp>
      <p:sp>
        <p:nvSpPr>
          <p:cNvPr id="20" name="文本框 19"/>
          <p:cNvSpPr txBox="1"/>
          <p:nvPr/>
        </p:nvSpPr>
        <p:spPr>
          <a:xfrm>
            <a:off x="1437005" y="3980498"/>
            <a:ext cx="5080000" cy="337185"/>
          </a:xfrm>
          <a:prstGeom prst="rect">
            <a:avLst/>
          </a:prstGeom>
        </p:spPr>
        <p:txBody>
          <a:bodyPr>
            <a:spAutoFit/>
          </a:bodyPr>
          <a:p>
            <a:r>
              <a:rPr lang="en-US" altLang="zh-CN" sz="1600"/>
              <a:t>Use Stochastic Gradient Descent (SGD) to update weights:</a:t>
            </a:r>
            <a:endParaRPr lang="en-US" altLang="zh-CN" sz="1600"/>
          </a:p>
        </p:txBody>
      </p:sp>
      <p:pic>
        <p:nvPicPr>
          <p:cNvPr id="21" name="图片 20"/>
          <p:cNvPicPr>
            <a:picLocks noChangeAspect="1"/>
          </p:cNvPicPr>
          <p:nvPr/>
        </p:nvPicPr>
        <p:blipFill>
          <a:blip r:embed="rId3"/>
          <a:stretch>
            <a:fillRect/>
          </a:stretch>
        </p:blipFill>
        <p:spPr>
          <a:xfrm>
            <a:off x="2558415" y="4244975"/>
            <a:ext cx="1638300" cy="556260"/>
          </a:xfrm>
          <a:prstGeom prst="rect">
            <a:avLst/>
          </a:prstGeom>
        </p:spPr>
      </p:pic>
      <p:sp>
        <p:nvSpPr>
          <p:cNvPr id="22" name="文本框 21"/>
          <p:cNvSpPr txBox="1"/>
          <p:nvPr/>
        </p:nvSpPr>
        <p:spPr>
          <a:xfrm>
            <a:off x="2382520" y="4756785"/>
            <a:ext cx="2265680" cy="337185"/>
          </a:xfrm>
          <a:prstGeom prst="rect">
            <a:avLst/>
          </a:prstGeom>
        </p:spPr>
        <p:txBody>
          <a:bodyPr wrap="square">
            <a:spAutoFit/>
          </a:bodyPr>
          <a:p>
            <a:r>
              <a:rPr lang="en-US" altLang="zh-CN" sz="1600"/>
              <a:t>η is the learning rate</a:t>
            </a:r>
            <a:endParaRPr lang="en-US" altLang="zh-CN" sz="1600"/>
          </a:p>
        </p:txBody>
      </p:sp>
      <p:sp>
        <p:nvSpPr>
          <p:cNvPr id="30" name="文本框 29"/>
          <p:cNvSpPr txBox="1"/>
          <p:nvPr/>
        </p:nvSpPr>
        <p:spPr>
          <a:xfrm>
            <a:off x="1264920" y="5050473"/>
            <a:ext cx="5080000" cy="337185"/>
          </a:xfrm>
          <a:prstGeom prst="rect">
            <a:avLst/>
          </a:prstGeom>
        </p:spPr>
        <p:txBody>
          <a:bodyPr>
            <a:spAutoFit/>
          </a:bodyPr>
          <a:p>
            <a:r>
              <a:rPr lang="en-US" altLang="zh-CN" sz="1600"/>
              <a:t>3.Regularization Techniques:</a:t>
            </a:r>
            <a:endParaRPr lang="en-US" altLang="zh-CN" sz="1600"/>
          </a:p>
        </p:txBody>
      </p:sp>
      <p:sp>
        <p:nvSpPr>
          <p:cNvPr id="38" name="文本框 37"/>
          <p:cNvSpPr txBox="1"/>
          <p:nvPr/>
        </p:nvSpPr>
        <p:spPr>
          <a:xfrm>
            <a:off x="1719580" y="5301615"/>
            <a:ext cx="7828280" cy="337185"/>
          </a:xfrm>
          <a:prstGeom prst="rect">
            <a:avLst/>
          </a:prstGeom>
        </p:spPr>
        <p:txBody>
          <a:bodyPr wrap="square">
            <a:spAutoFit/>
          </a:bodyPr>
          <a:p>
            <a:r>
              <a:rPr lang="en-US" altLang="zh-CN" sz="1600"/>
              <a:t>Employ early stopping, batch normalization, and dropout to prevent overfitting.</a:t>
            </a:r>
            <a:endParaRPr lang="en-US" altLang="zh-CN" sz="1600"/>
          </a:p>
        </p:txBody>
      </p:sp>
      <p:sp>
        <p:nvSpPr>
          <p:cNvPr id="39" name="文本框 38"/>
          <p:cNvSpPr txBox="1"/>
          <p:nvPr/>
        </p:nvSpPr>
        <p:spPr>
          <a:xfrm>
            <a:off x="926465" y="5626418"/>
            <a:ext cx="5080000" cy="337185"/>
          </a:xfrm>
          <a:prstGeom prst="rect">
            <a:avLst/>
          </a:prstGeom>
        </p:spPr>
        <p:txBody>
          <a:bodyPr>
            <a:spAutoFit/>
          </a:bodyPr>
          <a:p>
            <a:r>
              <a:rPr lang="en-US" altLang="zh-CN" sz="1600"/>
              <a:t>Step 4: Prediction</a:t>
            </a:r>
            <a:endParaRPr lang="en-US" altLang="zh-CN" sz="1600"/>
          </a:p>
        </p:txBody>
      </p:sp>
      <p:sp>
        <p:nvSpPr>
          <p:cNvPr id="40" name="文本框 39"/>
          <p:cNvSpPr txBox="1"/>
          <p:nvPr/>
        </p:nvSpPr>
        <p:spPr>
          <a:xfrm>
            <a:off x="1323340" y="5935345"/>
            <a:ext cx="7590155" cy="337185"/>
          </a:xfrm>
          <a:prstGeom prst="rect">
            <a:avLst/>
          </a:prstGeom>
        </p:spPr>
        <p:txBody>
          <a:bodyPr wrap="square">
            <a:spAutoFit/>
          </a:bodyPr>
          <a:p>
            <a:r>
              <a:rPr lang="en-US" altLang="zh-CN" sz="1600"/>
              <a:t>After training, use the optimized parameters θ^ for prediction:</a:t>
            </a:r>
            <a:endParaRPr lang="en-US" altLang="zh-CN" sz="1600"/>
          </a:p>
        </p:txBody>
      </p:sp>
      <p:pic>
        <p:nvPicPr>
          <p:cNvPr id="41" name="图片 40"/>
          <p:cNvPicPr>
            <a:picLocks noChangeAspect="1"/>
          </p:cNvPicPr>
          <p:nvPr/>
        </p:nvPicPr>
        <p:blipFill>
          <a:blip r:embed="rId4"/>
          <a:stretch>
            <a:fillRect/>
          </a:stretch>
        </p:blipFill>
        <p:spPr>
          <a:xfrm>
            <a:off x="6602730" y="5938520"/>
            <a:ext cx="1463040" cy="327660"/>
          </a:xfrm>
          <a:prstGeom prst="rect">
            <a:avLst/>
          </a:prstGeom>
        </p:spPr>
      </p:pic>
      <p:pic>
        <p:nvPicPr>
          <p:cNvPr id="42" name="图片 41"/>
          <p:cNvPicPr>
            <a:picLocks noChangeAspect="1"/>
          </p:cNvPicPr>
          <p:nvPr/>
        </p:nvPicPr>
        <p:blipFill>
          <a:blip r:embed="rId5"/>
          <a:stretch>
            <a:fillRect/>
          </a:stretch>
        </p:blipFill>
        <p:spPr>
          <a:xfrm>
            <a:off x="5122545" y="5892165"/>
            <a:ext cx="196215" cy="384810"/>
          </a:xfrm>
          <a:prstGeom prst="rect">
            <a:avLst/>
          </a:prstGeom>
        </p:spPr>
      </p:pic>
      <p:pic>
        <p:nvPicPr>
          <p:cNvPr id="8" name="图片 7"/>
          <p:cNvPicPr>
            <a:picLocks noChangeAspect="1"/>
          </p:cNvPicPr>
          <p:nvPr/>
        </p:nvPicPr>
        <p:blipFill>
          <a:blip r:embed="rId6"/>
          <a:stretch>
            <a:fillRect/>
          </a:stretch>
        </p:blipFill>
        <p:spPr>
          <a:xfrm>
            <a:off x="2765425" y="5673090"/>
            <a:ext cx="3063240" cy="22860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Explanation-Neural Network</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sym typeface="+mn-ea"/>
              </a:rPr>
              <a:t>The sample data construction part is the same as the OLS part.</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sym typeface="+mn-ea"/>
              </a:rPr>
              <a:t>Neural Network Model </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10" name="图片 9"/>
          <p:cNvPicPr>
            <a:picLocks noChangeAspect="1"/>
          </p:cNvPicPr>
          <p:nvPr/>
        </p:nvPicPr>
        <p:blipFill>
          <a:blip r:embed="rId1"/>
          <a:stretch>
            <a:fillRect/>
          </a:stretch>
        </p:blipFill>
        <p:spPr>
          <a:xfrm>
            <a:off x="106680" y="3339465"/>
            <a:ext cx="7208520" cy="2575560"/>
          </a:xfrm>
          <a:prstGeom prst="rect">
            <a:avLst/>
          </a:prstGeom>
        </p:spPr>
      </p:pic>
      <p:pic>
        <p:nvPicPr>
          <p:cNvPr id="26" name="图片 25"/>
          <p:cNvPicPr>
            <a:picLocks noChangeAspect="1"/>
          </p:cNvPicPr>
          <p:nvPr/>
        </p:nvPicPr>
        <p:blipFill>
          <a:blip r:embed="rId2"/>
          <a:stretch>
            <a:fillRect/>
          </a:stretch>
        </p:blipFill>
        <p:spPr>
          <a:xfrm>
            <a:off x="548640" y="6064250"/>
            <a:ext cx="3322320" cy="365760"/>
          </a:xfrm>
          <a:prstGeom prst="rect">
            <a:avLst/>
          </a:prstGeom>
        </p:spPr>
      </p:pic>
      <p:sp>
        <p:nvSpPr>
          <p:cNvPr id="2" name="文本框 1"/>
          <p:cNvSpPr txBox="1"/>
          <p:nvPr/>
        </p:nvSpPr>
        <p:spPr>
          <a:xfrm>
            <a:off x="4826635" y="952500"/>
            <a:ext cx="5791200" cy="1383665"/>
          </a:xfrm>
          <a:prstGeom prst="rect">
            <a:avLst/>
          </a:prstGeom>
          <a:noFill/>
        </p:spPr>
        <p:txBody>
          <a:bodyPr wrap="square" rtlCol="0" anchor="t">
            <a:spAutoFit/>
          </a:bodyPr>
          <a:p>
            <a:r>
              <a:rPr lang="en-US" altLang="zh-CN" sz="1400"/>
              <a:t>Import numpy library for data generation and processing</a:t>
            </a:r>
            <a:endParaRPr lang="en-US" altLang="zh-CN" sz="1400"/>
          </a:p>
          <a:p>
            <a:r>
              <a:rPr lang="en-US" altLang="zh-CN" sz="1400"/>
              <a:t>Import pandas library for data manipulation and analysis</a:t>
            </a:r>
            <a:endParaRPr lang="en-US" altLang="zh-CN" sz="1400"/>
          </a:p>
          <a:p>
            <a:r>
              <a:rPr lang="en-US" altLang="zh-CN" sz="1400"/>
              <a:t>Import TensorFlow library for building and training neural networks</a:t>
            </a:r>
            <a:endParaRPr lang="en-US" altLang="zh-CN" sz="1400"/>
          </a:p>
          <a:p>
            <a:r>
              <a:rPr lang="en-US" altLang="zh-CN" sz="1400"/>
              <a:t>Import train_test_split from sklearn for splitting train and test datasets</a:t>
            </a:r>
            <a:endParaRPr lang="en-US" altLang="zh-CN" sz="1400"/>
          </a:p>
          <a:p>
            <a:r>
              <a:rPr lang="en-US" altLang="zh-CN" sz="1400"/>
              <a:t>Import mean_squared_error from sklearn to calculate mean squared error</a:t>
            </a:r>
            <a:endParaRPr lang="en-US" altLang="zh-CN" sz="1400"/>
          </a:p>
          <a:p>
            <a:r>
              <a:rPr lang="en-US" altLang="zh-CN" sz="1400"/>
              <a:t>For hyperparameter optimization</a:t>
            </a:r>
            <a:endParaRPr lang="zh-CN" altLang="en-US" sz="1400"/>
          </a:p>
        </p:txBody>
      </p:sp>
      <p:pic>
        <p:nvPicPr>
          <p:cNvPr id="3" name="图片 2"/>
          <p:cNvPicPr>
            <a:picLocks noChangeAspect="1"/>
          </p:cNvPicPr>
          <p:nvPr/>
        </p:nvPicPr>
        <p:blipFill>
          <a:blip r:embed="rId3"/>
          <a:stretch>
            <a:fillRect/>
          </a:stretch>
        </p:blipFill>
        <p:spPr>
          <a:xfrm>
            <a:off x="725170" y="1020445"/>
            <a:ext cx="4091940" cy="1272540"/>
          </a:xfrm>
          <a:prstGeom prst="rect">
            <a:avLst/>
          </a:prstGeom>
        </p:spPr>
      </p:pic>
      <p:sp>
        <p:nvSpPr>
          <p:cNvPr id="5" name="文本框 4"/>
          <p:cNvSpPr txBox="1"/>
          <p:nvPr/>
        </p:nvSpPr>
        <p:spPr>
          <a:xfrm>
            <a:off x="7369810" y="2832100"/>
            <a:ext cx="4822825" cy="737235"/>
          </a:xfrm>
          <a:prstGeom prst="rect">
            <a:avLst/>
          </a:prstGeom>
          <a:noFill/>
        </p:spPr>
        <p:txBody>
          <a:bodyPr wrap="square" rtlCol="0" anchor="t">
            <a:spAutoFit/>
          </a:bodyPr>
          <a:p>
            <a:r>
              <a:rPr lang="en-US" altLang="zh-CN" sz="1400"/>
              <a:t>Create a neural network model</a:t>
            </a:r>
            <a:r>
              <a:rPr lang="zh-CN" altLang="en-US" sz="1400"/>
              <a:t>：</a:t>
            </a:r>
            <a:r>
              <a:rPr lang="en-US" altLang="zh-CN" sz="1400"/>
              <a:t>(Learning rate controls optimizer step size</a:t>
            </a:r>
            <a:r>
              <a:rPr lang="zh-CN" altLang="en-US" sz="1400"/>
              <a:t>；</a:t>
            </a:r>
            <a:r>
              <a:rPr lang="en-US" altLang="zh-CN" sz="1400"/>
              <a:t>neurons_layer: Number of neurons in the first/</a:t>
            </a:r>
            <a:r>
              <a:rPr lang="en-US" altLang="zh-CN" sz="1400">
                <a:sym typeface="+mn-ea"/>
              </a:rPr>
              <a:t>second/</a:t>
            </a:r>
            <a:r>
              <a:rPr lang="en-US" altLang="zh-CN" sz="1400"/>
              <a:t> hidden/</a:t>
            </a:r>
            <a:r>
              <a:rPr lang="en-US" altLang="zh-CN" sz="1400">
                <a:sym typeface="+mn-ea"/>
              </a:rPr>
              <a:t>third</a:t>
            </a:r>
            <a:r>
              <a:rPr lang="en-US" altLang="zh-CN" sz="1400"/>
              <a:t> layer)</a:t>
            </a:r>
            <a:endParaRPr lang="en-US" altLang="zh-CN" sz="1400"/>
          </a:p>
        </p:txBody>
      </p:sp>
      <p:sp>
        <p:nvSpPr>
          <p:cNvPr id="6" name="文本框 5"/>
          <p:cNvSpPr txBox="1"/>
          <p:nvPr/>
        </p:nvSpPr>
        <p:spPr>
          <a:xfrm>
            <a:off x="7364095" y="3484245"/>
            <a:ext cx="4184650" cy="1383665"/>
          </a:xfrm>
          <a:prstGeom prst="rect">
            <a:avLst/>
          </a:prstGeom>
          <a:noFill/>
        </p:spPr>
        <p:txBody>
          <a:bodyPr wrap="square" rtlCol="0" anchor="t">
            <a:spAutoFit/>
          </a:bodyPr>
          <a:p>
            <a:pPr algn="l">
              <a:buClrTx/>
              <a:buSzTx/>
              <a:buNone/>
            </a:pPr>
            <a:r>
              <a:rPr lang="en-US" altLang="zh-CN" sz="1400"/>
              <a:t>Use Sequential model</a:t>
            </a:r>
            <a:endParaRPr lang="en-US" altLang="zh-CN" sz="1400"/>
          </a:p>
          <a:p>
            <a:pPr algn="l">
              <a:buClrTx/>
              <a:buSzTx/>
              <a:buNone/>
            </a:pPr>
            <a:r>
              <a:rPr lang="en-US" altLang="zh-CN" sz="1400"/>
              <a:t>Input layer with shape equal to number of zi_t features</a:t>
            </a:r>
            <a:endParaRPr lang="en-US" altLang="zh-CN" sz="1400"/>
          </a:p>
          <a:p>
            <a:pPr algn="l">
              <a:buClrTx/>
              <a:buSzTx/>
              <a:buNone/>
            </a:pPr>
            <a:r>
              <a:rPr lang="en-US" altLang="zh-CN" sz="1400"/>
              <a:t>Hidden layer 1</a:t>
            </a:r>
            <a:endParaRPr lang="en-US" altLang="zh-CN" sz="1400"/>
          </a:p>
          <a:p>
            <a:pPr algn="l">
              <a:buClrTx/>
              <a:buSzTx/>
              <a:buNone/>
            </a:pPr>
            <a:r>
              <a:rPr lang="en-US" altLang="zh-CN" sz="1400"/>
              <a:t>Hidden layer 2</a:t>
            </a:r>
            <a:endParaRPr lang="en-US" altLang="zh-CN" sz="1400"/>
          </a:p>
          <a:p>
            <a:pPr algn="l">
              <a:buClrTx/>
              <a:buSzTx/>
              <a:buNone/>
            </a:pPr>
            <a:r>
              <a:rPr lang="en-US" altLang="zh-CN" sz="1400"/>
              <a:t>Hidden layer 3</a:t>
            </a:r>
            <a:endParaRPr lang="en-US" altLang="zh-CN" sz="1400"/>
          </a:p>
          <a:p>
            <a:pPr algn="l">
              <a:buClrTx/>
              <a:buSzTx/>
              <a:buNone/>
            </a:pPr>
            <a:r>
              <a:rPr lang="en-US" altLang="zh-CN" sz="1400"/>
              <a:t>Output layer</a:t>
            </a:r>
            <a:endParaRPr lang="en-US" altLang="zh-CN" sz="1400"/>
          </a:p>
        </p:txBody>
      </p:sp>
      <p:sp>
        <p:nvSpPr>
          <p:cNvPr id="7" name="文本框 6"/>
          <p:cNvSpPr txBox="1"/>
          <p:nvPr/>
        </p:nvSpPr>
        <p:spPr>
          <a:xfrm>
            <a:off x="7364730" y="4917440"/>
            <a:ext cx="2924175" cy="737235"/>
          </a:xfrm>
          <a:prstGeom prst="rect">
            <a:avLst/>
          </a:prstGeom>
          <a:noFill/>
        </p:spPr>
        <p:txBody>
          <a:bodyPr wrap="square" rtlCol="0" anchor="t">
            <a:spAutoFit/>
          </a:bodyPr>
          <a:p>
            <a:r>
              <a:rPr lang="en-US" altLang="zh-CN" sz="1400"/>
              <a:t>Adam optimizer</a:t>
            </a:r>
            <a:endParaRPr lang="en-US" altLang="zh-CN" sz="1400"/>
          </a:p>
          <a:p>
            <a:r>
              <a:rPr lang="en-US" altLang="zh-CN" sz="1400"/>
              <a:t>Loss function is mean squared error</a:t>
            </a:r>
            <a:endParaRPr lang="en-US" altLang="zh-CN" sz="1400"/>
          </a:p>
          <a:p>
            <a:r>
              <a:rPr lang="en-US" altLang="zh-CN" sz="1400"/>
              <a:t>Mean absolute error</a:t>
            </a:r>
            <a:endParaRPr lang="zh-CN" altLang="en-US" sz="1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t>
            </a:r>
            <a:r>
              <a:rPr lang="en-US" altLang="zh-CN" sz="2810" dirty="0">
                <a:latin typeface="Calibri Light" panose="020F0302020204030204"/>
                <a:ea typeface="Calibri Light" panose="020F0302020204030204"/>
                <a:cs typeface="Calibri Light" panose="020F0302020204030204"/>
                <a:sym typeface="+mn-ea"/>
              </a:rPr>
              <a:t>Neural Network</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Hyperparameter Optimization</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Evaluate the Best Model on Test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1"/>
          <a:stretch>
            <a:fillRect/>
          </a:stretch>
        </p:blipFill>
        <p:spPr>
          <a:xfrm>
            <a:off x="250190" y="1009015"/>
            <a:ext cx="7051040" cy="4142105"/>
          </a:xfrm>
          <a:prstGeom prst="rect">
            <a:avLst/>
          </a:prstGeom>
        </p:spPr>
      </p:pic>
      <p:pic>
        <p:nvPicPr>
          <p:cNvPr id="16" name="图片 15"/>
          <p:cNvPicPr>
            <a:picLocks noChangeAspect="1"/>
          </p:cNvPicPr>
          <p:nvPr/>
        </p:nvPicPr>
        <p:blipFill>
          <a:blip r:embed="rId2"/>
          <a:stretch>
            <a:fillRect/>
          </a:stretch>
        </p:blipFill>
        <p:spPr>
          <a:xfrm>
            <a:off x="565150" y="5257165"/>
            <a:ext cx="3794760" cy="647700"/>
          </a:xfrm>
          <a:prstGeom prst="rect">
            <a:avLst/>
          </a:prstGeom>
        </p:spPr>
      </p:pic>
      <p:pic>
        <p:nvPicPr>
          <p:cNvPr id="3" name="图片 2"/>
          <p:cNvPicPr>
            <a:picLocks noChangeAspect="1"/>
          </p:cNvPicPr>
          <p:nvPr/>
        </p:nvPicPr>
        <p:blipFill>
          <a:blip r:embed="rId3"/>
          <a:stretch>
            <a:fillRect/>
          </a:stretch>
        </p:blipFill>
        <p:spPr>
          <a:xfrm>
            <a:off x="416560" y="6490970"/>
            <a:ext cx="3063240" cy="228600"/>
          </a:xfrm>
          <a:prstGeom prst="rect">
            <a:avLst/>
          </a:prstGeom>
        </p:spPr>
      </p:pic>
      <p:sp>
        <p:nvSpPr>
          <p:cNvPr id="4" name="文本框 3"/>
          <p:cNvSpPr txBox="1"/>
          <p:nvPr/>
        </p:nvSpPr>
        <p:spPr>
          <a:xfrm>
            <a:off x="7247255" y="825500"/>
            <a:ext cx="4902200" cy="1198880"/>
          </a:xfrm>
          <a:prstGeom prst="rect">
            <a:avLst/>
          </a:prstGeom>
          <a:noFill/>
        </p:spPr>
        <p:txBody>
          <a:bodyPr wrap="square" rtlCol="0" anchor="t">
            <a:spAutoFit/>
          </a:bodyPr>
          <a:p>
            <a:r>
              <a:rPr lang="en-US" altLang="zh-CN" sz="1200"/>
              <a:t>Initialize the best model variable, initially no model is selected</a:t>
            </a:r>
            <a:endParaRPr lang="en-US" altLang="zh-CN" sz="1200"/>
          </a:p>
          <a:p>
            <a:r>
              <a:rPr lang="en-US" altLang="zh-CN" sz="1200"/>
              <a:t>Initialize the minimum validation loss to infinity to find a better model</a:t>
            </a:r>
            <a:endParaRPr lang="en-US" altLang="zh-CN" sz="1200"/>
          </a:p>
          <a:p>
            <a:r>
              <a:rPr lang="en-US" altLang="zh-CN" sz="1200"/>
              <a:t>Set the list of learning rates to try</a:t>
            </a:r>
            <a:endParaRPr lang="en-US" altLang="zh-CN" sz="1200"/>
          </a:p>
          <a:p>
            <a:r>
              <a:rPr lang="en-US" altLang="zh-CN" sz="1200"/>
              <a:t>Options for the number of neurons in the first hidden layer</a:t>
            </a:r>
            <a:endParaRPr lang="en-US" altLang="zh-CN" sz="1200"/>
          </a:p>
          <a:p>
            <a:r>
              <a:rPr lang="en-US" altLang="zh-CN" sz="1200"/>
              <a:t>Options for the number of neurons in the second hidden layer</a:t>
            </a:r>
            <a:endParaRPr lang="en-US" altLang="zh-CN" sz="1200"/>
          </a:p>
          <a:p>
            <a:r>
              <a:rPr lang="en-US" altLang="zh-CN" sz="1200"/>
              <a:t>Options for the number of neurons in the third hidden layer</a:t>
            </a:r>
            <a:endParaRPr lang="zh-CN" altLang="en-US" sz="1200"/>
          </a:p>
        </p:txBody>
      </p:sp>
      <p:sp>
        <p:nvSpPr>
          <p:cNvPr id="5" name="文本框 4"/>
          <p:cNvSpPr txBox="1"/>
          <p:nvPr/>
        </p:nvSpPr>
        <p:spPr>
          <a:xfrm>
            <a:off x="7229475" y="2011045"/>
            <a:ext cx="4768850" cy="2491740"/>
          </a:xfrm>
          <a:prstGeom prst="rect">
            <a:avLst/>
          </a:prstGeom>
          <a:noFill/>
        </p:spPr>
        <p:txBody>
          <a:bodyPr wrap="square" rtlCol="0" anchor="t">
            <a:spAutoFit/>
          </a:bodyPr>
          <a:p>
            <a:r>
              <a:rPr lang="en-US" altLang="zh-CN" sz="1200"/>
              <a:t>Iterate over all learning rates</a:t>
            </a:r>
            <a:endParaRPr lang="en-US" altLang="zh-CN" sz="1200"/>
          </a:p>
          <a:p>
            <a:r>
              <a:rPr lang="en-US" altLang="zh-CN" sz="1200"/>
              <a:t>Iterate over options for the number of neurons in the first hidden layer</a:t>
            </a:r>
            <a:endParaRPr lang="en-US" altLang="zh-CN" sz="1200"/>
          </a:p>
          <a:p>
            <a:r>
              <a:rPr lang="en-US" altLang="zh-CN" sz="1200"/>
              <a:t>Iterate over options for the number of neurons in the second hidden layer</a:t>
            </a:r>
            <a:endParaRPr lang="en-US" altLang="zh-CN" sz="1200"/>
          </a:p>
          <a:p>
            <a:r>
              <a:rPr lang="en-US" altLang="zh-CN" sz="1200"/>
              <a:t>Iterate over options for the number of neurons in the third hidden layer</a:t>
            </a:r>
            <a:endParaRPr lang="en-US" altLang="zh-CN" sz="1200"/>
          </a:p>
          <a:p>
            <a:r>
              <a:rPr lang="en-US" altLang="zh-CN" sz="1200"/>
              <a:t>Create a neural network model with the current hyperparameter combination</a:t>
            </a:r>
            <a:endParaRPr lang="en-US" altLang="zh-CN" sz="1200"/>
          </a:p>
          <a:p>
            <a:r>
              <a:rPr lang="en-US" altLang="zh-CN" sz="1200"/>
              <a:t>Train the model and evaluate on the validation set</a:t>
            </a:r>
            <a:endParaRPr lang="en-US" altLang="zh-CN" sz="1200"/>
          </a:p>
          <a:p>
            <a:r>
              <a:rPr lang="en-US" altLang="zh-CN" sz="1200"/>
              <a:t>Evaluate model performance on validation set</a:t>
            </a:r>
            <a:endParaRPr lang="en-US" altLang="zh-CN" sz="1200"/>
          </a:p>
          <a:p>
            <a:r>
              <a:rPr lang="en-US" altLang="zh-CN" sz="1200"/>
              <a:t>Train the model for 50 epochs</a:t>
            </a:r>
            <a:endParaRPr lang="en-US" altLang="zh-CN" sz="1200"/>
          </a:p>
          <a:p>
            <a:r>
              <a:rPr lang="en-US" altLang="zh-CN" sz="1200"/>
              <a:t>Each training batch contains 32 samples</a:t>
            </a:r>
            <a:endParaRPr lang="en-US" altLang="zh-CN" sz="1200"/>
          </a:p>
          <a:p>
            <a:r>
              <a:rPr lang="en-US" altLang="zh-CN" sz="1200"/>
              <a:t>Suppress detailed logs</a:t>
            </a:r>
            <a:endParaRPr lang="en-US" altLang="zh-CN" sz="1200"/>
          </a:p>
          <a:p>
            <a:r>
              <a:rPr lang="en-US" altLang="zh-CN" sz="1200"/>
              <a:t>Callbacks including early stopping</a:t>
            </a:r>
            <a:endParaRPr lang="en-US" altLang="zh-CN" sz="1200"/>
          </a:p>
          <a:p>
            <a:r>
              <a:rPr lang="en-US" altLang="zh-CN" sz="1200"/>
              <a:t>Stop training if no improvement for 5 iterations, restore best weights</a:t>
            </a:r>
            <a:endParaRPr lang="zh-CN" altLang="en-US" sz="1200"/>
          </a:p>
        </p:txBody>
      </p:sp>
      <p:sp>
        <p:nvSpPr>
          <p:cNvPr id="6" name="文本框 5"/>
          <p:cNvSpPr txBox="1"/>
          <p:nvPr/>
        </p:nvSpPr>
        <p:spPr>
          <a:xfrm>
            <a:off x="7258050" y="4410710"/>
            <a:ext cx="4695825" cy="1014730"/>
          </a:xfrm>
          <a:prstGeom prst="rect">
            <a:avLst/>
          </a:prstGeom>
          <a:noFill/>
        </p:spPr>
        <p:txBody>
          <a:bodyPr wrap="square" rtlCol="0" anchor="t">
            <a:spAutoFit/>
          </a:bodyPr>
          <a:p>
            <a:r>
              <a:rPr lang="en-US" altLang="zh-CN" sz="1200"/>
              <a:t>Get the minimum validation loss for the current hyperparameter combination</a:t>
            </a:r>
            <a:endParaRPr lang="en-US" altLang="zh-CN" sz="1200"/>
          </a:p>
          <a:p>
            <a:r>
              <a:rPr lang="en-US" altLang="zh-CN" sz="1200"/>
              <a:t>If the current model has a lower validation loss, update the best model</a:t>
            </a:r>
            <a:endParaRPr lang="en-US" altLang="zh-CN" sz="1200"/>
          </a:p>
          <a:p>
            <a:r>
              <a:rPr lang="en-US" altLang="zh-CN" sz="1200"/>
              <a:t>Update the current best validation loss value</a:t>
            </a:r>
            <a:endParaRPr lang="en-US" altLang="zh-CN" sz="1200"/>
          </a:p>
          <a:p>
            <a:r>
              <a:rPr lang="en-US" altLang="zh-CN" sz="1200"/>
              <a:t>Update the current best model</a:t>
            </a:r>
            <a:endParaRPr lang="zh-CN" altLang="en-US" sz="1200"/>
          </a:p>
        </p:txBody>
      </p:sp>
      <p:sp>
        <p:nvSpPr>
          <p:cNvPr id="7" name="文本框 6"/>
          <p:cNvSpPr txBox="1"/>
          <p:nvPr/>
        </p:nvSpPr>
        <p:spPr>
          <a:xfrm>
            <a:off x="3559175" y="6470015"/>
            <a:ext cx="1424305" cy="275590"/>
          </a:xfrm>
          <a:prstGeom prst="rect">
            <a:avLst/>
          </a:prstGeom>
          <a:noFill/>
        </p:spPr>
        <p:txBody>
          <a:bodyPr wrap="square" rtlCol="0" anchor="t">
            <a:spAutoFit/>
          </a:bodyPr>
          <a:p>
            <a:r>
              <a:rPr lang="en-US" altLang="zh-CN" sz="1200"/>
              <a:t>Predict on test set</a:t>
            </a:r>
            <a:endParaRPr lang="zh-CN" altLang="en-US" sz="12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Neural Network</a:t>
            </a:r>
            <a:r>
              <a:rPr lang="en-US" altLang="zh-CN" sz="2810" dirty="0">
                <a:latin typeface="Calibri Light" panose="020F0302020204030204"/>
                <a:ea typeface="Calibri Light" panose="020F0302020204030204"/>
                <a:cs typeface="Calibri Light" panose="020F0302020204030204"/>
                <a:sym typeface="+mn-ea"/>
              </a:rPr>
              <a:t> Results</a:t>
            </a:r>
            <a:r>
              <a:rPr lang="en-US" altLang="zh-CN" sz="2810" dirty="0">
                <a:latin typeface="Calibri Light" panose="020F0302020204030204"/>
                <a:ea typeface="Calibri Light" panose="020F0302020204030204"/>
                <a:cs typeface="Calibri Light" panose="020F0302020204030204"/>
              </a:rPr>
              <a:t> for Stock Return Prediction: A Time Series Analysis of </a:t>
            </a:r>
            <a:r>
              <a:rPr lang="en-US" sz="2810" b="1" dirty="0" smtClean="0">
                <a:sym typeface="+mn-ea"/>
              </a:rPr>
              <a:t>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rPr>
              <a:t>Sample Data</a:t>
            </a:r>
            <a:endParaRPr lang="en-US" altLang="zh-CN" sz="281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3" name="图片 2" descr="Neural Network-Time Series"/>
          <p:cNvPicPr>
            <a:picLocks noChangeAspect="1"/>
          </p:cNvPicPr>
          <p:nvPr/>
        </p:nvPicPr>
        <p:blipFill>
          <a:blip r:embed="rId1"/>
          <a:stretch>
            <a:fillRect/>
          </a:stretch>
        </p:blipFill>
        <p:spPr>
          <a:xfrm>
            <a:off x="1206500" y="978535"/>
            <a:ext cx="10161905" cy="587946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r>
              <a:rPr lang="en-US" sz="3600" b="1" dirty="0" smtClean="0"/>
              <a:t>Assessing predictive power</a:t>
            </a:r>
            <a:endParaRPr lang="en-US" sz="3600" b="1" dirty="0" smtClean="0"/>
          </a:p>
        </p:txBody>
      </p:sp>
      <p:sp>
        <p:nvSpPr>
          <p:cNvPr id="3" name="Content Placeholder 2"/>
          <p:cNvSpPr>
            <a:spLocks noGrp="1"/>
          </p:cNvSpPr>
          <p:nvPr>
            <p:ph idx="1"/>
          </p:nvPr>
        </p:nvSpPr>
        <p:spPr>
          <a:xfrm>
            <a:off x="838200" y="1256665"/>
            <a:ext cx="10515600" cy="4895215"/>
          </a:xfrm>
        </p:spPr>
        <p:txBody>
          <a:bodyPr>
            <a:normAutofit/>
          </a:bodyPr>
          <a:lstStyle/>
          <a:p>
            <a:r>
              <a:rPr lang="en-US" dirty="0" smtClean="0">
                <a:solidFill>
                  <a:srgbClr val="26927D"/>
                </a:solidFill>
              </a:rPr>
              <a:t>The standard out-of-sample R</a:t>
            </a:r>
            <a:r>
              <a:rPr lang="en-US" baseline="30000" dirty="0" smtClean="0">
                <a:solidFill>
                  <a:srgbClr val="26927D"/>
                </a:solidFill>
              </a:rPr>
              <a:t>2</a:t>
            </a:r>
            <a:r>
              <a:rPr lang="en-US" dirty="0" smtClean="0">
                <a:solidFill>
                  <a:srgbClr val="26927D"/>
                </a:solidFill>
              </a:rPr>
              <a:t> statistic:</a:t>
            </a:r>
            <a:endParaRPr lang="en-US" dirty="0" smtClean="0">
              <a:solidFill>
                <a:srgbClr val="26927D"/>
              </a:solidFill>
            </a:endParaRPr>
          </a:p>
          <a:p>
            <a:pPr marL="0" indent="0">
              <a:buNone/>
            </a:pPr>
            <a:endParaRPr lang="zh-CN" altLang="en-US"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endParaRPr lang="en-US" altLang="zh-CN" sz="2400" dirty="0" smtClean="0">
              <a:sym typeface="+mn-ea"/>
            </a:endParaRPr>
          </a:p>
          <a:p>
            <a:pPr marL="0" indent="0">
              <a:buNone/>
            </a:pPr>
            <a:endParaRPr lang="en-US" altLang="zh-CN" sz="2400" dirty="0" smtClean="0">
              <a:sym typeface="+mn-ea"/>
            </a:endParaRPr>
          </a:p>
          <a:p>
            <a:pPr marL="0" indent="0">
              <a:buNone/>
            </a:pPr>
            <a:endParaRPr lang="en-US" altLang="zh-CN" sz="2400" dirty="0" smtClean="0">
              <a:sym typeface="+mn-ea"/>
            </a:endParaRPr>
          </a:p>
          <a:p>
            <a:pPr marL="0" indent="0">
              <a:buNone/>
            </a:pPr>
            <a:r>
              <a:rPr lang="en-US" altLang="zh-CN" sz="2400" dirty="0" smtClean="0">
                <a:sym typeface="+mn-ea"/>
              </a:rPr>
              <a:t>           </a:t>
            </a:r>
            <a:endParaRPr lang="en-US" altLang="zh-CN" sz="2400" dirty="0" smtClean="0">
              <a:sym typeface="+mn-ea"/>
            </a:endParaRPr>
          </a:p>
          <a:p>
            <a:pPr marL="0" indent="0">
              <a:buNone/>
            </a:pPr>
            <a:r>
              <a:rPr lang="en-US" sz="2400" dirty="0" smtClean="0">
                <a:sym typeface="+mn-ea"/>
              </a:rPr>
              <a:t>   </a:t>
            </a:r>
            <a:endParaRPr lang="en-US" sz="2400" dirty="0" smtClean="0">
              <a:sym typeface="+mn-ea"/>
            </a:endParaRPr>
          </a:p>
        </p:txBody>
      </p:sp>
      <p:pic>
        <p:nvPicPr>
          <p:cNvPr id="7" name="图片 6"/>
          <p:cNvPicPr>
            <a:picLocks noChangeAspect="1"/>
          </p:cNvPicPr>
          <p:nvPr/>
        </p:nvPicPr>
        <p:blipFill>
          <a:blip r:embed="rId1"/>
          <a:stretch>
            <a:fillRect/>
          </a:stretch>
        </p:blipFill>
        <p:spPr>
          <a:xfrm>
            <a:off x="2004695" y="1691005"/>
            <a:ext cx="3652520" cy="754380"/>
          </a:xfrm>
          <a:prstGeom prst="rect">
            <a:avLst/>
          </a:prstGeom>
        </p:spPr>
      </p:pic>
      <p:sp>
        <p:nvSpPr>
          <p:cNvPr id="8" name="文本框 7"/>
          <p:cNvSpPr txBox="1"/>
          <p:nvPr/>
        </p:nvSpPr>
        <p:spPr>
          <a:xfrm>
            <a:off x="956945" y="2409190"/>
            <a:ext cx="8851265" cy="1076325"/>
          </a:xfrm>
          <a:prstGeom prst="rect">
            <a:avLst/>
          </a:prstGeom>
        </p:spPr>
        <p:txBody>
          <a:bodyPr wrap="square">
            <a:spAutoFit/>
          </a:bodyPr>
          <a:p>
            <a:r>
              <a:rPr lang="en-US" altLang="zh-CN" sz="1600"/>
              <a:t>R</a:t>
            </a:r>
            <a:r>
              <a:rPr lang="en-US" altLang="zh-CN" sz="1600" baseline="-25000"/>
              <a:t>oos</a:t>
            </a:r>
            <a:r>
              <a:rPr lang="en-US" altLang="zh-CN" sz="1600" baseline="30000"/>
              <a:t>2​</a:t>
            </a:r>
            <a:r>
              <a:rPr lang="en-US" altLang="zh-CN" sz="1600"/>
              <a:t>: Out-of-sample R</a:t>
            </a:r>
            <a:r>
              <a:rPr lang="en-US" altLang="zh-CN" sz="1600" baseline="30000"/>
              <a:t>2</a:t>
            </a:r>
            <a:r>
              <a:rPr lang="en-US" altLang="zh-CN" sz="1600"/>
              <a:t>, which measures the predictive performance of the model.</a:t>
            </a:r>
            <a:endParaRPr lang="en-US" altLang="zh-CN" sz="1600"/>
          </a:p>
          <a:p>
            <a:r>
              <a:rPr lang="en-US" altLang="zh-CN" sz="1600"/>
              <a:t>ri,t+1: The actual excess return of stock i at time t+1.</a:t>
            </a:r>
            <a:endParaRPr lang="en-US" altLang="zh-CN" sz="1600"/>
          </a:p>
          <a:p>
            <a:r>
              <a:rPr lang="en-US" altLang="zh-CN" sz="1600"/>
              <a:t>r^i,t+1: The predicted excess return of stock i at time t+1.</a:t>
            </a:r>
            <a:endParaRPr lang="en-US" altLang="zh-CN" sz="1600"/>
          </a:p>
          <a:p>
            <a:r>
              <a:rPr lang="en-US" altLang="zh-CN" sz="1600"/>
              <a:t>T3: The test sample set, comprising observations not used for training or validation.</a:t>
            </a:r>
            <a:endParaRPr lang="en-US" altLang="zh-CN" sz="1600"/>
          </a:p>
        </p:txBody>
      </p:sp>
      <p:sp>
        <p:nvSpPr>
          <p:cNvPr id="9" name="文本框 8"/>
          <p:cNvSpPr txBox="1"/>
          <p:nvPr/>
        </p:nvSpPr>
        <p:spPr>
          <a:xfrm>
            <a:off x="942340" y="3535680"/>
            <a:ext cx="10608945" cy="829945"/>
          </a:xfrm>
          <a:prstGeom prst="rect">
            <a:avLst/>
          </a:prstGeom>
        </p:spPr>
        <p:txBody>
          <a:bodyPr wrap="square">
            <a:spAutoFit/>
          </a:bodyPr>
          <a:p>
            <a:r>
              <a:rPr lang="en-US" altLang="zh-CN" sz="1600"/>
              <a:t>This formula is used to measure the out-of-sample predictive performance of a model, aiming to evaluate how closely the predicted values r^i,t+1 match the actual values ri,t+1. This formula provides a consistent and comparable metric for assessing model performance.</a:t>
            </a:r>
            <a:endParaRPr lang="en-US" altLang="zh-CN" sz="1600"/>
          </a:p>
        </p:txBody>
      </p:sp>
      <p:sp>
        <p:nvSpPr>
          <p:cNvPr id="10" name="文本框 9"/>
          <p:cNvSpPr txBox="1"/>
          <p:nvPr/>
        </p:nvSpPr>
        <p:spPr>
          <a:xfrm>
            <a:off x="942340" y="5681980"/>
            <a:ext cx="10726420" cy="829945"/>
          </a:xfrm>
          <a:prstGeom prst="rect">
            <a:avLst/>
          </a:prstGeom>
        </p:spPr>
        <p:txBody>
          <a:bodyPr wrap="square">
            <a:spAutoFit/>
          </a:bodyPr>
          <a:p>
            <a:r>
              <a:rPr lang="en-US" altLang="zh-CN" sz="1600"/>
              <a:t>By calculating R</a:t>
            </a:r>
            <a:r>
              <a:rPr lang="en-US" altLang="zh-CN" sz="1600" baseline="-25000"/>
              <a:t>oos</a:t>
            </a:r>
            <a:r>
              <a:rPr lang="en-US" altLang="zh-CN" sz="1600" baseline="30000"/>
              <a:t>2</a:t>
            </a:r>
            <a:r>
              <a:rPr lang="en-US" altLang="zh-CN" sz="1600"/>
              <a:t> on the test dataset, researchers can:</a:t>
            </a:r>
            <a:endParaRPr lang="en-US" altLang="zh-CN" sz="1600"/>
          </a:p>
          <a:p>
            <a:pPr>
              <a:buAutoNum type="arabicPeriod"/>
            </a:pPr>
            <a:r>
              <a:rPr lang="en-US" altLang="zh-CN" sz="1600"/>
              <a:t>Determine whether the model improves prediction accuracy (R</a:t>
            </a:r>
            <a:r>
              <a:rPr lang="en-US" altLang="zh-CN" sz="1600" baseline="-25000"/>
              <a:t>oos</a:t>
            </a:r>
            <a:r>
              <a:rPr lang="en-US" altLang="zh-CN" sz="1600" baseline="30000"/>
              <a:t>2</a:t>
            </a:r>
            <a:r>
              <a:rPr lang="en-US" altLang="zh-CN" sz="1600"/>
              <a:t>&gt;0 indicates better-than-naive predictions).</a:t>
            </a:r>
            <a:endParaRPr lang="en-US" altLang="zh-CN" sz="1600"/>
          </a:p>
          <a:p>
            <a:pPr>
              <a:buAutoNum type="arabicPeriod"/>
            </a:pPr>
            <a:r>
              <a:rPr lang="en-US" altLang="zh-CN" sz="1600"/>
              <a:t>Compare the predictive performance of different models (higher R</a:t>
            </a:r>
            <a:r>
              <a:rPr lang="en-US" altLang="zh-CN" sz="1600" baseline="-25000"/>
              <a:t>oos</a:t>
            </a:r>
            <a:r>
              <a:rPr lang="en-US" altLang="zh-CN" sz="1600" baseline="30000"/>
              <a:t>2</a:t>
            </a:r>
            <a:r>
              <a:rPr lang="en-US" altLang="zh-CN" sz="1600"/>
              <a:t> indicates better performance).</a:t>
            </a:r>
            <a:endParaRPr lang="en-US" altLang="zh-CN" sz="1600"/>
          </a:p>
        </p:txBody>
      </p:sp>
      <p:sp>
        <p:nvSpPr>
          <p:cNvPr id="11" name="文本框 10"/>
          <p:cNvSpPr txBox="1"/>
          <p:nvPr/>
        </p:nvSpPr>
        <p:spPr>
          <a:xfrm>
            <a:off x="948690" y="4269740"/>
            <a:ext cx="10917555" cy="1322070"/>
          </a:xfrm>
          <a:prstGeom prst="rect">
            <a:avLst/>
          </a:prstGeom>
        </p:spPr>
        <p:txBody>
          <a:bodyPr wrap="square">
            <a:spAutoFit/>
          </a:bodyPr>
          <a:p>
            <a:r>
              <a:rPr lang="en-US" altLang="zh-CN" sz="1600"/>
              <a:t>Numerator: Represents the sum of squared prediction errors, which quantifies the total deviation of predictions r^i,t+1 from actual outcomes ri,t+1. A smaller numerator indicates higher predictive accuracy.</a:t>
            </a:r>
            <a:endParaRPr lang="en-US" altLang="zh-CN" sz="1600"/>
          </a:p>
          <a:p>
            <a:r>
              <a:rPr lang="en-US" altLang="zh-CN" sz="1600"/>
              <a:t>Denominator: Represents the sum of squared actual excess returns without demeaning. This serves as a benchmark and ensures the evaluation is based on the magnitude of the actual data rather than relative to a sample mean. Using undemeaned returns avoids inflating the </a:t>
            </a:r>
            <a:r>
              <a:rPr lang="en-US" altLang="zh-CN" sz="1600">
                <a:sym typeface="+mn-ea"/>
              </a:rPr>
              <a:t>R</a:t>
            </a:r>
            <a:r>
              <a:rPr lang="en-US" altLang="zh-CN" sz="1600" baseline="-25000">
                <a:sym typeface="+mn-ea"/>
              </a:rPr>
              <a:t>oos</a:t>
            </a:r>
            <a:r>
              <a:rPr lang="en-US" altLang="zh-CN" sz="1600" baseline="30000">
                <a:sym typeface="+mn-ea"/>
              </a:rPr>
              <a:t>2</a:t>
            </a:r>
            <a:r>
              <a:rPr lang="en-US" altLang="zh-CN" sz="1600"/>
              <a:t> by comparing against a noisy mean prediction.</a:t>
            </a:r>
            <a:endParaRPr lang="en-US" altLang="zh-CN" sz="1600"/>
          </a:p>
        </p:txBody>
      </p:sp>
      <p:pic>
        <p:nvPicPr>
          <p:cNvPr id="4" name="图片 3"/>
          <p:cNvPicPr>
            <a:picLocks noChangeAspect="1"/>
          </p:cNvPicPr>
          <p:nvPr/>
        </p:nvPicPr>
        <p:blipFill>
          <a:blip r:embed="rId2"/>
          <a:stretch>
            <a:fillRect/>
          </a:stretch>
        </p:blipFill>
        <p:spPr>
          <a:xfrm>
            <a:off x="7084695" y="1113790"/>
            <a:ext cx="4781550" cy="1245235"/>
          </a:xfrm>
          <a:prstGeom prst="rect">
            <a:avLst/>
          </a:prstGeom>
        </p:spPr>
      </p:pic>
      <p:pic>
        <p:nvPicPr>
          <p:cNvPr id="5" name="图片 4"/>
          <p:cNvPicPr>
            <a:picLocks noChangeAspect="1"/>
          </p:cNvPicPr>
          <p:nvPr/>
        </p:nvPicPr>
        <p:blipFill>
          <a:blip r:embed="rId3"/>
          <a:stretch>
            <a:fillRect/>
          </a:stretch>
        </p:blipFill>
        <p:spPr>
          <a:xfrm>
            <a:off x="8464550" y="2501265"/>
            <a:ext cx="2781300" cy="89154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11810" y="-635"/>
            <a:ext cx="10841990" cy="1325880"/>
          </a:xfrm>
        </p:spPr>
        <p:txBody>
          <a:bodyPr>
            <a:normAutofit/>
          </a:bodyPr>
          <a:p>
            <a:r>
              <a:rPr lang="en-US" sz="3600" b="1" dirty="0" smtClean="0"/>
              <a:t>The computed results of the standard out-of-sample R</a:t>
            </a:r>
            <a:r>
              <a:rPr lang="en-US" sz="3600" b="1" baseline="30000" dirty="0" smtClean="0"/>
              <a:t>2</a:t>
            </a:r>
            <a:r>
              <a:rPr lang="en-US" sz="3600" b="1" dirty="0" smtClean="0"/>
              <a:t> statistic </a:t>
            </a:r>
            <a:r>
              <a:rPr lang="en-US" sz="3600" b="1" dirty="0" smtClean="0">
                <a:sym typeface="+mn-ea"/>
              </a:rPr>
              <a:t>in the generated sample data</a:t>
            </a:r>
            <a:endParaRPr lang="en-US" sz="3600" b="1" dirty="0" smtClean="0"/>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graphicFrame>
        <p:nvGraphicFramePr>
          <p:cNvPr id="5" name="内容占位符 4"/>
          <p:cNvGraphicFramePr/>
          <p:nvPr>
            <p:ph idx="1"/>
            <p:custDataLst>
              <p:tags r:id="rId1"/>
            </p:custDataLst>
          </p:nvPr>
        </p:nvGraphicFramePr>
        <p:xfrm>
          <a:off x="363220" y="1825625"/>
          <a:ext cx="11245850" cy="3352165"/>
        </p:xfrm>
        <a:graphic>
          <a:graphicData uri="http://schemas.openxmlformats.org/drawingml/2006/table">
            <a:tbl>
              <a:tblPr firstRow="1" bandRow="1">
                <a:tableStyleId>{5C22544A-7EE6-4342-B048-85BDC9FD1C3A}</a:tableStyleId>
              </a:tblPr>
              <a:tblGrid>
                <a:gridCol w="1022350"/>
                <a:gridCol w="1022350"/>
                <a:gridCol w="1022350"/>
                <a:gridCol w="1022350"/>
                <a:gridCol w="1022350"/>
                <a:gridCol w="1022350"/>
                <a:gridCol w="1022350"/>
                <a:gridCol w="1022350"/>
                <a:gridCol w="1022350"/>
                <a:gridCol w="1022350"/>
                <a:gridCol w="1022350"/>
              </a:tblGrid>
              <a:tr h="1919605">
                <a:tc>
                  <a:txBody>
                    <a:bodyPr/>
                    <a:p>
                      <a:pPr algn="ctr" fontAlgn="t"/>
                      <a:r>
                        <a:rPr lang="en-US" altLang="zh-CN" sz="1800" b="1" i="0">
                          <a:solidFill>
                            <a:srgbClr val="000000"/>
                          </a:solidFill>
                          <a:latin typeface="宋体" panose="02010600030101010101" pitchFamily="2" charset="-122"/>
                          <a:ea typeface="宋体" panose="02010600030101010101" pitchFamily="2" charset="-122"/>
                        </a:rPr>
                        <a:t>Model</a:t>
                      </a:r>
                      <a:endParaRPr lang="en-US" altLang="zh-CN" sz="1800" b="1"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OLS</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Weighted Linear Regression</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Huber</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ElasticNet</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PCR</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PLS</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Generalized Linear</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Neural Network</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Boosted Regression Trees</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Random Forest</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r>
              <a:tr h="1432560">
                <a:tc>
                  <a:txBody>
                    <a:bodyPr/>
                    <a:p>
                      <a:pPr algn="ctr" fontAlgn="t"/>
                      <a:r>
                        <a:rPr lang="en-US" altLang="zh-CN" sz="1800" b="1" i="0">
                          <a:solidFill>
                            <a:srgbClr val="000000"/>
                          </a:solidFill>
                          <a:latin typeface="宋体" panose="02010600030101010101" pitchFamily="2" charset="-122"/>
                          <a:ea typeface="宋体" panose="02010600030101010101" pitchFamily="2" charset="-122"/>
                        </a:rPr>
                        <a:t>Out-of-Sample R²</a:t>
                      </a:r>
                      <a:endParaRPr lang="en-US" altLang="zh-CN" sz="1800" b="1"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0.996831186</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0.996723293</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0.996604838</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0.990315146</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0.996831186</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0.996875776</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0.990549716</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0.991076154</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0.903032359</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c>
                  <a:txBody>
                    <a:bodyPr/>
                    <a:p>
                      <a:pPr algn="ctr" fontAlgn="b"/>
                      <a:r>
                        <a:rPr lang="en-US" altLang="zh-CN" sz="1800" b="0" i="0">
                          <a:solidFill>
                            <a:srgbClr val="000000"/>
                          </a:solidFill>
                          <a:latin typeface="宋体" panose="02010600030101010101" pitchFamily="2" charset="-122"/>
                          <a:ea typeface="宋体" panose="02010600030101010101" pitchFamily="2" charset="-122"/>
                        </a:rPr>
                        <a:t>0.881419004</a:t>
                      </a:r>
                      <a:endParaRPr lang="en-US" altLang="zh-CN" sz="1800" b="0" i="0">
                        <a:solidFill>
                          <a:srgbClr val="000000"/>
                        </a:solidFill>
                        <a:latin typeface="宋体" panose="02010600030101010101" pitchFamily="2" charset="-122"/>
                        <a:ea typeface="宋体" panose="02010600030101010101" pitchFamily="2" charset="-122"/>
                      </a:endParaRPr>
                    </a:p>
                  </a:txBody>
                  <a:tcPr marL="7937" marR="7937" marT="7937" marB="0" anchor="ctr" anchorCtr="0"/>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635"/>
            <a:ext cx="10515600" cy="1325563"/>
          </a:xfrm>
        </p:spPr>
        <p:txBody>
          <a:bodyPr>
            <a:normAutofit/>
          </a:bodyPr>
          <a:p>
            <a:r>
              <a:rPr lang="en-US" sz="3600" b="1" dirty="0" smtClean="0"/>
              <a:t>The computed results of the standard out-of-sample R</a:t>
            </a:r>
            <a:r>
              <a:rPr lang="en-US" sz="3600" b="1" baseline="30000" dirty="0" smtClean="0"/>
              <a:t>2</a:t>
            </a:r>
            <a:r>
              <a:rPr lang="en-US" sz="3600" b="1" dirty="0" smtClean="0"/>
              <a:t>  statistic in the paper</a:t>
            </a:r>
            <a:endParaRPr lang="en-US" sz="3600" b="1" dirty="0" smtClean="0"/>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pic>
        <p:nvPicPr>
          <p:cNvPr id="9" name="内容占位符 8"/>
          <p:cNvPicPr>
            <a:picLocks noChangeAspect="1"/>
          </p:cNvPicPr>
          <p:nvPr>
            <p:ph idx="1"/>
          </p:nvPr>
        </p:nvPicPr>
        <p:blipFill>
          <a:blip r:embed="rId1"/>
          <a:stretch>
            <a:fillRect/>
          </a:stretch>
        </p:blipFill>
        <p:spPr>
          <a:xfrm>
            <a:off x="512445" y="1250315"/>
            <a:ext cx="5946140" cy="4806950"/>
          </a:xfrm>
          <a:prstGeom prst="rect">
            <a:avLst/>
          </a:prstGeom>
        </p:spPr>
      </p:pic>
      <p:sp>
        <p:nvSpPr>
          <p:cNvPr id="12" name="文本框 11"/>
          <p:cNvSpPr txBox="1"/>
          <p:nvPr/>
        </p:nvSpPr>
        <p:spPr>
          <a:xfrm>
            <a:off x="6457950" y="753110"/>
            <a:ext cx="5805170" cy="5262245"/>
          </a:xfrm>
          <a:prstGeom prst="rect">
            <a:avLst/>
          </a:prstGeom>
        </p:spPr>
        <p:txBody>
          <a:bodyPr wrap="square">
            <a:spAutoFit/>
          </a:bodyPr>
          <a:p>
            <a:r>
              <a:rPr lang="en-US" altLang="zh-CN" sz="1200" b="1"/>
              <a:t>Baseline Models:</a:t>
            </a:r>
            <a:endParaRPr lang="en-US" altLang="zh-CN" sz="1200" b="1"/>
          </a:p>
          <a:p>
            <a:pPr indent="0">
              <a:buFont typeface="Arial" panose="020B0604020202020204"/>
              <a:buNone/>
            </a:pPr>
            <a:r>
              <a:rPr lang="en-US" altLang="zh-CN" sz="1200" b="1"/>
              <a:t>OLS with All Covariates</a:t>
            </a:r>
            <a:r>
              <a:rPr lang="en-US" altLang="zh-CN" sz="1200"/>
              <a:t>:Predictive R</a:t>
            </a:r>
            <a:r>
              <a:rPr lang="en-US" altLang="zh-CN" sz="1200" baseline="30000"/>
              <a:t>2</a:t>
            </a:r>
            <a:r>
              <a:rPr lang="en-US" altLang="zh-CN" sz="1200"/>
              <a:t>=−3.46% for the entire pooled sample.This poor performance reflects severe overfitting due to the high dimensionality of predictors (920 features) and lack of regularization.</a:t>
            </a:r>
            <a:endParaRPr lang="en-US" altLang="zh-CN" sz="1200"/>
          </a:p>
          <a:p>
            <a:pPr indent="0">
              <a:buFont typeface="Arial" panose="020B0604020202020204"/>
              <a:buNone/>
            </a:pPr>
            <a:r>
              <a:rPr lang="en-US" altLang="zh-CN" sz="1200" b="1"/>
              <a:t>OLS-3 (Size, Book-to-Market, Momentum)</a:t>
            </a:r>
            <a:r>
              <a:rPr lang="en-US" altLang="zh-CN" sz="1200"/>
              <a:t>:Predictive R</a:t>
            </a:r>
            <a:r>
              <a:rPr lang="en-US" altLang="zh-CN" sz="1200" baseline="30000"/>
              <a:t>2</a:t>
            </a:r>
            <a:r>
              <a:rPr lang="en-US" altLang="zh-CN" sz="1200"/>
              <a:t>=0.16% demonstrating substantial improvement by using only three robust predictors.</a:t>
            </a:r>
            <a:endParaRPr lang="en-US" altLang="zh-CN" sz="1200"/>
          </a:p>
          <a:p>
            <a:pPr indent="0">
              <a:buFont typeface="Arial" panose="020B0604020202020204"/>
              <a:buNone/>
            </a:pPr>
            <a:r>
              <a:rPr lang="en-US" altLang="zh-CN" sz="1200"/>
              <a:t>These results confirm that naive OLS fails in high-dimensional settings but performs modestly well with limited predictors.</a:t>
            </a:r>
            <a:endParaRPr lang="en-US" altLang="zh-CN" sz="1200"/>
          </a:p>
          <a:p>
            <a:r>
              <a:rPr lang="en-US" altLang="zh-CN" sz="1200" b="1"/>
              <a:t>Regularized Linear Models:</a:t>
            </a:r>
            <a:endParaRPr lang="en-US" altLang="zh-CN" sz="1200" b="1"/>
          </a:p>
          <a:p>
            <a:pPr indent="0">
              <a:buFont typeface="Arial" panose="020B0604020202020204"/>
              <a:buNone/>
            </a:pPr>
            <a:r>
              <a:rPr lang="en-US" altLang="zh-CN" sz="1200" b="1"/>
              <a:t>Elastic Net (ENet)</a:t>
            </a:r>
            <a:r>
              <a:rPr lang="en-US" altLang="zh-CN" sz="1200"/>
              <a:t>:R</a:t>
            </a:r>
            <a:r>
              <a:rPr lang="en-US" altLang="zh-CN" sz="1200" baseline="30000"/>
              <a:t>2</a:t>
            </a:r>
            <a:r>
              <a:rPr lang="en-US" altLang="zh-CN" sz="1200"/>
              <a:t>=0.11%. By penalizing coefficients, ENet mitigates overfitting, providing better predictions than full OLS but still limited due to its linear nature.</a:t>
            </a:r>
            <a:endParaRPr lang="en-US" altLang="zh-CN" sz="1200"/>
          </a:p>
          <a:p>
            <a:pPr indent="0">
              <a:buFont typeface="Arial" panose="020B0604020202020204"/>
              <a:buNone/>
            </a:pPr>
            <a:r>
              <a:rPr lang="en-US" altLang="zh-CN" sz="1200" b="1"/>
              <a:t>Partial Least Squares (PLS)</a:t>
            </a:r>
            <a:r>
              <a:rPr lang="en-US" altLang="zh-CN" sz="1200"/>
              <a:t> and </a:t>
            </a:r>
            <a:r>
              <a:rPr lang="en-US" altLang="zh-CN" sz="1200" b="1"/>
              <a:t>Principal Components Regression (PCR)</a:t>
            </a:r>
            <a:r>
              <a:rPr lang="en-US" altLang="zh-CN" sz="1200"/>
              <a:t>:R</a:t>
            </a:r>
            <a:r>
              <a:rPr lang="en-US" altLang="zh-CN" sz="1200" baseline="30000"/>
              <a:t>2</a:t>
            </a:r>
            <a:r>
              <a:rPr lang="en-US" altLang="zh-CN" sz="1200"/>
              <a:t>=0.27% and R</a:t>
            </a:r>
            <a:r>
              <a:rPr lang="en-US" altLang="zh-CN" sz="1200" baseline="30000"/>
              <a:t>2</a:t>
            </a:r>
            <a:r>
              <a:rPr lang="en-US" altLang="zh-CN" sz="1200"/>
              <a:t>=0.26%, respectively.These dimension-reduction techniques outperform penalized regression by condensing noisy predictors into a few informative components.</a:t>
            </a:r>
            <a:endParaRPr lang="en-US" altLang="zh-CN" sz="1200"/>
          </a:p>
          <a:p>
            <a:r>
              <a:rPr lang="en-US" altLang="zh-CN" sz="1200" b="1"/>
              <a:t>Nonlinear Models:</a:t>
            </a:r>
            <a:endParaRPr lang="en-US" altLang="zh-CN" sz="1200" b="1"/>
          </a:p>
          <a:p>
            <a:pPr indent="0">
              <a:buFont typeface="Arial" panose="020B0604020202020204"/>
              <a:buNone/>
            </a:pPr>
            <a:r>
              <a:rPr lang="en-US" altLang="zh-CN" sz="1200" b="1"/>
              <a:t>Random Forest (RF) and Gradient Boosted Regression Trees (GBRT): </a:t>
            </a:r>
            <a:r>
              <a:rPr lang="en-US" altLang="zh-CN" sz="1200"/>
              <a:t>R</a:t>
            </a:r>
            <a:r>
              <a:rPr lang="en-US" altLang="zh-CN" sz="1200" baseline="30000"/>
              <a:t>2</a:t>
            </a:r>
            <a:r>
              <a:rPr lang="en-US" altLang="zh-CN" sz="1200"/>
              <a:t>=0.33% and R</a:t>
            </a:r>
            <a:r>
              <a:rPr lang="en-US" altLang="zh-CN" sz="1200" baseline="30000"/>
              <a:t>2</a:t>
            </a:r>
            <a:r>
              <a:rPr lang="en-US" altLang="zh-CN" sz="1200"/>
              <a:t>=0.34%, respectively. These models leverage nonlinearities and interactions among predictors, yielding better predictive performance.</a:t>
            </a:r>
            <a:endParaRPr lang="en-US" altLang="zh-CN" sz="1200"/>
          </a:p>
          <a:p>
            <a:pPr indent="0">
              <a:buFont typeface="Arial" panose="020B0604020202020204"/>
              <a:buNone/>
            </a:pPr>
            <a:r>
              <a:rPr lang="en-US" altLang="zh-CN" sz="1200" b="1"/>
              <a:t>Neural Networks (NN1-NN5): </a:t>
            </a:r>
            <a:r>
              <a:rPr lang="en-US" altLang="zh-CN" sz="1200"/>
              <a:t>Performance improves with increasing network complexity, peaking at R</a:t>
            </a:r>
            <a:r>
              <a:rPr lang="en-US" altLang="zh-CN" sz="1200" baseline="30000"/>
              <a:t>2</a:t>
            </a:r>
            <a:r>
              <a:rPr lang="en-US" altLang="zh-CN" sz="1200"/>
              <a:t>=0.40% for NN3 (three hidden layers).Models with four or five layers show diminishing returns, likely due to the low signal-to-noise ratio in stock returns data.</a:t>
            </a:r>
            <a:endParaRPr lang="en-US" altLang="zh-CN" sz="1200"/>
          </a:p>
          <a:p>
            <a:r>
              <a:rPr lang="en-US" altLang="zh-CN" sz="1200" b="1"/>
              <a:t>Subsample Results:</a:t>
            </a:r>
            <a:endParaRPr lang="en-US" altLang="zh-CN" sz="1200" b="1"/>
          </a:p>
          <a:p>
            <a:pPr indent="0">
              <a:buFont typeface="Arial" panose="020B0604020202020204"/>
              <a:buNone/>
            </a:pPr>
            <a:r>
              <a:rPr lang="en-US" altLang="zh-CN" sz="1200"/>
              <a:t>Predictions are broken down by large-cap (top-1,000 stocks) and small-cap (bottom-1,000 stocks) subsamples.</a:t>
            </a:r>
            <a:endParaRPr lang="en-US" altLang="zh-CN" sz="1200"/>
          </a:p>
          <a:p>
            <a:pPr indent="0">
              <a:buFont typeface="Arial" panose="020B0604020202020204"/>
              <a:buNone/>
            </a:pPr>
            <a:r>
              <a:rPr lang="en-US" altLang="zh-CN" sz="1200"/>
              <a:t>Nonlinear models (trees and neural networks) achieve the best performance in both cases, with higher R</a:t>
            </a:r>
            <a:r>
              <a:rPr lang="en-US" altLang="zh-CN" sz="1200" baseline="30000"/>
              <a:t>2</a:t>
            </a:r>
            <a:r>
              <a:rPr lang="en-US" altLang="zh-CN" sz="1200"/>
              <a:t> values for large-cap stocks (up to 0.70% for NN3).</a:t>
            </a:r>
            <a:endParaRPr lang="en-US" altLang="zh-CN" sz="1200"/>
          </a:p>
          <a:p>
            <a:pPr indent="0">
              <a:buFont typeface="Arial" panose="020B0604020202020204"/>
              <a:buNone/>
            </a:pPr>
            <a:r>
              <a:rPr lang="en-US" altLang="zh-CN" sz="1200"/>
              <a:t>This result supports the hypothesis that machine learning models excel in predicting returns for larger, more liquid stocks.</a:t>
            </a:r>
            <a:endParaRPr lang="en-US" altLang="zh-CN" sz="12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27355"/>
            <a:ext cx="10515600" cy="1336413"/>
          </a:xfrm>
        </p:spPr>
        <p:txBody>
          <a:bodyPr>
            <a:normAutofit/>
          </a:bodyPr>
          <a:lstStyle/>
          <a:p>
            <a:r>
              <a:rPr lang="en-US" sz="3600" b="1" dirty="0" smtClean="0"/>
              <a:t>Forecast comparison </a:t>
            </a:r>
            <a:endParaRPr lang="en-US" sz="3600" b="1" dirty="0" smtClean="0"/>
          </a:p>
        </p:txBody>
      </p:sp>
      <p:sp>
        <p:nvSpPr>
          <p:cNvPr id="3" name="Content Placeholder 2"/>
          <p:cNvSpPr>
            <a:spLocks noGrp="1"/>
          </p:cNvSpPr>
          <p:nvPr>
            <p:ph idx="1"/>
          </p:nvPr>
        </p:nvSpPr>
        <p:spPr>
          <a:xfrm>
            <a:off x="838200" y="433705"/>
            <a:ext cx="10515600" cy="5601335"/>
          </a:xfrm>
        </p:spPr>
        <p:txBody>
          <a:bodyPr>
            <a:normAutofit lnSpcReduction="10000"/>
          </a:bodyPr>
          <a:lstStyle/>
          <a:p>
            <a:r>
              <a:rPr lang="en-US" dirty="0" smtClean="0">
                <a:solidFill>
                  <a:srgbClr val="26927D"/>
                </a:solidFill>
              </a:rPr>
              <a:t>The DM test-statistic for a comparison between methods 1 and 2：</a:t>
            </a:r>
            <a:r>
              <a:rPr dirty="0" smtClean="0"/>
              <a:t>compare the relative performance of two forecasting methods.</a:t>
            </a:r>
            <a:endParaRPr dirty="0" smtClean="0"/>
          </a:p>
          <a:p>
            <a:pPr marL="0" indent="0">
              <a:buNone/>
            </a:pPr>
            <a:endParaRPr dirty="0" smtClean="0">
              <a:solidFill>
                <a:srgbClr val="26927D"/>
              </a:solidFill>
            </a:endParaRPr>
          </a:p>
          <a:p>
            <a:pPr marL="0" indent="0">
              <a:buNone/>
            </a:pPr>
            <a:r>
              <a:rPr lang="en-US" altLang="zh-CN" dirty="0" smtClean="0">
                <a:sym typeface="+mn-ea"/>
              </a:rPr>
              <a:t>                                        </a:t>
            </a:r>
            <a:endParaRPr lang="en-US" altLang="zh-CN"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endParaRPr dirty="0" smtClean="0">
              <a:sym typeface="+mn-ea"/>
            </a:endParaRPr>
          </a:p>
          <a:p>
            <a:pPr marL="0" indent="0">
              <a:buNone/>
            </a:pPr>
            <a:r>
              <a:rPr lang="en-US" dirty="0" smtClean="0">
                <a:sym typeface="+mn-ea"/>
              </a:rPr>
              <a:t>                </a:t>
            </a:r>
            <a:endParaRPr lang="en-US" dirty="0" smtClean="0">
              <a:sym typeface="+mn-ea"/>
            </a:endParaRPr>
          </a:p>
          <a:p>
            <a:pPr marL="0" indent="0">
              <a:buNone/>
            </a:pPr>
            <a:r>
              <a:rPr lang="en-US" dirty="0" smtClean="0">
                <a:solidFill>
                  <a:srgbClr val="26927D"/>
                </a:solidFill>
                <a:sym typeface="+mn-ea"/>
              </a:rPr>
              <a:t>  </a:t>
            </a:r>
            <a:endParaRPr lang="en-US" dirty="0" smtClean="0">
              <a:sym typeface="+mn-ea"/>
            </a:endParaRPr>
          </a:p>
          <a:p>
            <a:pPr marL="0" indent="0">
              <a:buNone/>
            </a:pPr>
            <a:endParaRPr lang="en-US" sz="2800" dirty="0" smtClean="0">
              <a:sym typeface="+mn-ea"/>
            </a:endParaRPr>
          </a:p>
          <a:p>
            <a:pPr marL="0" indent="0">
              <a:buNone/>
            </a:pPr>
            <a:endParaRPr lang="en-US" sz="2800" dirty="0" smtClean="0">
              <a:sym typeface="+mn-ea"/>
            </a:endParaRPr>
          </a:p>
          <a:p>
            <a:pPr marL="0" indent="0">
              <a:buNone/>
            </a:pPr>
            <a:r>
              <a:rPr sz="2800" dirty="0" smtClean="0">
                <a:sym typeface="+mn-ea"/>
              </a:rPr>
              <a:t> </a:t>
            </a:r>
            <a:endParaRPr sz="2800" dirty="0" smtClean="0">
              <a:sym typeface="+mn-ea"/>
            </a:endParaRPr>
          </a:p>
          <a:p>
            <a:pPr marL="0" indent="0">
              <a:buNone/>
            </a:pPr>
            <a:r>
              <a:rPr lang="en-US" sz="2800" dirty="0" smtClean="0">
                <a:sym typeface="+mn-ea"/>
              </a:rPr>
              <a:t>               </a:t>
            </a:r>
            <a:endParaRPr lang="en-US" sz="2800" dirty="0" smtClean="0">
              <a:sym typeface="+mn-ea"/>
            </a:endParaRPr>
          </a:p>
          <a:p>
            <a:pPr marL="0" indent="0">
              <a:buNone/>
            </a:pPr>
            <a:endParaRPr lang="en-US" sz="2800" dirty="0" smtClean="0">
              <a:sym typeface="+mn-ea"/>
            </a:endParaRPr>
          </a:p>
        </p:txBody>
      </p:sp>
      <p:pic>
        <p:nvPicPr>
          <p:cNvPr id="5" name="图片 4"/>
          <p:cNvPicPr>
            <a:picLocks noChangeAspect="1"/>
          </p:cNvPicPr>
          <p:nvPr/>
        </p:nvPicPr>
        <p:blipFill>
          <a:blip r:embed="rId1"/>
          <a:stretch>
            <a:fillRect/>
          </a:stretch>
        </p:blipFill>
        <p:spPr>
          <a:xfrm>
            <a:off x="3933190" y="1186815"/>
            <a:ext cx="3291840" cy="1417320"/>
          </a:xfrm>
          <a:prstGeom prst="rect">
            <a:avLst/>
          </a:prstGeom>
        </p:spPr>
      </p:pic>
      <p:sp>
        <p:nvSpPr>
          <p:cNvPr id="6" name="文本框 5"/>
          <p:cNvSpPr txBox="1"/>
          <p:nvPr/>
        </p:nvSpPr>
        <p:spPr>
          <a:xfrm>
            <a:off x="838200" y="2520950"/>
            <a:ext cx="10862310" cy="1568450"/>
          </a:xfrm>
          <a:prstGeom prst="rect">
            <a:avLst/>
          </a:prstGeom>
        </p:spPr>
        <p:txBody>
          <a:bodyPr wrap="square">
            <a:spAutoFit/>
          </a:bodyPr>
          <a:p>
            <a:r>
              <a:rPr lang="en-US" altLang="zh-CN" sz="1600"/>
              <a:t>d12,t+1​: The mean squared error difference between models (1) and (2) at time t+1.</a:t>
            </a:r>
            <a:r>
              <a:rPr lang="en-US" altLang="zh-CN" sz="1600">
                <a:sym typeface="+mn-ea"/>
              </a:rPr>
              <a:t>If (e^i,t+1(1))2 &gt;(e^ , then d12,t+1&gt;0, indicating that model (2) has smaller prediction errors.</a:t>
            </a:r>
            <a:endParaRPr lang="en-US" altLang="zh-CN" sz="1600"/>
          </a:p>
          <a:p>
            <a:r>
              <a:rPr lang="en-US" altLang="zh-CN" sz="1600"/>
              <a:t>e^i, and e^i,  : Prediction errors for stock i at time t+1 from models (1) and (2), respectively.</a:t>
            </a:r>
            <a:endParaRPr lang="en-US" altLang="zh-CN" sz="1600"/>
          </a:p>
          <a:p>
            <a:r>
              <a:rPr lang="en-US" altLang="zh-CN" sz="1600"/>
              <a:t>n3,t+1: Number of stocks in the test sample at time t+1.</a:t>
            </a:r>
            <a:endParaRPr lang="en-US" altLang="zh-CN" sz="1600"/>
          </a:p>
          <a:p>
            <a:r>
              <a:rPr lang="en-US" altLang="zh-CN" sz="1600"/>
              <a:t>d   : The average value of d12,t over the test sample.</a:t>
            </a:r>
            <a:endParaRPr lang="en-US" altLang="zh-CN" sz="1600"/>
          </a:p>
          <a:p>
            <a:r>
              <a:rPr lang="en-US" altLang="zh-CN" sz="1600"/>
              <a:t>σ    : The standard error of dˉ1.</a:t>
            </a:r>
            <a:endParaRPr lang="en-US" altLang="zh-CN" sz="1600"/>
          </a:p>
        </p:txBody>
      </p:sp>
      <p:pic>
        <p:nvPicPr>
          <p:cNvPr id="15" name="图片 14"/>
          <p:cNvPicPr>
            <a:picLocks noChangeAspect="1"/>
          </p:cNvPicPr>
          <p:nvPr/>
        </p:nvPicPr>
        <p:blipFill>
          <a:blip r:embed="rId2"/>
          <a:stretch>
            <a:fillRect/>
          </a:stretch>
        </p:blipFill>
        <p:spPr>
          <a:xfrm>
            <a:off x="913765" y="3536315"/>
            <a:ext cx="251460" cy="281940"/>
          </a:xfrm>
          <a:prstGeom prst="rect">
            <a:avLst/>
          </a:prstGeom>
        </p:spPr>
      </p:pic>
      <p:pic>
        <p:nvPicPr>
          <p:cNvPr id="16" name="图片 15"/>
          <p:cNvPicPr>
            <a:picLocks noChangeAspect="1"/>
          </p:cNvPicPr>
          <p:nvPr/>
        </p:nvPicPr>
        <p:blipFill>
          <a:blip r:embed="rId3"/>
          <a:stretch>
            <a:fillRect/>
          </a:stretch>
        </p:blipFill>
        <p:spPr>
          <a:xfrm>
            <a:off x="3002915" y="3525520"/>
            <a:ext cx="472440" cy="243840"/>
          </a:xfrm>
          <a:prstGeom prst="rect">
            <a:avLst/>
          </a:prstGeom>
        </p:spPr>
      </p:pic>
      <p:pic>
        <p:nvPicPr>
          <p:cNvPr id="17" name="图片 16"/>
          <p:cNvPicPr>
            <a:picLocks noChangeAspect="1"/>
          </p:cNvPicPr>
          <p:nvPr/>
        </p:nvPicPr>
        <p:blipFill>
          <a:blip r:embed="rId4"/>
          <a:stretch>
            <a:fillRect/>
          </a:stretch>
        </p:blipFill>
        <p:spPr>
          <a:xfrm>
            <a:off x="882015" y="3789680"/>
            <a:ext cx="320040" cy="312420"/>
          </a:xfrm>
          <a:prstGeom prst="rect">
            <a:avLst/>
          </a:prstGeom>
        </p:spPr>
      </p:pic>
      <p:pic>
        <p:nvPicPr>
          <p:cNvPr id="18" name="图片 17"/>
          <p:cNvPicPr>
            <a:picLocks noChangeAspect="1"/>
          </p:cNvPicPr>
          <p:nvPr/>
        </p:nvPicPr>
        <p:blipFill>
          <a:blip r:embed="rId5"/>
          <a:stretch>
            <a:fillRect/>
          </a:stretch>
        </p:blipFill>
        <p:spPr>
          <a:xfrm>
            <a:off x="3129280" y="3746500"/>
            <a:ext cx="260350" cy="313055"/>
          </a:xfrm>
          <a:prstGeom prst="rect">
            <a:avLst/>
          </a:prstGeom>
        </p:spPr>
      </p:pic>
      <p:pic>
        <p:nvPicPr>
          <p:cNvPr id="19" name="图片 18"/>
          <p:cNvPicPr>
            <a:picLocks noChangeAspect="1"/>
          </p:cNvPicPr>
          <p:nvPr/>
        </p:nvPicPr>
        <p:blipFill>
          <a:blip r:embed="rId6"/>
          <a:stretch>
            <a:fillRect/>
          </a:stretch>
        </p:blipFill>
        <p:spPr>
          <a:xfrm>
            <a:off x="860425" y="3045460"/>
            <a:ext cx="410845" cy="309880"/>
          </a:xfrm>
          <a:prstGeom prst="rect">
            <a:avLst/>
          </a:prstGeom>
        </p:spPr>
      </p:pic>
      <p:pic>
        <p:nvPicPr>
          <p:cNvPr id="20" name="图片 19"/>
          <p:cNvPicPr>
            <a:picLocks noChangeAspect="1"/>
          </p:cNvPicPr>
          <p:nvPr/>
        </p:nvPicPr>
        <p:blipFill>
          <a:blip r:embed="rId7"/>
          <a:stretch>
            <a:fillRect/>
          </a:stretch>
        </p:blipFill>
        <p:spPr>
          <a:xfrm>
            <a:off x="1605280" y="3053715"/>
            <a:ext cx="419100" cy="312420"/>
          </a:xfrm>
          <a:prstGeom prst="rect">
            <a:avLst/>
          </a:prstGeom>
        </p:spPr>
      </p:pic>
      <p:pic>
        <p:nvPicPr>
          <p:cNvPr id="22" name="图片 21"/>
          <p:cNvPicPr>
            <a:picLocks noChangeAspect="1"/>
          </p:cNvPicPr>
          <p:nvPr/>
        </p:nvPicPr>
        <p:blipFill>
          <a:blip r:embed="rId8"/>
          <a:stretch>
            <a:fillRect/>
          </a:stretch>
        </p:blipFill>
        <p:spPr>
          <a:xfrm>
            <a:off x="8004810" y="2495550"/>
            <a:ext cx="1463040" cy="327660"/>
          </a:xfrm>
          <a:prstGeom prst="rect">
            <a:avLst/>
          </a:prstGeom>
        </p:spPr>
      </p:pic>
      <p:sp>
        <p:nvSpPr>
          <p:cNvPr id="23" name="文本框 22"/>
          <p:cNvSpPr txBox="1"/>
          <p:nvPr/>
        </p:nvSpPr>
        <p:spPr>
          <a:xfrm>
            <a:off x="828040" y="4144645"/>
            <a:ext cx="10439400" cy="1076325"/>
          </a:xfrm>
          <a:prstGeom prst="rect">
            <a:avLst/>
          </a:prstGeom>
        </p:spPr>
        <p:txBody>
          <a:bodyPr wrap="square">
            <a:spAutoFit/>
          </a:bodyPr>
          <a:p>
            <a:r>
              <a:rPr lang="en-US" altLang="zh-CN" sz="1600"/>
              <a:t>Numerator: Represents the squared error difference between models (1) and (2) for each stock. Positive values indicate that model (2) has smaller squared errors (better predictions), while negative values indicate the opposite.</a:t>
            </a:r>
            <a:endParaRPr lang="en-US" altLang="zh-CN" sz="1600"/>
          </a:p>
          <a:p>
            <a:r>
              <a:rPr lang="en-US" altLang="zh-CN" sz="1600"/>
              <a:t>Denominator: Standardizes the average difference dˉ by dividing it by its standard error σ^d. This ensures the test statistic accounts for variability in the differences, enabling statistical inference.</a:t>
            </a:r>
            <a:endParaRPr lang="en-US" altLang="zh-CN" sz="1600"/>
          </a:p>
        </p:txBody>
      </p:sp>
      <p:pic>
        <p:nvPicPr>
          <p:cNvPr id="24" name="图片 23"/>
          <p:cNvPicPr>
            <a:picLocks noChangeAspect="1"/>
          </p:cNvPicPr>
          <p:nvPr/>
        </p:nvPicPr>
        <p:blipFill>
          <a:blip r:embed="rId2"/>
          <a:stretch>
            <a:fillRect/>
          </a:stretch>
        </p:blipFill>
        <p:spPr>
          <a:xfrm>
            <a:off x="5061585" y="4652010"/>
            <a:ext cx="251460" cy="281940"/>
          </a:xfrm>
          <a:prstGeom prst="rect">
            <a:avLst/>
          </a:prstGeom>
        </p:spPr>
      </p:pic>
      <p:pic>
        <p:nvPicPr>
          <p:cNvPr id="28" name="图片 27"/>
          <p:cNvPicPr>
            <a:picLocks noChangeAspect="1"/>
          </p:cNvPicPr>
          <p:nvPr/>
        </p:nvPicPr>
        <p:blipFill>
          <a:blip r:embed="rId4"/>
          <a:stretch>
            <a:fillRect/>
          </a:stretch>
        </p:blipFill>
        <p:spPr>
          <a:xfrm>
            <a:off x="8126730" y="4632325"/>
            <a:ext cx="320040" cy="312420"/>
          </a:xfrm>
          <a:prstGeom prst="rect">
            <a:avLst/>
          </a:prstGeom>
        </p:spPr>
      </p:pic>
      <p:sp>
        <p:nvSpPr>
          <p:cNvPr id="30" name="文本框 29"/>
          <p:cNvSpPr txBox="1"/>
          <p:nvPr/>
        </p:nvSpPr>
        <p:spPr>
          <a:xfrm>
            <a:off x="828040" y="5263515"/>
            <a:ext cx="10525760" cy="583565"/>
          </a:xfrm>
          <a:prstGeom prst="rect">
            <a:avLst/>
          </a:prstGeom>
        </p:spPr>
        <p:txBody>
          <a:bodyPr wrap="square">
            <a:spAutoFit/>
          </a:bodyPr>
          <a:p>
            <a:r>
              <a:rPr lang="en-US" altLang="zh-CN" sz="1600"/>
              <a:t>A positive DM</a:t>
            </a:r>
            <a:r>
              <a:rPr lang="en-US" altLang="zh-CN" sz="1600" baseline="-25000"/>
              <a:t>12</a:t>
            </a:r>
            <a:r>
              <a:rPr lang="en-US" altLang="zh-CN" sz="1600"/>
              <a:t> value signifies that model (2) has better predictive performance than model (1), as its squared errors are smaller, leading to more accurate predictions.</a:t>
            </a:r>
            <a:endParaRPr lang="en-US" altLang="zh-CN" sz="160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27355"/>
            <a:ext cx="10515600" cy="1336413"/>
          </a:xfrm>
        </p:spPr>
        <p:txBody>
          <a:bodyPr>
            <a:normAutofit/>
          </a:bodyPr>
          <a:lstStyle/>
          <a:p>
            <a:r>
              <a:rPr lang="en-US" sz="3600" b="1" dirty="0" smtClean="0"/>
              <a:t>Forecast comparison </a:t>
            </a:r>
            <a:endParaRPr lang="en-US" sz="3600" b="1" dirty="0" smtClean="0"/>
          </a:p>
        </p:txBody>
      </p:sp>
      <p:sp>
        <p:nvSpPr>
          <p:cNvPr id="3" name="Content Placeholder 2"/>
          <p:cNvSpPr>
            <a:spLocks noGrp="1"/>
          </p:cNvSpPr>
          <p:nvPr>
            <p:ph idx="1"/>
          </p:nvPr>
        </p:nvSpPr>
        <p:spPr>
          <a:xfrm>
            <a:off x="838200" y="433705"/>
            <a:ext cx="10515600" cy="5601335"/>
          </a:xfrm>
        </p:spPr>
        <p:txBody>
          <a:bodyPr>
            <a:normAutofit lnSpcReduction="10000"/>
          </a:bodyPr>
          <a:lstStyle/>
          <a:p>
            <a:r>
              <a:rPr lang="en-US" dirty="0" smtClean="0">
                <a:solidFill>
                  <a:srgbClr val="26927D"/>
                </a:solidFill>
              </a:rPr>
              <a:t>The DM test-statistic for a comparison between methods 1 and 2：</a:t>
            </a:r>
            <a:r>
              <a:rPr dirty="0" smtClean="0"/>
              <a:t>compare the relative performance of two forecasting methods.</a:t>
            </a:r>
            <a:endParaRPr dirty="0" smtClean="0"/>
          </a:p>
          <a:p>
            <a:pPr marL="0" indent="0">
              <a:buNone/>
            </a:pPr>
            <a:endParaRPr dirty="0" smtClean="0">
              <a:solidFill>
                <a:srgbClr val="26927D"/>
              </a:solidFill>
            </a:endParaRPr>
          </a:p>
          <a:p>
            <a:pPr marL="0" indent="0">
              <a:buNone/>
            </a:pPr>
            <a:r>
              <a:rPr lang="en-US" altLang="zh-CN" dirty="0" smtClean="0">
                <a:sym typeface="+mn-ea"/>
              </a:rPr>
              <a:t>                                        </a:t>
            </a:r>
            <a:endParaRPr lang="en-US" altLang="zh-CN"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endParaRPr dirty="0" smtClean="0">
              <a:sym typeface="+mn-ea"/>
            </a:endParaRPr>
          </a:p>
          <a:p>
            <a:pPr marL="0" indent="0">
              <a:buNone/>
            </a:pPr>
            <a:r>
              <a:rPr lang="en-US" dirty="0" smtClean="0">
                <a:sym typeface="+mn-ea"/>
              </a:rPr>
              <a:t>                </a:t>
            </a:r>
            <a:endParaRPr lang="en-US" dirty="0" smtClean="0">
              <a:sym typeface="+mn-ea"/>
            </a:endParaRPr>
          </a:p>
          <a:p>
            <a:pPr marL="0" indent="0">
              <a:buNone/>
            </a:pPr>
            <a:r>
              <a:rPr lang="en-US" dirty="0" smtClean="0">
                <a:solidFill>
                  <a:srgbClr val="26927D"/>
                </a:solidFill>
                <a:sym typeface="+mn-ea"/>
              </a:rPr>
              <a:t>  </a:t>
            </a:r>
            <a:endParaRPr lang="en-US" dirty="0" smtClean="0">
              <a:sym typeface="+mn-ea"/>
            </a:endParaRPr>
          </a:p>
          <a:p>
            <a:pPr marL="0" indent="0">
              <a:buNone/>
            </a:pPr>
            <a:endParaRPr lang="en-US" sz="2800" dirty="0" smtClean="0">
              <a:sym typeface="+mn-ea"/>
            </a:endParaRPr>
          </a:p>
          <a:p>
            <a:pPr marL="0" indent="0">
              <a:buNone/>
            </a:pPr>
            <a:endParaRPr lang="en-US" sz="2800" dirty="0" smtClean="0">
              <a:sym typeface="+mn-ea"/>
            </a:endParaRPr>
          </a:p>
          <a:p>
            <a:pPr marL="0" indent="0">
              <a:buNone/>
            </a:pPr>
            <a:r>
              <a:rPr sz="2800" dirty="0" smtClean="0">
                <a:sym typeface="+mn-ea"/>
              </a:rPr>
              <a:t> </a:t>
            </a:r>
            <a:endParaRPr sz="2800" dirty="0" smtClean="0">
              <a:sym typeface="+mn-ea"/>
            </a:endParaRPr>
          </a:p>
          <a:p>
            <a:pPr marL="0" indent="0">
              <a:buNone/>
            </a:pPr>
            <a:r>
              <a:rPr lang="en-US" sz="2800" dirty="0" smtClean="0">
                <a:sym typeface="+mn-ea"/>
              </a:rPr>
              <a:t>               </a:t>
            </a:r>
            <a:endParaRPr lang="en-US" sz="2800" dirty="0" smtClean="0">
              <a:sym typeface="+mn-ea"/>
            </a:endParaRPr>
          </a:p>
          <a:p>
            <a:pPr marL="0" indent="0">
              <a:buNone/>
            </a:pPr>
            <a:endParaRPr lang="en-US" sz="2800" dirty="0" smtClean="0">
              <a:sym typeface="+mn-ea"/>
            </a:endParaRPr>
          </a:p>
        </p:txBody>
      </p:sp>
      <p:pic>
        <p:nvPicPr>
          <p:cNvPr id="5" name="图片 4"/>
          <p:cNvPicPr>
            <a:picLocks noChangeAspect="1"/>
          </p:cNvPicPr>
          <p:nvPr/>
        </p:nvPicPr>
        <p:blipFill>
          <a:blip r:embed="rId1"/>
          <a:stretch>
            <a:fillRect/>
          </a:stretch>
        </p:blipFill>
        <p:spPr>
          <a:xfrm>
            <a:off x="3933190" y="1186815"/>
            <a:ext cx="3291840" cy="1417320"/>
          </a:xfrm>
          <a:prstGeom prst="rect">
            <a:avLst/>
          </a:prstGeom>
        </p:spPr>
      </p:pic>
      <p:pic>
        <p:nvPicPr>
          <p:cNvPr id="7" name="图片 6"/>
          <p:cNvPicPr>
            <a:picLocks noChangeAspect="1"/>
          </p:cNvPicPr>
          <p:nvPr/>
        </p:nvPicPr>
        <p:blipFill>
          <a:blip r:embed="rId2"/>
          <a:stretch>
            <a:fillRect/>
          </a:stretch>
        </p:blipFill>
        <p:spPr>
          <a:xfrm>
            <a:off x="6322060" y="1990090"/>
            <a:ext cx="1996440" cy="236220"/>
          </a:xfrm>
          <a:prstGeom prst="rect">
            <a:avLst/>
          </a:prstGeom>
        </p:spPr>
      </p:pic>
      <p:pic>
        <p:nvPicPr>
          <p:cNvPr id="8" name="图片 7"/>
          <p:cNvPicPr>
            <a:picLocks noChangeAspect="1"/>
          </p:cNvPicPr>
          <p:nvPr/>
        </p:nvPicPr>
        <p:blipFill>
          <a:blip r:embed="rId3"/>
          <a:stretch>
            <a:fillRect/>
          </a:stretch>
        </p:blipFill>
        <p:spPr>
          <a:xfrm>
            <a:off x="2562860" y="3307080"/>
            <a:ext cx="8321040" cy="1920240"/>
          </a:xfrm>
          <a:prstGeom prst="rect">
            <a:avLst/>
          </a:prstGeom>
        </p:spPr>
      </p:pic>
      <p:pic>
        <p:nvPicPr>
          <p:cNvPr id="9" name="图片 8"/>
          <p:cNvPicPr>
            <a:picLocks noChangeAspect="1"/>
          </p:cNvPicPr>
          <p:nvPr/>
        </p:nvPicPr>
        <p:blipFill>
          <a:blip r:embed="rId4"/>
          <a:stretch>
            <a:fillRect/>
          </a:stretch>
        </p:blipFill>
        <p:spPr>
          <a:xfrm>
            <a:off x="7620000" y="1490345"/>
            <a:ext cx="3733800" cy="22860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635"/>
            <a:ext cx="10515600" cy="1325563"/>
          </a:xfrm>
        </p:spPr>
        <p:txBody>
          <a:bodyPr>
            <a:normAutofit/>
          </a:bodyPr>
          <a:p>
            <a:r>
              <a:rPr lang="en-US" sz="3600" b="1" dirty="0" smtClean="0">
                <a:sym typeface="+mn-ea"/>
              </a:rPr>
              <a:t>The calculation results of the Diebold and Mariano test statistic </a:t>
            </a:r>
            <a:r>
              <a:rPr lang="en-US" sz="3600" b="1" dirty="0" smtClean="0"/>
              <a:t>i</a:t>
            </a:r>
            <a:r>
              <a:rPr lang="en-US" sz="3600" b="1" dirty="0" smtClean="0"/>
              <a:t>n the generated sample data</a:t>
            </a:r>
            <a:endParaRPr lang="en-US" sz="3600" b="1" dirty="0" smtClean="0"/>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graphicFrame>
        <p:nvGraphicFramePr>
          <p:cNvPr id="6" name="内容占位符 5"/>
          <p:cNvGraphicFramePr/>
          <p:nvPr>
            <p:ph idx="1"/>
          </p:nvPr>
        </p:nvGraphicFramePr>
        <p:xfrm>
          <a:off x="728345" y="1499870"/>
          <a:ext cx="10519410" cy="4191000"/>
        </p:xfrm>
        <a:graphic>
          <a:graphicData uri="http://schemas.openxmlformats.org/drawingml/2006/table">
            <a:tbl>
              <a:tblPr firstRow="1" bandRow="1">
                <a:tableStyleId>{5C22544A-7EE6-4342-B048-85BDC9FD1C3A}</a:tableStyleId>
              </a:tblPr>
              <a:tblGrid>
                <a:gridCol w="956310"/>
                <a:gridCol w="956310"/>
                <a:gridCol w="956310"/>
                <a:gridCol w="956310"/>
                <a:gridCol w="956310"/>
                <a:gridCol w="956310"/>
                <a:gridCol w="956310"/>
                <a:gridCol w="956310"/>
                <a:gridCol w="956310"/>
                <a:gridCol w="956310"/>
                <a:gridCol w="956310"/>
              </a:tblGrid>
              <a:tr h="381000">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lnTlToBr w="12700">
                      <a:solidFill>
                        <a:schemeClr val="tx1"/>
                      </a:solidFill>
                      <a:prstDash val="solid"/>
                    </a:lnTlToBr>
                  </a:tcPr>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OLS</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Weighted</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Huber</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ElasticNet</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PCR</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PLS</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Generalized</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Neural Network</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BRT</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Random Forest</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OLS</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-0.54085295</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-2.086580596</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-5.532906746</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1.322758091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1.574642625</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-3.196485091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-2.895241947</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-5.196619996</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-5.732472541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Weighted</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-0.48830909</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-4.913319211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0.54085295</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0.79125998</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-3.161332021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-2.752622484</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-5.187252318</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-5.726493746</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Huber</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-5.371775862</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2.086580596</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2.248249511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-3.08342493</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-2.765289568</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-5.188074231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-5.722216928</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ElasticNet</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5.532906746</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5.567525864</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0.09793614</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0.388141787</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-4.832079828</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-5.451314444</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PCR</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1.574642625</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-3.196485091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-2.895241947</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-5.196619996</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-5.732472541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PLS</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-3.224796458</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-2.914872907</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-5.197735399</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-5.73406659</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Generalized</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0.171640694</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-4.971751321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-5.617863649</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Neural Network</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-4.745676961</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-5.350161407</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BRT</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r" fontAlgn="b"/>
                      <a:r>
                        <a:rPr lang="en-US" altLang="zh-CN" sz="1100" b="0" i="0">
                          <a:solidFill>
                            <a:srgbClr val="000000"/>
                          </a:solidFill>
                          <a:latin typeface="宋体" panose="02010600030101010101" pitchFamily="2" charset="-122"/>
                          <a:ea typeface="宋体" panose="02010600030101010101" pitchFamily="2" charset="-122"/>
                        </a:rPr>
                        <a:t>-2.043746183</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r h="381000">
                <a:tc>
                  <a:txBody>
                    <a:bodyPr/>
                    <a:p>
                      <a:pPr algn="ctr" fontAlgn="t"/>
                      <a:r>
                        <a:rPr lang="en-US" altLang="zh-CN" sz="1100" b="1" i="0">
                          <a:solidFill>
                            <a:srgbClr val="000000"/>
                          </a:solidFill>
                          <a:latin typeface="宋体" panose="02010600030101010101" pitchFamily="2" charset="-122"/>
                          <a:ea typeface="宋体" panose="02010600030101010101" pitchFamily="2" charset="-122"/>
                        </a:rPr>
                        <a:t>Random Forest</a:t>
                      </a:r>
                      <a:endParaRPr lang="en-US" altLang="zh-CN" sz="1100" b="1" i="0">
                        <a:solidFill>
                          <a:srgbClr val="000000"/>
                        </a:solidFill>
                        <a:latin typeface="宋体" panose="02010600030101010101" pitchFamily="2" charset="-122"/>
                        <a:ea typeface="宋体" panose="02010600030101010101" pitchFamily="2" charset="-122"/>
                      </a:endParaRPr>
                    </a:p>
                  </a:txBody>
                  <a:tcPr marL="7937" marR="7937" marT="7937" marB="0" anchor="t"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c>
                  <a:txBody>
                    <a:bodyPr/>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nchorCtr="0"/>
                </a:tc>
              </a:tr>
            </a:tbl>
          </a:graphicData>
        </a:graphic>
      </p:graphicFrame>
      <p:sp>
        <p:nvSpPr>
          <p:cNvPr id="15" name="文本框 14"/>
          <p:cNvSpPr txBox="1"/>
          <p:nvPr/>
        </p:nvSpPr>
        <p:spPr>
          <a:xfrm>
            <a:off x="596900" y="1560195"/>
            <a:ext cx="684530" cy="368300"/>
          </a:xfrm>
          <a:prstGeom prst="rect">
            <a:avLst/>
          </a:prstGeom>
          <a:noFill/>
        </p:spPr>
        <p:txBody>
          <a:bodyPr wrap="square" rtlCol="0">
            <a:spAutoFit/>
          </a:bodyPr>
          <a:p>
            <a:r>
              <a:rPr lang="en-US" altLang="zh-CN" sz="900" b="1"/>
              <a:t>method</a:t>
            </a:r>
            <a:r>
              <a:rPr lang="zh-CN" altLang="en-US" sz="900" b="1"/>
              <a:t>（</a:t>
            </a:r>
            <a:r>
              <a:rPr lang="en-US" altLang="zh-CN" sz="900" b="1"/>
              <a:t>1</a:t>
            </a:r>
            <a:r>
              <a:rPr lang="zh-CN" altLang="en-US" sz="900" b="1"/>
              <a:t>）</a:t>
            </a:r>
            <a:endParaRPr lang="zh-CN" altLang="en-US" sz="900" b="1"/>
          </a:p>
        </p:txBody>
      </p:sp>
      <p:sp>
        <p:nvSpPr>
          <p:cNvPr id="16" name="文本框 15"/>
          <p:cNvSpPr txBox="1"/>
          <p:nvPr/>
        </p:nvSpPr>
        <p:spPr>
          <a:xfrm>
            <a:off x="1191260" y="1434465"/>
            <a:ext cx="684530" cy="368300"/>
          </a:xfrm>
          <a:prstGeom prst="rect">
            <a:avLst/>
          </a:prstGeom>
          <a:noFill/>
        </p:spPr>
        <p:txBody>
          <a:bodyPr wrap="square" rtlCol="0">
            <a:spAutoFit/>
          </a:bodyPr>
          <a:p>
            <a:r>
              <a:rPr lang="en-US" altLang="zh-CN" sz="900" b="1"/>
              <a:t>method</a:t>
            </a:r>
            <a:r>
              <a:rPr lang="zh-CN" altLang="en-US" sz="900" b="1"/>
              <a:t>（</a:t>
            </a:r>
            <a:r>
              <a:rPr lang="en-US" altLang="zh-CN" sz="900" b="1"/>
              <a:t>2</a:t>
            </a:r>
            <a:r>
              <a:rPr lang="zh-CN" altLang="en-US" sz="900" b="1"/>
              <a:t>）</a:t>
            </a:r>
            <a:endParaRPr lang="zh-CN" altLang="en-US" sz="900" b="1"/>
          </a:p>
        </p:txBody>
      </p:sp>
      <p:sp>
        <p:nvSpPr>
          <p:cNvPr id="17" name="文本框 16"/>
          <p:cNvSpPr txBox="1"/>
          <p:nvPr/>
        </p:nvSpPr>
        <p:spPr>
          <a:xfrm>
            <a:off x="728345" y="6160135"/>
            <a:ext cx="6096000" cy="275590"/>
          </a:xfrm>
          <a:prstGeom prst="rect">
            <a:avLst/>
          </a:prstGeom>
          <a:noFill/>
        </p:spPr>
        <p:txBody>
          <a:bodyPr wrap="square" rtlCol="0" anchor="t">
            <a:spAutoFit/>
          </a:bodyPr>
          <a:p>
            <a:pPr algn="l">
              <a:buClrTx/>
              <a:buSzTx/>
              <a:buFontTx/>
            </a:pPr>
            <a:r>
              <a:rPr lang="en-US" altLang="zh-CN" sz="1200">
                <a:sym typeface="+mn-ea"/>
              </a:rPr>
              <a:t>Positive values indicate the column model outperforms the row model.</a:t>
            </a:r>
            <a:endParaRPr lang="en-US" altLang="zh-CN" sz="1200">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635"/>
            <a:ext cx="10515600" cy="1325563"/>
          </a:xfrm>
        </p:spPr>
        <p:txBody>
          <a:bodyPr>
            <a:normAutofit/>
          </a:bodyPr>
          <a:p>
            <a:r>
              <a:rPr lang="en-US" sz="3600" b="1" dirty="0" smtClean="0">
                <a:sym typeface="+mn-ea"/>
              </a:rPr>
              <a:t>The calculation results of the Diebold and Mariano test statistic </a:t>
            </a:r>
            <a:r>
              <a:rPr lang="en-US" sz="3600" b="1" dirty="0" smtClean="0">
                <a:sym typeface="+mn-ea"/>
              </a:rPr>
              <a:t>in the paper</a:t>
            </a:r>
            <a:endParaRPr lang="en-US" sz="3600" b="1" dirty="0" smtClean="0">
              <a:sym typeface="+mn-ea"/>
            </a:endParaRPr>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pic>
        <p:nvPicPr>
          <p:cNvPr id="5" name="内容占位符 4"/>
          <p:cNvPicPr>
            <a:picLocks noChangeAspect="1"/>
          </p:cNvPicPr>
          <p:nvPr>
            <p:ph idx="1"/>
          </p:nvPr>
        </p:nvPicPr>
        <p:blipFill>
          <a:blip r:embed="rId1"/>
          <a:stretch>
            <a:fillRect/>
          </a:stretch>
        </p:blipFill>
        <p:spPr>
          <a:xfrm>
            <a:off x="179705" y="1325245"/>
            <a:ext cx="6414770" cy="3759835"/>
          </a:xfrm>
          <a:prstGeom prst="rect">
            <a:avLst/>
          </a:prstGeom>
        </p:spPr>
      </p:pic>
      <p:pic>
        <p:nvPicPr>
          <p:cNvPr id="7" name="图片 6"/>
          <p:cNvPicPr>
            <a:picLocks noChangeAspect="1"/>
          </p:cNvPicPr>
          <p:nvPr/>
        </p:nvPicPr>
        <p:blipFill>
          <a:blip r:embed="rId2"/>
          <a:stretch>
            <a:fillRect/>
          </a:stretch>
        </p:blipFill>
        <p:spPr>
          <a:xfrm>
            <a:off x="227330" y="2066925"/>
            <a:ext cx="427355" cy="180340"/>
          </a:xfrm>
          <a:prstGeom prst="rect">
            <a:avLst/>
          </a:prstGeom>
        </p:spPr>
      </p:pic>
      <p:pic>
        <p:nvPicPr>
          <p:cNvPr id="9" name="图片 8"/>
          <p:cNvPicPr>
            <a:picLocks noChangeAspect="1"/>
          </p:cNvPicPr>
          <p:nvPr/>
        </p:nvPicPr>
        <p:blipFill>
          <a:blip r:embed="rId3"/>
          <a:stretch>
            <a:fillRect/>
          </a:stretch>
        </p:blipFill>
        <p:spPr>
          <a:xfrm>
            <a:off x="758190" y="1873885"/>
            <a:ext cx="163830" cy="380365"/>
          </a:xfrm>
          <a:prstGeom prst="rect">
            <a:avLst/>
          </a:prstGeom>
        </p:spPr>
      </p:pic>
      <p:sp>
        <p:nvSpPr>
          <p:cNvPr id="10" name="文本框 9"/>
          <p:cNvSpPr txBox="1"/>
          <p:nvPr/>
        </p:nvSpPr>
        <p:spPr>
          <a:xfrm>
            <a:off x="6965950" y="1288415"/>
            <a:ext cx="4917440" cy="3784600"/>
          </a:xfrm>
          <a:prstGeom prst="rect">
            <a:avLst/>
          </a:prstGeom>
        </p:spPr>
        <p:txBody>
          <a:bodyPr wrap="square">
            <a:spAutoFit/>
          </a:bodyPr>
          <a:p>
            <a:r>
              <a:rPr lang="en-US" altLang="zh-CN" sz="1200" b="1"/>
              <a:t>Linear vs. Constrained Linear Models:</a:t>
            </a:r>
            <a:r>
              <a:rPr lang="en-US" altLang="zh-CN" sz="1200"/>
              <a:t>Unconstrained OLS significantly underperforms compared to constrained linear models such as OLS-3, PLS, PCR, and Elastic Net (ENet). The addition of regularization or dimension reduction leads to substantial predictive improvements over the naïve OLS model.</a:t>
            </a:r>
            <a:endParaRPr lang="en-US" altLang="zh-CN" sz="1200"/>
          </a:p>
          <a:p>
            <a:r>
              <a:rPr lang="en-US" altLang="zh-CN" sz="1200" b="1"/>
              <a:t>Comparison Among Linear Models:</a:t>
            </a:r>
            <a:r>
              <a:rPr lang="en-US" altLang="zh-CN" sz="1200"/>
              <a:t>Differences between penalized linear methods (ENet) and dimension reduction techniques (PLS and PCR) are minimal, with no clear dominance of one approach over the other. This suggests that both strategies effectively mitigate overfitting and capture predictive signals.</a:t>
            </a:r>
            <a:endParaRPr lang="en-US" altLang="zh-CN" sz="1200"/>
          </a:p>
          <a:p>
            <a:r>
              <a:rPr lang="en-US" altLang="zh-CN" sz="1200" b="1"/>
              <a:t>Nonlinear Methods vs. Linear Methods: </a:t>
            </a:r>
            <a:r>
              <a:rPr lang="en-US" altLang="zh-CN" sz="1200"/>
              <a:t>Tree-based models, such as Random Forest (RF) and Gradient Boosted Regression Trees (GBRT), generally outperform linear models. However, the statistical significance of these improvements is marginal.Neural networks (NNs) consistently and significantly outperform linear and generalized linear models, showcasing the value of allowing for complex interactions and nonlinear relationships.</a:t>
            </a:r>
            <a:endParaRPr lang="en-US" altLang="zh-CN" sz="1200"/>
          </a:p>
          <a:p>
            <a:r>
              <a:rPr lang="en-US" altLang="zh-CN" sz="1200" b="1"/>
              <a:t>Neural Networks vs. Tree-Based Models: </a:t>
            </a:r>
            <a:r>
              <a:rPr lang="en-US" altLang="zh-CN" sz="1200"/>
              <a:t>Neural networks improve upon tree-based methods, though the differences are not statistically significant at the 5% level. This highlights the nuanced trade-offs between model flexibility and overfitting.</a:t>
            </a:r>
            <a:endParaRPr lang="en-US" altLang="zh-CN" sz="1200"/>
          </a:p>
        </p:txBody>
      </p:sp>
      <p:sp>
        <p:nvSpPr>
          <p:cNvPr id="11" name="文本框 10"/>
          <p:cNvSpPr txBox="1"/>
          <p:nvPr/>
        </p:nvSpPr>
        <p:spPr>
          <a:xfrm>
            <a:off x="266065" y="5132705"/>
            <a:ext cx="6127115" cy="1568450"/>
          </a:xfrm>
          <a:prstGeom prst="rect">
            <a:avLst/>
          </a:prstGeom>
        </p:spPr>
        <p:txBody>
          <a:bodyPr wrap="square">
            <a:spAutoFit/>
          </a:bodyPr>
          <a:p>
            <a:pPr algn="l">
              <a:buClrTx/>
              <a:buSzTx/>
              <a:buFontTx/>
            </a:pPr>
            <a:r>
              <a:rPr lang="en-US" altLang="zh-CN" sz="1200"/>
              <a:t>Table 3 evaluates the statistical significance of performance differences between machine learning models using Diebold-Mariano (DM) test statistics. The table facilitates a pairwise comparison of predictive accuracy, where:</a:t>
            </a:r>
            <a:endParaRPr lang="en-US" altLang="zh-CN" sz="1200"/>
          </a:p>
          <a:p>
            <a:pPr algn="l">
              <a:buClrTx/>
              <a:buSzTx/>
              <a:buFontTx/>
            </a:pPr>
            <a:endParaRPr lang="en-US" altLang="zh-CN" sz="1200"/>
          </a:p>
          <a:p>
            <a:pPr algn="l">
              <a:buClrTx/>
              <a:buSzTx/>
              <a:buFontTx/>
            </a:pPr>
            <a:r>
              <a:rPr lang="en-US" altLang="zh-CN" sz="1200"/>
              <a:t>Positive values indicate the column model outperforms the row model.</a:t>
            </a:r>
            <a:endParaRPr lang="en-US" altLang="zh-CN" sz="1200"/>
          </a:p>
          <a:p>
            <a:pPr algn="l">
              <a:buClrTx/>
              <a:buSzTx/>
              <a:buFontTx/>
            </a:pPr>
            <a:endParaRPr lang="en-US" altLang="zh-CN" sz="1200"/>
          </a:p>
          <a:p>
            <a:pPr algn="l">
              <a:buClrTx/>
              <a:buSzTx/>
              <a:buFontTx/>
            </a:pPr>
            <a:r>
              <a:rPr lang="en-US" altLang="zh-CN" sz="1200"/>
              <a:t>Statistically significant differences are highlighted in bold (at the 5% level) and with an asterisk for comparisons passing the Bonferroni correction.</a:t>
            </a:r>
            <a:endParaRPr lang="en-US" altLang="zh-CN" sz="12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7195"/>
            <a:ext cx="10515600" cy="1336413"/>
          </a:xfrm>
        </p:spPr>
        <p:txBody>
          <a:bodyPr>
            <a:normAutofit/>
          </a:bodyPr>
          <a:lstStyle/>
          <a:p>
            <a:r>
              <a:rPr lang="en-US" sz="3600" b="1" dirty="0" smtClean="0"/>
              <a:t>Variable Importance and Marginal Relationships</a:t>
            </a:r>
            <a:endParaRPr lang="en-US" sz="3600" b="1" dirty="0" smtClean="0"/>
          </a:p>
        </p:txBody>
      </p:sp>
      <p:sp>
        <p:nvSpPr>
          <p:cNvPr id="3" name="Content Placeholder 2"/>
          <p:cNvSpPr>
            <a:spLocks noGrp="1"/>
          </p:cNvSpPr>
          <p:nvPr>
            <p:ph idx="1"/>
          </p:nvPr>
        </p:nvSpPr>
        <p:spPr>
          <a:xfrm>
            <a:off x="838200" y="433705"/>
            <a:ext cx="10515600" cy="5601335"/>
          </a:xfrm>
        </p:spPr>
        <p:txBody>
          <a:bodyPr>
            <a:normAutofit/>
          </a:bodyPr>
          <a:lstStyle/>
          <a:p>
            <a:r>
              <a:rPr b="1" dirty="0" smtClean="0">
                <a:solidFill>
                  <a:srgbClr val="26927D"/>
                </a:solidFill>
              </a:rPr>
              <a:t>Variable Importance </a:t>
            </a:r>
            <a:r>
              <a:rPr lang="en-US" b="1" dirty="0" smtClean="0">
                <a:solidFill>
                  <a:srgbClr val="26927D"/>
                </a:solidFill>
              </a:rPr>
              <a:t>:</a:t>
            </a:r>
            <a:endParaRPr lang="en-US" altLang="zh-CN"/>
          </a:p>
          <a:p>
            <a:pPr marL="0" indent="0">
              <a:buNone/>
            </a:pPr>
            <a:endParaRPr dirty="0" smtClean="0">
              <a:solidFill>
                <a:srgbClr val="26927D"/>
              </a:solidFill>
            </a:endParaRPr>
          </a:p>
          <a:p>
            <a:pPr marL="0" indent="0">
              <a:buNone/>
            </a:pPr>
            <a:r>
              <a:rPr lang="en-US" altLang="zh-CN" dirty="0" smtClean="0">
                <a:sym typeface="+mn-ea"/>
              </a:rPr>
              <a:t>                                        </a:t>
            </a:r>
            <a:endParaRPr lang="en-US" altLang="zh-CN" dirty="0" smtClean="0">
              <a:sym typeface="+mn-ea"/>
            </a:endParaRPr>
          </a:p>
          <a:p>
            <a:pPr marL="0" indent="0">
              <a:buNone/>
            </a:pPr>
            <a:r>
              <a:rPr lang="en-US" altLang="zh-CN" dirty="0" smtClean="0">
                <a:sym typeface="+mn-ea"/>
              </a:rPr>
              <a:t>                                   </a:t>
            </a:r>
            <a:r>
              <a:rPr lang="en-US" dirty="0" smtClean="0">
                <a:sym typeface="+mn-ea"/>
              </a:rPr>
              <a:t> </a:t>
            </a:r>
            <a:endParaRPr lang="en-US" dirty="0" smtClean="0">
              <a:sym typeface="+mn-ea"/>
            </a:endParaRPr>
          </a:p>
          <a:p>
            <a:pPr marL="0" indent="0">
              <a:buNone/>
            </a:pPr>
            <a:r>
              <a:rPr lang="en-US" dirty="0" smtClean="0">
                <a:sym typeface="+mn-ea"/>
              </a:rPr>
              <a:t> </a:t>
            </a:r>
            <a:endParaRPr sz="2800" dirty="0" smtClean="0">
              <a:sym typeface="+mn-ea"/>
            </a:endParaRPr>
          </a:p>
          <a:p>
            <a:pPr marL="0" indent="0">
              <a:buNone/>
            </a:pPr>
            <a:endParaRPr lang="en-US" sz="2800" dirty="0" smtClean="0">
              <a:sym typeface="+mn-ea"/>
            </a:endParaRPr>
          </a:p>
          <a:p>
            <a:pPr marL="0" indent="0">
              <a:buNone/>
            </a:pPr>
            <a:r>
              <a:rPr b="1" dirty="0" smtClean="0">
                <a:solidFill>
                  <a:srgbClr val="26927D"/>
                </a:solidFill>
              </a:rPr>
              <a:t>Sum of Squared Derivatives (SSD)</a:t>
            </a:r>
            <a:r>
              <a:rPr b="1" dirty="0" smtClean="0">
                <a:solidFill>
                  <a:srgbClr val="26927D"/>
                </a:solidFill>
                <a:sym typeface="+mn-ea"/>
              </a:rPr>
              <a:t> :</a:t>
            </a:r>
            <a:endParaRPr b="1" dirty="0" smtClean="0">
              <a:solidFill>
                <a:srgbClr val="26927D"/>
              </a:solidFill>
            </a:endParaRPr>
          </a:p>
          <a:p>
            <a:pPr marL="0" indent="0">
              <a:buNone/>
            </a:pPr>
            <a:endParaRPr sz="2800" b="1" dirty="0" smtClean="0">
              <a:solidFill>
                <a:srgbClr val="26927D"/>
              </a:solidFill>
              <a:sym typeface="+mn-ea"/>
            </a:endParaRPr>
          </a:p>
        </p:txBody>
      </p:sp>
      <p:pic>
        <p:nvPicPr>
          <p:cNvPr id="8" name="图片 7"/>
          <p:cNvPicPr>
            <a:picLocks noChangeAspect="1"/>
          </p:cNvPicPr>
          <p:nvPr/>
        </p:nvPicPr>
        <p:blipFill>
          <a:blip r:embed="rId1"/>
          <a:stretch>
            <a:fillRect/>
          </a:stretch>
        </p:blipFill>
        <p:spPr>
          <a:xfrm>
            <a:off x="1358900" y="831215"/>
            <a:ext cx="1584960" cy="327660"/>
          </a:xfrm>
          <a:prstGeom prst="rect">
            <a:avLst/>
          </a:prstGeom>
        </p:spPr>
      </p:pic>
      <p:sp>
        <p:nvSpPr>
          <p:cNvPr id="9" name="文本框 8"/>
          <p:cNvSpPr txBox="1"/>
          <p:nvPr/>
        </p:nvSpPr>
        <p:spPr>
          <a:xfrm>
            <a:off x="496570" y="1141095"/>
            <a:ext cx="10567670" cy="583565"/>
          </a:xfrm>
          <a:prstGeom prst="rect">
            <a:avLst/>
          </a:prstGeom>
        </p:spPr>
        <p:txBody>
          <a:bodyPr wrap="square">
            <a:spAutoFit/>
          </a:bodyPr>
          <a:p>
            <a:r>
              <a:rPr lang="en-US" altLang="zh-CN" sz="1600"/>
              <a:t>Rmo  : The out-of-sample predictive R</a:t>
            </a:r>
            <a:r>
              <a:rPr lang="en-US" altLang="zh-CN" sz="1600" baseline="30000"/>
              <a:t>2</a:t>
            </a:r>
            <a:r>
              <a:rPr lang="en-US" altLang="zh-CN" sz="1600"/>
              <a:t> of the full model using all predictors.</a:t>
            </a:r>
            <a:endParaRPr lang="en-US" altLang="zh-CN" sz="1600"/>
          </a:p>
          <a:p>
            <a:r>
              <a:rPr lang="en-US" altLang="zh-CN" sz="1600"/>
              <a:t>R−j: The out-of-sample predictive R</a:t>
            </a:r>
            <a:r>
              <a:rPr lang="en-US" altLang="zh-CN" sz="1600" baseline="30000"/>
              <a:t>2</a:t>
            </a:r>
            <a:r>
              <a:rPr lang="en-US" altLang="zh-CN" sz="1600"/>
              <a:t> of the model after setting the j-th variable to zero.</a:t>
            </a:r>
            <a:endParaRPr lang="en-US" altLang="zh-CN" sz="1600"/>
          </a:p>
        </p:txBody>
      </p:sp>
      <p:pic>
        <p:nvPicPr>
          <p:cNvPr id="12" name="图片 11"/>
          <p:cNvPicPr>
            <a:picLocks noChangeAspect="1"/>
          </p:cNvPicPr>
          <p:nvPr/>
        </p:nvPicPr>
        <p:blipFill>
          <a:blip r:embed="rId2"/>
          <a:stretch>
            <a:fillRect/>
          </a:stretch>
        </p:blipFill>
        <p:spPr>
          <a:xfrm>
            <a:off x="453390" y="1111885"/>
            <a:ext cx="533400" cy="320040"/>
          </a:xfrm>
          <a:prstGeom prst="rect">
            <a:avLst/>
          </a:prstGeom>
        </p:spPr>
      </p:pic>
      <p:pic>
        <p:nvPicPr>
          <p:cNvPr id="13" name="图片 12"/>
          <p:cNvPicPr>
            <a:picLocks noChangeAspect="1"/>
          </p:cNvPicPr>
          <p:nvPr/>
        </p:nvPicPr>
        <p:blipFill>
          <a:blip r:embed="rId3"/>
          <a:stretch>
            <a:fillRect/>
          </a:stretch>
        </p:blipFill>
        <p:spPr>
          <a:xfrm>
            <a:off x="496570" y="1410335"/>
            <a:ext cx="350520" cy="281940"/>
          </a:xfrm>
          <a:prstGeom prst="rect">
            <a:avLst/>
          </a:prstGeom>
        </p:spPr>
      </p:pic>
      <p:sp>
        <p:nvSpPr>
          <p:cNvPr id="16" name="文本框 15"/>
          <p:cNvSpPr txBox="1"/>
          <p:nvPr/>
        </p:nvSpPr>
        <p:spPr>
          <a:xfrm>
            <a:off x="453390" y="1779905"/>
            <a:ext cx="9088120" cy="1076325"/>
          </a:xfrm>
          <a:prstGeom prst="rect">
            <a:avLst/>
          </a:prstGeom>
        </p:spPr>
        <p:txBody>
          <a:bodyPr wrap="square">
            <a:spAutoFit/>
          </a:bodyPr>
          <a:p>
            <a:r>
              <a:rPr lang="en-US" altLang="zh-CN" sz="1600"/>
              <a:t>Procedure:</a:t>
            </a:r>
            <a:endParaRPr lang="en-US" altLang="zh-CN" sz="1600"/>
          </a:p>
          <a:p>
            <a:pPr indent="0">
              <a:buFont typeface="Arial" panose="020B0604020202020204"/>
              <a:buNone/>
            </a:pPr>
            <a:r>
              <a:rPr lang="en-US" altLang="zh-CN" sz="1600"/>
              <a:t>1.Iteratively set each variable j to zero.</a:t>
            </a:r>
            <a:endParaRPr lang="en-US" altLang="zh-CN" sz="1600"/>
          </a:p>
          <a:p>
            <a:pPr indent="0">
              <a:buFont typeface="Arial" panose="020B0604020202020204"/>
              <a:buNone/>
            </a:pPr>
            <a:r>
              <a:rPr lang="en-US" altLang="zh-CN" sz="1600"/>
              <a:t>2.Recalculate the model’s predictive R</a:t>
            </a:r>
            <a:r>
              <a:rPr lang="en-US" altLang="zh-CN" sz="1600" baseline="30000"/>
              <a:t>2</a:t>
            </a:r>
            <a:r>
              <a:rPr lang="en-US" altLang="zh-CN" sz="1600"/>
              <a:t>.</a:t>
            </a:r>
            <a:endParaRPr lang="en-US" altLang="zh-CN" sz="1600"/>
          </a:p>
          <a:p>
            <a:pPr indent="0">
              <a:buFont typeface="Arial" panose="020B0604020202020204"/>
              <a:buNone/>
            </a:pPr>
            <a:r>
              <a:rPr lang="en-US" altLang="zh-CN" sz="1600"/>
              <a:t>3.Compare the difference between the full model R</a:t>
            </a:r>
            <a:r>
              <a:rPr lang="en-US" altLang="zh-CN" sz="1600" baseline="30000"/>
              <a:t>2</a:t>
            </a:r>
            <a:r>
              <a:rPr lang="en-US" altLang="zh-CN" sz="1600"/>
              <a:t> and the R</a:t>
            </a:r>
            <a:r>
              <a:rPr lang="en-US" altLang="zh-CN" sz="1600" baseline="30000"/>
              <a:t>2</a:t>
            </a:r>
            <a:r>
              <a:rPr lang="en-US" altLang="zh-CN" sz="1600"/>
              <a:t> after setting z</a:t>
            </a:r>
            <a:r>
              <a:rPr lang="en-US" altLang="zh-CN" sz="1600" baseline="-25000"/>
              <a:t>j</a:t>
            </a:r>
            <a:r>
              <a:rPr lang="en-US" altLang="zh-CN" sz="1600"/>
              <a:t>=0.</a:t>
            </a:r>
            <a:endParaRPr lang="en-US" altLang="zh-CN" sz="1600"/>
          </a:p>
        </p:txBody>
      </p:sp>
      <p:sp>
        <p:nvSpPr>
          <p:cNvPr id="17" name="文本框 16"/>
          <p:cNvSpPr txBox="1"/>
          <p:nvPr/>
        </p:nvSpPr>
        <p:spPr>
          <a:xfrm>
            <a:off x="430530" y="2891155"/>
            <a:ext cx="10393045" cy="583565"/>
          </a:xfrm>
          <a:prstGeom prst="rect">
            <a:avLst/>
          </a:prstGeom>
        </p:spPr>
        <p:txBody>
          <a:bodyPr wrap="square">
            <a:spAutoFit/>
          </a:bodyPr>
          <a:p>
            <a:r>
              <a:rPr lang="en-US" altLang="zh-CN" sz="1600"/>
              <a:t>Measures the contribution of variable j to the model's predictive performance. Directly reflects the incremental impact of variable j on R</a:t>
            </a:r>
            <a:r>
              <a:rPr lang="en-US" altLang="zh-CN" sz="1600" baseline="30000"/>
              <a:t>2</a:t>
            </a:r>
            <a:r>
              <a:rPr lang="en-US" altLang="zh-CN" sz="1600"/>
              <a:t>.</a:t>
            </a:r>
            <a:endParaRPr lang="en-US" altLang="zh-CN" sz="1600"/>
          </a:p>
        </p:txBody>
      </p:sp>
      <p:pic>
        <p:nvPicPr>
          <p:cNvPr id="19" name="图片 18"/>
          <p:cNvPicPr>
            <a:picLocks noChangeAspect="1"/>
          </p:cNvPicPr>
          <p:nvPr/>
        </p:nvPicPr>
        <p:blipFill>
          <a:blip r:embed="rId4"/>
          <a:stretch>
            <a:fillRect/>
          </a:stretch>
        </p:blipFill>
        <p:spPr>
          <a:xfrm>
            <a:off x="1337310" y="3978275"/>
            <a:ext cx="2590800" cy="693420"/>
          </a:xfrm>
          <a:prstGeom prst="rect">
            <a:avLst/>
          </a:prstGeom>
        </p:spPr>
      </p:pic>
      <p:sp>
        <p:nvSpPr>
          <p:cNvPr id="20" name="文本框 19"/>
          <p:cNvSpPr txBox="1"/>
          <p:nvPr/>
        </p:nvSpPr>
        <p:spPr>
          <a:xfrm>
            <a:off x="1056640" y="4859972"/>
            <a:ext cx="5080000" cy="829945"/>
          </a:xfrm>
          <a:prstGeom prst="rect">
            <a:avLst/>
          </a:prstGeom>
        </p:spPr>
        <p:txBody>
          <a:bodyPr>
            <a:spAutoFit/>
          </a:bodyPr>
          <a:p>
            <a:r>
              <a:rPr lang="en-US" altLang="zh-CN" sz="1600"/>
              <a:t>g(z;θ): The model’s function for forecasting.</a:t>
            </a:r>
            <a:endParaRPr lang="en-US" altLang="zh-CN" sz="1600"/>
          </a:p>
          <a:p>
            <a:r>
              <a:rPr lang="en-US" altLang="zh-CN" sz="1600"/>
              <a:t>zj: The j-th input variable.</a:t>
            </a:r>
            <a:endParaRPr lang="en-US" altLang="zh-CN" sz="1600"/>
          </a:p>
          <a:p>
            <a:r>
              <a:rPr lang="en-US" altLang="zh-CN" sz="1600"/>
              <a:t>T1: The training dataset.</a:t>
            </a:r>
            <a:endParaRPr lang="en-US" altLang="zh-CN" sz="1600"/>
          </a:p>
        </p:txBody>
      </p:sp>
      <p:sp>
        <p:nvSpPr>
          <p:cNvPr id="21" name="文本框 20"/>
          <p:cNvSpPr txBox="1"/>
          <p:nvPr/>
        </p:nvSpPr>
        <p:spPr>
          <a:xfrm>
            <a:off x="214630" y="5630545"/>
            <a:ext cx="8578850" cy="829945"/>
          </a:xfrm>
          <a:prstGeom prst="rect">
            <a:avLst/>
          </a:prstGeom>
        </p:spPr>
        <p:txBody>
          <a:bodyPr wrap="square">
            <a:spAutoFit/>
          </a:bodyPr>
          <a:p>
            <a:r>
              <a:rPr lang="en-US" altLang="zh-CN" sz="1600">
                <a:sym typeface="+mn-ea"/>
              </a:rPr>
              <a:t>Procedure:</a:t>
            </a:r>
            <a:endParaRPr lang="en-US" altLang="zh-CN" sz="1600"/>
          </a:p>
          <a:p>
            <a:r>
              <a:rPr lang="en-US" altLang="zh-CN" sz="1600"/>
              <a:t>1.Compute the partial derivative of the model output with respect to each predictor zj.</a:t>
            </a:r>
            <a:endParaRPr lang="en-US" altLang="zh-CN" sz="1600"/>
          </a:p>
          <a:p>
            <a:r>
              <a:rPr lang="en-US" altLang="zh-CN" sz="1600"/>
              <a:t>2.Square the derivatives and sum them across all training samples.</a:t>
            </a:r>
            <a:endParaRPr lang="en-US" altLang="zh-CN" sz="1600"/>
          </a:p>
        </p:txBody>
      </p:sp>
      <p:sp>
        <p:nvSpPr>
          <p:cNvPr id="22" name="文本框 21"/>
          <p:cNvSpPr txBox="1"/>
          <p:nvPr/>
        </p:nvSpPr>
        <p:spPr>
          <a:xfrm>
            <a:off x="184150" y="6369685"/>
            <a:ext cx="10394315" cy="337185"/>
          </a:xfrm>
          <a:prstGeom prst="rect">
            <a:avLst/>
          </a:prstGeom>
        </p:spPr>
        <p:txBody>
          <a:bodyPr wrap="square">
            <a:spAutoFit/>
          </a:bodyPr>
          <a:p>
            <a:r>
              <a:rPr lang="en-US" altLang="zh-CN" sz="1600"/>
              <a:t>Quantifies the model’s sensitivity to changes in variable j.Reflects the marginal impact of zj on the model's predictions.</a:t>
            </a:r>
            <a:endParaRPr lang="en-US" altLang="zh-CN" sz="1600"/>
          </a:p>
        </p:txBody>
      </p:sp>
      <p:pic>
        <p:nvPicPr>
          <p:cNvPr id="4" name="图片 3"/>
          <p:cNvPicPr>
            <a:picLocks noChangeAspect="1"/>
          </p:cNvPicPr>
          <p:nvPr/>
        </p:nvPicPr>
        <p:blipFill>
          <a:blip r:embed="rId5"/>
          <a:stretch>
            <a:fillRect/>
          </a:stretch>
        </p:blipFill>
        <p:spPr>
          <a:xfrm>
            <a:off x="7882890" y="523240"/>
            <a:ext cx="3962400" cy="2225040"/>
          </a:xfrm>
          <a:prstGeom prst="rect">
            <a:avLst/>
          </a:prstGeom>
        </p:spPr>
      </p:pic>
      <p:pic>
        <p:nvPicPr>
          <p:cNvPr id="5" name="图片 4"/>
          <p:cNvPicPr>
            <a:picLocks noChangeAspect="1"/>
          </p:cNvPicPr>
          <p:nvPr/>
        </p:nvPicPr>
        <p:blipFill>
          <a:blip r:embed="rId6"/>
          <a:stretch>
            <a:fillRect/>
          </a:stretch>
        </p:blipFill>
        <p:spPr>
          <a:xfrm>
            <a:off x="6033770" y="3668395"/>
            <a:ext cx="6147435" cy="2200275"/>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22860"/>
            <a:ext cx="10515600" cy="1325563"/>
          </a:xfrm>
        </p:spPr>
        <p:txBody>
          <a:bodyPr>
            <a:normAutofit/>
          </a:bodyPr>
          <a:p>
            <a:r>
              <a:rPr lang="en-US" sz="3600" b="1" dirty="0" smtClean="0">
                <a:sym typeface="+mn-ea"/>
              </a:rPr>
              <a:t>The Results of the Variable Importance </a:t>
            </a:r>
            <a:r>
              <a:rPr lang="en-US" sz="3600" b="1" dirty="0" smtClean="0">
                <a:sym typeface="+mn-ea"/>
              </a:rPr>
              <a:t>in the generated sample data</a:t>
            </a:r>
            <a:endParaRPr lang="en-US" sz="3600" b="1" dirty="0" smtClean="0">
              <a:sym typeface="+mn-ea"/>
            </a:endParaRPr>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pic>
        <p:nvPicPr>
          <p:cNvPr id="6" name="内容占位符 5" descr="Variable Importance-R2"/>
          <p:cNvPicPr>
            <a:picLocks noChangeAspect="1"/>
          </p:cNvPicPr>
          <p:nvPr>
            <p:ph idx="1"/>
          </p:nvPr>
        </p:nvPicPr>
        <p:blipFill>
          <a:blip r:embed="rId1"/>
          <a:stretch>
            <a:fillRect/>
          </a:stretch>
        </p:blipFill>
        <p:spPr>
          <a:xfrm>
            <a:off x="1647825" y="1050290"/>
            <a:ext cx="8668385" cy="577977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64895" y="-271145"/>
            <a:ext cx="10515600" cy="1325563"/>
          </a:xfrm>
        </p:spPr>
        <p:txBody>
          <a:bodyPr>
            <a:normAutofit/>
          </a:bodyPr>
          <a:p>
            <a:r>
              <a:rPr lang="en-US" sz="3600" b="1" dirty="0" smtClean="0">
                <a:sym typeface="+mn-ea"/>
              </a:rPr>
              <a:t>The Results of SSD </a:t>
            </a:r>
            <a:r>
              <a:rPr lang="en-US" sz="3600" b="1" dirty="0" smtClean="0">
                <a:sym typeface="+mn-ea"/>
              </a:rPr>
              <a:t>in the generated sample data</a:t>
            </a:r>
            <a:endParaRPr lang="en-US" sz="3600" b="1" dirty="0" smtClean="0">
              <a:sym typeface="+mn-ea"/>
            </a:endParaRPr>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pic>
        <p:nvPicPr>
          <p:cNvPr id="5" name="内容占位符 4" descr="Variable Importance-SSD"/>
          <p:cNvPicPr>
            <a:picLocks noChangeAspect="1"/>
          </p:cNvPicPr>
          <p:nvPr>
            <p:ph idx="1"/>
          </p:nvPr>
        </p:nvPicPr>
        <p:blipFill>
          <a:blip r:embed="rId1"/>
          <a:stretch>
            <a:fillRect/>
          </a:stretch>
        </p:blipFill>
        <p:spPr>
          <a:xfrm>
            <a:off x="1175385" y="548005"/>
            <a:ext cx="9302750" cy="620141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9525"/>
            <a:ext cx="10515600" cy="1325563"/>
          </a:xfrm>
        </p:spPr>
        <p:txBody>
          <a:bodyPr>
            <a:normAutofit/>
          </a:bodyPr>
          <a:p>
            <a:r>
              <a:rPr lang="en-US" sz="3600" b="1" dirty="0" smtClean="0">
                <a:sym typeface="+mn-ea"/>
              </a:rPr>
              <a:t>The Results of the Variable Importance </a:t>
            </a:r>
            <a:r>
              <a:rPr lang="en-US" sz="3600" b="1" dirty="0" smtClean="0">
                <a:sym typeface="+mn-ea"/>
              </a:rPr>
              <a:t>in the paper</a:t>
            </a:r>
            <a:endParaRPr lang="en-US" sz="3600" b="1" dirty="0" smtClean="0">
              <a:sym typeface="+mn-ea"/>
            </a:endParaRPr>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sp>
        <p:nvSpPr>
          <p:cNvPr id="11" name="文本框 10"/>
          <p:cNvSpPr txBox="1"/>
          <p:nvPr/>
        </p:nvSpPr>
        <p:spPr>
          <a:xfrm>
            <a:off x="856615" y="1288415"/>
            <a:ext cx="10202545" cy="4030980"/>
          </a:xfrm>
          <a:prstGeom prst="rect">
            <a:avLst/>
          </a:prstGeom>
        </p:spPr>
        <p:txBody>
          <a:bodyPr wrap="square">
            <a:spAutoFit/>
          </a:bodyPr>
          <a:p>
            <a:r>
              <a:rPr lang="en-US" altLang="zh-CN" sz="1600"/>
              <a:t>Dominant Predictive Variables: The most important predictors across models can be categorized into four main groups:</a:t>
            </a:r>
            <a:endParaRPr lang="en-US" altLang="zh-CN" sz="1600"/>
          </a:p>
          <a:p>
            <a:endParaRPr lang="en-US" altLang="zh-CN" sz="1600"/>
          </a:p>
          <a:p>
            <a:pPr>
              <a:buFont typeface="Arial" panose="020B0604020202020204"/>
              <a:buChar char="•"/>
            </a:pPr>
            <a:r>
              <a:rPr lang="en-US" altLang="zh-CN" sz="1600"/>
              <a:t>Momentum and Reversal Variables:</a:t>
            </a:r>
            <a:endParaRPr lang="en-US" altLang="zh-CN" sz="1600"/>
          </a:p>
          <a:p>
            <a:pPr lvl="1" indent="0">
              <a:buFont typeface="Arial" panose="020B0604020202020204"/>
              <a:buNone/>
            </a:pPr>
            <a:r>
              <a:rPr lang="en-US" altLang="zh-CN" sz="1600"/>
              <a:t>Short-term reversal (mom1m), stock momentum (mom12m), industry momentum (indmom), momentum change (chmom), long-term reversal (mom36m), and maximum return (maxret).</a:t>
            </a:r>
            <a:endParaRPr lang="en-US" altLang="zh-CN" sz="1600"/>
          </a:p>
          <a:p>
            <a:pPr lvl="1" indent="0">
              <a:buFont typeface="Arial" panose="020B0604020202020204"/>
              <a:buNone/>
            </a:pPr>
            <a:endParaRPr lang="en-US" altLang="zh-CN" sz="1600"/>
          </a:p>
          <a:p>
            <a:pPr>
              <a:buFont typeface="Arial" panose="020B0604020202020204"/>
              <a:buChar char="•"/>
            </a:pPr>
            <a:r>
              <a:rPr lang="en-US" altLang="zh-CN" sz="1600"/>
              <a:t>Liquidity Variables:</a:t>
            </a:r>
            <a:endParaRPr lang="en-US" altLang="zh-CN" sz="1600"/>
          </a:p>
          <a:p>
            <a:pPr lvl="1" indent="0">
              <a:buFont typeface="Arial" panose="020B0604020202020204"/>
              <a:buNone/>
            </a:pPr>
            <a:r>
              <a:rPr lang="en-US" altLang="zh-CN" sz="1600"/>
              <a:t>Turnover (turn), turnover volatility (std_turnstd), log market equity (mvel1), dollar volume (dolvol), Amihud illiquidity (ill), bid-ask spread (baspread), and the number of zero trading days (zerotrade).</a:t>
            </a:r>
            <a:endParaRPr lang="en-US" altLang="zh-CN" sz="1600"/>
          </a:p>
          <a:p>
            <a:pPr lvl="1" indent="0">
              <a:buFont typeface="Arial" panose="020B0604020202020204"/>
              <a:buNone/>
            </a:pPr>
            <a:endParaRPr lang="en-US" altLang="zh-CN" sz="1600"/>
          </a:p>
          <a:p>
            <a:pPr>
              <a:buFont typeface="Arial" panose="020B0604020202020204"/>
              <a:buChar char="•"/>
            </a:pPr>
            <a:r>
              <a:rPr lang="en-US" altLang="zh-CN" sz="1600"/>
              <a:t>Risk Measures:</a:t>
            </a:r>
            <a:endParaRPr lang="en-US" altLang="zh-CN" sz="1600"/>
          </a:p>
          <a:p>
            <a:pPr lvl="1" indent="0">
              <a:buFont typeface="Arial" panose="020B0604020202020204"/>
              <a:buNone/>
            </a:pPr>
            <a:r>
              <a:rPr lang="en-US" altLang="zh-CN" sz="1600"/>
              <a:t>Total return volatility (retvol), idiosyncratic volatility (idiovol), market beta (beta), and beta squared (betasq).</a:t>
            </a:r>
            <a:endParaRPr lang="en-US" altLang="zh-CN" sz="1600"/>
          </a:p>
          <a:p>
            <a:pPr lvl="1" indent="0">
              <a:buFont typeface="Arial" panose="020B0604020202020204"/>
              <a:buNone/>
            </a:pPr>
            <a:endParaRPr lang="en-US" altLang="zh-CN" sz="1600"/>
          </a:p>
          <a:p>
            <a:pPr>
              <a:buFont typeface="Arial" panose="020B0604020202020204"/>
              <a:buChar char="•"/>
            </a:pPr>
            <a:r>
              <a:rPr lang="en-US" altLang="zh-CN" sz="1600"/>
              <a:t>Valuation and Fundamental Signals:</a:t>
            </a:r>
            <a:endParaRPr lang="en-US" altLang="zh-CN" sz="1600"/>
          </a:p>
          <a:p>
            <a:pPr lvl="1" indent="0">
              <a:buFont typeface="Arial" panose="020B0604020202020204"/>
              <a:buNone/>
            </a:pPr>
            <a:r>
              <a:rPr lang="en-US" altLang="zh-CN" sz="1600"/>
              <a:t>Earnings-to-price ratio (ep), sales-to-price ratio (sp), asset growth (agr), and the number of recent earnings increases (nincr).</a:t>
            </a:r>
            <a:endParaRPr lang="en-US" altLang="zh-CN" sz="16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35915"/>
            <a:ext cx="10515600" cy="1325563"/>
          </a:xfrm>
        </p:spPr>
        <p:txBody>
          <a:bodyPr>
            <a:normAutofit/>
          </a:bodyPr>
          <a:p>
            <a:r>
              <a:rPr lang="en-US" sz="3600" b="1" dirty="0" smtClean="0">
                <a:sym typeface="+mn-ea"/>
              </a:rPr>
              <a:t>The Results of the Variable Importance </a:t>
            </a:r>
            <a:r>
              <a:rPr lang="en-US" sz="3600" b="1" dirty="0" smtClean="0">
                <a:sym typeface="+mn-ea"/>
              </a:rPr>
              <a:t>in the paper</a:t>
            </a:r>
            <a:endParaRPr lang="en-US" sz="3600" b="1" dirty="0" smtClean="0">
              <a:sym typeface="+mn-ea"/>
            </a:endParaRPr>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pic>
        <p:nvPicPr>
          <p:cNvPr id="7" name="内容占位符 6"/>
          <p:cNvPicPr>
            <a:picLocks noChangeAspect="1"/>
          </p:cNvPicPr>
          <p:nvPr>
            <p:ph idx="1"/>
          </p:nvPr>
        </p:nvPicPr>
        <p:blipFill>
          <a:blip r:embed="rId1"/>
          <a:stretch>
            <a:fillRect/>
          </a:stretch>
        </p:blipFill>
        <p:spPr>
          <a:xfrm>
            <a:off x="342900" y="512445"/>
            <a:ext cx="4758055" cy="6309360"/>
          </a:xfrm>
          <a:prstGeom prst="rect">
            <a:avLst/>
          </a:prstGeom>
        </p:spPr>
      </p:pic>
      <p:sp>
        <p:nvSpPr>
          <p:cNvPr id="5" name="文本框 4"/>
          <p:cNvSpPr txBox="1"/>
          <p:nvPr/>
        </p:nvSpPr>
        <p:spPr>
          <a:xfrm>
            <a:off x="4904105" y="640080"/>
            <a:ext cx="6817995" cy="2061210"/>
          </a:xfrm>
          <a:prstGeom prst="rect">
            <a:avLst/>
          </a:prstGeom>
        </p:spPr>
        <p:txBody>
          <a:bodyPr wrap="square">
            <a:spAutoFit/>
          </a:bodyPr>
          <a:p>
            <a:r>
              <a:rPr lang="en-US" altLang="zh-CN" sz="1600" b="1"/>
              <a:t>Differences Across Models:</a:t>
            </a:r>
            <a:endParaRPr lang="en-US" altLang="zh-CN" sz="1600" b="1"/>
          </a:p>
          <a:p>
            <a:pPr>
              <a:buFont typeface="Arial" panose="020B0604020202020204"/>
              <a:buChar char="•"/>
            </a:pPr>
            <a:r>
              <a:rPr lang="en-US" altLang="zh-CN" sz="1600" b="1"/>
              <a:t>Penalized Linear and Dimension Reduction Models:</a:t>
            </a:r>
            <a:r>
              <a:rPr lang="en-US" altLang="zh-CN" sz="1600"/>
              <a:t> These models exhibit strong reliance on momentum and reversal predictors, with a clear skew toward a small subset of variables.</a:t>
            </a:r>
            <a:endParaRPr lang="en-US" altLang="zh-CN" sz="1600"/>
          </a:p>
          <a:p>
            <a:pPr>
              <a:buFont typeface="Arial" panose="020B0604020202020204"/>
              <a:buChar char="•"/>
            </a:pPr>
            <a:r>
              <a:rPr lang="en-US" altLang="zh-CN" sz="1600" b="1"/>
              <a:t>Tree-Based Models and Neural Networks: </a:t>
            </a:r>
            <a:r>
              <a:rPr lang="en-US" altLang="zh-CN" sz="1600"/>
              <a:t>These models draw predictive power more evenly across a broader range of variables. Their flexibility allows them to account for complex interactions and nonlinear relationships among predictors.</a:t>
            </a:r>
            <a:endParaRPr lang="en-US" altLang="zh-CN" sz="1600"/>
          </a:p>
        </p:txBody>
      </p:sp>
      <p:sp>
        <p:nvSpPr>
          <p:cNvPr id="8" name="文本框 7"/>
          <p:cNvSpPr txBox="1"/>
          <p:nvPr/>
        </p:nvSpPr>
        <p:spPr>
          <a:xfrm>
            <a:off x="4873625" y="2717165"/>
            <a:ext cx="7084695" cy="2306955"/>
          </a:xfrm>
          <a:prstGeom prst="rect">
            <a:avLst/>
          </a:prstGeom>
        </p:spPr>
        <p:txBody>
          <a:bodyPr wrap="square">
            <a:spAutoFit/>
          </a:bodyPr>
          <a:p>
            <a:r>
              <a:rPr lang="en-US" altLang="zh-CN" sz="1600" b="1"/>
              <a:t>Momentum and Liquidity as Dominant Predictors:</a:t>
            </a:r>
            <a:endParaRPr lang="en-US" altLang="zh-CN" sz="1600" b="1"/>
          </a:p>
          <a:p>
            <a:pPr>
              <a:buFont typeface="Arial" panose="020B0604020202020204"/>
              <a:buChar char="•"/>
            </a:pPr>
            <a:r>
              <a:rPr lang="en-US" altLang="zh-CN" sz="1600"/>
              <a:t>Momentum and reversal variables are consistently the most significant predictors, reinforcing their importance in empirical asset pricing. This aligns with existing literature that emphasizes their predictive power for stock returns.</a:t>
            </a:r>
            <a:endParaRPr lang="en-US" altLang="zh-CN" sz="1600"/>
          </a:p>
          <a:p>
            <a:r>
              <a:rPr lang="en-US" altLang="zh-CN" sz="1600" b="1"/>
              <a:t>Model-Specific Patterns:</a:t>
            </a:r>
            <a:endParaRPr lang="en-US" altLang="zh-CN" sz="1600" b="1"/>
          </a:p>
          <a:p>
            <a:pPr>
              <a:buFont typeface="Arial" panose="020B0604020202020204"/>
              <a:buChar char="•"/>
            </a:pPr>
            <a:r>
              <a:rPr lang="en-US" altLang="zh-CN" sz="1600"/>
              <a:t>Penalized linear models and dimension reduction methods focus on a narrower subset of predictors, which may limit their ability to capture broader relationships.</a:t>
            </a:r>
            <a:endParaRPr lang="en-US" altLang="zh-CN" sz="1600"/>
          </a:p>
          <a:p>
            <a:pPr>
              <a:buFont typeface="Arial" panose="020B0604020202020204"/>
              <a:buChar char="•"/>
            </a:pPr>
            <a:r>
              <a:rPr lang="en-US" altLang="zh-CN" sz="1600"/>
              <a:t>Tree-based methods and neural networks utilize a wider array of predictors, suggesting their superior ability to account for nonlinearities and interactions.</a:t>
            </a:r>
            <a:endParaRPr lang="en-US" altLang="zh-CN" sz="1600"/>
          </a:p>
        </p:txBody>
      </p:sp>
      <p:sp>
        <p:nvSpPr>
          <p:cNvPr id="9" name="文本框 8"/>
          <p:cNvSpPr txBox="1"/>
          <p:nvPr/>
        </p:nvSpPr>
        <p:spPr>
          <a:xfrm>
            <a:off x="4832985" y="5024120"/>
            <a:ext cx="7317740" cy="1568450"/>
          </a:xfrm>
          <a:prstGeom prst="rect">
            <a:avLst/>
          </a:prstGeom>
        </p:spPr>
        <p:txBody>
          <a:bodyPr wrap="square">
            <a:spAutoFit/>
          </a:bodyPr>
          <a:p>
            <a:pPr>
              <a:spcAft>
                <a:spcPct val="60000"/>
              </a:spcAft>
            </a:pPr>
            <a:r>
              <a:rPr lang="en-US" altLang="zh-CN" sz="1600" b="1"/>
              <a:t>Conclusion:</a:t>
            </a:r>
            <a:r>
              <a:rPr lang="en-US" altLang="zh-CN" sz="1600"/>
              <a:t> </a:t>
            </a:r>
            <a:r>
              <a:rPr lang="en-US" altLang="zh-CN" sz="1600"/>
              <a:t>Figure 4 demonstrates that machine learning models, despite methodological differences, converge on a core set of influential predictors dominated by momentum, liquidity, and volatility variables. These findings underscore the robustness of these characteristics in explaining stock returns. Additionally, tree-based methods and neural networks leverage a wider range of features, highlighting their flexibility and suitability for capturing complex relationships in financial data.</a:t>
            </a:r>
            <a:endParaRPr lang="en-US" altLang="zh-CN" sz="16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9525"/>
            <a:ext cx="10515600" cy="1325563"/>
          </a:xfrm>
        </p:spPr>
        <p:txBody>
          <a:bodyPr>
            <a:normAutofit/>
          </a:bodyPr>
          <a:p>
            <a:r>
              <a:rPr lang="en-US" sz="3600" b="1" dirty="0" smtClean="0">
                <a:sym typeface="+mn-ea"/>
              </a:rPr>
              <a:t>The Results of the Variable Importance </a:t>
            </a:r>
            <a:r>
              <a:rPr lang="en-US" sz="3600" b="1" dirty="0" smtClean="0">
                <a:sym typeface="+mn-ea"/>
              </a:rPr>
              <a:t>in the paper</a:t>
            </a:r>
            <a:endParaRPr lang="en-US" sz="3600" b="1" dirty="0" smtClean="0">
              <a:sym typeface="+mn-ea"/>
            </a:endParaRPr>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pic>
        <p:nvPicPr>
          <p:cNvPr id="3" name="图片 2"/>
          <p:cNvPicPr>
            <a:picLocks noChangeAspect="1"/>
          </p:cNvPicPr>
          <p:nvPr/>
        </p:nvPicPr>
        <p:blipFill>
          <a:blip r:embed="rId1"/>
          <a:stretch>
            <a:fillRect/>
          </a:stretch>
        </p:blipFill>
        <p:spPr>
          <a:xfrm>
            <a:off x="141605" y="909955"/>
            <a:ext cx="4457700" cy="5791200"/>
          </a:xfrm>
          <a:prstGeom prst="rect">
            <a:avLst/>
          </a:prstGeom>
        </p:spPr>
      </p:pic>
      <p:sp>
        <p:nvSpPr>
          <p:cNvPr id="5" name="文本框 4"/>
          <p:cNvSpPr txBox="1"/>
          <p:nvPr/>
        </p:nvSpPr>
        <p:spPr>
          <a:xfrm>
            <a:off x="5006975" y="909955"/>
            <a:ext cx="6468745" cy="2061210"/>
          </a:xfrm>
          <a:prstGeom prst="rect">
            <a:avLst/>
          </a:prstGeom>
        </p:spPr>
        <p:txBody>
          <a:bodyPr wrap="square">
            <a:spAutoFit/>
          </a:bodyPr>
          <a:p>
            <a:r>
              <a:rPr lang="en-US" altLang="zh-CN" sz="1600"/>
              <a:t>The figure presents the overall importance rankings of 94 stock-level characteristics and one industry dummy variable (sic2). The importance of each characteristic is ranked based on its contribution to each model, and the ranks are summed across all models to determine the final ordering. Characteristics are arranged from the most important (top) to the least important (bottom), with color gradients within each column indicating model-specific rankings, where dark blue represents the most important variables and white the least important.</a:t>
            </a:r>
            <a:endParaRPr lang="en-US" altLang="zh-CN" sz="1600"/>
          </a:p>
        </p:txBody>
      </p:sp>
      <p:sp>
        <p:nvSpPr>
          <p:cNvPr id="6" name="文本框 5"/>
          <p:cNvSpPr txBox="1"/>
          <p:nvPr/>
        </p:nvSpPr>
        <p:spPr>
          <a:xfrm>
            <a:off x="5038725" y="3143885"/>
            <a:ext cx="6099175" cy="829945"/>
          </a:xfrm>
          <a:prstGeom prst="rect">
            <a:avLst/>
          </a:prstGeom>
        </p:spPr>
        <p:txBody>
          <a:bodyPr wrap="square">
            <a:spAutoFit/>
          </a:bodyPr>
          <a:p>
            <a:r>
              <a:rPr lang="en-US" altLang="zh-CN" sz="1600"/>
              <a:t>Machine learning models exhibit high consistency in ranking key predictors, particularly momentum, liquidity, and volatility variables, highlighting their robustness in stock return prediction.</a:t>
            </a:r>
            <a:endParaRPr lang="en-US" altLang="zh-CN" sz="1600"/>
          </a:p>
        </p:txBody>
      </p:sp>
      <p:sp>
        <p:nvSpPr>
          <p:cNvPr id="8" name="文本框 7"/>
          <p:cNvSpPr txBox="1"/>
          <p:nvPr/>
        </p:nvSpPr>
        <p:spPr>
          <a:xfrm>
            <a:off x="5059680" y="4126230"/>
            <a:ext cx="6159500" cy="2553335"/>
          </a:xfrm>
          <a:prstGeom prst="rect">
            <a:avLst/>
          </a:prstGeom>
        </p:spPr>
        <p:txBody>
          <a:bodyPr wrap="square">
            <a:spAutoFit/>
          </a:bodyPr>
          <a:p>
            <a:r>
              <a:rPr lang="en-US" altLang="zh-CN" sz="1600"/>
              <a:t>Penalized linear models (e.g., ENet, GLM) and dimension reduction methods (e.g., PLS, PCR) rely heavily on momentum and reversal variables.</a:t>
            </a:r>
            <a:endParaRPr lang="en-US" altLang="zh-CN" sz="1600"/>
          </a:p>
          <a:p>
            <a:endParaRPr lang="en-US" altLang="zh-CN" sz="1600"/>
          </a:p>
          <a:p>
            <a:r>
              <a:rPr lang="en-US" altLang="zh-CN" sz="1600"/>
              <a:t>Tree-based models (e.g., RF, GBRT) and neural networks (e.g., NN3) draw predictive information from a broader set of characteristics, with a more evenly distributed importance. Tree-based models and neural networks excel in capturing complex interactions and nonlinear relationships between predictors, outperforming penalized linear and dimension reduction methods in terms of variable utilization.</a:t>
            </a:r>
            <a:endParaRPr lang="en-US" altLang="zh-CN" sz="16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8900" y="-163195"/>
            <a:ext cx="12086590" cy="1325880"/>
          </a:xfrm>
        </p:spPr>
        <p:txBody>
          <a:bodyPr>
            <a:normAutofit/>
          </a:bodyPr>
          <a:p>
            <a:r>
              <a:rPr lang="en-US" sz="3600" b="1" dirty="0" smtClean="0">
                <a:sym typeface="+mn-ea"/>
              </a:rPr>
              <a:t>The Results of the Sum of Squared Derivatives (SSD) </a:t>
            </a:r>
            <a:r>
              <a:rPr lang="en-US" sz="3600" b="1" dirty="0" smtClean="0">
                <a:sym typeface="+mn-ea"/>
              </a:rPr>
              <a:t>in the paper</a:t>
            </a:r>
            <a:endParaRPr lang="en-US" sz="3600" b="1" dirty="0" smtClean="0">
              <a:sym typeface="+mn-ea"/>
            </a:endParaRPr>
          </a:p>
        </p:txBody>
      </p:sp>
      <p:sp>
        <p:nvSpPr>
          <p:cNvPr id="4" name="灯片编号占位符 3"/>
          <p:cNvSpPr>
            <a:spLocks noGrp="1"/>
          </p:cNvSpPr>
          <p:nvPr>
            <p:ph type="sldNum" sz="quarter" idx="12"/>
          </p:nvPr>
        </p:nvSpPr>
        <p:spPr/>
        <p:txBody>
          <a:bodyPr/>
          <a:p>
            <a:fld id="{107D843B-1DED-40DC-AF70-C1B4F17B1EA6}" type="slidenum">
              <a:rPr lang="en-US" smtClean="0"/>
            </a:fld>
            <a:endParaRPr lang="en-US"/>
          </a:p>
        </p:txBody>
      </p:sp>
      <p:pic>
        <p:nvPicPr>
          <p:cNvPr id="7" name="图片 6"/>
          <p:cNvPicPr>
            <a:picLocks noChangeAspect="1"/>
          </p:cNvPicPr>
          <p:nvPr/>
        </p:nvPicPr>
        <p:blipFill>
          <a:blip r:embed="rId1"/>
          <a:stretch>
            <a:fillRect/>
          </a:stretch>
        </p:blipFill>
        <p:spPr>
          <a:xfrm>
            <a:off x="182880" y="808355"/>
            <a:ext cx="4349115" cy="6015355"/>
          </a:xfrm>
          <a:prstGeom prst="rect">
            <a:avLst/>
          </a:prstGeom>
        </p:spPr>
      </p:pic>
      <p:sp>
        <p:nvSpPr>
          <p:cNvPr id="9" name="文本框 8"/>
          <p:cNvSpPr txBox="1"/>
          <p:nvPr/>
        </p:nvSpPr>
        <p:spPr>
          <a:xfrm>
            <a:off x="4770755" y="879475"/>
            <a:ext cx="7117715" cy="1322070"/>
          </a:xfrm>
          <a:prstGeom prst="rect">
            <a:avLst/>
          </a:prstGeom>
        </p:spPr>
        <p:txBody>
          <a:bodyPr wrap="square">
            <a:spAutoFit/>
          </a:bodyPr>
          <a:p>
            <a:r>
              <a:rPr lang="en-US" altLang="zh-CN" sz="1600"/>
              <a:t>Figure A.2  showcases the results of variable importance calculated using the SSD (Sum of Squared Derivatives) method proposed by Dimopoulos, Bourret, and Lek (1995). This method evaluates the sensitivity of the model predictions to changes in individual input variables. The SSD measure highlights the most influential variables contributing to the accuracy of predictions across different models.</a:t>
            </a:r>
            <a:endParaRPr lang="en-US" altLang="zh-CN" sz="1600"/>
          </a:p>
        </p:txBody>
      </p:sp>
      <p:sp>
        <p:nvSpPr>
          <p:cNvPr id="10" name="文本框 9"/>
          <p:cNvSpPr txBox="1"/>
          <p:nvPr/>
        </p:nvSpPr>
        <p:spPr>
          <a:xfrm>
            <a:off x="4760595" y="2230755"/>
            <a:ext cx="7414895" cy="2061210"/>
          </a:xfrm>
          <a:prstGeom prst="rect">
            <a:avLst/>
          </a:prstGeom>
        </p:spPr>
        <p:txBody>
          <a:bodyPr wrap="square">
            <a:spAutoFit/>
          </a:bodyPr>
          <a:p>
            <a:r>
              <a:rPr lang="en-US" altLang="zh-CN" sz="1600"/>
              <a:t>The SSD-based rankings align closely with the rankings derived from the simpler R²-based importance measure.</a:t>
            </a:r>
            <a:endParaRPr lang="en-US" altLang="zh-CN" sz="1600"/>
          </a:p>
          <a:p>
            <a:r>
              <a:rPr lang="en-US" altLang="zh-CN" sz="1600"/>
              <a:t>Momentum and liquidity-related variables, such as short-term reversal (mom1m), stock momentum (mom12m), and turnover (turn), consistently rank as the most influential across models.</a:t>
            </a:r>
            <a:endParaRPr lang="en-US" altLang="zh-CN" sz="1600"/>
          </a:p>
          <a:p>
            <a:r>
              <a:rPr lang="en-US" altLang="zh-CN" sz="1600"/>
              <a:t>Risk measures (e.g., volatility, beta) and valuation/fundamental signals (e.g., earnings-to-price, asset growth) also exhibit significant influence but to a lesser extent than momentum and liquidity variables.</a:t>
            </a:r>
            <a:endParaRPr lang="en-US" altLang="zh-CN" sz="1600"/>
          </a:p>
        </p:txBody>
      </p:sp>
      <p:sp>
        <p:nvSpPr>
          <p:cNvPr id="11" name="文本框 10"/>
          <p:cNvSpPr txBox="1"/>
          <p:nvPr/>
        </p:nvSpPr>
        <p:spPr>
          <a:xfrm>
            <a:off x="4761230" y="4342765"/>
            <a:ext cx="6972300" cy="2306955"/>
          </a:xfrm>
          <a:prstGeom prst="rect">
            <a:avLst/>
          </a:prstGeom>
        </p:spPr>
        <p:txBody>
          <a:bodyPr wrap="square">
            <a:spAutoFit/>
          </a:bodyPr>
          <a:p>
            <a:r>
              <a:rPr lang="en-US" altLang="zh-CN" sz="1600" b="1"/>
              <a:t>Momentum and Liquidity Dominate:</a:t>
            </a:r>
            <a:r>
              <a:rPr lang="en-US" altLang="zh-CN" sz="1600"/>
              <a:t>Momentum-related variables consistently emerge as the most significant predictors across different models, underscoring their central role in asset pricing.</a:t>
            </a:r>
            <a:endParaRPr lang="en-US" altLang="zh-CN" sz="1600"/>
          </a:p>
          <a:p>
            <a:r>
              <a:rPr lang="en-US" altLang="zh-CN" sz="1600" b="1"/>
              <a:t>Model Flexibility and SSD:</a:t>
            </a:r>
            <a:r>
              <a:rPr lang="en-US" altLang="zh-CN" sz="1600"/>
              <a:t>SSD serves as a robust and interpretable metric for understanding variable importance, particularly in flexible models like neural networks and generalized linear models.</a:t>
            </a:r>
            <a:endParaRPr lang="en-US" altLang="zh-CN" sz="1600"/>
          </a:p>
          <a:p>
            <a:r>
              <a:rPr lang="en-US" altLang="zh-CN" sz="1600" b="1"/>
              <a:t>Practical Usefulness:</a:t>
            </a:r>
            <a:r>
              <a:rPr lang="en-US" altLang="zh-CN" sz="1600"/>
              <a:t>The high correlation between SSD and R² importance rankings validates SSD as a reliable method for identifying influential predictors, even in the presence of high-dimensional data.</a:t>
            </a:r>
            <a:endParaRPr lang="en-US" altLang="zh-CN" sz="16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435"/>
            <a:ext cx="10515600" cy="1336413"/>
          </a:xfrm>
        </p:spPr>
        <p:txBody>
          <a:bodyPr>
            <a:normAutofit/>
          </a:bodyPr>
          <a:lstStyle/>
          <a:p>
            <a:r>
              <a:rPr lang="en-US" sz="3600" b="1" dirty="0" smtClean="0"/>
              <a:t>Performance of the machine learning portfolios</a:t>
            </a:r>
            <a:endParaRPr lang="en-US" sz="3600" b="1" dirty="0" smtClean="0"/>
          </a:p>
        </p:txBody>
      </p:sp>
      <p:sp>
        <p:nvSpPr>
          <p:cNvPr id="3" name="Content Placeholder 2"/>
          <p:cNvSpPr>
            <a:spLocks noGrp="1"/>
          </p:cNvSpPr>
          <p:nvPr>
            <p:ph idx="1"/>
          </p:nvPr>
        </p:nvSpPr>
        <p:spPr>
          <a:xfrm>
            <a:off x="838200" y="555625"/>
            <a:ext cx="10978515" cy="6303010"/>
          </a:xfrm>
        </p:spPr>
        <p:txBody>
          <a:bodyPr>
            <a:normAutofit fontScale="50000"/>
          </a:bodyPr>
          <a:lstStyle/>
          <a:p>
            <a:r>
              <a:rPr lang="zh-CN" altLang="en-US" b="1" dirty="0" smtClean="0">
                <a:solidFill>
                  <a:srgbClr val="26927D"/>
                </a:solidFill>
              </a:rPr>
              <a:t>Trading on Machine Learning Predictions</a:t>
            </a:r>
            <a:r>
              <a:rPr lang="en-US" altLang="zh-CN" b="1" dirty="0" smtClean="0">
                <a:solidFill>
                  <a:srgbClr val="26927D"/>
                </a:solidFill>
              </a:rPr>
              <a:t>:</a:t>
            </a:r>
            <a:endParaRPr lang="zh-CN" altLang="en-US" b="1" dirty="0" smtClean="0">
              <a:solidFill>
                <a:srgbClr val="26927D"/>
              </a:solidFill>
            </a:endParaRPr>
          </a:p>
          <a:p>
            <a:pPr marL="0" indent="0">
              <a:buNone/>
            </a:pPr>
            <a:r>
              <a:rPr lang="en-US" dirty="0" smtClean="0">
                <a:sym typeface="+mn-ea"/>
              </a:rPr>
              <a:t>1.</a:t>
            </a:r>
            <a:r>
              <a:rPr lang="en-US" b="1" dirty="0" smtClean="0"/>
              <a:t>Pred (Predicted Return)</a:t>
            </a:r>
            <a:r>
              <a:rPr lang="en-US" dirty="0" smtClean="0">
                <a:sym typeface="+mn-ea"/>
              </a:rPr>
              <a:t>:</a:t>
            </a:r>
            <a:r>
              <a:rPr lang="en-US" altLang="zh-CN"/>
              <a:t> The predicted monthly return generated by the machine learning model based on input features.</a:t>
            </a:r>
            <a:endParaRPr lang="en-US" altLang="zh-CN"/>
          </a:p>
          <a:p>
            <a:pPr marL="0" indent="0">
              <a:buNone/>
            </a:pPr>
            <a:endParaRPr lang="en-US" dirty="0" smtClean="0">
              <a:sym typeface="+mn-ea"/>
            </a:endParaRPr>
          </a:p>
          <a:p>
            <a:pPr marL="0" indent="0">
              <a:buNone/>
            </a:pPr>
            <a:endParaRPr lang="en-US" altLang="zh-CN">
              <a:sym typeface="+mn-ea"/>
            </a:endParaRPr>
          </a:p>
          <a:p>
            <a:pPr marL="0" algn="l">
              <a:buClrTx/>
              <a:buSzTx/>
              <a:buNone/>
            </a:pPr>
            <a:endParaRPr lang="en-US" altLang="zh-CN" dirty="0" smtClean="0">
              <a:sym typeface="+mn-ea"/>
            </a:endParaRPr>
          </a:p>
          <a:p>
            <a:pPr marL="0" indent="0">
              <a:buNone/>
            </a:pPr>
            <a:endParaRPr lang="en-US" altLang="zh-CN" dirty="0" smtClean="0">
              <a:sym typeface="+mn-ea"/>
            </a:endParaRPr>
          </a:p>
          <a:p>
            <a:pPr marL="0" indent="0">
              <a:buNone/>
            </a:pPr>
            <a:endParaRPr lang="en-US" altLang="zh-CN" dirty="0" smtClean="0">
              <a:sym typeface="+mn-ea"/>
            </a:endParaRPr>
          </a:p>
          <a:p>
            <a:pPr marL="0" indent="0">
              <a:buNone/>
            </a:pPr>
            <a:r>
              <a:rPr lang="en-US" altLang="zh-CN" dirty="0" smtClean="0">
                <a:sym typeface="+mn-ea"/>
              </a:rPr>
              <a:t>2.</a:t>
            </a:r>
            <a:r>
              <a:rPr lang="en-US" altLang="zh-CN" b="1" dirty="0" smtClean="0"/>
              <a:t>Avg (Average Realized Return)</a:t>
            </a:r>
            <a:r>
              <a:rPr lang="en-US" altLang="zh-CN" b="1" dirty="0" smtClean="0">
                <a:sym typeface="+mn-ea"/>
              </a:rPr>
              <a:t>:</a:t>
            </a:r>
            <a:r>
              <a:rPr lang="en-US" altLang="zh-CN" dirty="0" smtClean="0">
                <a:sym typeface="+mn-ea"/>
              </a:rPr>
              <a:t> </a:t>
            </a:r>
            <a:r>
              <a:rPr lang="en-US" altLang="zh-CN"/>
              <a:t>The average realized monthly return for each portfolio.</a:t>
            </a:r>
            <a:r>
              <a:rPr lang="en-US" altLang="zh-CN" dirty="0" smtClean="0">
                <a:sym typeface="+mn-ea"/>
              </a:rPr>
              <a:t>                                         </a:t>
            </a:r>
            <a:endParaRPr lang="en-US" altLang="zh-CN" dirty="0" smtClean="0">
              <a:sym typeface="+mn-ea"/>
            </a:endParaRPr>
          </a:p>
          <a:p>
            <a:pPr marL="0" indent="0">
              <a:buNone/>
            </a:pPr>
            <a:r>
              <a:rPr lang="en-US" altLang="zh-CN" dirty="0" smtClean="0">
                <a:sym typeface="+mn-ea"/>
              </a:rPr>
              <a:t>                  </a:t>
            </a:r>
            <a:endParaRPr lang="en-US" dirty="0" smtClean="0">
              <a:sym typeface="+mn-ea"/>
            </a:endParaRPr>
          </a:p>
          <a:p>
            <a:pPr marL="0" indent="0">
              <a:buNone/>
            </a:pPr>
            <a:r>
              <a:rPr lang="en-US" dirty="0" smtClean="0">
                <a:solidFill>
                  <a:srgbClr val="26927D"/>
                </a:solidFill>
                <a:sym typeface="+mn-ea"/>
              </a:rPr>
              <a:t>                                                                                              </a:t>
            </a:r>
            <a:endParaRPr lang="en-US" altLang="zh-CN"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a:t>     </a:t>
            </a:r>
            <a:endParaRPr lang="en-US" altLang="zh-CN"/>
          </a:p>
          <a:p>
            <a:pPr marL="0" indent="0">
              <a:buNone/>
            </a:pPr>
            <a:endParaRPr lang="en-US" dirty="0" smtClean="0">
              <a:sym typeface="+mn-ea"/>
            </a:endParaRPr>
          </a:p>
          <a:p>
            <a:pPr marL="0" indent="0">
              <a:buNone/>
            </a:pPr>
            <a:r>
              <a:rPr lang="en-US" dirty="0" smtClean="0">
                <a:sym typeface="+mn-ea"/>
              </a:rPr>
              <a:t>3.</a:t>
            </a:r>
            <a:r>
              <a:rPr lang="en-US" altLang="zh-CN" b="1" dirty="0" smtClean="0"/>
              <a:t>SD (Standard Deviation)</a:t>
            </a:r>
            <a:r>
              <a:rPr lang="en-US" altLang="zh-CN" b="1" dirty="0" smtClean="0">
                <a:sym typeface="+mn-ea"/>
              </a:rPr>
              <a:t>:</a:t>
            </a:r>
            <a:r>
              <a:rPr lang="en-US" altLang="zh-CN" dirty="0" smtClean="0">
                <a:sym typeface="+mn-ea"/>
              </a:rPr>
              <a:t> </a:t>
            </a:r>
            <a:r>
              <a:rPr lang="en-US" altLang="zh-CN"/>
              <a:t>The standard deviation of monthly returns, representing the portfolio's volatility (risk).</a:t>
            </a:r>
            <a:r>
              <a:rPr lang="en-US" altLang="zh-CN" dirty="0" smtClean="0">
                <a:sym typeface="+mn-ea"/>
              </a:rPr>
              <a:t>  </a:t>
            </a:r>
            <a:endParaRPr lang="en-US" dirty="0" smtClean="0">
              <a:sym typeface="+mn-ea"/>
            </a:endParaRPr>
          </a:p>
          <a:p>
            <a:pPr marL="0" indent="0">
              <a:buNone/>
            </a:pPr>
            <a:r>
              <a:rPr lang="en-US" altLang="zh-CN" dirty="0" smtClean="0">
                <a:sym typeface="+mn-ea"/>
              </a:rPr>
              <a:t>                      </a:t>
            </a:r>
            <a:endParaRPr lang="en-US"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sz="2400" dirty="0" smtClean="0">
                <a:sym typeface="+mn-ea"/>
              </a:rPr>
              <a:t>                                           </a:t>
            </a:r>
            <a:r>
              <a:rPr lang="en-US" altLang="zh-CN" sz="2800">
                <a:sym typeface="+mn-ea"/>
              </a:rPr>
              <a:t>                                                         </a:t>
            </a:r>
            <a:endParaRPr lang="en-US" altLang="zh-CN" sz="2800">
              <a:sym typeface="+mn-ea"/>
            </a:endParaRPr>
          </a:p>
          <a:p>
            <a:pPr marL="0" indent="0">
              <a:buNone/>
            </a:pPr>
            <a:r>
              <a:rPr lang="en-US" altLang="zh-CN" dirty="0" smtClean="0">
                <a:sym typeface="+mn-ea"/>
              </a:rPr>
              <a:t>  </a:t>
            </a:r>
            <a:endParaRPr lang="en-US" dirty="0" smtClean="0">
              <a:sym typeface="+mn-ea"/>
            </a:endParaRPr>
          </a:p>
          <a:p>
            <a:pPr marL="0" indent="0">
              <a:buNone/>
            </a:pPr>
            <a:endParaRPr lang="en-US" sz="2800" dirty="0" smtClean="0">
              <a:sym typeface="+mn-ea"/>
            </a:endParaRPr>
          </a:p>
          <a:p>
            <a:pPr marL="0" indent="0">
              <a:buNone/>
            </a:pPr>
            <a:endParaRPr lang="en-US" sz="2800" dirty="0" smtClean="0">
              <a:sym typeface="+mn-ea"/>
            </a:endParaRPr>
          </a:p>
        </p:txBody>
      </p:sp>
      <p:pic>
        <p:nvPicPr>
          <p:cNvPr id="4" name="图片 3"/>
          <p:cNvPicPr>
            <a:picLocks noChangeAspect="1"/>
          </p:cNvPicPr>
          <p:nvPr/>
        </p:nvPicPr>
        <p:blipFill>
          <a:blip r:embed="rId1"/>
          <a:stretch>
            <a:fillRect/>
          </a:stretch>
        </p:blipFill>
        <p:spPr>
          <a:xfrm>
            <a:off x="4899660" y="1180465"/>
            <a:ext cx="1805940" cy="281940"/>
          </a:xfrm>
          <a:prstGeom prst="rect">
            <a:avLst/>
          </a:prstGeom>
        </p:spPr>
      </p:pic>
      <p:sp>
        <p:nvSpPr>
          <p:cNvPr id="5" name="文本框 4"/>
          <p:cNvSpPr txBox="1"/>
          <p:nvPr/>
        </p:nvSpPr>
        <p:spPr>
          <a:xfrm>
            <a:off x="3115945" y="1550670"/>
            <a:ext cx="7992110" cy="521970"/>
          </a:xfrm>
          <a:prstGeom prst="rect">
            <a:avLst/>
          </a:prstGeom>
        </p:spPr>
        <p:txBody>
          <a:bodyPr wrap="square">
            <a:spAutoFit/>
          </a:bodyPr>
          <a:p>
            <a:r>
              <a:rPr lang="en-US" altLang="zh-CN" sz="1400"/>
              <a:t>g(zi,t​): The machine learning model's prediction function.</a:t>
            </a:r>
            <a:endParaRPr lang="en-US" altLang="zh-CN" sz="1400"/>
          </a:p>
          <a:p>
            <a:r>
              <a:rPr lang="en-US" altLang="zh-CN" sz="1400"/>
              <a:t>zi,t​: A vector of stock-specific features and macroeconomic variables.</a:t>
            </a:r>
            <a:endParaRPr lang="en-US" altLang="zh-CN" sz="1400"/>
          </a:p>
        </p:txBody>
      </p:sp>
      <p:sp>
        <p:nvSpPr>
          <p:cNvPr id="6" name="文本框 5"/>
          <p:cNvSpPr txBox="1"/>
          <p:nvPr/>
        </p:nvSpPr>
        <p:spPr>
          <a:xfrm>
            <a:off x="1061085" y="2074545"/>
            <a:ext cx="10292715" cy="521970"/>
          </a:xfrm>
          <a:prstGeom prst="rect">
            <a:avLst/>
          </a:prstGeom>
        </p:spPr>
        <p:txBody>
          <a:bodyPr wrap="square">
            <a:spAutoFit/>
          </a:bodyPr>
          <a:p>
            <a:r>
              <a:rPr lang="en-US" altLang="zh-CN" sz="1400"/>
              <a:t>Represents the model's expected return for each portfolio. Used to evaluate the model’s predictive accuracy by comparing it with actual realized returns (Avg).</a:t>
            </a:r>
            <a:endParaRPr lang="en-US" altLang="zh-CN" sz="1400"/>
          </a:p>
        </p:txBody>
      </p:sp>
      <p:pic>
        <p:nvPicPr>
          <p:cNvPr id="7" name="图片 6"/>
          <p:cNvPicPr>
            <a:picLocks noChangeAspect="1"/>
          </p:cNvPicPr>
          <p:nvPr/>
        </p:nvPicPr>
        <p:blipFill>
          <a:blip r:embed="rId2"/>
          <a:stretch>
            <a:fillRect/>
          </a:stretch>
        </p:blipFill>
        <p:spPr>
          <a:xfrm>
            <a:off x="5097780" y="3030220"/>
            <a:ext cx="1607820" cy="624840"/>
          </a:xfrm>
          <a:prstGeom prst="rect">
            <a:avLst/>
          </a:prstGeom>
        </p:spPr>
      </p:pic>
      <p:sp>
        <p:nvSpPr>
          <p:cNvPr id="14" name="文本框 13"/>
          <p:cNvSpPr txBox="1"/>
          <p:nvPr/>
        </p:nvSpPr>
        <p:spPr>
          <a:xfrm>
            <a:off x="3229610" y="3591560"/>
            <a:ext cx="4872355" cy="521970"/>
          </a:xfrm>
          <a:prstGeom prst="rect">
            <a:avLst/>
          </a:prstGeom>
        </p:spPr>
        <p:txBody>
          <a:bodyPr wrap="square">
            <a:spAutoFit/>
          </a:bodyPr>
          <a:p>
            <a:pPr algn="l">
              <a:buClrTx/>
              <a:buSzTx/>
              <a:buNone/>
            </a:pPr>
            <a:r>
              <a:rPr lang="en-US" altLang="zh-CN" sz="1400"/>
              <a:t>rd,t+1​: The realized monthly return for portfolio d at time t+1.</a:t>
            </a:r>
            <a:endParaRPr lang="en-US" altLang="zh-CN" sz="1400"/>
          </a:p>
          <a:p>
            <a:pPr algn="l">
              <a:buClrTx/>
              <a:buSzTx/>
              <a:buNone/>
            </a:pPr>
            <a:r>
              <a:rPr lang="en-US" altLang="zh-CN" sz="1400"/>
              <a:t>T: The total number of months in the evaluation period.</a:t>
            </a:r>
            <a:endParaRPr lang="en-US" altLang="zh-CN" sz="1400"/>
          </a:p>
        </p:txBody>
      </p:sp>
      <p:sp>
        <p:nvSpPr>
          <p:cNvPr id="15" name="文本框 14"/>
          <p:cNvSpPr txBox="1"/>
          <p:nvPr/>
        </p:nvSpPr>
        <p:spPr>
          <a:xfrm>
            <a:off x="1104265" y="4045585"/>
            <a:ext cx="9552305" cy="306705"/>
          </a:xfrm>
          <a:prstGeom prst="rect">
            <a:avLst/>
          </a:prstGeom>
        </p:spPr>
        <p:txBody>
          <a:bodyPr wrap="square">
            <a:spAutoFit/>
          </a:bodyPr>
          <a:p>
            <a:r>
              <a:rPr lang="en-US" altLang="zh-CN" sz="1400"/>
              <a:t>Reflects the actual performance of each portfolio.Serves as a benchmark to validate the model's predictive accuracy.</a:t>
            </a:r>
            <a:endParaRPr lang="en-US" altLang="zh-CN" sz="1400"/>
          </a:p>
        </p:txBody>
      </p:sp>
      <p:pic>
        <p:nvPicPr>
          <p:cNvPr id="17" name="图片 16"/>
          <p:cNvPicPr>
            <a:picLocks noChangeAspect="1"/>
          </p:cNvPicPr>
          <p:nvPr/>
        </p:nvPicPr>
        <p:blipFill>
          <a:blip r:embed="rId3"/>
          <a:stretch>
            <a:fillRect/>
          </a:stretch>
        </p:blipFill>
        <p:spPr>
          <a:xfrm>
            <a:off x="4484370" y="4966335"/>
            <a:ext cx="2834640" cy="685800"/>
          </a:xfrm>
          <a:prstGeom prst="rect">
            <a:avLst/>
          </a:prstGeom>
        </p:spPr>
      </p:pic>
      <p:sp>
        <p:nvSpPr>
          <p:cNvPr id="18" name="文本框 17"/>
          <p:cNvSpPr txBox="1"/>
          <p:nvPr/>
        </p:nvSpPr>
        <p:spPr>
          <a:xfrm>
            <a:off x="2708275" y="5635625"/>
            <a:ext cx="6112510" cy="306705"/>
          </a:xfrm>
          <a:prstGeom prst="rect">
            <a:avLst/>
          </a:prstGeom>
        </p:spPr>
        <p:txBody>
          <a:bodyPr wrap="square">
            <a:spAutoFit/>
          </a:bodyPr>
          <a:p>
            <a:r>
              <a:rPr lang="en-US" altLang="zh-CN" sz="1400"/>
              <a:t>Measures the portfolio's risk level, with higher values indicating greater volatility.</a:t>
            </a:r>
            <a:endParaRPr lang="en-US" altLang="zh-CN" sz="160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435"/>
            <a:ext cx="10515600" cy="1336413"/>
          </a:xfrm>
        </p:spPr>
        <p:txBody>
          <a:bodyPr>
            <a:normAutofit/>
          </a:bodyPr>
          <a:lstStyle/>
          <a:p>
            <a:r>
              <a:rPr lang="en-US" sz="3600" b="1" dirty="0" smtClean="0"/>
              <a:t>Performance of the machine learning portfolios</a:t>
            </a:r>
            <a:endParaRPr lang="en-US" sz="3600" b="1" dirty="0" smtClean="0"/>
          </a:p>
        </p:txBody>
      </p:sp>
      <p:sp>
        <p:nvSpPr>
          <p:cNvPr id="3" name="Content Placeholder 2"/>
          <p:cNvSpPr>
            <a:spLocks noGrp="1"/>
          </p:cNvSpPr>
          <p:nvPr>
            <p:ph idx="1"/>
          </p:nvPr>
        </p:nvSpPr>
        <p:spPr>
          <a:xfrm>
            <a:off x="838200" y="555625"/>
            <a:ext cx="10978515" cy="6303010"/>
          </a:xfrm>
        </p:spPr>
        <p:txBody>
          <a:bodyPr>
            <a:normAutofit fontScale="50000"/>
          </a:bodyPr>
          <a:lstStyle/>
          <a:p>
            <a:r>
              <a:rPr lang="zh-CN" altLang="en-US" b="1" dirty="0" smtClean="0">
                <a:solidFill>
                  <a:srgbClr val="26927D"/>
                </a:solidFill>
              </a:rPr>
              <a:t>Trading on Machine Learning Predictions</a:t>
            </a:r>
            <a:r>
              <a:rPr lang="en-US" altLang="zh-CN" b="1" dirty="0" smtClean="0">
                <a:solidFill>
                  <a:srgbClr val="26927D"/>
                </a:solidFill>
              </a:rPr>
              <a:t>:</a:t>
            </a:r>
            <a:endParaRPr lang="zh-CN" altLang="en-US" b="1" dirty="0" smtClean="0">
              <a:solidFill>
                <a:srgbClr val="26927D"/>
              </a:solidFill>
            </a:endParaRPr>
          </a:p>
          <a:p>
            <a:pPr marL="0" indent="0">
              <a:buNone/>
            </a:pPr>
            <a:r>
              <a:rPr lang="en-US" dirty="0" smtClean="0">
                <a:sym typeface="+mn-ea"/>
              </a:rPr>
              <a:t>4.</a:t>
            </a:r>
            <a:r>
              <a:rPr lang="en-US" altLang="zh-CN" b="1"/>
              <a:t>SR (Sharpe Ratio)</a:t>
            </a:r>
            <a:r>
              <a:rPr lang="en-US" dirty="0" smtClean="0">
                <a:sym typeface="+mn-ea"/>
              </a:rPr>
              <a:t>:</a:t>
            </a:r>
            <a:r>
              <a:rPr lang="en-US" altLang="zh-CN"/>
              <a:t> The Sharpe ratio, a measure of risk-adjusted return.</a:t>
            </a:r>
            <a:endParaRPr lang="en-US" altLang="zh-CN"/>
          </a:p>
          <a:p>
            <a:pPr marL="0" indent="0">
              <a:buNone/>
            </a:pPr>
            <a:endParaRPr lang="en-US" dirty="0" smtClean="0">
              <a:sym typeface="+mn-ea"/>
            </a:endParaRPr>
          </a:p>
          <a:p>
            <a:pPr marL="0" indent="0">
              <a:buNone/>
            </a:pPr>
            <a:endParaRPr lang="en-US" altLang="zh-CN">
              <a:sym typeface="+mn-ea"/>
            </a:endParaRPr>
          </a:p>
          <a:p>
            <a:pPr marL="0" algn="l">
              <a:buClrTx/>
              <a:buSzTx/>
              <a:buNone/>
            </a:pPr>
            <a:endParaRPr lang="en-US" altLang="zh-CN" dirty="0" smtClean="0">
              <a:sym typeface="+mn-ea"/>
            </a:endParaRPr>
          </a:p>
          <a:p>
            <a:pPr marL="0" indent="0">
              <a:buNone/>
            </a:pPr>
            <a:endParaRPr lang="en-US" altLang="zh-CN" dirty="0" smtClean="0">
              <a:sym typeface="+mn-ea"/>
            </a:endParaRPr>
          </a:p>
          <a:p>
            <a:pPr marL="0" indent="0">
              <a:buNone/>
            </a:pPr>
            <a:r>
              <a:rPr lang="en-US" altLang="zh-CN" b="1" dirty="0" smtClean="0">
                <a:solidFill>
                  <a:srgbClr val="26927D"/>
                </a:solidFill>
                <a:sym typeface="+mn-ea"/>
              </a:rPr>
              <a:t>Steps:</a:t>
            </a:r>
            <a:endParaRPr lang="zh-CN" altLang="en-US" b="1" dirty="0" smtClean="0">
              <a:solidFill>
                <a:srgbClr val="26927D"/>
              </a:solidFill>
            </a:endParaRPr>
          </a:p>
          <a:p>
            <a:pPr marL="0" indent="0">
              <a:buNone/>
            </a:pPr>
            <a:endParaRPr lang="en-US" altLang="zh-CN">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dirty="0" smtClean="0">
                <a:sym typeface="+mn-ea"/>
              </a:rPr>
              <a:t>                  </a:t>
            </a:r>
            <a:endParaRPr lang="en-US" dirty="0" smtClean="0">
              <a:sym typeface="+mn-ea"/>
            </a:endParaRPr>
          </a:p>
          <a:p>
            <a:pPr marL="0" indent="0">
              <a:buNone/>
            </a:pPr>
            <a:r>
              <a:rPr lang="en-US" dirty="0" smtClean="0">
                <a:solidFill>
                  <a:srgbClr val="26927D"/>
                </a:solidFill>
                <a:sym typeface="+mn-ea"/>
              </a:rPr>
              <a:t>                                                                                              </a:t>
            </a:r>
            <a:endParaRPr lang="en-US" altLang="zh-CN"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a:t>     </a:t>
            </a:r>
            <a:endParaRPr lang="en-US" altLang="zh-CN"/>
          </a:p>
          <a:p>
            <a:pPr marL="0" indent="0">
              <a:buNone/>
            </a:pPr>
            <a:endParaRPr lang="en-US" dirty="0" smtClean="0">
              <a:sym typeface="+mn-ea"/>
            </a:endParaRPr>
          </a:p>
          <a:p>
            <a:pPr marL="0" indent="0">
              <a:buNone/>
            </a:pPr>
            <a:r>
              <a:rPr lang="en-US" altLang="zh-CN" dirty="0" smtClean="0">
                <a:sym typeface="+mn-ea"/>
              </a:rPr>
              <a:t>                      </a:t>
            </a:r>
            <a:endParaRPr lang="en-US"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sz="2400" dirty="0" smtClean="0">
                <a:sym typeface="+mn-ea"/>
              </a:rPr>
              <a:t>                                           </a:t>
            </a:r>
            <a:r>
              <a:rPr lang="en-US" altLang="zh-CN" sz="2800">
                <a:sym typeface="+mn-ea"/>
              </a:rPr>
              <a:t>                                                         </a:t>
            </a:r>
            <a:endParaRPr lang="en-US" altLang="zh-CN" sz="2800">
              <a:sym typeface="+mn-ea"/>
            </a:endParaRPr>
          </a:p>
          <a:p>
            <a:pPr marL="0" indent="0">
              <a:buNone/>
            </a:pPr>
            <a:endParaRPr lang="zh-CN" altLang="en-US" dirty="0" smtClean="0">
              <a:sym typeface="+mn-ea"/>
            </a:endParaRPr>
          </a:p>
          <a:p>
            <a:pPr marL="0" indent="0">
              <a:buNone/>
            </a:pPr>
            <a:r>
              <a:rPr lang="en-US" altLang="zh-CN" dirty="0" smtClean="0">
                <a:sym typeface="+mn-ea"/>
              </a:rPr>
              <a:t>  </a:t>
            </a:r>
            <a:endParaRPr lang="en-US" dirty="0" smtClean="0">
              <a:sym typeface="+mn-ea"/>
            </a:endParaRPr>
          </a:p>
          <a:p>
            <a:pPr marL="0" indent="0">
              <a:buNone/>
            </a:pPr>
            <a:endParaRPr lang="en-US" sz="2800" dirty="0" smtClean="0">
              <a:sym typeface="+mn-ea"/>
            </a:endParaRPr>
          </a:p>
          <a:p>
            <a:pPr marL="0" indent="0">
              <a:buNone/>
            </a:pPr>
            <a:endParaRPr lang="en-US" sz="2800" dirty="0" smtClean="0">
              <a:sym typeface="+mn-ea"/>
            </a:endParaRPr>
          </a:p>
        </p:txBody>
      </p:sp>
      <p:pic>
        <p:nvPicPr>
          <p:cNvPr id="8" name="图片 7"/>
          <p:cNvPicPr>
            <a:picLocks noChangeAspect="1"/>
          </p:cNvPicPr>
          <p:nvPr/>
        </p:nvPicPr>
        <p:blipFill>
          <a:blip r:embed="rId1"/>
          <a:stretch>
            <a:fillRect/>
          </a:stretch>
        </p:blipFill>
        <p:spPr>
          <a:xfrm>
            <a:off x="5258435" y="1149985"/>
            <a:ext cx="1501140" cy="472440"/>
          </a:xfrm>
          <a:prstGeom prst="rect">
            <a:avLst/>
          </a:prstGeom>
        </p:spPr>
      </p:pic>
      <p:sp>
        <p:nvSpPr>
          <p:cNvPr id="9" name="文本框 8"/>
          <p:cNvSpPr txBox="1"/>
          <p:nvPr/>
        </p:nvSpPr>
        <p:spPr>
          <a:xfrm>
            <a:off x="5229225" y="1673860"/>
            <a:ext cx="1703070" cy="306705"/>
          </a:xfrm>
          <a:prstGeom prst="rect">
            <a:avLst/>
          </a:prstGeom>
        </p:spPr>
        <p:txBody>
          <a:bodyPr wrap="square">
            <a:spAutoFit/>
          </a:bodyPr>
          <a:p>
            <a:r>
              <a:rPr lang="en-US" altLang="zh-CN" sz="1400"/>
              <a:t>rf​: The risk-free rate.</a:t>
            </a:r>
            <a:endParaRPr lang="en-US" altLang="zh-CN" sz="1400"/>
          </a:p>
        </p:txBody>
      </p:sp>
      <p:sp>
        <p:nvSpPr>
          <p:cNvPr id="12" name="文本框 11"/>
          <p:cNvSpPr txBox="1"/>
          <p:nvPr/>
        </p:nvSpPr>
        <p:spPr>
          <a:xfrm>
            <a:off x="1296670" y="1919605"/>
            <a:ext cx="9892665" cy="306705"/>
          </a:xfrm>
          <a:prstGeom prst="rect">
            <a:avLst/>
          </a:prstGeom>
        </p:spPr>
        <p:txBody>
          <a:bodyPr wrap="square">
            <a:spAutoFit/>
          </a:bodyPr>
          <a:p>
            <a:r>
              <a:rPr lang="en-US" altLang="zh-CN" sz="1400"/>
              <a:t>Assesses the trade-off between return and risk for each portfolio. A higher Sharpe ratio indicates better risk-adjusted performance.</a:t>
            </a:r>
            <a:endParaRPr lang="en-US" altLang="zh-CN" sz="1400"/>
          </a:p>
        </p:txBody>
      </p:sp>
      <p:sp>
        <p:nvSpPr>
          <p:cNvPr id="13" name="文本框 12"/>
          <p:cNvSpPr txBox="1"/>
          <p:nvPr/>
        </p:nvSpPr>
        <p:spPr>
          <a:xfrm>
            <a:off x="1812925" y="2534920"/>
            <a:ext cx="9199245" cy="521970"/>
          </a:xfrm>
          <a:prstGeom prst="rect">
            <a:avLst/>
          </a:prstGeom>
        </p:spPr>
        <p:txBody>
          <a:bodyPr wrap="square">
            <a:spAutoFit/>
          </a:bodyPr>
          <a:p>
            <a:r>
              <a:rPr lang="en-US" altLang="zh-CN" sz="1400" b="1"/>
              <a:t>Step 1</a:t>
            </a:r>
            <a:r>
              <a:rPr lang="en-US" altLang="zh-CN" sz="1400"/>
              <a:t>: Predict Stock Returns:</a:t>
            </a:r>
            <a:endParaRPr lang="en-US" altLang="zh-CN" sz="1400"/>
          </a:p>
          <a:p>
            <a:r>
              <a:rPr lang="en-US" altLang="zh-CN" sz="1400"/>
              <a:t>Generate Predictions: Predict the next period’s returns for each stock using machine learning models</a:t>
            </a:r>
            <a:endParaRPr lang="en-US" altLang="zh-CN" sz="1400"/>
          </a:p>
        </p:txBody>
      </p:sp>
      <p:pic>
        <p:nvPicPr>
          <p:cNvPr id="16" name="图片 15"/>
          <p:cNvPicPr>
            <a:picLocks noChangeAspect="1"/>
          </p:cNvPicPr>
          <p:nvPr/>
        </p:nvPicPr>
        <p:blipFill>
          <a:blip r:embed="rId2"/>
          <a:stretch>
            <a:fillRect/>
          </a:stretch>
        </p:blipFill>
        <p:spPr>
          <a:xfrm>
            <a:off x="5024755" y="2985135"/>
            <a:ext cx="1143000" cy="213360"/>
          </a:xfrm>
          <a:prstGeom prst="rect">
            <a:avLst/>
          </a:prstGeom>
        </p:spPr>
      </p:pic>
      <p:sp>
        <p:nvSpPr>
          <p:cNvPr id="19" name="文本框 18"/>
          <p:cNvSpPr txBox="1"/>
          <p:nvPr/>
        </p:nvSpPr>
        <p:spPr>
          <a:xfrm>
            <a:off x="2003425" y="3644265"/>
            <a:ext cx="6979920" cy="306705"/>
          </a:xfrm>
          <a:prstGeom prst="rect">
            <a:avLst/>
          </a:prstGeom>
        </p:spPr>
        <p:txBody>
          <a:bodyPr wrap="square">
            <a:spAutoFit/>
          </a:bodyPr>
          <a:p>
            <a:r>
              <a:rPr lang="en-US" altLang="zh-CN" sz="1400"/>
              <a:t>Generate stock-level return predictions to serve as the foundation for portfolio construction.</a:t>
            </a:r>
            <a:endParaRPr lang="en-US" altLang="zh-CN" sz="1400"/>
          </a:p>
        </p:txBody>
      </p:sp>
      <p:sp>
        <p:nvSpPr>
          <p:cNvPr id="20" name="文本框 19"/>
          <p:cNvSpPr txBox="1"/>
          <p:nvPr/>
        </p:nvSpPr>
        <p:spPr>
          <a:xfrm>
            <a:off x="1812925" y="3950970"/>
            <a:ext cx="2799080" cy="306705"/>
          </a:xfrm>
          <a:prstGeom prst="rect">
            <a:avLst/>
          </a:prstGeom>
        </p:spPr>
        <p:txBody>
          <a:bodyPr wrap="square">
            <a:spAutoFit/>
          </a:bodyPr>
          <a:p>
            <a:r>
              <a:rPr lang="en-US" altLang="zh-CN" sz="1400" b="1"/>
              <a:t>Step 2</a:t>
            </a:r>
            <a:r>
              <a:rPr lang="en-US" altLang="zh-CN" sz="1400"/>
              <a:t>: Construct Ranked Portfolios:</a:t>
            </a:r>
            <a:endParaRPr lang="en-US" altLang="zh-CN" sz="1400"/>
          </a:p>
        </p:txBody>
      </p:sp>
      <p:sp>
        <p:nvSpPr>
          <p:cNvPr id="21" name="文本框 20"/>
          <p:cNvSpPr txBox="1"/>
          <p:nvPr/>
        </p:nvSpPr>
        <p:spPr>
          <a:xfrm>
            <a:off x="838200" y="4214495"/>
            <a:ext cx="10697845" cy="737235"/>
          </a:xfrm>
          <a:prstGeom prst="rect">
            <a:avLst/>
          </a:prstGeom>
        </p:spPr>
        <p:txBody>
          <a:bodyPr wrap="square">
            <a:spAutoFit/>
          </a:bodyPr>
          <a:p>
            <a:r>
              <a:rPr lang="en-US" altLang="zh-CN" sz="1400" b="1"/>
              <a:t>2.1.Sort Stocks into Deciles</a:t>
            </a:r>
            <a:r>
              <a:rPr lang="en-US" altLang="zh-CN" sz="1400"/>
              <a:t>: Sort stocks by their predicted returns r^i,t+1 and divide them into 10 equal-weighted deciles (from low to high). Portfolios are value-weighted, with weights determined by market capitalization.</a:t>
            </a:r>
            <a:endParaRPr lang="en-US" altLang="zh-CN" sz="1400"/>
          </a:p>
          <a:p>
            <a:r>
              <a:rPr lang="en-US" altLang="zh-CN" sz="1400"/>
              <a:t>Purpose: Construct portfolios ranked by predicted returns, ranging from low to high expected returns.</a:t>
            </a:r>
            <a:endParaRPr lang="en-US" altLang="zh-CN" sz="1400"/>
          </a:p>
        </p:txBody>
      </p:sp>
      <p:sp>
        <p:nvSpPr>
          <p:cNvPr id="22" name="文本框 21"/>
          <p:cNvSpPr txBox="1"/>
          <p:nvPr/>
        </p:nvSpPr>
        <p:spPr>
          <a:xfrm>
            <a:off x="827405" y="4966970"/>
            <a:ext cx="9481185" cy="306705"/>
          </a:xfrm>
          <a:prstGeom prst="rect">
            <a:avLst/>
          </a:prstGeom>
        </p:spPr>
        <p:txBody>
          <a:bodyPr wrap="square">
            <a:spAutoFit/>
          </a:bodyPr>
          <a:p>
            <a:r>
              <a:rPr lang="en-US" altLang="zh-CN" sz="1400" b="1"/>
              <a:t>2.2.Calculate Actual Returns for Each Decile:</a:t>
            </a:r>
            <a:r>
              <a:rPr lang="en-US" altLang="zh-CN" sz="1400"/>
              <a:t>Compute the realized return of each decile d:</a:t>
            </a:r>
            <a:endParaRPr lang="en-US" altLang="zh-CN" sz="1400"/>
          </a:p>
        </p:txBody>
      </p:sp>
      <p:pic>
        <p:nvPicPr>
          <p:cNvPr id="23" name="图片 22"/>
          <p:cNvPicPr>
            <a:picLocks noChangeAspect="1"/>
          </p:cNvPicPr>
          <p:nvPr/>
        </p:nvPicPr>
        <p:blipFill>
          <a:blip r:embed="rId3"/>
          <a:stretch>
            <a:fillRect/>
          </a:stretch>
        </p:blipFill>
        <p:spPr>
          <a:xfrm>
            <a:off x="5258435" y="5258435"/>
            <a:ext cx="1501140" cy="510540"/>
          </a:xfrm>
          <a:prstGeom prst="rect">
            <a:avLst/>
          </a:prstGeom>
        </p:spPr>
      </p:pic>
      <p:sp>
        <p:nvSpPr>
          <p:cNvPr id="24" name="文本框 23"/>
          <p:cNvSpPr txBox="1"/>
          <p:nvPr/>
        </p:nvSpPr>
        <p:spPr>
          <a:xfrm>
            <a:off x="3673475" y="3164840"/>
            <a:ext cx="5885180" cy="521970"/>
          </a:xfrm>
          <a:prstGeom prst="rect">
            <a:avLst/>
          </a:prstGeom>
        </p:spPr>
        <p:txBody>
          <a:bodyPr wrap="square">
            <a:spAutoFit/>
          </a:bodyPr>
          <a:p>
            <a:r>
              <a:rPr lang="en-US" altLang="zh-CN" sz="1400"/>
              <a:t>r^i,t+1​: Predicted return for stock i at time t+1.</a:t>
            </a:r>
            <a:endParaRPr lang="en-US" altLang="zh-CN" sz="1400"/>
          </a:p>
          <a:p>
            <a:r>
              <a:rPr lang="en-US" altLang="zh-CN" sz="1400"/>
              <a:t>zi,t: A vector of stock-specific features and macroeconomic variables.</a:t>
            </a:r>
            <a:endParaRPr lang="en-US" altLang="zh-CN" sz="1400"/>
          </a:p>
        </p:txBody>
      </p:sp>
      <p:sp>
        <p:nvSpPr>
          <p:cNvPr id="25" name="文本框 24"/>
          <p:cNvSpPr txBox="1"/>
          <p:nvPr/>
        </p:nvSpPr>
        <p:spPr>
          <a:xfrm>
            <a:off x="4302760" y="5661025"/>
            <a:ext cx="3429635" cy="521970"/>
          </a:xfrm>
          <a:prstGeom prst="rect">
            <a:avLst/>
          </a:prstGeom>
        </p:spPr>
        <p:txBody>
          <a:bodyPr wrap="square">
            <a:spAutoFit/>
          </a:bodyPr>
          <a:p>
            <a:r>
              <a:rPr lang="en-US" altLang="zh-CN" sz="1400"/>
              <a:t>wi,t​: Value weight of stock i in decile d.</a:t>
            </a:r>
            <a:endParaRPr lang="en-US" altLang="zh-CN" sz="1400"/>
          </a:p>
          <a:p>
            <a:r>
              <a:rPr lang="en-US" altLang="zh-CN" sz="1400"/>
              <a:t>ri,t+1: Realized return of stock i at time t+1.</a:t>
            </a:r>
            <a:endParaRPr lang="en-US" altLang="zh-CN" sz="140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435"/>
            <a:ext cx="10515600" cy="1336413"/>
          </a:xfrm>
        </p:spPr>
        <p:txBody>
          <a:bodyPr>
            <a:normAutofit/>
          </a:bodyPr>
          <a:lstStyle/>
          <a:p>
            <a:r>
              <a:rPr lang="en-US" sz="3600" b="1" dirty="0" smtClean="0"/>
              <a:t>Performance of the machine learning portfolios</a:t>
            </a:r>
            <a:endParaRPr lang="en-US" sz="3600" b="1" dirty="0" smtClean="0"/>
          </a:p>
        </p:txBody>
      </p:sp>
      <p:sp>
        <p:nvSpPr>
          <p:cNvPr id="3" name="Content Placeholder 2"/>
          <p:cNvSpPr>
            <a:spLocks noGrp="1"/>
          </p:cNvSpPr>
          <p:nvPr>
            <p:ph idx="1"/>
          </p:nvPr>
        </p:nvSpPr>
        <p:spPr>
          <a:xfrm>
            <a:off x="838200" y="555625"/>
            <a:ext cx="10978515" cy="6303010"/>
          </a:xfrm>
        </p:spPr>
        <p:txBody>
          <a:bodyPr>
            <a:normAutofit fontScale="90000"/>
          </a:bodyPr>
          <a:lstStyle/>
          <a:p>
            <a:pPr marL="0" algn="l">
              <a:buClrTx/>
              <a:buSzTx/>
              <a:buNone/>
            </a:pPr>
            <a:r>
              <a:rPr lang="en-US" altLang="zh-CN" sz="1555" b="1" dirty="0" smtClean="0">
                <a:solidFill>
                  <a:srgbClr val="26927D"/>
                </a:solidFill>
                <a:sym typeface="+mn-ea"/>
              </a:rPr>
              <a:t>Steps:</a:t>
            </a:r>
            <a:endParaRPr lang="en-US" altLang="zh-CN" sz="1555" b="1" dirty="0" smtClean="0">
              <a:solidFill>
                <a:srgbClr val="26927D"/>
              </a:solidFill>
            </a:endParaRPr>
          </a:p>
          <a:p>
            <a:pPr marL="0" indent="0">
              <a:buNone/>
            </a:pPr>
            <a:endParaRPr lang="en-US" altLang="zh-CN">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dirty="0" smtClean="0">
                <a:sym typeface="+mn-ea"/>
              </a:rPr>
              <a:t>                  </a:t>
            </a:r>
            <a:endParaRPr lang="en-US" dirty="0" smtClean="0">
              <a:sym typeface="+mn-ea"/>
            </a:endParaRPr>
          </a:p>
          <a:p>
            <a:pPr marL="0" indent="0">
              <a:buNone/>
            </a:pPr>
            <a:r>
              <a:rPr lang="en-US" dirty="0" smtClean="0">
                <a:solidFill>
                  <a:srgbClr val="26927D"/>
                </a:solidFill>
                <a:sym typeface="+mn-ea"/>
              </a:rPr>
              <a:t>                                                                                              </a:t>
            </a:r>
            <a:endParaRPr lang="en-US" altLang="zh-CN"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a:t>     </a:t>
            </a:r>
            <a:endParaRPr lang="en-US" altLang="zh-CN"/>
          </a:p>
          <a:p>
            <a:pPr marL="0" indent="0">
              <a:buNone/>
            </a:pPr>
            <a:endParaRPr lang="en-US" dirty="0" smtClean="0">
              <a:sym typeface="+mn-ea"/>
            </a:endParaRPr>
          </a:p>
          <a:p>
            <a:pPr marL="0" indent="0">
              <a:buNone/>
            </a:pPr>
            <a:r>
              <a:rPr lang="en-US" altLang="zh-CN" dirty="0" smtClean="0">
                <a:sym typeface="+mn-ea"/>
              </a:rPr>
              <a:t>                      </a:t>
            </a:r>
            <a:endParaRPr lang="en-US"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sz="2400" dirty="0" smtClean="0">
                <a:sym typeface="+mn-ea"/>
              </a:rPr>
              <a:t>                                           </a:t>
            </a:r>
            <a:r>
              <a:rPr lang="en-US" altLang="zh-CN" sz="2800">
                <a:sym typeface="+mn-ea"/>
              </a:rPr>
              <a:t>                                                         </a:t>
            </a:r>
            <a:endParaRPr lang="en-US" altLang="zh-CN" sz="2800">
              <a:sym typeface="+mn-ea"/>
            </a:endParaRPr>
          </a:p>
          <a:p>
            <a:pPr marL="0" indent="0">
              <a:buNone/>
            </a:pPr>
            <a:endParaRPr lang="zh-CN" altLang="en-US" dirty="0" smtClean="0">
              <a:sym typeface="+mn-ea"/>
            </a:endParaRPr>
          </a:p>
          <a:p>
            <a:pPr marL="0" indent="0">
              <a:buNone/>
            </a:pPr>
            <a:r>
              <a:rPr lang="en-US" altLang="zh-CN" dirty="0" smtClean="0">
                <a:sym typeface="+mn-ea"/>
              </a:rPr>
              <a:t>  </a:t>
            </a:r>
            <a:endParaRPr lang="en-US" dirty="0" smtClean="0">
              <a:sym typeface="+mn-ea"/>
            </a:endParaRPr>
          </a:p>
          <a:p>
            <a:pPr marL="0" indent="0">
              <a:buNone/>
            </a:pPr>
            <a:endParaRPr lang="en-US" sz="2800" dirty="0" smtClean="0">
              <a:sym typeface="+mn-ea"/>
            </a:endParaRPr>
          </a:p>
          <a:p>
            <a:pPr marL="0" indent="0">
              <a:buNone/>
            </a:pPr>
            <a:endParaRPr lang="en-US" sz="2800" dirty="0" smtClean="0">
              <a:sym typeface="+mn-ea"/>
            </a:endParaRPr>
          </a:p>
        </p:txBody>
      </p:sp>
      <p:sp>
        <p:nvSpPr>
          <p:cNvPr id="20" name="文本框 19"/>
          <p:cNvSpPr txBox="1"/>
          <p:nvPr/>
        </p:nvSpPr>
        <p:spPr>
          <a:xfrm>
            <a:off x="1812925" y="2061845"/>
            <a:ext cx="7169785" cy="306705"/>
          </a:xfrm>
          <a:prstGeom prst="rect">
            <a:avLst/>
          </a:prstGeom>
        </p:spPr>
        <p:txBody>
          <a:bodyPr wrap="square">
            <a:spAutoFit/>
          </a:bodyPr>
          <a:p>
            <a:r>
              <a:rPr lang="en-US" altLang="zh-CN" sz="1400" b="1"/>
              <a:t>Step 3: </a:t>
            </a:r>
            <a:r>
              <a:rPr lang="en-US" altLang="zh-CN" sz="1400"/>
              <a:t>Calculate Portfolio Performance Metrics</a:t>
            </a:r>
            <a:endParaRPr lang="en-US" altLang="zh-CN" sz="1400"/>
          </a:p>
        </p:txBody>
      </p:sp>
      <p:sp>
        <p:nvSpPr>
          <p:cNvPr id="4" name="文本框 3"/>
          <p:cNvSpPr txBox="1"/>
          <p:nvPr/>
        </p:nvSpPr>
        <p:spPr>
          <a:xfrm>
            <a:off x="965200" y="1027430"/>
            <a:ext cx="10697845" cy="306705"/>
          </a:xfrm>
          <a:prstGeom prst="rect">
            <a:avLst/>
          </a:prstGeom>
        </p:spPr>
        <p:txBody>
          <a:bodyPr wrap="square">
            <a:spAutoFit/>
          </a:bodyPr>
          <a:p>
            <a:r>
              <a:rPr lang="en-US" altLang="zh-CN" sz="1400" b="1"/>
              <a:t>2.3.Construct Long-Short Portfolio:</a:t>
            </a:r>
            <a:endParaRPr lang="en-US" altLang="zh-CN" sz="1400" b="1"/>
          </a:p>
        </p:txBody>
      </p:sp>
      <p:sp>
        <p:nvSpPr>
          <p:cNvPr id="5" name="文本框 4"/>
          <p:cNvSpPr txBox="1"/>
          <p:nvPr/>
        </p:nvSpPr>
        <p:spPr>
          <a:xfrm>
            <a:off x="1280795" y="1254125"/>
            <a:ext cx="9756775" cy="306705"/>
          </a:xfrm>
          <a:prstGeom prst="rect">
            <a:avLst/>
          </a:prstGeom>
        </p:spPr>
        <p:txBody>
          <a:bodyPr wrap="square">
            <a:spAutoFit/>
          </a:bodyPr>
          <a:p>
            <a:r>
              <a:rPr lang="en-US" altLang="zh-CN" sz="1400"/>
              <a:t>Compute the return for a long-short portfolio (10-1 strategy) by buying the highest decile (10) and selling the lowest decile (1):</a:t>
            </a:r>
            <a:endParaRPr lang="en-US" altLang="zh-CN" sz="1400"/>
          </a:p>
        </p:txBody>
      </p:sp>
      <p:pic>
        <p:nvPicPr>
          <p:cNvPr id="6" name="图片 5"/>
          <p:cNvPicPr>
            <a:picLocks noChangeAspect="1"/>
          </p:cNvPicPr>
          <p:nvPr/>
        </p:nvPicPr>
        <p:blipFill>
          <a:blip r:embed="rId1"/>
          <a:stretch>
            <a:fillRect/>
          </a:stretch>
        </p:blipFill>
        <p:spPr>
          <a:xfrm>
            <a:off x="5307330" y="1551940"/>
            <a:ext cx="1577340" cy="213360"/>
          </a:xfrm>
          <a:prstGeom prst="rect">
            <a:avLst/>
          </a:prstGeom>
        </p:spPr>
      </p:pic>
      <p:sp>
        <p:nvSpPr>
          <p:cNvPr id="7" name="文本框 6"/>
          <p:cNvSpPr txBox="1"/>
          <p:nvPr/>
        </p:nvSpPr>
        <p:spPr>
          <a:xfrm>
            <a:off x="2357120" y="1701165"/>
            <a:ext cx="9413875" cy="306705"/>
          </a:xfrm>
          <a:prstGeom prst="rect">
            <a:avLst/>
          </a:prstGeom>
        </p:spPr>
        <p:txBody>
          <a:bodyPr wrap="square">
            <a:spAutoFit/>
          </a:bodyPr>
          <a:p>
            <a:r>
              <a:rPr lang="en-US" altLang="zh-CN" sz="1400"/>
              <a:t>Evaluate the effectiveness of model predictions in identifying high- and low-performing stocks.</a:t>
            </a:r>
            <a:endParaRPr lang="en-US" altLang="zh-CN" sz="1400"/>
          </a:p>
        </p:txBody>
      </p:sp>
      <p:sp>
        <p:nvSpPr>
          <p:cNvPr id="11" name="文本框 10"/>
          <p:cNvSpPr txBox="1"/>
          <p:nvPr/>
        </p:nvSpPr>
        <p:spPr>
          <a:xfrm>
            <a:off x="943610" y="2333625"/>
            <a:ext cx="9577705" cy="306705"/>
          </a:xfrm>
          <a:prstGeom prst="rect">
            <a:avLst/>
          </a:prstGeom>
        </p:spPr>
        <p:txBody>
          <a:bodyPr wrap="square">
            <a:spAutoFit/>
          </a:bodyPr>
          <a:p>
            <a:r>
              <a:rPr lang="en-US" altLang="zh-CN" sz="1400" b="1"/>
              <a:t>3.1 Annualized Return: </a:t>
            </a:r>
            <a:r>
              <a:rPr lang="en-US" altLang="zh-CN" sz="1400"/>
              <a:t>Calculate the average monthly return rˉd​ for each decile and annualize it</a:t>
            </a:r>
            <a:endParaRPr lang="en-US" altLang="zh-CN" sz="1400"/>
          </a:p>
        </p:txBody>
      </p:sp>
      <p:pic>
        <p:nvPicPr>
          <p:cNvPr id="14" name="图片 13"/>
          <p:cNvPicPr>
            <a:picLocks noChangeAspect="1"/>
          </p:cNvPicPr>
          <p:nvPr/>
        </p:nvPicPr>
        <p:blipFill>
          <a:blip r:embed="rId2"/>
          <a:stretch>
            <a:fillRect/>
          </a:stretch>
        </p:blipFill>
        <p:spPr>
          <a:xfrm>
            <a:off x="5462270" y="2380615"/>
            <a:ext cx="226695" cy="226695"/>
          </a:xfrm>
          <a:prstGeom prst="rect">
            <a:avLst/>
          </a:prstGeom>
        </p:spPr>
      </p:pic>
      <p:pic>
        <p:nvPicPr>
          <p:cNvPr id="15" name="图片 14"/>
          <p:cNvPicPr>
            <a:picLocks noChangeAspect="1"/>
          </p:cNvPicPr>
          <p:nvPr/>
        </p:nvPicPr>
        <p:blipFill>
          <a:blip r:embed="rId3"/>
          <a:stretch>
            <a:fillRect/>
          </a:stretch>
        </p:blipFill>
        <p:spPr>
          <a:xfrm>
            <a:off x="4972685" y="2691765"/>
            <a:ext cx="929640" cy="243840"/>
          </a:xfrm>
          <a:prstGeom prst="rect">
            <a:avLst/>
          </a:prstGeom>
        </p:spPr>
      </p:pic>
      <p:sp>
        <p:nvSpPr>
          <p:cNvPr id="17" name="文本框 16"/>
          <p:cNvSpPr txBox="1"/>
          <p:nvPr/>
        </p:nvSpPr>
        <p:spPr>
          <a:xfrm>
            <a:off x="953770" y="3013710"/>
            <a:ext cx="10699115" cy="306705"/>
          </a:xfrm>
          <a:prstGeom prst="rect">
            <a:avLst/>
          </a:prstGeom>
        </p:spPr>
        <p:txBody>
          <a:bodyPr wrap="square">
            <a:spAutoFit/>
          </a:bodyPr>
          <a:p>
            <a:r>
              <a:rPr lang="en-US" altLang="zh-CN" sz="1400" b="1"/>
              <a:t>3.2 Annualized Volatility: </a:t>
            </a:r>
            <a:r>
              <a:rPr lang="en-US" altLang="zh-CN" sz="1400"/>
              <a:t>Compute the standard deviation of monthly returns σd for each decile and annualize it</a:t>
            </a:r>
            <a:endParaRPr lang="en-US" altLang="zh-CN" sz="1400"/>
          </a:p>
        </p:txBody>
      </p:sp>
      <p:pic>
        <p:nvPicPr>
          <p:cNvPr id="18" name="图片 17"/>
          <p:cNvPicPr>
            <a:picLocks noChangeAspect="1"/>
          </p:cNvPicPr>
          <p:nvPr/>
        </p:nvPicPr>
        <p:blipFill>
          <a:blip r:embed="rId4"/>
          <a:stretch>
            <a:fillRect/>
          </a:stretch>
        </p:blipFill>
        <p:spPr>
          <a:xfrm>
            <a:off x="6662420" y="3096895"/>
            <a:ext cx="205740" cy="167640"/>
          </a:xfrm>
          <a:prstGeom prst="rect">
            <a:avLst/>
          </a:prstGeom>
        </p:spPr>
      </p:pic>
      <p:pic>
        <p:nvPicPr>
          <p:cNvPr id="26" name="图片 25"/>
          <p:cNvPicPr>
            <a:picLocks noChangeAspect="1"/>
          </p:cNvPicPr>
          <p:nvPr/>
        </p:nvPicPr>
        <p:blipFill>
          <a:blip r:embed="rId5"/>
          <a:stretch>
            <a:fillRect/>
          </a:stretch>
        </p:blipFill>
        <p:spPr>
          <a:xfrm>
            <a:off x="4870450" y="3320415"/>
            <a:ext cx="1501140" cy="281940"/>
          </a:xfrm>
          <a:prstGeom prst="rect">
            <a:avLst/>
          </a:prstGeom>
        </p:spPr>
      </p:pic>
      <p:sp>
        <p:nvSpPr>
          <p:cNvPr id="27" name="文本框 26"/>
          <p:cNvSpPr txBox="1"/>
          <p:nvPr/>
        </p:nvSpPr>
        <p:spPr>
          <a:xfrm>
            <a:off x="953770" y="3607435"/>
            <a:ext cx="10400030" cy="306705"/>
          </a:xfrm>
          <a:prstGeom prst="rect">
            <a:avLst/>
          </a:prstGeom>
        </p:spPr>
        <p:txBody>
          <a:bodyPr wrap="square">
            <a:spAutoFit/>
          </a:bodyPr>
          <a:p>
            <a:r>
              <a:rPr lang="en-US" altLang="zh-CN" sz="1400" b="1"/>
              <a:t>3.3Sharpe Ratio (SR)</a:t>
            </a:r>
            <a:r>
              <a:rPr lang="en-US" altLang="zh-CN" sz="1400"/>
              <a:t>: Calculate the Sharpe ratio for each decile and the long-short portfolio</a:t>
            </a:r>
            <a:endParaRPr lang="en-US" altLang="zh-CN" sz="1400"/>
          </a:p>
        </p:txBody>
      </p:sp>
      <p:pic>
        <p:nvPicPr>
          <p:cNvPr id="28" name="图片 27"/>
          <p:cNvPicPr>
            <a:picLocks noChangeAspect="1"/>
          </p:cNvPicPr>
          <p:nvPr/>
        </p:nvPicPr>
        <p:blipFill>
          <a:blip r:embed="rId6"/>
          <a:stretch>
            <a:fillRect/>
          </a:stretch>
        </p:blipFill>
        <p:spPr>
          <a:xfrm>
            <a:off x="4897755" y="3848100"/>
            <a:ext cx="1295400" cy="457200"/>
          </a:xfrm>
          <a:prstGeom prst="rect">
            <a:avLst/>
          </a:prstGeom>
        </p:spPr>
      </p:pic>
      <p:sp>
        <p:nvSpPr>
          <p:cNvPr id="29" name="文本框 28"/>
          <p:cNvSpPr txBox="1"/>
          <p:nvPr/>
        </p:nvSpPr>
        <p:spPr>
          <a:xfrm>
            <a:off x="4052570" y="4203065"/>
            <a:ext cx="3711575" cy="521970"/>
          </a:xfrm>
          <a:prstGeom prst="rect">
            <a:avLst/>
          </a:prstGeom>
        </p:spPr>
        <p:txBody>
          <a:bodyPr wrap="square">
            <a:spAutoFit/>
          </a:bodyPr>
          <a:p>
            <a:pPr indent="0">
              <a:buFont typeface="Arial" panose="020B0604020202020204"/>
              <a:buNone/>
            </a:pPr>
            <a:r>
              <a:rPr lang="en-US" altLang="zh-CN" sz="1400"/>
              <a:t>rf​ is the risk-free rate.</a:t>
            </a:r>
            <a:endParaRPr lang="en-US" altLang="zh-CN" sz="1400"/>
          </a:p>
          <a:p>
            <a:r>
              <a:rPr lang="en-US" altLang="zh-CN" sz="1400"/>
              <a:t>Assess the risk-adjusted return of each portfolio.</a:t>
            </a:r>
            <a:endParaRPr lang="en-US" altLang="zh-CN" sz="1400"/>
          </a:p>
        </p:txBody>
      </p:sp>
      <p:sp>
        <p:nvSpPr>
          <p:cNvPr id="30" name="文本框 29"/>
          <p:cNvSpPr txBox="1"/>
          <p:nvPr/>
        </p:nvSpPr>
        <p:spPr>
          <a:xfrm>
            <a:off x="1893570" y="4652963"/>
            <a:ext cx="5080000" cy="306705"/>
          </a:xfrm>
          <a:prstGeom prst="rect">
            <a:avLst/>
          </a:prstGeom>
        </p:spPr>
        <p:txBody>
          <a:bodyPr>
            <a:spAutoFit/>
          </a:bodyPr>
          <a:p>
            <a:r>
              <a:rPr lang="en-US" altLang="zh-CN" sz="1400" b="1"/>
              <a:t>Step 4</a:t>
            </a:r>
            <a:r>
              <a:rPr lang="en-US" altLang="zh-CN" sz="1400"/>
              <a:t>: Evaluate and Compare Model Performance</a:t>
            </a:r>
            <a:endParaRPr lang="en-US" altLang="zh-CN" sz="1400"/>
          </a:p>
        </p:txBody>
      </p:sp>
      <p:sp>
        <p:nvSpPr>
          <p:cNvPr id="31" name="文本框 30"/>
          <p:cNvSpPr txBox="1"/>
          <p:nvPr/>
        </p:nvSpPr>
        <p:spPr>
          <a:xfrm>
            <a:off x="965835" y="4928870"/>
            <a:ext cx="10805160" cy="737235"/>
          </a:xfrm>
          <a:prstGeom prst="rect">
            <a:avLst/>
          </a:prstGeom>
        </p:spPr>
        <p:txBody>
          <a:bodyPr wrap="square">
            <a:spAutoFit/>
          </a:bodyPr>
          <a:p>
            <a:r>
              <a:rPr lang="en-US" altLang="zh-CN" sz="1400"/>
              <a:t>Model Comparison: Compare average returns, volatility, and Sharpe ratios across different machine learning models for high and low deciles, as well as the long-short portfolio.</a:t>
            </a:r>
            <a:endParaRPr lang="en-US" altLang="zh-CN" sz="1400"/>
          </a:p>
          <a:p>
            <a:r>
              <a:rPr lang="en-US" altLang="zh-CN" sz="1400"/>
              <a:t>Robustness Checks: Analyze the consistency between predicted returns and actual returns across deciles.</a:t>
            </a:r>
            <a:endParaRPr lang="en-US" altLang="zh-CN" sz="140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435"/>
            <a:ext cx="10515600" cy="1336413"/>
          </a:xfrm>
        </p:spPr>
        <p:txBody>
          <a:bodyPr>
            <a:normAutofit/>
          </a:bodyPr>
          <a:lstStyle/>
          <a:p>
            <a:r>
              <a:rPr lang="en-US" sz="3600" b="1" dirty="0" smtClean="0"/>
              <a:t>Performance of the machine learning portfolios</a:t>
            </a:r>
            <a:endParaRPr lang="en-US" sz="3600" b="1" dirty="0" smtClean="0"/>
          </a:p>
        </p:txBody>
      </p:sp>
      <p:sp>
        <p:nvSpPr>
          <p:cNvPr id="3" name="Content Placeholder 2"/>
          <p:cNvSpPr>
            <a:spLocks noGrp="1"/>
          </p:cNvSpPr>
          <p:nvPr>
            <p:ph idx="1"/>
          </p:nvPr>
        </p:nvSpPr>
        <p:spPr>
          <a:xfrm>
            <a:off x="838200" y="555625"/>
            <a:ext cx="10978515" cy="6303010"/>
          </a:xfrm>
        </p:spPr>
        <p:txBody>
          <a:bodyPr>
            <a:normAutofit fontScale="90000"/>
          </a:bodyPr>
          <a:lstStyle/>
          <a:p>
            <a:pPr marL="0" algn="l">
              <a:buClrTx/>
              <a:buSzTx/>
              <a:buNone/>
            </a:pPr>
            <a:r>
              <a:rPr lang="en-US" altLang="zh-CN" sz="1555" b="1" dirty="0" smtClean="0">
                <a:solidFill>
                  <a:srgbClr val="26927D"/>
                </a:solidFill>
                <a:sym typeface="+mn-ea"/>
              </a:rPr>
              <a:t>Results:</a:t>
            </a:r>
            <a:endParaRPr lang="en-US" altLang="zh-CN" sz="1555" b="1" dirty="0" smtClean="0">
              <a:solidFill>
                <a:srgbClr val="26927D"/>
              </a:solidFill>
            </a:endParaRPr>
          </a:p>
          <a:p>
            <a:pPr marL="0" indent="0">
              <a:buNone/>
            </a:pPr>
            <a:endParaRPr lang="en-US" altLang="zh-CN">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dirty="0" smtClean="0">
                <a:sym typeface="+mn-ea"/>
              </a:rPr>
              <a:t>                  </a:t>
            </a:r>
            <a:endParaRPr lang="en-US" dirty="0" smtClean="0">
              <a:sym typeface="+mn-ea"/>
            </a:endParaRPr>
          </a:p>
          <a:p>
            <a:pPr marL="0" indent="0">
              <a:buNone/>
            </a:pPr>
            <a:r>
              <a:rPr lang="en-US" dirty="0" smtClean="0">
                <a:solidFill>
                  <a:srgbClr val="26927D"/>
                </a:solidFill>
                <a:sym typeface="+mn-ea"/>
              </a:rPr>
              <a:t>                                                                                              </a:t>
            </a:r>
            <a:endParaRPr lang="en-US" altLang="zh-CN"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a:t>     </a:t>
            </a:r>
            <a:endParaRPr lang="en-US" altLang="zh-CN"/>
          </a:p>
          <a:p>
            <a:pPr marL="0" indent="0">
              <a:buNone/>
            </a:pPr>
            <a:endParaRPr lang="en-US" dirty="0" smtClean="0">
              <a:sym typeface="+mn-ea"/>
            </a:endParaRPr>
          </a:p>
          <a:p>
            <a:pPr marL="0" indent="0">
              <a:buNone/>
            </a:pPr>
            <a:r>
              <a:rPr lang="en-US" altLang="zh-CN" dirty="0" smtClean="0">
                <a:sym typeface="+mn-ea"/>
              </a:rPr>
              <a:t>                      </a:t>
            </a:r>
            <a:endParaRPr lang="en-US" dirty="0" smtClean="0">
              <a:sym typeface="+mn-ea"/>
            </a:endParaRPr>
          </a:p>
          <a:p>
            <a:pPr marL="0" indent="0">
              <a:buNone/>
            </a:pPr>
            <a:r>
              <a:rPr lang="en-US" altLang="zh-CN" dirty="0" smtClean="0">
                <a:sym typeface="+mn-ea"/>
              </a:rPr>
              <a:t>          </a:t>
            </a:r>
            <a:endParaRPr lang="en-US" altLang="zh-CN" dirty="0" smtClean="0">
              <a:sym typeface="+mn-ea"/>
            </a:endParaRPr>
          </a:p>
          <a:p>
            <a:pPr marL="0" indent="0">
              <a:buNone/>
            </a:pPr>
            <a:r>
              <a:rPr lang="en-US" altLang="zh-CN" sz="2400" dirty="0" smtClean="0">
                <a:sym typeface="+mn-ea"/>
              </a:rPr>
              <a:t>                                           </a:t>
            </a:r>
            <a:r>
              <a:rPr lang="en-US" altLang="zh-CN" sz="2800">
                <a:sym typeface="+mn-ea"/>
              </a:rPr>
              <a:t>                                                         </a:t>
            </a:r>
            <a:endParaRPr lang="en-US" altLang="zh-CN" sz="2800">
              <a:sym typeface="+mn-ea"/>
            </a:endParaRPr>
          </a:p>
          <a:p>
            <a:pPr marL="0" indent="0">
              <a:buNone/>
            </a:pPr>
            <a:endParaRPr lang="zh-CN" altLang="en-US" dirty="0" smtClean="0">
              <a:sym typeface="+mn-ea"/>
            </a:endParaRPr>
          </a:p>
          <a:p>
            <a:pPr marL="0" indent="0">
              <a:buNone/>
            </a:pPr>
            <a:r>
              <a:rPr lang="en-US" altLang="zh-CN" dirty="0" smtClean="0">
                <a:sym typeface="+mn-ea"/>
              </a:rPr>
              <a:t>  </a:t>
            </a:r>
            <a:endParaRPr lang="en-US" dirty="0" smtClean="0">
              <a:sym typeface="+mn-ea"/>
            </a:endParaRPr>
          </a:p>
          <a:p>
            <a:pPr marL="0" indent="0">
              <a:buNone/>
            </a:pPr>
            <a:endParaRPr lang="en-US" sz="2800" dirty="0" smtClean="0">
              <a:sym typeface="+mn-ea"/>
            </a:endParaRPr>
          </a:p>
          <a:p>
            <a:pPr marL="0" indent="0">
              <a:buNone/>
            </a:pPr>
            <a:endParaRPr lang="en-US" sz="2800" dirty="0" smtClean="0">
              <a:sym typeface="+mn-ea"/>
            </a:endParaRPr>
          </a:p>
        </p:txBody>
      </p:sp>
      <p:pic>
        <p:nvPicPr>
          <p:cNvPr id="8" name="图片 7"/>
          <p:cNvPicPr>
            <a:picLocks noChangeAspect="1"/>
          </p:cNvPicPr>
          <p:nvPr/>
        </p:nvPicPr>
        <p:blipFill>
          <a:blip r:embed="rId1"/>
          <a:stretch>
            <a:fillRect/>
          </a:stretch>
        </p:blipFill>
        <p:spPr>
          <a:xfrm>
            <a:off x="904875" y="796925"/>
            <a:ext cx="3526790" cy="6010275"/>
          </a:xfrm>
          <a:prstGeom prst="rect">
            <a:avLst/>
          </a:prstGeom>
        </p:spPr>
      </p:pic>
      <p:sp>
        <p:nvSpPr>
          <p:cNvPr id="9" name="文本框 8"/>
          <p:cNvSpPr txBox="1"/>
          <p:nvPr/>
        </p:nvSpPr>
        <p:spPr>
          <a:xfrm>
            <a:off x="4601845" y="635635"/>
            <a:ext cx="7518400" cy="3538220"/>
          </a:xfrm>
          <a:prstGeom prst="rect">
            <a:avLst/>
          </a:prstGeom>
        </p:spPr>
        <p:txBody>
          <a:bodyPr wrap="square">
            <a:spAutoFit/>
          </a:bodyPr>
          <a:p>
            <a:r>
              <a:rPr lang="en-US" altLang="zh-CN" sz="1600" b="1"/>
              <a:t>1.Monotonicity in Returns:</a:t>
            </a:r>
            <a:endParaRPr lang="en-US" altLang="zh-CN" sz="1600" b="1"/>
          </a:p>
          <a:p>
            <a:pPr indent="0">
              <a:buFont typeface="Arial" panose="020B0604020202020204"/>
              <a:buNone/>
            </a:pPr>
            <a:r>
              <a:rPr lang="en-US" altLang="zh-CN" sz="1600"/>
              <a:t>Portfolio returns increase monotonically from the lowest to the highest decile for all models, demonstrating the models' ability to effectively rank stocks by expected returns.</a:t>
            </a:r>
            <a:endParaRPr lang="en-US" altLang="zh-CN" sz="1600"/>
          </a:p>
          <a:p>
            <a:r>
              <a:rPr lang="en-US" altLang="zh-CN" sz="1600" b="1"/>
              <a:t>2.Superiority of Nonlinear Models:</a:t>
            </a:r>
            <a:endParaRPr lang="en-US" altLang="zh-CN" sz="1600" b="1"/>
          </a:p>
          <a:p>
            <a:pPr indent="0">
              <a:buFont typeface="Arial" panose="020B0604020202020204"/>
              <a:buNone/>
            </a:pPr>
            <a:r>
              <a:rPr lang="en-US" altLang="zh-CN" sz="1600"/>
              <a:t>Neural networks (NN3, NN4) and tree-based models (GBRT) perform best in long-short strategies, with significantly higher Sharpe ratios compared to linear models.</a:t>
            </a:r>
            <a:endParaRPr lang="en-US" altLang="zh-CN" sz="1600"/>
          </a:p>
          <a:p>
            <a:pPr indent="0">
              <a:buFont typeface="Arial" panose="020B0604020202020204"/>
              <a:buNone/>
            </a:pPr>
            <a:r>
              <a:rPr lang="en-US" altLang="zh-CN" sz="1600"/>
              <a:t>NN4 achieves the highest Sharpe ratio for the long-short portfolio, at 1.35.</a:t>
            </a:r>
            <a:endParaRPr lang="en-US" altLang="zh-CN" sz="1600"/>
          </a:p>
          <a:p>
            <a:r>
              <a:rPr lang="en-US" altLang="zh-CN" sz="1600" b="1"/>
              <a:t>3.Return-Risk Balance:</a:t>
            </a:r>
            <a:endParaRPr lang="en-US" altLang="zh-CN" sz="1600" b="1"/>
          </a:p>
          <a:p>
            <a:pPr indent="0">
              <a:buFont typeface="Arial" panose="020B0604020202020204"/>
              <a:buNone/>
            </a:pPr>
            <a:r>
              <a:rPr lang="en-US" altLang="zh-CN" sz="1600"/>
              <a:t>Nonlinear models achieve higher annualized returns while maintaining moderate levels of volatility, resulting in superior risk-adjusted performance.</a:t>
            </a:r>
            <a:endParaRPr lang="en-US" altLang="zh-CN" sz="1600"/>
          </a:p>
          <a:p>
            <a:r>
              <a:rPr lang="en-US" altLang="zh-CN" sz="1600" b="1"/>
              <a:t>4.Disparities Across Deciles:</a:t>
            </a:r>
            <a:endParaRPr lang="en-US" altLang="zh-CN" sz="1600" b="1"/>
          </a:p>
          <a:p>
            <a:pPr indent="0">
              <a:buFont typeface="Arial" panose="020B0604020202020204"/>
              <a:buNone/>
            </a:pPr>
            <a:r>
              <a:rPr lang="en-US" altLang="zh-CN" sz="1600"/>
              <a:t>The returns and Sharpe ratios for the highest decile (10) are significantly greater than those for the lowest decile (1), indicating the effectiveness of machine learning models in capturing return heterogeneity.</a:t>
            </a:r>
            <a:endParaRPr lang="en-US" altLang="zh-CN" sz="1600"/>
          </a:p>
        </p:txBody>
      </p:sp>
      <p:sp>
        <p:nvSpPr>
          <p:cNvPr id="10" name="文本框 9"/>
          <p:cNvSpPr txBox="1"/>
          <p:nvPr/>
        </p:nvSpPr>
        <p:spPr>
          <a:xfrm>
            <a:off x="4601845" y="4792980"/>
            <a:ext cx="7404735" cy="1568450"/>
          </a:xfrm>
          <a:prstGeom prst="rect">
            <a:avLst/>
          </a:prstGeom>
        </p:spPr>
        <p:txBody>
          <a:bodyPr wrap="square">
            <a:spAutoFit/>
          </a:bodyPr>
          <a:p>
            <a:r>
              <a:rPr lang="en-US" altLang="zh-CN" sz="1600"/>
              <a:t>Table 7 highlights the strong capabilities of machine learning models in asset pricing and portfolio construction. Nonlinear methods, such as neural networks and gradient-boosted regression trees, excel at capturing complex relationships and provide superior return predictions and portfolio performance. These results demonstrate the potential of machine learning to revolutionize portfolio management by offering unparalleled accuracy and insights in high-dimensional financial datasets.</a:t>
            </a:r>
            <a:endParaRPr lang="en-US" altLang="zh-CN" sz="160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60" y="-100330"/>
            <a:ext cx="11655425" cy="1336675"/>
          </a:xfrm>
        </p:spPr>
        <p:txBody>
          <a:bodyPr>
            <a:normAutofit fontScale="90000"/>
          </a:bodyPr>
          <a:lstStyle/>
          <a:p>
            <a:r>
              <a:rPr lang="en-US" altLang="zh-CN" sz="3110" b="1" dirty="0" smtClean="0"/>
              <a:t>Python: Simple construction of a long-short portfolio (under the decile framework, going long on the top 10% of returns and short on the bottom 10% of returns) and calculation of the Sharpe ratio (assuming a risk-free rate of 0).</a:t>
            </a:r>
            <a:endParaRPr lang="en-US" altLang="zh-CN" sz="3110" b="1" dirty="0" smtClean="0"/>
          </a:p>
        </p:txBody>
      </p:sp>
      <p:pic>
        <p:nvPicPr>
          <p:cNvPr id="5" name="图片 4"/>
          <p:cNvPicPr>
            <a:picLocks noChangeAspect="1"/>
          </p:cNvPicPr>
          <p:nvPr/>
        </p:nvPicPr>
        <p:blipFill>
          <a:blip r:embed="rId1"/>
          <a:stretch>
            <a:fillRect/>
          </a:stretch>
        </p:blipFill>
        <p:spPr>
          <a:xfrm>
            <a:off x="556260" y="1066165"/>
            <a:ext cx="4320540" cy="2834640"/>
          </a:xfrm>
          <a:prstGeom prst="rect">
            <a:avLst/>
          </a:prstGeom>
        </p:spPr>
      </p:pic>
      <p:sp>
        <p:nvSpPr>
          <p:cNvPr id="6" name="文本框 5"/>
          <p:cNvSpPr txBox="1"/>
          <p:nvPr/>
        </p:nvSpPr>
        <p:spPr>
          <a:xfrm>
            <a:off x="5492750" y="1367790"/>
            <a:ext cx="3185160" cy="1198880"/>
          </a:xfrm>
          <a:prstGeom prst="rect">
            <a:avLst/>
          </a:prstGeom>
          <a:noFill/>
        </p:spPr>
        <p:txBody>
          <a:bodyPr wrap="square" rtlCol="0" anchor="t">
            <a:spAutoFit/>
          </a:bodyPr>
          <a:p>
            <a:r>
              <a:rPr lang="en-US" altLang="zh-CN"/>
              <a:t>Define assign_decile to divide the predictions of each month into 10 quantile groups using ranking</a:t>
            </a:r>
            <a:endParaRPr lang="zh-CN" altLang="en-US"/>
          </a:p>
        </p:txBody>
      </p:sp>
      <p:pic>
        <p:nvPicPr>
          <p:cNvPr id="7" name="图片 6"/>
          <p:cNvPicPr>
            <a:picLocks noChangeAspect="1"/>
          </p:cNvPicPr>
          <p:nvPr/>
        </p:nvPicPr>
        <p:blipFill>
          <a:blip r:embed="rId2"/>
          <a:stretch>
            <a:fillRect/>
          </a:stretch>
        </p:blipFill>
        <p:spPr>
          <a:xfrm>
            <a:off x="704215" y="4212590"/>
            <a:ext cx="3048000" cy="434340"/>
          </a:xfrm>
          <a:prstGeom prst="rect">
            <a:avLst/>
          </a:prstGeom>
        </p:spPr>
      </p:pic>
      <p:sp>
        <p:nvSpPr>
          <p:cNvPr id="11" name="文本框 10"/>
          <p:cNvSpPr txBox="1"/>
          <p:nvPr/>
        </p:nvSpPr>
        <p:spPr>
          <a:xfrm>
            <a:off x="3857625" y="4088765"/>
            <a:ext cx="7823200" cy="645160"/>
          </a:xfrm>
          <a:prstGeom prst="rect">
            <a:avLst/>
          </a:prstGeom>
          <a:noFill/>
        </p:spPr>
        <p:txBody>
          <a:bodyPr wrap="square" rtlCol="0" anchor="t">
            <a:spAutoFit/>
          </a:bodyPr>
          <a:p>
            <a:r>
              <a:rPr lang="en-US" altLang="zh-CN"/>
              <a:t>Define sharpe_ratio to compute the Sharpe ratio (assuming risk-free rate = 0)</a:t>
            </a:r>
            <a:endParaRPr lang="en-US" altLang="zh-CN"/>
          </a:p>
          <a:p>
            <a:r>
              <a:rPr lang="en-US" altLang="zh-CN"/>
              <a:t>Define safe_div for safe division, avoiding division by zero</a:t>
            </a:r>
            <a:endParaRPr lang="en-US" altLang="zh-CN"/>
          </a:p>
        </p:txBody>
      </p:sp>
      <p:pic>
        <p:nvPicPr>
          <p:cNvPr id="12" name="图片 11"/>
          <p:cNvPicPr>
            <a:picLocks noChangeAspect="1"/>
          </p:cNvPicPr>
          <p:nvPr/>
        </p:nvPicPr>
        <p:blipFill>
          <a:blip r:embed="rId3"/>
          <a:stretch>
            <a:fillRect/>
          </a:stretch>
        </p:blipFill>
        <p:spPr>
          <a:xfrm>
            <a:off x="483870" y="5336540"/>
            <a:ext cx="5943600" cy="769620"/>
          </a:xfrm>
          <a:prstGeom prst="rect">
            <a:avLst/>
          </a:prstGeom>
        </p:spPr>
      </p:pic>
      <p:sp>
        <p:nvSpPr>
          <p:cNvPr id="13" name="文本框 12"/>
          <p:cNvSpPr txBox="1"/>
          <p:nvPr/>
        </p:nvSpPr>
        <p:spPr>
          <a:xfrm>
            <a:off x="6949440" y="5184140"/>
            <a:ext cx="3998595" cy="922020"/>
          </a:xfrm>
          <a:prstGeom prst="rect">
            <a:avLst/>
          </a:prstGeom>
          <a:noFill/>
        </p:spPr>
        <p:txBody>
          <a:bodyPr wrap="square" rtlCol="0" anchor="t">
            <a:spAutoFit/>
          </a:bodyPr>
          <a:p>
            <a:r>
              <a:rPr lang="en-US" altLang="zh-CN"/>
              <a:t>Extract the original test set data corresponding to X_test using the same random seed</a:t>
            </a:r>
            <a:endParaRPr lang="zh-CN" alt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60" y="-100330"/>
            <a:ext cx="11655425" cy="1336675"/>
          </a:xfrm>
        </p:spPr>
        <p:txBody>
          <a:bodyPr>
            <a:normAutofit fontScale="90000"/>
          </a:bodyPr>
          <a:lstStyle/>
          <a:p>
            <a:r>
              <a:rPr lang="en-US" altLang="zh-CN" sz="3110" b="1" dirty="0" smtClean="0"/>
              <a:t>Python: Simple construction of a long-short portfolio (under the decile framework, going long on the top 10% of returns and short on the bottom 10% of returns) and calculation of the Sharpe ratio (assuming a risk-free rate of 0).</a:t>
            </a:r>
            <a:endParaRPr lang="en-US" altLang="zh-CN" sz="3110" b="1" dirty="0" smtClean="0"/>
          </a:p>
        </p:txBody>
      </p:sp>
      <p:pic>
        <p:nvPicPr>
          <p:cNvPr id="3" name="图片 2"/>
          <p:cNvPicPr>
            <a:picLocks noChangeAspect="1"/>
          </p:cNvPicPr>
          <p:nvPr/>
        </p:nvPicPr>
        <p:blipFill>
          <a:blip r:embed="rId1"/>
          <a:stretch>
            <a:fillRect/>
          </a:stretch>
        </p:blipFill>
        <p:spPr>
          <a:xfrm>
            <a:off x="523240" y="1182370"/>
            <a:ext cx="4838700" cy="708660"/>
          </a:xfrm>
          <a:prstGeom prst="rect">
            <a:avLst/>
          </a:prstGeom>
        </p:spPr>
      </p:pic>
      <p:sp>
        <p:nvSpPr>
          <p:cNvPr id="4" name="文本框 3"/>
          <p:cNvSpPr txBox="1"/>
          <p:nvPr/>
        </p:nvSpPr>
        <p:spPr>
          <a:xfrm>
            <a:off x="5584825" y="1305560"/>
            <a:ext cx="6096000" cy="368300"/>
          </a:xfrm>
          <a:prstGeom prst="rect">
            <a:avLst/>
          </a:prstGeom>
          <a:noFill/>
        </p:spPr>
        <p:txBody>
          <a:bodyPr wrap="square" rtlCol="0" anchor="t">
            <a:spAutoFit/>
          </a:bodyPr>
          <a:p>
            <a:r>
              <a:rPr lang="en-US" altLang="zh-CN"/>
              <a:t>Predict on the test set and flatten the output</a:t>
            </a:r>
            <a:endParaRPr lang="zh-CN" altLang="en-US"/>
          </a:p>
        </p:txBody>
      </p:sp>
      <p:pic>
        <p:nvPicPr>
          <p:cNvPr id="8" name="图片 7"/>
          <p:cNvPicPr>
            <a:picLocks noChangeAspect="1"/>
          </p:cNvPicPr>
          <p:nvPr/>
        </p:nvPicPr>
        <p:blipFill>
          <a:blip r:embed="rId2"/>
          <a:stretch>
            <a:fillRect/>
          </a:stretch>
        </p:blipFill>
        <p:spPr>
          <a:xfrm>
            <a:off x="523240" y="2048510"/>
            <a:ext cx="2453640" cy="457200"/>
          </a:xfrm>
          <a:prstGeom prst="rect">
            <a:avLst/>
          </a:prstGeom>
        </p:spPr>
      </p:pic>
      <p:sp>
        <p:nvSpPr>
          <p:cNvPr id="9" name="文本框 8"/>
          <p:cNvSpPr txBox="1"/>
          <p:nvPr/>
        </p:nvSpPr>
        <p:spPr>
          <a:xfrm>
            <a:off x="3048000" y="2089785"/>
            <a:ext cx="6096000" cy="368300"/>
          </a:xfrm>
          <a:prstGeom prst="rect">
            <a:avLst/>
          </a:prstGeom>
          <a:noFill/>
        </p:spPr>
        <p:txBody>
          <a:bodyPr wrap="square" rtlCol="0" anchor="t">
            <a:spAutoFit/>
          </a:bodyPr>
          <a:p>
            <a:r>
              <a:rPr lang="en-US" altLang="zh-CN"/>
              <a:t>Add the predictions to the test DataFrame</a:t>
            </a:r>
            <a:endParaRPr lang="zh-CN" altLang="en-US"/>
          </a:p>
        </p:txBody>
      </p:sp>
      <p:pic>
        <p:nvPicPr>
          <p:cNvPr id="10" name="图片 9"/>
          <p:cNvPicPr>
            <a:picLocks noChangeAspect="1"/>
          </p:cNvPicPr>
          <p:nvPr/>
        </p:nvPicPr>
        <p:blipFill>
          <a:blip r:embed="rId3"/>
          <a:stretch>
            <a:fillRect/>
          </a:stretch>
        </p:blipFill>
        <p:spPr>
          <a:xfrm>
            <a:off x="358140" y="2761615"/>
            <a:ext cx="6195060" cy="274320"/>
          </a:xfrm>
          <a:prstGeom prst="rect">
            <a:avLst/>
          </a:prstGeom>
        </p:spPr>
      </p:pic>
      <p:sp>
        <p:nvSpPr>
          <p:cNvPr id="14" name="文本框 13"/>
          <p:cNvSpPr txBox="1"/>
          <p:nvPr/>
        </p:nvSpPr>
        <p:spPr>
          <a:xfrm>
            <a:off x="6661785" y="2524760"/>
            <a:ext cx="4391025" cy="645160"/>
          </a:xfrm>
          <a:prstGeom prst="rect">
            <a:avLst/>
          </a:prstGeom>
          <a:noFill/>
        </p:spPr>
        <p:txBody>
          <a:bodyPr wrap="square" rtlCol="0" anchor="t">
            <a:spAutoFit/>
          </a:bodyPr>
          <a:p>
            <a:r>
              <a:rPr lang="en-US" altLang="zh-CN"/>
              <a:t>Divide the predictions into 10 quantile groups for each month</a:t>
            </a:r>
            <a:endParaRPr lang="zh-CN" altLang="en-US"/>
          </a:p>
        </p:txBody>
      </p:sp>
      <p:pic>
        <p:nvPicPr>
          <p:cNvPr id="15" name="图片 14"/>
          <p:cNvPicPr>
            <a:picLocks noChangeAspect="1"/>
          </p:cNvPicPr>
          <p:nvPr/>
        </p:nvPicPr>
        <p:blipFill>
          <a:blip r:embed="rId4"/>
          <a:stretch>
            <a:fillRect/>
          </a:stretch>
        </p:blipFill>
        <p:spPr>
          <a:xfrm>
            <a:off x="309245" y="3244850"/>
            <a:ext cx="6370320" cy="937260"/>
          </a:xfrm>
          <a:prstGeom prst="rect">
            <a:avLst/>
          </a:prstGeom>
        </p:spPr>
      </p:pic>
      <p:sp>
        <p:nvSpPr>
          <p:cNvPr id="16" name="文本框 15"/>
          <p:cNvSpPr txBox="1"/>
          <p:nvPr/>
        </p:nvSpPr>
        <p:spPr>
          <a:xfrm>
            <a:off x="6895465" y="3225165"/>
            <a:ext cx="4173220" cy="922020"/>
          </a:xfrm>
          <a:prstGeom prst="rect">
            <a:avLst/>
          </a:prstGeom>
          <a:noFill/>
        </p:spPr>
        <p:txBody>
          <a:bodyPr wrap="square" rtlCol="0" anchor="t">
            <a:spAutoFit/>
          </a:bodyPr>
          <a:p>
            <a:r>
              <a:rPr lang="en-US" altLang="zh-CN"/>
              <a:t>Compute the monthly average predicted return (Mean_Pred) and actual excess return (Mean_Actual) per quantile</a:t>
            </a:r>
            <a:endParaRPr lang="zh-CN" altLang="en-US"/>
          </a:p>
        </p:txBody>
      </p:sp>
      <p:pic>
        <p:nvPicPr>
          <p:cNvPr id="17" name="图片 16"/>
          <p:cNvPicPr>
            <a:picLocks noChangeAspect="1"/>
          </p:cNvPicPr>
          <p:nvPr/>
        </p:nvPicPr>
        <p:blipFill>
          <a:blip r:embed="rId5"/>
          <a:stretch>
            <a:fillRect/>
          </a:stretch>
        </p:blipFill>
        <p:spPr>
          <a:xfrm>
            <a:off x="327660" y="4330700"/>
            <a:ext cx="4518660" cy="891540"/>
          </a:xfrm>
          <a:prstGeom prst="rect">
            <a:avLst/>
          </a:prstGeom>
        </p:spPr>
      </p:pic>
      <p:sp>
        <p:nvSpPr>
          <p:cNvPr id="18" name="文本框 17"/>
          <p:cNvSpPr txBox="1"/>
          <p:nvPr/>
        </p:nvSpPr>
        <p:spPr>
          <a:xfrm>
            <a:off x="4980305" y="4410710"/>
            <a:ext cx="3140710" cy="645160"/>
          </a:xfrm>
          <a:prstGeom prst="rect">
            <a:avLst/>
          </a:prstGeom>
          <a:noFill/>
        </p:spPr>
        <p:txBody>
          <a:bodyPr wrap="square" rtlCol="0" anchor="t">
            <a:spAutoFit/>
          </a:bodyPr>
          <a:p>
            <a:r>
              <a:rPr lang="en-US" altLang="zh-CN"/>
              <a:t>Compute overall averages for each quantile across all months</a:t>
            </a:r>
            <a:endParaRPr lang="zh-CN" altLang="en-US"/>
          </a:p>
        </p:txBody>
      </p:sp>
      <p:pic>
        <p:nvPicPr>
          <p:cNvPr id="19" name="图片 18"/>
          <p:cNvPicPr>
            <a:picLocks noChangeAspect="1"/>
          </p:cNvPicPr>
          <p:nvPr/>
        </p:nvPicPr>
        <p:blipFill>
          <a:blip r:embed="rId6"/>
          <a:stretch>
            <a:fillRect/>
          </a:stretch>
        </p:blipFill>
        <p:spPr>
          <a:xfrm>
            <a:off x="191135" y="5460365"/>
            <a:ext cx="6789420" cy="1112520"/>
          </a:xfrm>
          <a:prstGeom prst="rect">
            <a:avLst/>
          </a:prstGeom>
        </p:spPr>
      </p:pic>
      <p:sp>
        <p:nvSpPr>
          <p:cNvPr id="20" name="文本框 19"/>
          <p:cNvSpPr txBox="1"/>
          <p:nvPr/>
        </p:nvSpPr>
        <p:spPr>
          <a:xfrm>
            <a:off x="7111365" y="5535295"/>
            <a:ext cx="4785360" cy="922020"/>
          </a:xfrm>
          <a:prstGeom prst="rect">
            <a:avLst/>
          </a:prstGeom>
          <a:noFill/>
        </p:spPr>
        <p:txBody>
          <a:bodyPr wrap="square" rtlCol="0" anchor="t">
            <a:spAutoFit/>
          </a:bodyPr>
          <a:p>
            <a:r>
              <a:rPr lang="en-US" altLang="zh-CN"/>
              <a:t>Compute the mean and standard deviation for each quantile and rename the columns accordingly</a:t>
            </a:r>
            <a:endParaRPr lang="zh-CN" altLang="en-US"/>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60" y="-100330"/>
            <a:ext cx="11655425" cy="1336675"/>
          </a:xfrm>
        </p:spPr>
        <p:txBody>
          <a:bodyPr>
            <a:normAutofit fontScale="90000"/>
          </a:bodyPr>
          <a:lstStyle/>
          <a:p>
            <a:r>
              <a:rPr lang="en-US" altLang="zh-CN" sz="3110" b="1" dirty="0" smtClean="0"/>
              <a:t>Python: Simple construction of a long-short portfolio (under the decile framework, going long on the top 10% of returns and short on the bottom 10% of returns) and calculation of the Sharpe ratio (assuming a risk-free rate of 0).</a:t>
            </a:r>
            <a:endParaRPr lang="en-US" altLang="zh-CN" sz="3110" b="1" dirty="0" smtClean="0"/>
          </a:p>
        </p:txBody>
      </p:sp>
      <p:pic>
        <p:nvPicPr>
          <p:cNvPr id="5" name="图片 4"/>
          <p:cNvPicPr>
            <a:picLocks noChangeAspect="1"/>
          </p:cNvPicPr>
          <p:nvPr/>
        </p:nvPicPr>
        <p:blipFill>
          <a:blip r:embed="rId1"/>
          <a:stretch>
            <a:fillRect/>
          </a:stretch>
        </p:blipFill>
        <p:spPr>
          <a:xfrm>
            <a:off x="358140" y="1141095"/>
            <a:ext cx="8816340" cy="510540"/>
          </a:xfrm>
          <a:prstGeom prst="rect">
            <a:avLst/>
          </a:prstGeom>
        </p:spPr>
      </p:pic>
      <p:sp>
        <p:nvSpPr>
          <p:cNvPr id="6" name="文本框 5"/>
          <p:cNvSpPr txBox="1"/>
          <p:nvPr/>
        </p:nvSpPr>
        <p:spPr>
          <a:xfrm>
            <a:off x="9325610" y="979805"/>
            <a:ext cx="1706880" cy="922020"/>
          </a:xfrm>
          <a:prstGeom prst="rect">
            <a:avLst/>
          </a:prstGeom>
          <a:noFill/>
        </p:spPr>
        <p:txBody>
          <a:bodyPr wrap="square" rtlCol="0" anchor="t">
            <a:spAutoFit/>
          </a:bodyPr>
          <a:p>
            <a:r>
              <a:rPr lang="en-US" altLang="zh-CN"/>
              <a:t>Compute the Sharpe ratio for each quantile</a:t>
            </a:r>
            <a:endParaRPr lang="zh-CN" altLang="en-US"/>
          </a:p>
        </p:txBody>
      </p:sp>
      <p:pic>
        <p:nvPicPr>
          <p:cNvPr id="7" name="图片 6"/>
          <p:cNvPicPr>
            <a:picLocks noChangeAspect="1"/>
          </p:cNvPicPr>
          <p:nvPr/>
        </p:nvPicPr>
        <p:blipFill>
          <a:blip r:embed="rId2"/>
          <a:stretch>
            <a:fillRect/>
          </a:stretch>
        </p:blipFill>
        <p:spPr>
          <a:xfrm>
            <a:off x="358140" y="1850390"/>
            <a:ext cx="6187440" cy="510540"/>
          </a:xfrm>
          <a:prstGeom prst="rect">
            <a:avLst/>
          </a:prstGeom>
        </p:spPr>
      </p:pic>
      <p:sp>
        <p:nvSpPr>
          <p:cNvPr id="11" name="文本框 10"/>
          <p:cNvSpPr txBox="1"/>
          <p:nvPr/>
        </p:nvSpPr>
        <p:spPr>
          <a:xfrm>
            <a:off x="6726555" y="1742440"/>
            <a:ext cx="3572510" cy="922020"/>
          </a:xfrm>
          <a:prstGeom prst="rect">
            <a:avLst/>
          </a:prstGeom>
          <a:noFill/>
        </p:spPr>
        <p:txBody>
          <a:bodyPr wrap="square" rtlCol="0" anchor="t">
            <a:spAutoFit/>
          </a:bodyPr>
          <a:p>
            <a:r>
              <a:rPr lang="en-US" altLang="zh-CN"/>
              <a:t>Sort the quantile groups by Mean_Pred and reassign new labels from 1 to 10</a:t>
            </a:r>
            <a:endParaRPr lang="zh-CN" altLang="en-US"/>
          </a:p>
        </p:txBody>
      </p:sp>
      <p:pic>
        <p:nvPicPr>
          <p:cNvPr id="12" name="图片 11"/>
          <p:cNvPicPr>
            <a:picLocks noChangeAspect="1"/>
          </p:cNvPicPr>
          <p:nvPr/>
        </p:nvPicPr>
        <p:blipFill>
          <a:blip r:embed="rId3"/>
          <a:stretch>
            <a:fillRect/>
          </a:stretch>
        </p:blipFill>
        <p:spPr>
          <a:xfrm>
            <a:off x="254635" y="2623185"/>
            <a:ext cx="7124700" cy="1767840"/>
          </a:xfrm>
          <a:prstGeom prst="rect">
            <a:avLst/>
          </a:prstGeom>
        </p:spPr>
      </p:pic>
      <p:sp>
        <p:nvSpPr>
          <p:cNvPr id="13" name="文本框 12"/>
          <p:cNvSpPr txBox="1"/>
          <p:nvPr/>
        </p:nvSpPr>
        <p:spPr>
          <a:xfrm>
            <a:off x="7687945" y="2907665"/>
            <a:ext cx="3216275" cy="1198880"/>
          </a:xfrm>
          <a:prstGeom prst="rect">
            <a:avLst/>
          </a:prstGeom>
          <a:noFill/>
        </p:spPr>
        <p:txBody>
          <a:bodyPr wrap="square" rtlCol="0" anchor="t">
            <a:spAutoFit/>
          </a:bodyPr>
          <a:p>
            <a:r>
              <a:rPr lang="en-US" altLang="zh-CN"/>
              <a:t>Compute the overall long-short portfolio return as the difference between the highest and lowest quantile means</a:t>
            </a:r>
            <a:endParaRPr lang="zh-CN" altLang="en-US"/>
          </a:p>
        </p:txBody>
      </p:sp>
      <p:pic>
        <p:nvPicPr>
          <p:cNvPr id="21" name="图片 20"/>
          <p:cNvPicPr>
            <a:picLocks noChangeAspect="1"/>
          </p:cNvPicPr>
          <p:nvPr/>
        </p:nvPicPr>
        <p:blipFill>
          <a:blip r:embed="rId4"/>
          <a:stretch>
            <a:fillRect/>
          </a:stretch>
        </p:blipFill>
        <p:spPr>
          <a:xfrm>
            <a:off x="230505" y="4526280"/>
            <a:ext cx="6987540" cy="2194560"/>
          </a:xfrm>
          <a:prstGeom prst="rect">
            <a:avLst/>
          </a:prstGeom>
        </p:spPr>
      </p:pic>
      <p:sp>
        <p:nvSpPr>
          <p:cNvPr id="22" name="文本框 21"/>
          <p:cNvSpPr txBox="1"/>
          <p:nvPr/>
        </p:nvSpPr>
        <p:spPr>
          <a:xfrm>
            <a:off x="7513955" y="4769485"/>
            <a:ext cx="4347210" cy="1476375"/>
          </a:xfrm>
          <a:prstGeom prst="rect">
            <a:avLst/>
          </a:prstGeom>
          <a:noFill/>
        </p:spPr>
        <p:txBody>
          <a:bodyPr wrap="square" rtlCol="0" anchor="t">
            <a:spAutoFit/>
          </a:bodyPr>
          <a:p>
            <a:r>
              <a:rPr lang="en-US" altLang="zh-CN"/>
              <a:t>Compute the long-short portfolio standard deviation as sqrt((SD of highest quantile)^2 + (SD of lowest quantile)^2)</a:t>
            </a:r>
            <a:endParaRPr lang="en-US" altLang="zh-CN"/>
          </a:p>
          <a:p>
            <a:r>
              <a:rPr lang="en-US" altLang="zh-CN"/>
              <a:t>Then compute the portfolio Sharpe ratio as the mean divided by the computed SD</a:t>
            </a:r>
            <a:endParaRPr lang="en-US" altLang="zh-CN"/>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3995"/>
            <a:ext cx="10515600" cy="1325563"/>
          </a:xfrm>
        </p:spPr>
        <p:txBody>
          <a:bodyPr>
            <a:normAutofit/>
          </a:bodyPr>
          <a:lstStyle/>
          <a:p>
            <a:r>
              <a:rPr lang="en-US" sz="3600" b="1" dirty="0" smtClean="0"/>
              <a:t>Summary</a:t>
            </a:r>
            <a:endParaRPr lang="en-US" sz="3600" dirty="0"/>
          </a:p>
        </p:txBody>
      </p:sp>
      <p:sp>
        <p:nvSpPr>
          <p:cNvPr id="3" name="Content Placeholder 2"/>
          <p:cNvSpPr>
            <a:spLocks noGrp="1"/>
          </p:cNvSpPr>
          <p:nvPr>
            <p:ph idx="1"/>
          </p:nvPr>
        </p:nvSpPr>
        <p:spPr>
          <a:xfrm>
            <a:off x="838200" y="626110"/>
            <a:ext cx="10515600" cy="6095365"/>
          </a:xfrm>
        </p:spPr>
        <p:txBody>
          <a:bodyPr>
            <a:normAutofit fontScale="55000"/>
          </a:bodyPr>
          <a:lstStyle/>
          <a:p>
            <a:r>
              <a:rPr lang="en-US" sz="2400" dirty="0" smtClean="0">
                <a:solidFill>
                  <a:srgbClr val="26927D"/>
                </a:solidFill>
              </a:rPr>
              <a:t>Model construction</a:t>
            </a:r>
            <a:endParaRPr lang="en-US" sz="2400" dirty="0" smtClean="0">
              <a:solidFill>
                <a:srgbClr val="26927D"/>
              </a:solidFill>
            </a:endParaRPr>
          </a:p>
          <a:p>
            <a:pPr marL="0" indent="0">
              <a:buNone/>
            </a:pPr>
            <a:r>
              <a:rPr lang="en-US" sz="2400" dirty="0" smtClean="0">
                <a:sym typeface="+mn-ea"/>
              </a:rPr>
              <a:t>1)  The first step is to formulate a general function for the target, which can be based on relevant theories or existing literature.</a:t>
            </a:r>
            <a:endParaRPr lang="en-US" sz="2400" dirty="0" smtClean="0"/>
          </a:p>
          <a:p>
            <a:pPr marL="0" indent="0">
              <a:buNone/>
            </a:pPr>
            <a:r>
              <a:rPr lang="en-US" sz="2400" dirty="0" smtClean="0">
                <a:sym typeface="+mn-ea"/>
              </a:rPr>
              <a:t>2)  The second step is to concretely define the general function, again referencing existing literature.</a:t>
            </a:r>
            <a:endParaRPr lang="en-US" sz="2400" dirty="0" smtClean="0">
              <a:solidFill>
                <a:srgbClr val="26927D"/>
              </a:solidFill>
            </a:endParaRPr>
          </a:p>
          <a:p>
            <a:r>
              <a:rPr lang="en-US" sz="2400" dirty="0" smtClean="0">
                <a:solidFill>
                  <a:srgbClr val="26927D"/>
                </a:solidFill>
              </a:rPr>
              <a:t>Performance evaluation</a:t>
            </a:r>
            <a:endParaRPr lang="en-US" sz="2400" dirty="0" smtClean="0">
              <a:solidFill>
                <a:srgbClr val="26927D"/>
              </a:solidFill>
            </a:endParaRPr>
          </a:p>
          <a:p>
            <a:pPr marL="0" indent="0">
              <a:buNone/>
            </a:pPr>
            <a:r>
              <a:rPr lang="en-US" sz="2400" dirty="0" smtClean="0"/>
              <a:t>1) Evaluating Model's Predictive Power: The first step is to assess the model’s predictive power itself (for example, in this paper, out-of-sample               statistics are used, comparing the error between predicted and actual values to measure prediction accuracy. </a:t>
            </a:r>
            <a:endParaRPr lang="en-US" sz="2400" dirty="0" smtClean="0"/>
          </a:p>
          <a:p>
            <a:pPr marL="0" indent="0">
              <a:buNone/>
            </a:pPr>
            <a:r>
              <a:rPr lang="en-US" sz="2400" dirty="0" smtClean="0">
                <a:sym typeface="+mn-ea"/>
              </a:rPr>
              <a:t>2)</a:t>
            </a:r>
            <a:r>
              <a:rPr lang="en-US" sz="2400" dirty="0" smtClean="0"/>
              <a:t> Comparing with Other Models: The third step is to compare the new model’s capabilities with those of other models (in this study, the modified Diebold and Mariano (DM) test is used, which measures the ratio of the mean squared prediction error difference to its standard error to compare the predictive ability of different models).</a:t>
            </a:r>
            <a:endParaRPr lang="en-US" sz="2400" dirty="0" smtClean="0"/>
          </a:p>
          <a:p>
            <a:r>
              <a:rPr lang="en-US" sz="2400" dirty="0" smtClean="0">
                <a:solidFill>
                  <a:srgbClr val="26927D"/>
                </a:solidFill>
              </a:rPr>
              <a:t>Empirical results</a:t>
            </a:r>
            <a:endParaRPr lang="en-US" sz="2400" dirty="0" smtClean="0">
              <a:solidFill>
                <a:srgbClr val="26927D"/>
              </a:solidFill>
            </a:endParaRPr>
          </a:p>
          <a:p>
            <a:pPr marL="0" indent="0">
              <a:buNone/>
            </a:pPr>
            <a:r>
              <a:rPr lang="en-US" sz="2400" dirty="0" smtClean="0">
                <a:sym typeface="+mn-ea"/>
              </a:rPr>
              <a:t>1) </a:t>
            </a:r>
            <a:r>
              <a:rPr lang="en-US" sz="2400" dirty="0" smtClean="0"/>
              <a:t>Machine learning models substantially outperform traditional regression-based methods in predicting both individual stock returns and portfolio returns.</a:t>
            </a:r>
            <a:endParaRPr lang="en-US" sz="2400" dirty="0" smtClean="0"/>
          </a:p>
          <a:p>
            <a:pPr marL="0" indent="0">
              <a:buNone/>
            </a:pPr>
            <a:r>
              <a:rPr lang="en-US" sz="2400" dirty="0" smtClean="0">
                <a:sym typeface="+mn-ea"/>
              </a:rPr>
              <a:t>2) </a:t>
            </a:r>
            <a:r>
              <a:rPr lang="en-US" sz="2400" dirty="0" smtClean="0"/>
              <a:t>Neural networks and tree-based models (gradient boosted regression trees and random forests) consistently provide the highest predictive accuracy due to their ability to capture nonlinear relationships and interactions among predictors.</a:t>
            </a:r>
            <a:endParaRPr lang="en-US" sz="2400" dirty="0" smtClean="0"/>
          </a:p>
          <a:p>
            <a:pPr marL="0" indent="0">
              <a:buNone/>
            </a:pPr>
            <a:r>
              <a:rPr lang="en-US" sz="2400" dirty="0" smtClean="0">
                <a:sym typeface="+mn-ea"/>
              </a:rPr>
              <a:t>3) </a:t>
            </a:r>
            <a:r>
              <a:rPr lang="en-US" sz="2400" dirty="0" smtClean="0"/>
              <a:t>Penalized linear models (Elastic Net, PCR, and PLS) mitigate overfitting in high-dimensional settings but underperform nonlinear methods in predictive accuracy.</a:t>
            </a:r>
            <a:endParaRPr lang="en-US" altLang="zh-CN"/>
          </a:p>
          <a:p>
            <a:pPr marL="0" indent="0">
              <a:buNone/>
            </a:pPr>
            <a:r>
              <a:rPr lang="en-US" sz="2400" dirty="0" smtClean="0">
                <a:sym typeface="+mn-ea"/>
              </a:rPr>
              <a:t>4) </a:t>
            </a:r>
            <a:r>
              <a:rPr lang="en-US" sz="2400" dirty="0" smtClean="0"/>
              <a:t>Neural networks with 3 hidden layers (NN3) provide the best balance between model complexity and predictive power, surpassing deeper networks like NN4 and NN5.</a:t>
            </a:r>
            <a:endParaRPr lang="en-US" sz="2400" dirty="0" smtClean="0"/>
          </a:p>
          <a:p>
            <a:pPr marL="0" indent="0">
              <a:buNone/>
            </a:pPr>
            <a:r>
              <a:rPr lang="en-US" sz="2400" dirty="0" smtClean="0">
                <a:sym typeface="+mn-ea"/>
              </a:rPr>
              <a:t>5) </a:t>
            </a:r>
            <a:r>
              <a:rPr lang="en-US" sz="2400" dirty="0" smtClean="0"/>
              <a:t>Across all models, a common set of dominant predictors emerges:</a:t>
            </a:r>
            <a:endParaRPr lang="en-US" sz="2400" dirty="0" smtClean="0"/>
          </a:p>
          <a:p>
            <a:pPr marL="0" indent="0">
              <a:buNone/>
            </a:pPr>
            <a:r>
              <a:rPr lang="en-US" sz="2400" dirty="0" smtClean="0"/>
              <a:t>Momentum and Reversal: Stock and industry momentum, short-term and long-term reversals.</a:t>
            </a:r>
            <a:endParaRPr lang="en-US" sz="2400" dirty="0" smtClean="0"/>
          </a:p>
          <a:p>
            <a:pPr marL="0" indent="0">
              <a:buNone/>
            </a:pPr>
            <a:r>
              <a:rPr lang="en-US" sz="2400" dirty="0" smtClean="0"/>
              <a:t>Risk Measures: Volatility, beta, and idiosyncratic risk.</a:t>
            </a:r>
            <a:endParaRPr lang="en-US" sz="2400" dirty="0" smtClean="0"/>
          </a:p>
          <a:p>
            <a:pPr marL="0" indent="0">
              <a:buNone/>
            </a:pPr>
            <a:r>
              <a:rPr lang="en-US" sz="2400" dirty="0" smtClean="0"/>
              <a:t>Liquidity Metrics: Turnover, Amihud illiquidity, and bid-ask spreads.</a:t>
            </a:r>
            <a:endParaRPr lang="en-US" sz="2400" dirty="0" smtClean="0"/>
          </a:p>
          <a:p>
            <a:pPr marL="0" indent="0">
              <a:buNone/>
            </a:pPr>
            <a:endParaRPr lang="en-US" sz="2400" dirty="0" smtClean="0"/>
          </a:p>
          <a:p>
            <a:pPr marL="0" indent="0">
              <a:buNone/>
            </a:pPr>
            <a:endParaRPr lang="en-US" sz="2400" dirty="0" smtClean="0"/>
          </a:p>
        </p:txBody>
      </p:sp>
      <p:sp>
        <p:nvSpPr>
          <p:cNvPr id="4" name="Slide Number Placeholder 3"/>
          <p:cNvSpPr>
            <a:spLocks noGrp="1"/>
          </p:cNvSpPr>
          <p:nvPr>
            <p:ph type="sldNum" sz="quarter" idx="12"/>
          </p:nvPr>
        </p:nvSpPr>
        <p:spPr/>
        <p:txBody>
          <a:bodyPr/>
          <a:lstStyle/>
          <a:p>
            <a:fld id="{107D843B-1DED-40DC-AF70-C1B4F17B1EA6}" type="slidenum">
              <a:rPr lang="en-US" smtClean="0"/>
            </a:fld>
            <a:endParaRPr lang="en-US"/>
          </a:p>
        </p:txBody>
      </p:sp>
      <p:pic>
        <p:nvPicPr>
          <p:cNvPr id="5" name="图片 4"/>
          <p:cNvPicPr>
            <a:picLocks noChangeAspect="1"/>
          </p:cNvPicPr>
          <p:nvPr/>
        </p:nvPicPr>
        <p:blipFill>
          <a:blip r:embed="rId1"/>
          <a:stretch>
            <a:fillRect/>
          </a:stretch>
        </p:blipFill>
        <p:spPr>
          <a:xfrm>
            <a:off x="10477500" y="1816735"/>
            <a:ext cx="342900" cy="289560"/>
          </a:xfrm>
          <a:prstGeom prst="rect">
            <a:avLst/>
          </a:prstGeom>
        </p:spPr>
      </p:pic>
      <p:sp>
        <p:nvSpPr>
          <p:cNvPr id="6" name="文本框 5"/>
          <p:cNvSpPr txBox="1"/>
          <p:nvPr/>
        </p:nvSpPr>
        <p:spPr>
          <a:xfrm>
            <a:off x="827405" y="6421120"/>
            <a:ext cx="8197850" cy="275590"/>
          </a:xfrm>
          <a:prstGeom prst="rect">
            <a:avLst/>
          </a:prstGeom>
        </p:spPr>
        <p:txBody>
          <a:bodyPr wrap="square">
            <a:spAutoFit/>
          </a:bodyPr>
          <a:p>
            <a:r>
              <a:rPr lang="en-US" altLang="zh-CN" sz="1200"/>
              <a:t>Valuation and Fundamentals: Earnings-to-price, sales-to-price, and asset growth.</a:t>
            </a:r>
            <a:endParaRPr lang="en-US" altLang="zh-CN" sz="120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Problem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Question 1 </a:t>
            </a:r>
            <a:r>
              <a:rPr lang="en-US" altLang="zh-CN" sz="1540" dirty="0">
                <a:latin typeface="Calibri Light" panose="020F0302020204030204"/>
                <a:ea typeface="Calibri Light" panose="020F0302020204030204"/>
                <a:cs typeface="Calibri Light" panose="020F0302020204030204"/>
              </a:rPr>
              <a:t>Train various regression and machine learning models using the generated dataset, referencing the code snippet, to predict future stock excess returns. Specifically:</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an OLS regression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an extension of the OLS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variant of the OLS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an Elastic Net Regression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Principal Component Regression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Partial Least Squares Regression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Generalized Linear Regression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Random Forest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Boosted Regression Trees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Neural Network model.</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Question 2: Evaluate the predictive performance of all the above models using the standard out-of-sample R</a:t>
            </a:r>
            <a:r>
              <a:rPr lang="en-US" altLang="zh-CN" sz="1540" baseline="30000" dirty="0">
                <a:latin typeface="Calibri Light" panose="020F0302020204030204"/>
                <a:ea typeface="Calibri Light" panose="020F0302020204030204"/>
                <a:cs typeface="Calibri Light" panose="020F0302020204030204"/>
              </a:rPr>
              <a:t>2</a:t>
            </a:r>
            <a:r>
              <a:rPr lang="en-US" altLang="zh-CN" sz="1540" dirty="0">
                <a:latin typeface="Calibri Light" panose="020F0302020204030204"/>
                <a:ea typeface="Calibri Light" panose="020F0302020204030204"/>
                <a:cs typeface="Calibri Light" panose="020F0302020204030204"/>
              </a:rPr>
              <a:t> statistic. Compare the predictive ability of different models pairwise using the Diebold-Mariano (DM) test statistic.</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Question 3: </a:t>
            </a:r>
            <a:r>
              <a:rPr lang="en-US" altLang="zh-CN" sz="1540" dirty="0">
                <a:latin typeface="Calibri Light" panose="020F0302020204030204"/>
                <a:ea typeface="Calibri Light" panose="020F0302020204030204"/>
                <a:cs typeface="Calibri Light" panose="020F0302020204030204"/>
              </a:rPr>
              <a:t>Compute the importance of different feature variables across the aforementioned models using Variable Importance and Sum of Squared Deviations (SSD).</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Question 4: </a:t>
            </a:r>
            <a:r>
              <a:rPr lang="en-US" altLang="zh-CN" sz="1540" dirty="0">
                <a:latin typeface="Calibri Light" panose="020F0302020204030204"/>
                <a:ea typeface="Calibri Light" panose="020F0302020204030204"/>
                <a:cs typeface="Calibri Light" panose="020F0302020204030204"/>
              </a:rPr>
              <a:t>Based on the predicted returns, sort and generate deciles. Under the decile framework, construct a portfolio that goes long on the top 10% of returns and short on the bottom 10% (assuming a risk-free rate of 0), then calculate its Sharpe ratio and compare it with the actual Sharpe ratio.</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a:t>
            </a:r>
            <a:endParaRPr lang="zh-CN" altLang="en-US"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Tree>
  </p:cSld>
  <p:clrMapOvr>
    <a:masterClrMapping/>
  </p:clrMapOvr>
</p:sld>
</file>

<file path=ppt/tags/tag1.xml><?xml version="1.0" encoding="utf-8"?>
<p:tagLst xmlns:p="http://schemas.openxmlformats.org/presentationml/2006/main">
  <p:tag name="TABLE_ENDDRAG_ORIGIN_RECT" val="873*192"/>
  <p:tag name="TABLE_ENDDRAG_RECT" val="40*143*873*192"/>
</p:tagLst>
</file>

<file path=ppt/tags/tag2.xml><?xml version="1.0" encoding="utf-8"?>
<p:tagLst xmlns:p="http://schemas.openxmlformats.org/presentationml/2006/main">
  <p:tag name="commondata" val="eyJoZGlkIjoiOThlYjZkZWY1NWZjY2Q2ZmJhODJlNWM0NTJkYTVmZmE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61453</Words>
  <Application>WPS 演示</Application>
  <PresentationFormat>Widescreen</PresentationFormat>
  <Paragraphs>2368</Paragraphs>
  <Slides>77</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77</vt:i4>
      </vt:variant>
    </vt:vector>
  </HeadingPairs>
  <TitlesOfParts>
    <vt:vector size="90" baseType="lpstr">
      <vt:lpstr>Arial</vt:lpstr>
      <vt:lpstr>宋体</vt:lpstr>
      <vt:lpstr>Wingdings</vt:lpstr>
      <vt:lpstr>Arial</vt:lpstr>
      <vt:lpstr>Calibri</vt:lpstr>
      <vt:lpstr>Calibri Light</vt:lpstr>
      <vt:lpstr>微软雅黑</vt:lpstr>
      <vt:lpstr>Arial Unicode MS</vt:lpstr>
      <vt:lpstr>Times-Roman</vt:lpstr>
      <vt:lpstr>Times New Roman</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Theoretical Foundation</vt:lpstr>
      <vt:lpstr>Most general form</vt:lpstr>
      <vt:lpstr>                                           Methods considered</vt:lpstr>
      <vt:lpstr>                                            OLS Regression</vt:lpstr>
      <vt:lpstr>PowerPoint 演示文稿</vt:lpstr>
      <vt:lpstr>PowerPoint 演示文稿</vt:lpstr>
      <vt:lpstr>PowerPoint 演示文稿</vt:lpstr>
      <vt:lpstr>PowerPoint 演示文稿</vt:lpstr>
      <vt:lpstr>                                          an extension of OLS</vt:lpstr>
      <vt:lpstr>PowerPoint 演示文稿</vt:lpstr>
      <vt:lpstr>PowerPoint 演示文稿</vt:lpstr>
      <vt:lpstr>PowerPoint 演示文稿</vt:lpstr>
      <vt:lpstr>                                        a variant of OLS</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Assessing predictive power</vt:lpstr>
      <vt:lpstr>The computed results of the standard out-of-sample R2 statistic in the generated sample data</vt:lpstr>
      <vt:lpstr>The computed results of the standard out-of-sample R2  statistic in the paper</vt:lpstr>
      <vt:lpstr>Forecast comparison </vt:lpstr>
      <vt:lpstr>Forecast comparison </vt:lpstr>
      <vt:lpstr>The calculation results of the Diebold and Mariano test statistic in the generated sample data</vt:lpstr>
      <vt:lpstr>The calculation results of the Diebold and Mariano test statistic in the paper</vt:lpstr>
      <vt:lpstr>Variable Importance and Marginal Relationships</vt:lpstr>
      <vt:lpstr>The Results of the Variable Importance in the generated sample data</vt:lpstr>
      <vt:lpstr>The Results of SSD in the generated sample data</vt:lpstr>
      <vt:lpstr>The Results of the Variable Importance in the paper</vt:lpstr>
      <vt:lpstr>The Results of the Variable Importance in the paper</vt:lpstr>
      <vt:lpstr>The Results of the Variable Importance in the paper</vt:lpstr>
      <vt:lpstr>The Results of the Sum of Squared Derivatives (SSD) in the paper</vt:lpstr>
      <vt:lpstr>Performance of the machine learning portfolios</vt:lpstr>
      <vt:lpstr>Performance of the machine learning portfolios</vt:lpstr>
      <vt:lpstr>Performance of the machine learning portfolios</vt:lpstr>
      <vt:lpstr>Performance of the machine learning portfolios</vt:lpstr>
      <vt:lpstr>Performance of the machine learning portfolios</vt:lpstr>
      <vt:lpstr>Python: Simple construction of a long-short portfolio and calculation of the Sharpe ratio (assuming a risk-free rate of 0).</vt:lpstr>
      <vt:lpstr>Python: Simple construction of a long-short portfolio and calculation of the Sharpe ratio (assuming a risk-free rate of 0).</vt:lpstr>
      <vt:lpstr>Summary</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Distributionally Robust End-to-End Portfolio Construction</dc:title>
  <dc:creator>Microsoft account</dc:creator>
  <cp:lastModifiedBy>LTTW</cp:lastModifiedBy>
  <cp:revision>1241</cp:revision>
  <dcterms:created xsi:type="dcterms:W3CDTF">2024-06-15T00:58:00Z</dcterms:created>
  <dcterms:modified xsi:type="dcterms:W3CDTF">2025-03-21T08:06:06Z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D32AB9186B2443CAA78B651025CA5797_12</vt:lpwstr>
  </property>
  <property fmtid="{D5CDD505-2E9C-101B-9397-08002B2CF9AE}" pid="3" name="KSOProductBuildVer">
    <vt:lpwstr>2052-12.1.0.20305</vt:lpwstr>
  </property>
</Properties>
</file>