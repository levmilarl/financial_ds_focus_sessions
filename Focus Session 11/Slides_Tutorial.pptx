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468" r:id="rId2"/>
    <p:sldId id="469" r:id="rId3"/>
    <p:sldId id="470" r:id="rId4"/>
    <p:sldId id="472" r:id="rId5"/>
    <p:sldId id="474" r:id="rId6"/>
    <p:sldId id="519" r:id="rId7"/>
    <p:sldId id="475" r:id="rId8"/>
    <p:sldId id="520" r:id="rId9"/>
    <p:sldId id="258" r:id="rId10"/>
    <p:sldId id="522" r:id="rId11"/>
    <p:sldId id="524" r:id="rId12"/>
    <p:sldId id="738" r:id="rId13"/>
    <p:sldId id="740" r:id="rId14"/>
    <p:sldId id="834" r:id="rId15"/>
    <p:sldId id="885" r:id="rId16"/>
    <p:sldId id="525" r:id="rId17"/>
    <p:sldId id="742" r:id="rId18"/>
    <p:sldId id="743" r:id="rId19"/>
    <p:sldId id="886" r:id="rId20"/>
    <p:sldId id="527" r:id="rId21"/>
    <p:sldId id="835" r:id="rId22"/>
    <p:sldId id="887" r:id="rId23"/>
    <p:sldId id="531" r:id="rId24"/>
    <p:sldId id="836" r:id="rId25"/>
    <p:sldId id="777" r:id="rId26"/>
    <p:sldId id="888" r:id="rId27"/>
    <p:sldId id="532" r:id="rId28"/>
    <p:sldId id="535" r:id="rId29"/>
    <p:sldId id="536" r:id="rId30"/>
    <p:sldId id="537" r:id="rId31"/>
    <p:sldId id="838" r:id="rId32"/>
    <p:sldId id="839" r:id="rId33"/>
    <p:sldId id="889" r:id="rId34"/>
    <p:sldId id="890" r:id="rId35"/>
    <p:sldId id="538" r:id="rId36"/>
    <p:sldId id="539" r:id="rId37"/>
    <p:sldId id="572" r:id="rId38"/>
    <p:sldId id="780" r:id="rId39"/>
    <p:sldId id="840" r:id="rId40"/>
    <p:sldId id="891" r:id="rId41"/>
    <p:sldId id="605" r:id="rId42"/>
    <p:sldId id="606" r:id="rId43"/>
    <p:sldId id="639" r:id="rId44"/>
    <p:sldId id="640" r:id="rId45"/>
    <p:sldId id="842" r:id="rId46"/>
    <p:sldId id="782" r:id="rId47"/>
    <p:sldId id="892" r:id="rId48"/>
    <p:sldId id="893" r:id="rId49"/>
    <p:sldId id="641" r:id="rId50"/>
    <p:sldId id="642" r:id="rId51"/>
    <p:sldId id="644" r:id="rId52"/>
    <p:sldId id="843" r:id="rId53"/>
    <p:sldId id="844" r:id="rId54"/>
    <p:sldId id="894" r:id="rId55"/>
    <p:sldId id="306" r:id="rId56"/>
    <p:sldId id="896" r:id="rId57"/>
    <p:sldId id="348" r:id="rId58"/>
    <p:sldId id="346" r:id="rId59"/>
    <p:sldId id="724" r:id="rId60"/>
    <p:sldId id="351" r:id="rId61"/>
    <p:sldId id="897" r:id="rId62"/>
    <p:sldId id="347" r:id="rId63"/>
    <p:sldId id="898" r:id="rId64"/>
    <p:sldId id="899" r:id="rId65"/>
    <p:sldId id="353" r:id="rId66"/>
    <p:sldId id="668" r:id="rId67"/>
    <p:sldId id="669" r:id="rId68"/>
    <p:sldId id="671" r:id="rId69"/>
    <p:sldId id="369" r:id="rId70"/>
    <p:sldId id="687" r:id="rId71"/>
    <p:sldId id="688" r:id="rId72"/>
    <p:sldId id="689" r:id="rId73"/>
    <p:sldId id="356" r:id="rId74"/>
    <p:sldId id="847" r:id="rId75"/>
  </p:sldIdLst>
  <p:sldSz cx="12192000" cy="6858000"/>
  <p:notesSz cx="6858000" cy="9144000"/>
  <p:custDataLst>
    <p:tags r:id="rId7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92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5F0EE0-DD46-4FD2-9F16-3C92C451ECE5}" type="datetimeFigureOut">
              <a:rPr lang="en-US" smtClean="0"/>
              <a:t>7/26/2025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E2A6C-F58B-4DE4-AE52-B44768C36D3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0E2A6C-F58B-4DE4-AE52-B44768C36D36}" type="slidenum">
              <a:rPr lang="en-US" smtClean="0"/>
              <a:t>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8772974-4CF7-4A7D-B82A-C0289E6E5454}" type="datetime1">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CBB80D-C1B1-4EB9-AEF9-AA3EBA818191}" type="datetime1">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13CCD1-B06D-4D07-B644-B7AC74D6B8AB}" type="datetime1">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1681DC-7236-4E4D-BF6C-A4CEB5118DC9}" type="datetime1">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3869AB-54E7-4032-89F6-D218F1A24059}" type="datetime1">
              <a:rPr lang="en-US" smtClean="0"/>
              <a:t>7/26/2025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55A3DD-14CE-44E3-A91F-7AECBEE8F0BF}" type="datetime1">
              <a:rPr lang="en-US" smtClean="0"/>
              <a:t>7/26/2025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9DCBA8-A0FD-43B6-A688-B148736640E4}" type="datetime1">
              <a:rPr lang="en-US" smtClean="0"/>
              <a:t>7/26/2025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CDAB1C-7DA5-4E25-B72C-8B5DF611E1C9}" type="datetime1">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A9DAF1E-69A1-483D-B81C-DECE9F9EF009}" type="datetime1">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E744C-0FCE-432D-80FB-3F06B0CACFAE}" type="datetime1">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0026B9-8515-4A2F-B96E-6F9F6400EACF}" type="datetime1">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7D843B-1DED-40DC-AF70-C1B4F17B1EA6}"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DFE20A-9B32-4756-A74D-96CE5582F381}" type="datetime1">
              <a:rPr lang="en-US" smtClean="0"/>
              <a:t>7/26/2025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D843B-1DED-40DC-AF70-C1B4F17B1EA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4.png"/><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2.xml"/><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9" Type="http://schemas.openxmlformats.org/officeDocument/2006/relationships/image" Target="../media/image91.png"/></Relationships>
</file>

<file path=ppt/slides/_rels/slide5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6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5" Type="http://schemas.openxmlformats.org/officeDocument/2006/relationships/image" Target="../media/image98.png"/><Relationship Id="rId4" Type="http://schemas.openxmlformats.org/officeDocument/2006/relationships/image" Target="../media/image97.png"/></Relationships>
</file>

<file path=ppt/slides/_rels/slide6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7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71.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72.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oup 60"/>
          <p:cNvGrpSpPr/>
          <p:nvPr/>
        </p:nvGrpSpPr>
        <p:grpSpPr>
          <a:xfrm rot="21600000">
            <a:off x="2558079" y="2075534"/>
            <a:ext cx="7243435" cy="2975427"/>
            <a:chOff x="0" y="0"/>
            <a:chExt cx="7984546" cy="3279857"/>
          </a:xfrm>
        </p:grpSpPr>
        <p:pic>
          <p:nvPicPr>
            <p:cNvPr id="1724" name="picture 1724"/>
            <p:cNvPicPr>
              <a:picLocks noChangeAspect="1"/>
            </p:cNvPicPr>
            <p:nvPr/>
          </p:nvPicPr>
          <p:blipFill>
            <a:blip r:embed="rId2"/>
            <a:stretch>
              <a:fillRect/>
            </a:stretch>
          </p:blipFill>
          <p:spPr>
            <a:xfrm rot="21600000">
              <a:off x="0" y="0"/>
              <a:ext cx="7984546" cy="3279857"/>
            </a:xfrm>
            <a:prstGeom prst="rect">
              <a:avLst/>
            </a:prstGeom>
          </p:spPr>
        </p:pic>
        <p:sp>
          <p:nvSpPr>
            <p:cNvPr id="1726" name="textbox 1726"/>
            <p:cNvSpPr/>
            <p:nvPr/>
          </p:nvSpPr>
          <p:spPr>
            <a:xfrm>
              <a:off x="-12700" y="-12700"/>
              <a:ext cx="8010525" cy="3332479"/>
            </a:xfrm>
            <a:prstGeom prst="rect">
              <a:avLst/>
            </a:prstGeom>
            <a:noFill/>
            <a:ln w="0" cap="flat">
              <a:noFill/>
              <a:prstDash val="solid"/>
              <a:miter lim="0"/>
            </a:ln>
          </p:spPr>
          <p:txBody>
            <a:bodyPr vert="horz" wrap="square" lIns="0" tIns="0" rIns="0" bIns="0"/>
            <a:lstStyle/>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1000"/>
                </a:lnSpc>
              </a:pPr>
              <a:endParaRPr sz="905" dirty="0">
                <a:latin typeface="Arial" panose="020B0604020202020204"/>
                <a:ea typeface="Arial" panose="020B0604020202020204"/>
                <a:cs typeface="Arial" panose="020B0604020202020204"/>
              </a:endParaRPr>
            </a:p>
            <a:p>
              <a:pPr algn="l" rtl="0" eaLnBrk="0">
                <a:lnSpc>
                  <a:spcPct val="102000"/>
                </a:lnSpc>
              </a:pPr>
              <a:endParaRPr sz="905" dirty="0">
                <a:latin typeface="Arial" panose="020B0604020202020204"/>
                <a:ea typeface="Arial" panose="020B0604020202020204"/>
                <a:cs typeface="Arial" panose="020B0604020202020204"/>
              </a:endParaRPr>
            </a:p>
            <a:p>
              <a:pPr algn="l" rtl="0" eaLnBrk="0">
                <a:lnSpc>
                  <a:spcPct val="102000"/>
                </a:lnSpc>
              </a:pPr>
              <a:endParaRPr sz="905" dirty="0">
                <a:latin typeface="Arial" panose="020B0604020202020204"/>
                <a:ea typeface="Arial" panose="020B0604020202020204"/>
                <a:cs typeface="Arial" panose="020B0604020202020204"/>
              </a:endParaRPr>
            </a:p>
            <a:p>
              <a:pPr marL="1628775" indent="-664210" algn="l" rtl="0" eaLnBrk="0">
                <a:lnSpc>
                  <a:spcPct val="89000"/>
                </a:lnSpc>
              </a:pPr>
              <a:r>
                <a:rPr sz="3085" kern="0" spc="-20" dirty="0">
                  <a:solidFill>
                    <a:srgbClr val="FFFFFF">
                      <a:alpha val="100000"/>
                    </a:srgbClr>
                  </a:solidFill>
                  <a:latin typeface="Calibri" panose="020F0502020204030204"/>
                  <a:ea typeface="Calibri" panose="020F0502020204030204"/>
                  <a:cs typeface="Calibri" panose="020F0502020204030204"/>
                </a:rPr>
                <a:t>Gu et al.</a:t>
              </a:r>
              <a:r>
                <a:rPr sz="3085" kern="0" spc="220" dirty="0">
                  <a:solidFill>
                    <a:srgbClr val="FFFFFF">
                      <a:alpha val="100000"/>
                    </a:srgbClr>
                  </a:solidFill>
                  <a:latin typeface="Calibri" panose="020F0502020204030204"/>
                  <a:ea typeface="Calibri" panose="020F0502020204030204"/>
                  <a:cs typeface="Calibri" panose="020F0502020204030204"/>
                </a:rPr>
                <a:t> </a:t>
              </a:r>
              <a:r>
                <a:rPr sz="3085" kern="0" spc="-20" dirty="0">
                  <a:solidFill>
                    <a:srgbClr val="FFFFFF">
                      <a:alpha val="100000"/>
                    </a:srgbClr>
                  </a:solidFill>
                  <a:latin typeface="Calibri" panose="020F0502020204030204"/>
                  <a:ea typeface="Calibri" panose="020F0502020204030204"/>
                  <a:cs typeface="Calibri" panose="020F0502020204030204"/>
                </a:rPr>
                <a:t>(2020,RFS):</a:t>
              </a:r>
              <a:r>
                <a:rPr sz="3085" kern="0" spc="290" dirty="0">
                  <a:solidFill>
                    <a:srgbClr val="FFFFFF">
                      <a:alpha val="100000"/>
                    </a:srgbClr>
                  </a:solidFill>
                  <a:latin typeface="Calibri" panose="020F0502020204030204"/>
                  <a:ea typeface="Calibri" panose="020F0502020204030204"/>
                  <a:cs typeface="Calibri" panose="020F0502020204030204"/>
                </a:rPr>
                <a:t> </a:t>
              </a:r>
              <a:r>
                <a:rPr sz="3085" kern="0" spc="-20" dirty="0">
                  <a:solidFill>
                    <a:srgbClr val="FFFFFF">
                      <a:alpha val="100000"/>
                    </a:srgbClr>
                  </a:solidFill>
                  <a:latin typeface="Calibri" panose="020F0502020204030204"/>
                  <a:ea typeface="Calibri" panose="020F0502020204030204"/>
                  <a:cs typeface="Calibri" panose="020F0502020204030204"/>
                </a:rPr>
                <a:t>Empirical Asset</a:t>
              </a:r>
              <a:r>
                <a:rPr sz="3085" kern="0" spc="0" dirty="0">
                  <a:solidFill>
                    <a:srgbClr val="FFFFFF">
                      <a:alpha val="100000"/>
                    </a:srgbClr>
                  </a:solidFill>
                  <a:latin typeface="Calibri" panose="020F0502020204030204"/>
                  <a:ea typeface="Calibri" panose="020F0502020204030204"/>
                  <a:cs typeface="Calibri" panose="020F0502020204030204"/>
                </a:rPr>
                <a:t>        </a:t>
              </a:r>
              <a:r>
                <a:rPr sz="3085" kern="0" spc="-30" dirty="0">
                  <a:solidFill>
                    <a:srgbClr val="FFFFFF">
                      <a:alpha val="100000"/>
                    </a:srgbClr>
                  </a:solidFill>
                  <a:latin typeface="Calibri" panose="020F0502020204030204"/>
                  <a:ea typeface="Calibri" panose="020F0502020204030204"/>
                  <a:cs typeface="Calibri" panose="020F0502020204030204"/>
                </a:rPr>
                <a:t>Pricing via</a:t>
              </a:r>
              <a:r>
                <a:rPr sz="3085" kern="0" spc="280" dirty="0">
                  <a:solidFill>
                    <a:srgbClr val="FFFFFF">
                      <a:alpha val="100000"/>
                    </a:srgbClr>
                  </a:solidFill>
                  <a:latin typeface="Calibri" panose="020F0502020204030204"/>
                  <a:ea typeface="Calibri" panose="020F0502020204030204"/>
                  <a:cs typeface="Calibri" panose="020F0502020204030204"/>
                </a:rPr>
                <a:t> </a:t>
              </a:r>
              <a:r>
                <a:rPr sz="3085" kern="0" spc="-30" dirty="0">
                  <a:solidFill>
                    <a:srgbClr val="FFFFFF">
                      <a:alpha val="100000"/>
                    </a:srgbClr>
                  </a:solidFill>
                  <a:latin typeface="Calibri" panose="020F0502020204030204"/>
                  <a:ea typeface="Calibri" panose="020F0502020204030204"/>
                  <a:cs typeface="Calibri" panose="020F0502020204030204"/>
                </a:rPr>
                <a:t>Machine</a:t>
              </a:r>
              <a:r>
                <a:rPr sz="3085" kern="0" spc="290" dirty="0">
                  <a:solidFill>
                    <a:srgbClr val="FFFFFF">
                      <a:alpha val="100000"/>
                    </a:srgbClr>
                  </a:solidFill>
                  <a:latin typeface="Calibri" panose="020F0502020204030204"/>
                  <a:ea typeface="Calibri" panose="020F0502020204030204"/>
                  <a:cs typeface="Calibri" panose="020F0502020204030204"/>
                </a:rPr>
                <a:t> </a:t>
              </a:r>
              <a:r>
                <a:rPr sz="3085" kern="0" spc="-30" dirty="0">
                  <a:solidFill>
                    <a:srgbClr val="FFFFFF">
                      <a:alpha val="100000"/>
                    </a:srgbClr>
                  </a:solidFill>
                  <a:latin typeface="Calibri" panose="020F0502020204030204"/>
                  <a:ea typeface="Calibri" panose="020F0502020204030204"/>
                  <a:cs typeface="Calibri" panose="020F0502020204030204"/>
                </a:rPr>
                <a:t>Learni</a:t>
              </a:r>
              <a:r>
                <a:rPr sz="3085" kern="0" spc="-40" dirty="0">
                  <a:solidFill>
                    <a:srgbClr val="FFFFFF">
                      <a:alpha val="100000"/>
                    </a:srgbClr>
                  </a:solidFill>
                  <a:latin typeface="Calibri" panose="020F0502020204030204"/>
                  <a:ea typeface="Calibri" panose="020F0502020204030204"/>
                  <a:cs typeface="Calibri" panose="020F0502020204030204"/>
                </a:rPr>
                <a:t>ng</a:t>
              </a:r>
              <a:endParaRPr sz="3085" dirty="0">
                <a:latin typeface="Calibri" panose="020F0502020204030204"/>
                <a:ea typeface="Calibri" panose="020F0502020204030204"/>
                <a:cs typeface="Calibri" panose="020F050202020403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8" name="textbox 1728"/>
          <p:cNvSpPr/>
          <p:nvPr/>
        </p:nvSpPr>
        <p:spPr>
          <a:xfrm>
            <a:off x="1654923" y="1009372"/>
            <a:ext cx="5694933" cy="3075587"/>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53975" algn="l" rtl="0" eaLnBrk="0">
              <a:lnSpc>
                <a:spcPts val="4155"/>
              </a:lnSpc>
            </a:pPr>
            <a:r>
              <a:rPr sz="3085" kern="0" spc="-40" dirty="0">
                <a:solidFill>
                  <a:srgbClr val="000000">
                    <a:alpha val="100000"/>
                  </a:srgbClr>
                </a:solidFill>
                <a:latin typeface="Calibri Light" panose="020F0302020204030204"/>
                <a:ea typeface="Calibri Light" panose="020F0302020204030204"/>
                <a:cs typeface="Calibri Light" panose="020F0302020204030204"/>
              </a:rPr>
              <a:t>Agenda</a:t>
            </a:r>
            <a:r>
              <a:rPr sz="3085" kern="0" spc="170" dirty="0">
                <a:solidFill>
                  <a:srgbClr val="000000">
                    <a:alpha val="100000"/>
                  </a:srgbClr>
                </a:solidFill>
                <a:latin typeface="Calibri Light" panose="020F0302020204030204"/>
                <a:ea typeface="Calibri Light" panose="020F0302020204030204"/>
                <a:cs typeface="Calibri Light" panose="020F0302020204030204"/>
              </a:rPr>
              <a:t> </a:t>
            </a:r>
            <a:r>
              <a:rPr sz="3085" kern="0" spc="-40" dirty="0">
                <a:solidFill>
                  <a:srgbClr val="000000">
                    <a:alpha val="100000"/>
                  </a:srgbClr>
                </a:solidFill>
                <a:latin typeface="Calibri Light" panose="020F0302020204030204"/>
                <a:ea typeface="Calibri Light" panose="020F0302020204030204"/>
                <a:cs typeface="Calibri Light" panose="020F0302020204030204"/>
              </a:rPr>
              <a:t>of Gu</a:t>
            </a:r>
            <a:r>
              <a:rPr sz="3085" kern="0" spc="170" dirty="0">
                <a:solidFill>
                  <a:srgbClr val="000000">
                    <a:alpha val="100000"/>
                  </a:srgbClr>
                </a:solidFill>
                <a:latin typeface="Calibri Light" panose="020F0302020204030204"/>
                <a:ea typeface="Calibri Light" panose="020F0302020204030204"/>
                <a:cs typeface="Calibri Light" panose="020F0302020204030204"/>
              </a:rPr>
              <a:t> </a:t>
            </a:r>
            <a:r>
              <a:rPr sz="3085" kern="0" spc="-40" dirty="0">
                <a:solidFill>
                  <a:srgbClr val="000000">
                    <a:alpha val="100000"/>
                  </a:srgbClr>
                </a:solidFill>
                <a:latin typeface="Calibri Light" panose="020F0302020204030204"/>
                <a:ea typeface="Calibri Light" panose="020F0302020204030204"/>
                <a:cs typeface="Calibri Light" panose="020F0302020204030204"/>
              </a:rPr>
              <a:t>et</a:t>
            </a:r>
            <a:r>
              <a:rPr sz="3085" kern="0" spc="170" dirty="0">
                <a:solidFill>
                  <a:srgbClr val="000000">
                    <a:alpha val="100000"/>
                  </a:srgbClr>
                </a:solidFill>
                <a:latin typeface="Calibri Light" panose="020F0302020204030204"/>
                <a:ea typeface="Calibri Light" panose="020F0302020204030204"/>
                <a:cs typeface="Calibri Light" panose="020F0302020204030204"/>
              </a:rPr>
              <a:t> </a:t>
            </a:r>
            <a:r>
              <a:rPr sz="3085" kern="0" spc="-40" dirty="0">
                <a:solidFill>
                  <a:srgbClr val="000000">
                    <a:alpha val="100000"/>
                  </a:srgbClr>
                </a:solidFill>
                <a:latin typeface="Calibri Light" panose="020F0302020204030204"/>
                <a:ea typeface="Calibri Light" panose="020F0302020204030204"/>
                <a:cs typeface="Calibri Light" panose="020F0302020204030204"/>
              </a:rPr>
              <a:t>a</a:t>
            </a:r>
            <a:r>
              <a:rPr sz="3085" kern="0" spc="-50" dirty="0">
                <a:solidFill>
                  <a:srgbClr val="000000">
                    <a:alpha val="100000"/>
                  </a:srgbClr>
                </a:solidFill>
                <a:latin typeface="Calibri Light" panose="020F0302020204030204"/>
                <a:ea typeface="Calibri Light" panose="020F0302020204030204"/>
                <a:cs typeface="Calibri Light" panose="020F0302020204030204"/>
              </a:rPr>
              <a:t>l.</a:t>
            </a:r>
            <a:r>
              <a:rPr sz="3085" kern="0" spc="250" dirty="0">
                <a:solidFill>
                  <a:srgbClr val="000000">
                    <a:alpha val="100000"/>
                  </a:srgbClr>
                </a:solidFill>
                <a:latin typeface="Calibri Light" panose="020F0302020204030204"/>
                <a:ea typeface="Calibri Light" panose="020F0302020204030204"/>
                <a:cs typeface="Calibri Light" panose="020F0302020204030204"/>
              </a:rPr>
              <a:t> </a:t>
            </a:r>
            <a:r>
              <a:rPr sz="3085" kern="0" spc="-50" dirty="0">
                <a:solidFill>
                  <a:srgbClr val="000000">
                    <a:alpha val="100000"/>
                  </a:srgbClr>
                </a:solidFill>
                <a:latin typeface="Calibri Light" panose="020F0302020204030204"/>
                <a:ea typeface="Calibri Light" panose="020F0302020204030204"/>
                <a:cs typeface="Calibri Light" panose="020F0302020204030204"/>
              </a:rPr>
              <a:t>(2020,</a:t>
            </a:r>
            <a:r>
              <a:rPr sz="3085" kern="0" spc="300" dirty="0">
                <a:solidFill>
                  <a:srgbClr val="000000">
                    <a:alpha val="100000"/>
                  </a:srgbClr>
                </a:solidFill>
                <a:latin typeface="Calibri Light" panose="020F0302020204030204"/>
                <a:ea typeface="Calibri Light" panose="020F0302020204030204"/>
                <a:cs typeface="Calibri Light" panose="020F0302020204030204"/>
              </a:rPr>
              <a:t> </a:t>
            </a:r>
            <a:r>
              <a:rPr sz="3085" kern="0" spc="-50" dirty="0">
                <a:solidFill>
                  <a:srgbClr val="000000">
                    <a:alpha val="100000"/>
                  </a:srgbClr>
                </a:solidFill>
                <a:latin typeface="Calibri Light" panose="020F0302020204030204"/>
                <a:ea typeface="Calibri Light" panose="020F0302020204030204"/>
                <a:cs typeface="Calibri Light" panose="020F0302020204030204"/>
              </a:rPr>
              <a:t>RFS)</a:t>
            </a:r>
            <a:endParaRPr sz="3085" dirty="0">
              <a:latin typeface="Calibri Light" panose="020F0302020204030204"/>
              <a:ea typeface="Calibri Light" panose="020F0302020204030204"/>
              <a:cs typeface="Calibri Light" panose="020F030202020403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09000"/>
              </a:lnSpc>
            </a:pPr>
            <a:endParaRPr sz="905" dirty="0">
              <a:latin typeface="Arial" panose="020B0604020202020204"/>
              <a:ea typeface="Arial" panose="020B0604020202020204"/>
              <a:cs typeface="Arial" panose="020B0604020202020204"/>
            </a:endParaRPr>
          </a:p>
          <a:p>
            <a:pPr algn="l" rtl="0" eaLnBrk="0">
              <a:lnSpc>
                <a:spcPct val="11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730"/>
              </a:spcBef>
            </a:pPr>
            <a:r>
              <a:rPr sz="2175" kern="0" spc="-3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Data</a:t>
            </a:r>
            <a:r>
              <a:rPr sz="2175" kern="0" spc="14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in a</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nu</a:t>
            </a:r>
            <a:r>
              <a:rPr sz="2175" kern="0" spc="-40" dirty="0">
                <a:solidFill>
                  <a:srgbClr val="000000">
                    <a:alpha val="100000"/>
                  </a:srgbClr>
                </a:solidFill>
                <a:latin typeface="Calibri Light" panose="020F0302020204030204"/>
                <a:ea typeface="Calibri Light" panose="020F0302020204030204"/>
                <a:cs typeface="Calibri Light" panose="020F0302020204030204"/>
              </a:rPr>
              <a:t>tshell</a:t>
            </a:r>
            <a:endParaRPr sz="2175" dirty="0">
              <a:latin typeface="Calibri Light" panose="020F0302020204030204"/>
              <a:ea typeface="Calibri Light" panose="020F0302020204030204"/>
              <a:cs typeface="Calibri Light" panose="020F0302020204030204"/>
            </a:endParaRPr>
          </a:p>
          <a:p>
            <a:pPr marL="12700" algn="l" rtl="0" eaLnBrk="0">
              <a:lnSpc>
                <a:spcPct val="77000"/>
              </a:lnSpc>
              <a:spcBef>
                <a:spcPts val="1190"/>
              </a:spcBef>
            </a:pPr>
            <a:r>
              <a:rPr sz="2175" kern="0" spc="-30" dirty="0">
                <a:solidFill>
                  <a:srgbClr val="000000">
                    <a:alpha val="100000"/>
                  </a:srgbClr>
                </a:solidFill>
                <a:latin typeface="Arial" panose="020B0604020202020204"/>
                <a:ea typeface="Arial" panose="020B0604020202020204"/>
                <a:cs typeface="Arial" panose="020B0604020202020204"/>
              </a:rPr>
              <a:t>•</a:t>
            </a:r>
            <a:r>
              <a:rPr sz="2175" kern="0" spc="260" dirty="0">
                <a:solidFill>
                  <a:srgbClr val="000000">
                    <a:alpha val="100000"/>
                  </a:srgbClr>
                </a:solidFill>
                <a:latin typeface="Arial" panose="020B0604020202020204"/>
                <a:ea typeface="Arial" panose="020B0604020202020204"/>
                <a:cs typeface="Arial" panose="020B060402020202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Learning</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in</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nutshell</a:t>
            </a:r>
            <a:endParaRPr sz="2175" dirty="0">
              <a:latin typeface="Calibri Light" panose="020F0302020204030204"/>
              <a:ea typeface="Calibri Light" panose="020F0302020204030204"/>
              <a:cs typeface="Calibri Light" panose="020F0302020204030204"/>
            </a:endParaRPr>
          </a:p>
          <a:p>
            <a:pPr marL="12700" algn="l" rtl="0" eaLnBrk="0">
              <a:lnSpc>
                <a:spcPct val="77000"/>
              </a:lnSpc>
              <a:spcBef>
                <a:spcPts val="1190"/>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2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Machine</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learning algorithms</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under considerat</a:t>
            </a:r>
            <a:r>
              <a:rPr sz="2175" kern="0" spc="-20" dirty="0">
                <a:solidFill>
                  <a:srgbClr val="000000">
                    <a:alpha val="100000"/>
                  </a:srgbClr>
                </a:solidFill>
                <a:latin typeface="Calibri Light" panose="020F0302020204030204"/>
                <a:ea typeface="Calibri Light" panose="020F0302020204030204"/>
                <a:cs typeface="Calibri Light" panose="020F0302020204030204"/>
              </a:rPr>
              <a:t>ion</a:t>
            </a:r>
            <a:endParaRPr sz="2175" dirty="0">
              <a:latin typeface="Calibri Light" panose="020F0302020204030204"/>
              <a:ea typeface="Calibri Light" panose="020F0302020204030204"/>
              <a:cs typeface="Calibri Light" panose="020F0302020204030204"/>
            </a:endParaRPr>
          </a:p>
          <a:p>
            <a:pPr algn="l" rtl="0" eaLnBrk="0">
              <a:lnSpc>
                <a:spcPct val="110000"/>
              </a:lnSpc>
            </a:pPr>
            <a:endParaRPr sz="815" dirty="0">
              <a:latin typeface="Arial" panose="020B0604020202020204"/>
              <a:ea typeface="Arial" panose="020B0604020202020204"/>
              <a:cs typeface="Arial" panose="020B0604020202020204"/>
            </a:endParaRPr>
          </a:p>
          <a:p>
            <a:pPr marL="12700" algn="l" rtl="0" eaLnBrk="0">
              <a:lnSpc>
                <a:spcPct val="77000"/>
              </a:lnSpc>
              <a:spcBef>
                <a:spcPts val="5"/>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Empirical fi</a:t>
            </a:r>
            <a:r>
              <a:rPr sz="2175" kern="0" spc="-20" dirty="0">
                <a:solidFill>
                  <a:srgbClr val="000000">
                    <a:alpha val="100000"/>
                  </a:srgbClr>
                </a:solidFill>
                <a:latin typeface="Calibri Light" panose="020F0302020204030204"/>
                <a:ea typeface="Calibri Light" panose="020F0302020204030204"/>
                <a:cs typeface="Calibri Light" panose="020F0302020204030204"/>
              </a:rPr>
              <a:t>ndings</a:t>
            </a:r>
            <a:endParaRPr sz="2175"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 name="textbox 1730"/>
          <p:cNvSpPr/>
          <p:nvPr/>
        </p:nvSpPr>
        <p:spPr>
          <a:xfrm>
            <a:off x="1697264" y="1255805"/>
            <a:ext cx="8121877" cy="4297411"/>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49225" algn="l" rtl="0" eaLnBrk="0">
              <a:lnSpc>
                <a:spcPts val="4640"/>
              </a:lnSpc>
            </a:pPr>
            <a:r>
              <a:rPr sz="3445" kern="0" spc="-100" dirty="0">
                <a:solidFill>
                  <a:srgbClr val="000000">
                    <a:alpha val="100000"/>
                  </a:srgbClr>
                </a:solidFill>
                <a:latin typeface="Calibri Light" panose="020F0302020204030204"/>
                <a:ea typeface="Calibri Light" panose="020F0302020204030204"/>
                <a:cs typeface="Calibri Light" panose="020F0302020204030204"/>
              </a:rPr>
              <a:t>Data</a:t>
            </a:r>
            <a:r>
              <a:rPr sz="3445" kern="0" spc="260" dirty="0">
                <a:solidFill>
                  <a:srgbClr val="000000">
                    <a:alpha val="100000"/>
                  </a:srgbClr>
                </a:solidFill>
                <a:latin typeface="Calibri Light" panose="020F0302020204030204"/>
                <a:ea typeface="Calibri Light" panose="020F0302020204030204"/>
                <a:cs typeface="Calibri Light" panose="020F0302020204030204"/>
              </a:rPr>
              <a:t> </a:t>
            </a:r>
            <a:r>
              <a:rPr sz="3445" kern="0" spc="-100" dirty="0">
                <a:solidFill>
                  <a:srgbClr val="000000">
                    <a:alpha val="100000"/>
                  </a:srgbClr>
                </a:solidFill>
                <a:latin typeface="Calibri Light" panose="020F0302020204030204"/>
                <a:ea typeface="Calibri Light" panose="020F0302020204030204"/>
                <a:cs typeface="Calibri Light" panose="020F0302020204030204"/>
              </a:rPr>
              <a:t>in</a:t>
            </a:r>
            <a:r>
              <a:rPr sz="3445" kern="0" spc="160" dirty="0">
                <a:solidFill>
                  <a:srgbClr val="000000">
                    <a:alpha val="100000"/>
                  </a:srgbClr>
                </a:solidFill>
                <a:latin typeface="Calibri Light" panose="020F0302020204030204"/>
                <a:ea typeface="Calibri Light" panose="020F0302020204030204"/>
                <a:cs typeface="Calibri Light" panose="020F0302020204030204"/>
              </a:rPr>
              <a:t> </a:t>
            </a:r>
            <a:r>
              <a:rPr sz="3445" kern="0" spc="-100" dirty="0">
                <a:solidFill>
                  <a:srgbClr val="000000">
                    <a:alpha val="100000"/>
                  </a:srgbClr>
                </a:solidFill>
                <a:latin typeface="Calibri Light" panose="020F0302020204030204"/>
                <a:ea typeface="Calibri Light" panose="020F0302020204030204"/>
                <a:cs typeface="Calibri Light" panose="020F0302020204030204"/>
              </a:rPr>
              <a:t>a</a:t>
            </a:r>
            <a:r>
              <a:rPr sz="3445" kern="0" spc="320" dirty="0">
                <a:solidFill>
                  <a:srgbClr val="000000">
                    <a:alpha val="100000"/>
                  </a:srgbClr>
                </a:solidFill>
                <a:latin typeface="Calibri Light" panose="020F0302020204030204"/>
                <a:ea typeface="Calibri Light" panose="020F0302020204030204"/>
                <a:cs typeface="Calibri Light" panose="020F0302020204030204"/>
              </a:rPr>
              <a:t> </a:t>
            </a:r>
            <a:r>
              <a:rPr sz="3445" kern="0" spc="-100" dirty="0">
                <a:solidFill>
                  <a:srgbClr val="000000">
                    <a:alpha val="100000"/>
                  </a:srgbClr>
                </a:solidFill>
                <a:latin typeface="Calibri Light" panose="020F0302020204030204"/>
                <a:ea typeface="Calibri Light" panose="020F0302020204030204"/>
                <a:cs typeface="Calibri Light" panose="020F0302020204030204"/>
              </a:rPr>
              <a:t>Nutshell</a:t>
            </a:r>
            <a:endParaRPr sz="3445" dirty="0">
              <a:latin typeface="Calibri Light" panose="020F0302020204030204"/>
              <a:ea typeface="Calibri Light" panose="020F0302020204030204"/>
              <a:cs typeface="Calibri Light" panose="020F0302020204030204"/>
            </a:endParaRPr>
          </a:p>
          <a:p>
            <a:pPr algn="l" rtl="0" eaLnBrk="0">
              <a:lnSpc>
                <a:spcPct val="171000"/>
              </a:lnSpc>
            </a:pPr>
            <a:endParaRPr sz="905" dirty="0">
              <a:latin typeface="Arial" panose="020B0604020202020204"/>
              <a:ea typeface="Arial" panose="020B0604020202020204"/>
              <a:cs typeface="Arial" panose="020B0604020202020204"/>
            </a:endParaRPr>
          </a:p>
          <a:p>
            <a:pPr marL="195580" indent="-183515" algn="l" rtl="0" eaLnBrk="0">
              <a:lnSpc>
                <a:spcPct val="79000"/>
              </a:lnSpc>
              <a:spcBef>
                <a:spcPts val="725"/>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Monthly</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individual equity</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returns from CRSP for all fi</a:t>
            </a:r>
            <a:r>
              <a:rPr sz="2175" kern="0" spc="-20" dirty="0">
                <a:solidFill>
                  <a:srgbClr val="000000">
                    <a:alpha val="100000"/>
                  </a:srgbClr>
                </a:solidFill>
                <a:latin typeface="Calibri Light" panose="020F0302020204030204"/>
                <a:ea typeface="Calibri Light" panose="020F0302020204030204"/>
                <a:cs typeface="Calibri Light" panose="020F0302020204030204"/>
              </a:rPr>
              <a:t>rms</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listed</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in</a:t>
            </a:r>
            <a:r>
              <a:rPr sz="2175" kern="0" spc="20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NYSE,</a:t>
            </a:r>
            <a:r>
              <a:rPr sz="2175" kern="0" spc="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AMEX,</a:t>
            </a:r>
            <a:r>
              <a:rPr sz="2175" kern="0" spc="23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NASDAQ</a:t>
            </a:r>
            <a:endParaRPr sz="2175" dirty="0">
              <a:latin typeface="Calibri Light" panose="020F0302020204030204"/>
              <a:ea typeface="Calibri Light" panose="020F0302020204030204"/>
              <a:cs typeface="Calibri Light" panose="020F0302020204030204"/>
            </a:endParaRPr>
          </a:p>
          <a:p>
            <a:pPr algn="l" rtl="0" eaLnBrk="0">
              <a:lnSpc>
                <a:spcPct val="141000"/>
              </a:lnSpc>
            </a:pPr>
            <a:endParaRPr sz="905" dirty="0">
              <a:latin typeface="Arial" panose="020B0604020202020204"/>
              <a:ea typeface="Arial" panose="020B0604020202020204"/>
              <a:cs typeface="Arial" panose="020B0604020202020204"/>
            </a:endParaRPr>
          </a:p>
          <a:p>
            <a:pPr algn="l" rtl="0" eaLnBrk="0">
              <a:lnSpc>
                <a:spcPct val="141000"/>
              </a:lnSpc>
            </a:pPr>
            <a:endParaRPr sz="905" dirty="0">
              <a:latin typeface="Arial" panose="020B0604020202020204"/>
              <a:ea typeface="Arial" panose="020B0604020202020204"/>
              <a:cs typeface="Arial" panose="020B0604020202020204"/>
            </a:endParaRPr>
          </a:p>
          <a:p>
            <a:pPr marL="12700" algn="l" rtl="0" eaLnBrk="0">
              <a:lnSpc>
                <a:spcPct val="73000"/>
              </a:lnSpc>
              <a:spcBef>
                <a:spcPts val="730"/>
              </a:spcBef>
            </a:pPr>
            <a:r>
              <a:rPr sz="2175" kern="0" spc="-40" dirty="0">
                <a:solidFill>
                  <a:srgbClr val="000000">
                    <a:alpha val="100000"/>
                  </a:srgbClr>
                </a:solidFill>
                <a:latin typeface="Arial" panose="020B0604020202020204"/>
                <a:ea typeface="Arial" panose="020B0604020202020204"/>
                <a:cs typeface="Arial" panose="020B0604020202020204"/>
              </a:rPr>
              <a:t>•</a:t>
            </a:r>
            <a:r>
              <a:rPr sz="2175" kern="0" spc="290" dirty="0">
                <a:solidFill>
                  <a:srgbClr val="000000">
                    <a:alpha val="100000"/>
                  </a:srgbClr>
                </a:solidFill>
                <a:latin typeface="Arial" panose="020B0604020202020204"/>
                <a:ea typeface="Arial" panose="020B0604020202020204"/>
                <a:cs typeface="Arial" panose="020B0604020202020204"/>
              </a:rPr>
              <a:t> </a:t>
            </a:r>
            <a:r>
              <a:rPr sz="2175" kern="0" spc="-40" dirty="0">
                <a:solidFill>
                  <a:srgbClr val="000000">
                    <a:alpha val="100000"/>
                  </a:srgbClr>
                </a:solidFill>
                <a:latin typeface="Calibri Light" panose="020F0302020204030204"/>
                <a:ea typeface="Calibri Light" panose="020F0302020204030204"/>
                <a:cs typeface="Calibri Light" panose="020F0302020204030204"/>
              </a:rPr>
              <a:t>1957-2016</a:t>
            </a:r>
            <a:endParaRPr sz="2175" dirty="0">
              <a:latin typeface="Calibri Light" panose="020F0302020204030204"/>
              <a:ea typeface="Calibri Light" panose="020F0302020204030204"/>
              <a:cs typeface="Calibri Light" panose="020F0302020204030204"/>
            </a:endParaRPr>
          </a:p>
          <a:p>
            <a:pPr marL="12700" algn="l" rtl="0" eaLnBrk="0">
              <a:lnSpc>
                <a:spcPct val="78000"/>
              </a:lnSpc>
              <a:spcBef>
                <a:spcPts val="945"/>
              </a:spcBef>
            </a:pPr>
            <a:r>
              <a:rPr sz="2175" kern="0" spc="-20" dirty="0">
                <a:solidFill>
                  <a:srgbClr val="000000">
                    <a:alpha val="100000"/>
                  </a:srgbClr>
                </a:solidFill>
                <a:latin typeface="Arial" panose="020B0604020202020204"/>
                <a:ea typeface="Arial" panose="020B0604020202020204"/>
                <a:cs typeface="Arial" panose="020B060402020202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On average 6,200</a:t>
            </a:r>
            <a:r>
              <a:rPr sz="2175" kern="0" spc="11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stocks</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per</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month</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(30,000</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in</a:t>
            </a:r>
            <a:r>
              <a:rPr sz="2175" kern="0" spc="3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total)</a:t>
            </a:r>
            <a:endParaRPr sz="2175" dirty="0">
              <a:latin typeface="Calibri Light" panose="020F0302020204030204"/>
              <a:ea typeface="Calibri Light" panose="020F0302020204030204"/>
              <a:cs typeface="Calibri Light" panose="020F0302020204030204"/>
            </a:endParaRPr>
          </a:p>
          <a:p>
            <a:pPr algn="l" rtl="0" eaLnBrk="0">
              <a:lnSpc>
                <a:spcPct val="136000"/>
              </a:lnSpc>
            </a:pPr>
            <a:endParaRPr sz="905" dirty="0">
              <a:latin typeface="Arial" panose="020B0604020202020204"/>
              <a:ea typeface="Arial" panose="020B0604020202020204"/>
              <a:cs typeface="Arial" panose="020B0604020202020204"/>
            </a:endParaRPr>
          </a:p>
          <a:p>
            <a:pPr algn="l" rtl="0" eaLnBrk="0">
              <a:lnSpc>
                <a:spcPct val="137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725"/>
              </a:spcBef>
            </a:pPr>
            <a:r>
              <a:rPr sz="2175" kern="0" spc="-3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Predictors</a:t>
            </a:r>
            <a:r>
              <a:rPr sz="2175" kern="0" spc="-40" dirty="0">
                <a:solidFill>
                  <a:srgbClr val="000000">
                    <a:alpha val="100000"/>
                  </a:srgbClr>
                </a:solidFill>
                <a:latin typeface="Calibri Light" panose="020F0302020204030204"/>
                <a:ea typeface="Calibri Light" panose="020F0302020204030204"/>
                <a:cs typeface="Calibri Light" panose="020F0302020204030204"/>
              </a:rPr>
              <a:t>:</a:t>
            </a:r>
            <a:endParaRPr sz="2175" dirty="0">
              <a:latin typeface="Calibri Light" panose="020F0302020204030204"/>
              <a:ea typeface="Calibri Light" panose="020F0302020204030204"/>
              <a:cs typeface="Calibri Light" panose="020F0302020204030204"/>
            </a:endParaRPr>
          </a:p>
          <a:p>
            <a:pPr marL="400050" algn="l" rtl="0" eaLnBrk="0">
              <a:lnSpc>
                <a:spcPct val="77000"/>
              </a:lnSpc>
              <a:spcBef>
                <a:spcPts val="555"/>
              </a:spcBef>
            </a:pPr>
            <a:r>
              <a:rPr sz="1815" kern="0" spc="50" dirty="0">
                <a:solidFill>
                  <a:srgbClr val="000000">
                    <a:alpha val="100000"/>
                  </a:srgbClr>
                </a:solidFill>
                <a:latin typeface="Arial" panose="020B0604020202020204"/>
                <a:ea typeface="Arial" panose="020B0604020202020204"/>
                <a:cs typeface="Arial" panose="020B0604020202020204"/>
              </a:rPr>
              <a:t>•</a:t>
            </a:r>
            <a:r>
              <a:rPr sz="1815" kern="0" spc="410" dirty="0">
                <a:solidFill>
                  <a:srgbClr val="000000">
                    <a:alpha val="100000"/>
                  </a:srgbClr>
                </a:solidFill>
                <a:latin typeface="Arial" panose="020B0604020202020204"/>
                <a:ea typeface="Arial" panose="020B0604020202020204"/>
                <a:cs typeface="Arial" panose="020B0604020202020204"/>
              </a:rPr>
              <a:t> </a:t>
            </a:r>
            <a:r>
              <a:rPr sz="1815" kern="0" spc="50" dirty="0">
                <a:solidFill>
                  <a:srgbClr val="000000">
                    <a:alpha val="100000"/>
                  </a:srgbClr>
                </a:solidFill>
                <a:latin typeface="Calibri Light" panose="020F0302020204030204"/>
                <a:ea typeface="Calibri Light" panose="020F0302020204030204"/>
                <a:cs typeface="Calibri Light" panose="020F0302020204030204"/>
              </a:rPr>
              <a:t>94 </a:t>
            </a:r>
            <a:r>
              <a:rPr sz="1815" kern="0" spc="0" dirty="0">
                <a:solidFill>
                  <a:srgbClr val="000000">
                    <a:alpha val="100000"/>
                  </a:srgbClr>
                </a:solidFill>
                <a:latin typeface="Calibri Light" panose="020F0302020204030204"/>
                <a:ea typeface="Calibri Light" panose="020F0302020204030204"/>
                <a:cs typeface="Calibri Light" panose="020F0302020204030204"/>
              </a:rPr>
              <a:t>stock</a:t>
            </a:r>
            <a:r>
              <a:rPr sz="1815" kern="0" spc="5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characteristics</a:t>
            </a:r>
            <a:r>
              <a:rPr sz="1815" kern="0" spc="50" dirty="0">
                <a:solidFill>
                  <a:srgbClr val="000000">
                    <a:alpha val="100000"/>
                  </a:srgbClr>
                </a:solidFill>
                <a:latin typeface="Calibri Light" panose="020F0302020204030204"/>
                <a:ea typeface="Calibri Light" panose="020F0302020204030204"/>
                <a:cs typeface="Calibri Light" panose="020F0302020204030204"/>
              </a:rPr>
              <a:t>,</a:t>
            </a:r>
            <a:r>
              <a:rPr sz="1815" kern="0" spc="15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interacted</a:t>
            </a:r>
            <a:r>
              <a:rPr sz="1815" kern="0" spc="9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with</a:t>
            </a:r>
            <a:endParaRPr sz="1815" dirty="0">
              <a:latin typeface="Calibri Light" panose="020F0302020204030204"/>
              <a:ea typeface="Calibri Light" panose="020F0302020204030204"/>
              <a:cs typeface="Calibri Light" panose="020F0302020204030204"/>
            </a:endParaRPr>
          </a:p>
          <a:p>
            <a:pPr marL="400050" algn="l" rtl="0" eaLnBrk="0">
              <a:lnSpc>
                <a:spcPct val="78000"/>
              </a:lnSpc>
              <a:spcBef>
                <a:spcPts val="430"/>
              </a:spcBef>
            </a:pPr>
            <a:r>
              <a:rPr sz="1815" kern="0" spc="70" dirty="0">
                <a:solidFill>
                  <a:srgbClr val="000000">
                    <a:alpha val="100000"/>
                  </a:srgbClr>
                </a:solidFill>
                <a:latin typeface="Arial" panose="020B0604020202020204"/>
                <a:ea typeface="Arial" panose="020B0604020202020204"/>
                <a:cs typeface="Arial" panose="020B0604020202020204"/>
              </a:rPr>
              <a:t>•</a:t>
            </a:r>
            <a:r>
              <a:rPr sz="1815" kern="0" spc="400" dirty="0">
                <a:solidFill>
                  <a:srgbClr val="000000">
                    <a:alpha val="100000"/>
                  </a:srgbClr>
                </a:solidFill>
                <a:latin typeface="Arial" panose="020B0604020202020204"/>
                <a:ea typeface="Arial" panose="020B0604020202020204"/>
                <a:cs typeface="Arial" panose="020B0604020202020204"/>
              </a:rPr>
              <a:t> </a:t>
            </a:r>
            <a:r>
              <a:rPr sz="1815" kern="0" spc="70" dirty="0">
                <a:solidFill>
                  <a:srgbClr val="000000">
                    <a:alpha val="100000"/>
                  </a:srgbClr>
                </a:solidFill>
                <a:latin typeface="Calibri Light" panose="020F0302020204030204"/>
                <a:ea typeface="Calibri Light" panose="020F0302020204030204"/>
                <a:cs typeface="Calibri Light" panose="020F0302020204030204"/>
              </a:rPr>
              <a:t>8 </a:t>
            </a:r>
            <a:r>
              <a:rPr sz="1815" kern="0" spc="0" dirty="0">
                <a:solidFill>
                  <a:srgbClr val="000000">
                    <a:alpha val="100000"/>
                  </a:srgbClr>
                </a:solidFill>
                <a:latin typeface="Calibri Light" panose="020F0302020204030204"/>
                <a:ea typeface="Calibri Light" panose="020F0302020204030204"/>
                <a:cs typeface="Calibri Light" panose="020F0302020204030204"/>
              </a:rPr>
              <a:t>aggregate</a:t>
            </a:r>
            <a:r>
              <a:rPr sz="1815" kern="0" spc="7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variables</a:t>
            </a:r>
            <a:r>
              <a:rPr sz="1815" kern="0" spc="160" dirty="0">
                <a:solidFill>
                  <a:srgbClr val="000000">
                    <a:alpha val="100000"/>
                  </a:srgbClr>
                </a:solidFill>
                <a:latin typeface="Calibri Light" panose="020F0302020204030204"/>
                <a:ea typeface="Calibri Light" panose="020F0302020204030204"/>
                <a:cs typeface="Calibri Light" panose="020F0302020204030204"/>
              </a:rPr>
              <a:t> </a:t>
            </a:r>
            <a:r>
              <a:rPr sz="1815" kern="0" spc="70" dirty="0">
                <a:solidFill>
                  <a:srgbClr val="000000">
                    <a:alpha val="100000"/>
                  </a:srgbClr>
                </a:solidFill>
                <a:latin typeface="Calibri Light" panose="020F0302020204030204"/>
                <a:ea typeface="Calibri Light" panose="020F0302020204030204"/>
                <a:cs typeface="Calibri Light" panose="020F0302020204030204"/>
              </a:rPr>
              <a:t>(</a:t>
            </a:r>
            <a:r>
              <a:rPr sz="1815" kern="0" spc="0" dirty="0">
                <a:solidFill>
                  <a:srgbClr val="000000">
                    <a:alpha val="100000"/>
                  </a:srgbClr>
                </a:solidFill>
                <a:latin typeface="Calibri Light" panose="020F0302020204030204"/>
                <a:ea typeface="Calibri Light" panose="020F0302020204030204"/>
                <a:cs typeface="Calibri Light" panose="020F0302020204030204"/>
              </a:rPr>
              <a:t>dividend</a:t>
            </a:r>
            <a:r>
              <a:rPr sz="1815" kern="0" spc="7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yield</a:t>
            </a:r>
            <a:r>
              <a:rPr sz="1815" kern="0" spc="12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etc</a:t>
            </a:r>
            <a:r>
              <a:rPr sz="1815" kern="0" spc="70" dirty="0">
                <a:solidFill>
                  <a:srgbClr val="000000">
                    <a:alpha val="100000"/>
                  </a:srgbClr>
                </a:solidFill>
                <a:latin typeface="Calibri Light" panose="020F0302020204030204"/>
                <a:ea typeface="Calibri Light" panose="020F0302020204030204"/>
                <a:cs typeface="Calibri Light" panose="020F0302020204030204"/>
              </a:rPr>
              <a:t>)</a:t>
            </a:r>
            <a:r>
              <a:rPr sz="1815" kern="0" spc="11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and</a:t>
            </a:r>
            <a:endParaRPr sz="1815" dirty="0">
              <a:latin typeface="Calibri Light" panose="020F0302020204030204"/>
              <a:ea typeface="Calibri Light" panose="020F0302020204030204"/>
              <a:cs typeface="Calibri Light" panose="020F0302020204030204"/>
            </a:endParaRPr>
          </a:p>
          <a:p>
            <a:pPr marL="400050" algn="l" rtl="0" eaLnBrk="0">
              <a:lnSpc>
                <a:spcPct val="76000"/>
              </a:lnSpc>
              <a:spcBef>
                <a:spcPts val="575"/>
              </a:spcBef>
            </a:pPr>
            <a:r>
              <a:rPr sz="1815" kern="0" spc="0" dirty="0">
                <a:solidFill>
                  <a:srgbClr val="000000">
                    <a:alpha val="100000"/>
                  </a:srgbClr>
                </a:solidFill>
                <a:latin typeface="Arial" panose="020B0604020202020204"/>
                <a:ea typeface="Arial" panose="020B0604020202020204"/>
                <a:cs typeface="Arial" panose="020B0604020202020204"/>
              </a:rPr>
              <a:t>•</a:t>
            </a:r>
            <a:r>
              <a:rPr sz="1815" kern="0" spc="400" dirty="0">
                <a:solidFill>
                  <a:srgbClr val="000000">
                    <a:alpha val="100000"/>
                  </a:srgbClr>
                </a:solidFill>
                <a:latin typeface="Arial" panose="020B0604020202020204"/>
                <a:ea typeface="Arial" panose="020B0604020202020204"/>
                <a:cs typeface="Arial" panose="020B060402020202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74</a:t>
            </a:r>
            <a:r>
              <a:rPr sz="1815" kern="0" spc="16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industry</a:t>
            </a:r>
            <a:r>
              <a:rPr sz="1815" kern="0" spc="12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dummies</a:t>
            </a:r>
            <a:endParaRPr sz="1815" dirty="0">
              <a:latin typeface="Calibri Light" panose="020F0302020204030204"/>
              <a:ea typeface="Calibri Light" panose="020F0302020204030204"/>
              <a:cs typeface="Calibri Light" panose="020F0302020204030204"/>
            </a:endParaRPr>
          </a:p>
          <a:p>
            <a:pPr marL="400050" algn="l" rtl="0" eaLnBrk="0">
              <a:lnSpc>
                <a:spcPct val="77000"/>
              </a:lnSpc>
              <a:spcBef>
                <a:spcPts val="550"/>
              </a:spcBef>
            </a:pPr>
            <a:r>
              <a:rPr sz="1815" kern="0" spc="0" dirty="0">
                <a:solidFill>
                  <a:srgbClr val="000000">
                    <a:alpha val="100000"/>
                  </a:srgbClr>
                </a:solidFill>
                <a:latin typeface="Arial" panose="020B0604020202020204"/>
                <a:ea typeface="Arial" panose="020B0604020202020204"/>
                <a:cs typeface="Arial" panose="020B0604020202020204"/>
              </a:rPr>
              <a:t>•</a:t>
            </a:r>
            <a:r>
              <a:rPr sz="1815" kern="0" spc="440" dirty="0">
                <a:solidFill>
                  <a:srgbClr val="000000">
                    <a:alpha val="100000"/>
                  </a:srgbClr>
                </a:solidFill>
                <a:latin typeface="Arial" panose="020B0604020202020204"/>
                <a:ea typeface="Arial" panose="020B0604020202020204"/>
                <a:cs typeface="Arial" panose="020B060402020202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Resulting</a:t>
            </a:r>
            <a:r>
              <a:rPr sz="1815" kern="0" spc="16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in</a:t>
            </a:r>
            <a:r>
              <a:rPr sz="1815" kern="0" spc="11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900</a:t>
            </a:r>
            <a:r>
              <a:rPr sz="1815" kern="0" spc="18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baseline</a:t>
            </a:r>
            <a:r>
              <a:rPr sz="1815" kern="0" spc="120" dirty="0">
                <a:solidFill>
                  <a:srgbClr val="000000">
                    <a:alpha val="100000"/>
                  </a:srgbClr>
                </a:solidFill>
                <a:latin typeface="Calibri Light" panose="020F0302020204030204"/>
                <a:ea typeface="Calibri Light" panose="020F0302020204030204"/>
                <a:cs typeface="Calibri Light" panose="020F0302020204030204"/>
              </a:rPr>
              <a:t> </a:t>
            </a:r>
            <a:r>
              <a:rPr sz="1815" kern="0" spc="0" dirty="0">
                <a:solidFill>
                  <a:srgbClr val="000000">
                    <a:alpha val="100000"/>
                  </a:srgbClr>
                </a:solidFill>
                <a:latin typeface="Calibri Light" panose="020F0302020204030204"/>
                <a:ea typeface="Calibri Light" panose="020F0302020204030204"/>
                <a:cs typeface="Calibri Light" panose="020F0302020204030204"/>
              </a:rPr>
              <a:t>signals</a:t>
            </a:r>
            <a:endParaRPr sz="1815"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2" name="textbox 1732"/>
          <p:cNvSpPr/>
          <p:nvPr/>
        </p:nvSpPr>
        <p:spPr>
          <a:xfrm>
            <a:off x="1697355" y="1256030"/>
            <a:ext cx="9660890" cy="353441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40640" algn="l" rtl="0" eaLnBrk="0">
              <a:lnSpc>
                <a:spcPts val="4640"/>
              </a:lnSpc>
            </a:pPr>
            <a:r>
              <a:rPr sz="3445" kern="0" spc="-70" dirty="0">
                <a:solidFill>
                  <a:srgbClr val="000000">
                    <a:alpha val="100000"/>
                  </a:srgbClr>
                </a:solidFill>
                <a:latin typeface="Calibri Light" panose="020F0302020204030204"/>
                <a:ea typeface="Calibri Light" panose="020F0302020204030204"/>
                <a:cs typeface="Calibri Light" panose="020F0302020204030204"/>
              </a:rPr>
              <a:t>Learing</a:t>
            </a:r>
            <a:r>
              <a:rPr sz="3445" kern="0" spc="280" dirty="0">
                <a:solidFill>
                  <a:srgbClr val="000000">
                    <a:alpha val="100000"/>
                  </a:srgbClr>
                </a:solidFill>
                <a:latin typeface="Calibri Light" panose="020F0302020204030204"/>
                <a:ea typeface="Calibri Light" panose="020F0302020204030204"/>
                <a:cs typeface="Calibri Light" panose="020F0302020204030204"/>
              </a:rPr>
              <a:t> </a:t>
            </a:r>
            <a:r>
              <a:rPr sz="3445" kern="0" spc="-70" dirty="0">
                <a:solidFill>
                  <a:srgbClr val="000000">
                    <a:alpha val="100000"/>
                  </a:srgbClr>
                </a:solidFill>
                <a:latin typeface="Calibri Light" panose="020F0302020204030204"/>
                <a:ea typeface="Calibri Light" panose="020F0302020204030204"/>
                <a:cs typeface="Calibri Light" panose="020F0302020204030204"/>
              </a:rPr>
              <a:t>in a</a:t>
            </a:r>
            <a:r>
              <a:rPr sz="3445" kern="0" spc="310" dirty="0">
                <a:solidFill>
                  <a:srgbClr val="000000">
                    <a:alpha val="100000"/>
                  </a:srgbClr>
                </a:solidFill>
                <a:latin typeface="Calibri Light" panose="020F0302020204030204"/>
                <a:ea typeface="Calibri Light" panose="020F0302020204030204"/>
                <a:cs typeface="Calibri Light" panose="020F0302020204030204"/>
              </a:rPr>
              <a:t> </a:t>
            </a:r>
            <a:r>
              <a:rPr sz="3445" kern="0" spc="-70" dirty="0">
                <a:solidFill>
                  <a:srgbClr val="000000">
                    <a:alpha val="100000"/>
                  </a:srgbClr>
                </a:solidFill>
                <a:latin typeface="Calibri Light" panose="020F0302020204030204"/>
                <a:ea typeface="Calibri Light" panose="020F0302020204030204"/>
                <a:cs typeface="Calibri Light" panose="020F0302020204030204"/>
              </a:rPr>
              <a:t>Nutshell</a:t>
            </a:r>
            <a:endParaRPr sz="3445" dirty="0">
              <a:latin typeface="Calibri Light" panose="020F0302020204030204"/>
              <a:ea typeface="Calibri Light" panose="020F0302020204030204"/>
              <a:cs typeface="Calibri Light" panose="020F0302020204030204"/>
            </a:endParaRPr>
          </a:p>
          <a:p>
            <a:pPr algn="l" rtl="0" eaLnBrk="0">
              <a:lnSpc>
                <a:spcPct val="189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730"/>
              </a:spcBef>
            </a:pPr>
            <a:r>
              <a:rPr sz="2175" kern="0" spc="-10" dirty="0">
                <a:solidFill>
                  <a:srgbClr val="000000">
                    <a:alpha val="100000"/>
                  </a:srgbClr>
                </a:solidFill>
                <a:latin typeface="Arial" panose="020B0604020202020204"/>
                <a:ea typeface="Arial" panose="020B0604020202020204"/>
                <a:cs typeface="Arial" panose="020B0604020202020204"/>
                <a:sym typeface="+mn-ea"/>
              </a:rPr>
              <a:t>• </a:t>
            </a:r>
            <a:r>
              <a:rPr sz="2175" kern="0" spc="-10" dirty="0">
                <a:solidFill>
                  <a:srgbClr val="000000">
                    <a:alpha val="100000"/>
                  </a:srgbClr>
                </a:solidFill>
                <a:latin typeface="Calibri Light" panose="020F0302020204030204"/>
                <a:ea typeface="Calibri Light" panose="020F0302020204030204"/>
                <a:cs typeface="Calibri Light" panose="020F0302020204030204"/>
                <a:sym typeface="+mn-ea"/>
              </a:rPr>
              <a:t>C</a:t>
            </a:r>
            <a:r>
              <a:rPr lang="en-US" altLang="zh-CN" sz="2175" dirty="0">
                <a:latin typeface="Calibri Light" panose="020F0302020204030204"/>
                <a:ea typeface="Calibri Light" panose="020F0302020204030204"/>
                <a:cs typeface="Calibri Light" panose="020F0302020204030204"/>
                <a:sym typeface="+mn-ea"/>
              </a:rPr>
              <a:t>onceptual explanations</a:t>
            </a:r>
            <a:endParaRPr sz="2175" kern="0" spc="-10" dirty="0">
              <a:solidFill>
                <a:srgbClr val="000000">
                  <a:alpha val="100000"/>
                </a:srgbClr>
              </a:solidFill>
              <a:latin typeface="Arial" panose="020B0604020202020204"/>
              <a:ea typeface="Arial" panose="020B0604020202020204"/>
              <a:cs typeface="Arial" panose="020B0604020202020204"/>
            </a:endParaRPr>
          </a:p>
          <a:p>
            <a:pPr marL="12700" algn="l" rtl="0" eaLnBrk="0">
              <a:lnSpc>
                <a:spcPct val="77000"/>
              </a:lnSpc>
              <a:spcBef>
                <a:spcPts val="730"/>
              </a:spcBef>
            </a:pPr>
            <a:r>
              <a:rPr sz="2175" kern="0" spc="-1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Classical</a:t>
            </a:r>
            <a:r>
              <a:rPr sz="2175" kern="0" spc="19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ML approach</a:t>
            </a:r>
            <a:r>
              <a:rPr sz="2175" kern="0" spc="-20" dirty="0">
                <a:solidFill>
                  <a:srgbClr val="000000">
                    <a:alpha val="100000"/>
                  </a:srgbClr>
                </a:solidFill>
                <a:latin typeface="Calibri Light" panose="020F0302020204030204"/>
                <a:ea typeface="Calibri Light" panose="020F0302020204030204"/>
                <a:cs typeface="Calibri Light" panose="020F0302020204030204"/>
              </a:rPr>
              <a:t>es are</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used to</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predict</a:t>
            </a:r>
            <a:r>
              <a:rPr sz="2175" kern="0" spc="9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stock</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returns</a:t>
            </a:r>
            <a:r>
              <a:rPr sz="2175" kern="0" spc="0" dirty="0">
                <a:solidFill>
                  <a:srgbClr val="000000">
                    <a:alpha val="100000"/>
                  </a:srgbClr>
                </a:solidFill>
                <a:latin typeface="Arial" panose="020B0604020202020204"/>
                <a:ea typeface="Arial" panose="020B0604020202020204"/>
                <a:cs typeface="Arial" panose="020B0604020202020204"/>
              </a:rPr>
              <a:t> </a:t>
            </a:r>
            <a:r>
              <a:rPr lang="en-US" sz="2175" kern="0" spc="0" dirty="0">
                <a:solidFill>
                  <a:srgbClr val="000000">
                    <a:alpha val="100000"/>
                  </a:srgbClr>
                </a:solidFill>
                <a:latin typeface="Arial" panose="020B0604020202020204"/>
                <a:ea typeface="Arial" panose="020B0604020202020204"/>
                <a:cs typeface="Arial" panose="020B0604020202020204"/>
              </a:rPr>
              <a:t>:</a:t>
            </a:r>
            <a:r>
              <a:rPr sz="1995" kern="0" spc="0" dirty="0">
                <a:solidFill>
                  <a:srgbClr val="000000">
                    <a:alpha val="100000"/>
                  </a:srgbClr>
                </a:solidFill>
                <a:latin typeface="Calibri Light" panose="020F0302020204030204"/>
                <a:ea typeface="Calibri Light" panose="020F0302020204030204"/>
                <a:cs typeface="Calibri Light" panose="020F0302020204030204"/>
              </a:rPr>
              <a:t>E_t(R_i_tp1) =</a:t>
            </a:r>
            <a:r>
              <a:rPr sz="1995" kern="0" spc="80" dirty="0">
                <a:solidFill>
                  <a:srgbClr val="000000">
                    <a:alpha val="100000"/>
                  </a:srgbClr>
                </a:solidFill>
                <a:latin typeface="Calibri Light" panose="020F0302020204030204"/>
                <a:ea typeface="Calibri Light" panose="020F0302020204030204"/>
                <a:cs typeface="Calibri Light" panose="020F0302020204030204"/>
              </a:rPr>
              <a:t> </a:t>
            </a:r>
            <a:r>
              <a:rPr sz="1995" kern="0" spc="0" dirty="0">
                <a:solidFill>
                  <a:srgbClr val="000000">
                    <a:alpha val="100000"/>
                  </a:srgbClr>
                </a:solidFill>
                <a:latin typeface="Calibri Light" panose="020F0302020204030204"/>
                <a:ea typeface="Calibri Light" panose="020F0302020204030204"/>
                <a:cs typeface="Calibri Light" panose="020F0302020204030204"/>
              </a:rPr>
              <a:t>g(z_i_t;</a:t>
            </a:r>
            <a:r>
              <a:rPr sz="1995" kern="0" spc="50" dirty="0">
                <a:solidFill>
                  <a:srgbClr val="000000">
                    <a:alpha val="100000"/>
                  </a:srgbClr>
                </a:solidFill>
                <a:latin typeface="Calibri Light" panose="020F0302020204030204"/>
                <a:ea typeface="Calibri Light" panose="020F0302020204030204"/>
                <a:cs typeface="Calibri Light" panose="020F0302020204030204"/>
              </a:rPr>
              <a:t> </a:t>
            </a:r>
            <a:r>
              <a:rPr sz="1995" kern="0" spc="0" dirty="0">
                <a:solidFill>
                  <a:srgbClr val="000000">
                    <a:alpha val="100000"/>
                  </a:srgbClr>
                </a:solidFill>
                <a:latin typeface="Calibri Light" panose="020F0302020204030204"/>
                <a:ea typeface="Calibri Light" panose="020F0302020204030204"/>
                <a:cs typeface="Calibri Light" panose="020F0302020204030204"/>
              </a:rPr>
              <a:t>theta)</a:t>
            </a:r>
            <a:endParaRPr sz="1995" dirty="0">
              <a:latin typeface="Calibri Light" panose="020F0302020204030204"/>
              <a:ea typeface="Calibri Light" panose="020F0302020204030204"/>
              <a:cs typeface="Calibri Light" panose="020F0302020204030204"/>
            </a:endParaRPr>
          </a:p>
          <a:p>
            <a:pPr marL="12700" algn="l" rtl="0" eaLnBrk="0">
              <a:lnSpc>
                <a:spcPct val="77000"/>
              </a:lnSpc>
              <a:spcBef>
                <a:spcPts val="1260"/>
              </a:spcBef>
            </a:pPr>
            <a:r>
              <a:rPr sz="2175" kern="0" spc="-1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Starting</a:t>
            </a:r>
            <a:r>
              <a:rPr sz="2175" kern="0" spc="16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configuration:</a:t>
            </a:r>
            <a:endParaRPr sz="2175" dirty="0">
              <a:latin typeface="Calibri Light" panose="020F0302020204030204"/>
              <a:ea typeface="Calibri Light" panose="020F0302020204030204"/>
              <a:cs typeface="Calibri Light" panose="020F0302020204030204"/>
            </a:endParaRPr>
          </a:p>
          <a:p>
            <a:pPr marL="400050" algn="l" rtl="0" eaLnBrk="0">
              <a:lnSpc>
                <a:spcPct val="73000"/>
              </a:lnSpc>
              <a:spcBef>
                <a:spcPts val="865"/>
              </a:spcBef>
            </a:pPr>
            <a:r>
              <a:rPr sz="1815" kern="0" spc="-10" dirty="0">
                <a:solidFill>
                  <a:srgbClr val="000000">
                    <a:alpha val="100000"/>
                  </a:srgbClr>
                </a:solidFill>
                <a:latin typeface="Arial" panose="020B0604020202020204"/>
                <a:ea typeface="Arial" panose="020B0604020202020204"/>
                <a:cs typeface="Arial" panose="020B0604020202020204"/>
              </a:rPr>
              <a:t>•</a:t>
            </a:r>
            <a:r>
              <a:rPr sz="1815" kern="0" spc="310" dirty="0">
                <a:solidFill>
                  <a:srgbClr val="000000">
                    <a:alpha val="100000"/>
                  </a:srgbClr>
                </a:solidFill>
                <a:latin typeface="Arial" panose="020B0604020202020204"/>
                <a:ea typeface="Arial" panose="020B0604020202020204"/>
                <a:cs typeface="Arial" panose="020B060402020202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Tr:</a:t>
            </a:r>
            <a:r>
              <a:rPr sz="1815" kern="0" spc="18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1957-1974,</a:t>
            </a:r>
            <a:r>
              <a:rPr sz="1815" kern="0" spc="19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18 years</a:t>
            </a:r>
            <a:endParaRPr sz="1815" dirty="0">
              <a:latin typeface="Calibri Light" panose="020F0302020204030204"/>
              <a:ea typeface="Calibri Light" panose="020F0302020204030204"/>
              <a:cs typeface="Calibri Light" panose="020F0302020204030204"/>
            </a:endParaRPr>
          </a:p>
          <a:p>
            <a:pPr marL="400050" algn="l" rtl="0" eaLnBrk="0">
              <a:lnSpc>
                <a:spcPct val="77000"/>
              </a:lnSpc>
              <a:spcBef>
                <a:spcPts val="745"/>
              </a:spcBef>
            </a:pPr>
            <a:r>
              <a:rPr sz="1815" kern="0" spc="-10" dirty="0">
                <a:solidFill>
                  <a:srgbClr val="000000">
                    <a:alpha val="100000"/>
                  </a:srgbClr>
                </a:solidFill>
                <a:latin typeface="Arial" panose="020B0604020202020204"/>
                <a:ea typeface="Arial" panose="020B0604020202020204"/>
                <a:cs typeface="Arial" panose="020B0604020202020204"/>
              </a:rPr>
              <a:t>•</a:t>
            </a:r>
            <a:r>
              <a:rPr sz="1815" kern="0" spc="300" dirty="0">
                <a:solidFill>
                  <a:srgbClr val="000000">
                    <a:alpha val="100000"/>
                  </a:srgbClr>
                </a:solidFill>
                <a:latin typeface="Arial" panose="020B0604020202020204"/>
                <a:ea typeface="Arial" panose="020B0604020202020204"/>
                <a:cs typeface="Arial" panose="020B060402020202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Vald</a:t>
            </a:r>
            <a:r>
              <a:rPr sz="1815" kern="0" spc="-23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a:t>
            </a:r>
            <a:r>
              <a:rPr sz="1815" kern="0" spc="180" dirty="0">
                <a:solidFill>
                  <a:srgbClr val="000000">
                    <a:alpha val="100000"/>
                  </a:srgbClr>
                </a:solidFill>
                <a:latin typeface="Calibri Light" panose="020F0302020204030204"/>
                <a:ea typeface="Calibri Light" panose="020F0302020204030204"/>
                <a:cs typeface="Calibri Light" panose="020F0302020204030204"/>
              </a:rPr>
              <a:t> </a:t>
            </a:r>
            <a:r>
              <a:rPr sz="1815" kern="0" spc="-10" dirty="0">
                <a:solidFill>
                  <a:srgbClr val="000000">
                    <a:alpha val="100000"/>
                  </a:srgbClr>
                </a:solidFill>
                <a:latin typeface="Calibri Light" panose="020F0302020204030204"/>
                <a:ea typeface="Calibri Light" panose="020F0302020204030204"/>
                <a:cs typeface="Calibri Light" panose="020F0302020204030204"/>
              </a:rPr>
              <a:t>1975-1986,</a:t>
            </a:r>
            <a:r>
              <a:rPr sz="1815" kern="0" spc="190" dirty="0">
                <a:solidFill>
                  <a:srgbClr val="000000">
                    <a:alpha val="100000"/>
                  </a:srgbClr>
                </a:solidFill>
                <a:latin typeface="Calibri Light" panose="020F0302020204030204"/>
                <a:ea typeface="Calibri Light" panose="020F0302020204030204"/>
                <a:cs typeface="Calibri Light" panose="020F0302020204030204"/>
              </a:rPr>
              <a:t> </a:t>
            </a:r>
            <a:r>
              <a:rPr sz="1815" kern="0" spc="-20" dirty="0">
                <a:solidFill>
                  <a:srgbClr val="000000">
                    <a:alpha val="100000"/>
                  </a:srgbClr>
                </a:solidFill>
                <a:latin typeface="Calibri Light" panose="020F0302020204030204"/>
                <a:ea typeface="Calibri Light" panose="020F0302020204030204"/>
                <a:cs typeface="Calibri Light" panose="020F0302020204030204"/>
              </a:rPr>
              <a:t>12 years</a:t>
            </a:r>
          </a:p>
          <a:p>
            <a:pPr marL="400050" algn="l" rtl="0" eaLnBrk="0">
              <a:lnSpc>
                <a:spcPct val="77000"/>
              </a:lnSpc>
              <a:spcBef>
                <a:spcPts val="745"/>
              </a:spcBef>
            </a:pPr>
            <a:r>
              <a:rPr sz="1815" kern="0" spc="-10" dirty="0">
                <a:solidFill>
                  <a:srgbClr val="000000">
                    <a:alpha val="100000"/>
                  </a:srgbClr>
                </a:solidFill>
                <a:latin typeface="Arial" panose="020B0604020202020204"/>
                <a:ea typeface="Arial" panose="020B0604020202020204"/>
                <a:cs typeface="Arial" panose="020B0604020202020204"/>
                <a:sym typeface="+mn-ea"/>
              </a:rPr>
              <a:t>•</a:t>
            </a:r>
            <a:r>
              <a:rPr sz="1815" kern="0" spc="300" dirty="0">
                <a:solidFill>
                  <a:srgbClr val="000000">
                    <a:alpha val="100000"/>
                  </a:srgbClr>
                </a:solidFill>
                <a:latin typeface="Arial" panose="020B0604020202020204"/>
                <a:ea typeface="Arial" panose="020B0604020202020204"/>
                <a:cs typeface="Arial" panose="020B0604020202020204"/>
                <a:sym typeface="+mn-ea"/>
              </a:rPr>
              <a:t> </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Test</a:t>
            </a:r>
            <a:r>
              <a:rPr lang="en-US"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 </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a:t>
            </a:r>
            <a:r>
              <a:rPr sz="1815" kern="0" spc="180" dirty="0">
                <a:solidFill>
                  <a:srgbClr val="000000">
                    <a:alpha val="100000"/>
                  </a:srgbClr>
                </a:solidFill>
                <a:latin typeface="Calibri Light" panose="020F0302020204030204"/>
                <a:ea typeface="Calibri Light" panose="020F0302020204030204"/>
                <a:cs typeface="Calibri Light" panose="020F0302020204030204"/>
                <a:sym typeface="+mn-ea"/>
              </a:rPr>
              <a:t> </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19</a:t>
            </a:r>
            <a:r>
              <a:rPr lang="en-US"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87</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a:t>
            </a:r>
            <a:r>
              <a:rPr lang="en-US"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2016</a:t>
            </a:r>
            <a:r>
              <a:rPr sz="1815" kern="0" spc="-10" dirty="0">
                <a:solidFill>
                  <a:srgbClr val="000000">
                    <a:alpha val="100000"/>
                  </a:srgbClr>
                </a:solidFill>
                <a:latin typeface="Calibri Light" panose="020F0302020204030204"/>
                <a:ea typeface="Calibri Light" panose="020F0302020204030204"/>
                <a:cs typeface="Calibri Light" panose="020F0302020204030204"/>
                <a:sym typeface="+mn-ea"/>
              </a:rPr>
              <a:t>,</a:t>
            </a:r>
            <a:r>
              <a:rPr sz="1815" kern="0" spc="190" dirty="0">
                <a:solidFill>
                  <a:srgbClr val="000000">
                    <a:alpha val="100000"/>
                  </a:srgbClr>
                </a:solidFill>
                <a:latin typeface="Calibri Light" panose="020F0302020204030204"/>
                <a:ea typeface="Calibri Light" panose="020F0302020204030204"/>
                <a:cs typeface="Calibri Light" panose="020F0302020204030204"/>
                <a:sym typeface="+mn-ea"/>
              </a:rPr>
              <a:t> </a:t>
            </a:r>
            <a:r>
              <a:rPr sz="1815" kern="0" spc="-20" dirty="0">
                <a:solidFill>
                  <a:srgbClr val="000000">
                    <a:alpha val="100000"/>
                  </a:srgbClr>
                </a:solidFill>
                <a:latin typeface="Calibri Light" panose="020F0302020204030204"/>
                <a:ea typeface="Calibri Light" panose="020F0302020204030204"/>
                <a:cs typeface="Calibri Light" panose="020F0302020204030204"/>
                <a:sym typeface="+mn-ea"/>
              </a:rPr>
              <a:t>12 years</a:t>
            </a:r>
            <a:endParaRPr sz="1815" dirty="0">
              <a:latin typeface="Calibri Light" panose="020F0302020204030204"/>
              <a:ea typeface="Calibri Light" panose="020F0302020204030204"/>
              <a:cs typeface="Calibri Light" panose="020F0302020204030204"/>
            </a:endParaRPr>
          </a:p>
          <a:p>
            <a:pPr marL="12700" algn="l" rtl="0" eaLnBrk="0">
              <a:lnSpc>
                <a:spcPct val="78000"/>
              </a:lnSpc>
              <a:spcBef>
                <a:spcPts val="1160"/>
              </a:spcBef>
            </a:pPr>
            <a:r>
              <a:rPr sz="2175" kern="0" spc="-10" dirty="0">
                <a:solidFill>
                  <a:srgbClr val="000000">
                    <a:alpha val="100000"/>
                  </a:srgbClr>
                </a:solidFill>
                <a:latin typeface="Arial" panose="020B0604020202020204"/>
                <a:ea typeface="Arial" panose="020B0604020202020204"/>
                <a:cs typeface="Arial" panose="020B0604020202020204"/>
              </a:rPr>
              <a:t>•</a:t>
            </a:r>
            <a:r>
              <a:rPr sz="2175" kern="0" spc="230" dirty="0">
                <a:solidFill>
                  <a:srgbClr val="000000">
                    <a:alpha val="100000"/>
                  </a:srgbClr>
                </a:solidFill>
                <a:latin typeface="Arial" panose="020B0604020202020204"/>
                <a:ea typeface="Arial" panose="020B0604020202020204"/>
                <a:cs typeface="Arial" panose="020B060402020202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Models get</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re-trained once every year</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(st</a:t>
            </a:r>
            <a:r>
              <a:rPr sz="2175" kern="0" spc="-20" dirty="0">
                <a:solidFill>
                  <a:srgbClr val="000000">
                    <a:alpha val="100000"/>
                  </a:srgbClr>
                </a:solidFill>
                <a:latin typeface="Calibri Light" panose="020F0302020204030204"/>
                <a:ea typeface="Calibri Light" panose="020F0302020204030204"/>
                <a:cs typeface="Calibri Light" panose="020F0302020204030204"/>
              </a:rPr>
              <a:t>arting</a:t>
            </a:r>
            <a:r>
              <a:rPr sz="2175" kern="0" spc="19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1987),</a:t>
            </a:r>
            <a:r>
              <a:rPr sz="2175" kern="0" spc="15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increasing the</a:t>
            </a:r>
            <a:endParaRPr sz="2175" dirty="0">
              <a:latin typeface="Calibri Light" panose="020F0302020204030204"/>
              <a:ea typeface="Calibri Light" panose="020F0302020204030204"/>
              <a:cs typeface="Calibri Light" panose="020F0302020204030204"/>
            </a:endParaRPr>
          </a:p>
          <a:p>
            <a:pPr marL="204470" indent="-8255" algn="l" rtl="0" eaLnBrk="0">
              <a:lnSpc>
                <a:spcPct val="82000"/>
              </a:lnSpc>
              <a:spcBef>
                <a:spcPts val="365"/>
              </a:spcBef>
            </a:pPr>
            <a:r>
              <a:rPr sz="2175" kern="0" spc="-10" dirty="0">
                <a:solidFill>
                  <a:srgbClr val="000000">
                    <a:alpha val="100000"/>
                  </a:srgbClr>
                </a:solidFill>
                <a:latin typeface="Calibri Light" panose="020F0302020204030204"/>
                <a:ea typeface="Calibri Light" panose="020F0302020204030204"/>
                <a:cs typeface="Calibri Light" panose="020F0302020204030204"/>
              </a:rPr>
              <a:t>training set</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by</a:t>
            </a:r>
            <a:r>
              <a:rPr sz="2175" kern="0" spc="19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1 year,</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10" dirty="0">
                <a:solidFill>
                  <a:srgbClr val="000000">
                    <a:alpha val="100000"/>
                  </a:srgbClr>
                </a:solidFill>
                <a:latin typeface="Calibri Light" panose="020F0302020204030204"/>
                <a:ea typeface="Calibri Light" panose="020F0302020204030204"/>
                <a:cs typeface="Calibri Light" panose="020F0302020204030204"/>
              </a:rPr>
              <a:t>keeping va</a:t>
            </a:r>
            <a:r>
              <a:rPr sz="2175" kern="0" spc="-20" dirty="0">
                <a:solidFill>
                  <a:srgbClr val="000000">
                    <a:alpha val="100000"/>
                  </a:srgbClr>
                </a:solidFill>
                <a:latin typeface="Calibri Light" panose="020F0302020204030204"/>
                <a:ea typeface="Calibri Light" panose="020F0302020204030204"/>
                <a:cs typeface="Calibri Light" panose="020F0302020204030204"/>
              </a:rPr>
              <a:t>lidation set at</a:t>
            </a:r>
            <a:r>
              <a:rPr sz="2175" kern="0" spc="20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12 years</a:t>
            </a:r>
            <a:r>
              <a:rPr sz="2175" kern="0" spc="11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and testing</a:t>
            </a:r>
            <a:r>
              <a:rPr sz="2175" kern="0" spc="3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forecasts</a:t>
            </a:r>
            <a:r>
              <a:rPr sz="2175" kern="0" spc="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on</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next year‘s</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realized</a:t>
            </a:r>
            <a:r>
              <a:rPr sz="2175" kern="0" spc="180" dirty="0">
                <a:solidFill>
                  <a:srgbClr val="000000">
                    <a:alpha val="100000"/>
                  </a:srgbClr>
                </a:solidFill>
                <a:latin typeface="Calibri Light" panose="020F0302020204030204"/>
                <a:ea typeface="Calibri Light" panose="020F0302020204030204"/>
                <a:cs typeface="Calibri Light" panose="020F0302020204030204"/>
              </a:rPr>
              <a:t> </a:t>
            </a:r>
            <a:r>
              <a:rPr sz="2175" kern="0" spc="-20" dirty="0">
                <a:solidFill>
                  <a:srgbClr val="000000">
                    <a:alpha val="100000"/>
                  </a:srgbClr>
                </a:solidFill>
                <a:latin typeface="Calibri Light" panose="020F0302020204030204"/>
                <a:ea typeface="Calibri Light" panose="020F0302020204030204"/>
                <a:cs typeface="Calibri Light" panose="020F0302020204030204"/>
              </a:rPr>
              <a:t>mont</a:t>
            </a:r>
            <a:r>
              <a:rPr sz="2175" kern="0" spc="-30" dirty="0">
                <a:solidFill>
                  <a:srgbClr val="000000">
                    <a:alpha val="100000"/>
                  </a:srgbClr>
                </a:solidFill>
                <a:latin typeface="Calibri Light" panose="020F0302020204030204"/>
                <a:ea typeface="Calibri Light" panose="020F0302020204030204"/>
                <a:cs typeface="Calibri Light" panose="020F0302020204030204"/>
              </a:rPr>
              <a:t>hly</a:t>
            </a:r>
            <a:r>
              <a:rPr sz="2175" kern="0" spc="170" dirty="0">
                <a:solidFill>
                  <a:srgbClr val="000000">
                    <a:alpha val="100000"/>
                  </a:srgbClr>
                </a:solidFill>
                <a:latin typeface="Calibri Light" panose="020F0302020204030204"/>
                <a:ea typeface="Calibri Light" panose="020F0302020204030204"/>
                <a:cs typeface="Calibri Light" panose="020F0302020204030204"/>
              </a:rPr>
              <a:t> </a:t>
            </a:r>
            <a:r>
              <a:rPr sz="2175" kern="0" spc="-30" dirty="0">
                <a:solidFill>
                  <a:srgbClr val="000000">
                    <a:alpha val="100000"/>
                  </a:srgbClr>
                </a:solidFill>
                <a:latin typeface="Calibri Light" panose="020F0302020204030204"/>
                <a:ea typeface="Calibri Light" panose="020F0302020204030204"/>
                <a:cs typeface="Calibri Light" panose="020F0302020204030204"/>
              </a:rPr>
              <a:t>returns</a:t>
            </a:r>
            <a:endParaRPr sz="2175"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sz="2810" kern="0" spc="-10" dirty="0">
                <a:solidFill>
                  <a:srgbClr val="000000">
                    <a:alpha val="100000"/>
                  </a:srgbClr>
                </a:solidFill>
                <a:latin typeface="Calibri Light" panose="020F0302020204030204"/>
                <a:ea typeface="Calibri Light" panose="020F0302020204030204"/>
                <a:cs typeface="Calibri Light" panose="020F0302020204030204"/>
                <a:sym typeface="+mn-ea"/>
              </a:rPr>
              <a:t>C</a:t>
            </a:r>
            <a:r>
              <a:rPr lang="en-US" altLang="zh-CN" sz="2810" dirty="0">
                <a:latin typeface="Calibri Light" panose="020F0302020204030204"/>
                <a:ea typeface="Calibri Light" panose="020F0302020204030204"/>
                <a:cs typeface="Calibri Light" panose="020F0302020204030204"/>
                <a:sym typeface="+mn-ea"/>
              </a:rPr>
              <a:t>onceptual explanations</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The definition of machine learning</a:t>
            </a:r>
          </a:p>
          <a:p>
            <a:pPr marL="12700" algn="l" rtl="0" eaLnBrk="0">
              <a:lnSpc>
                <a:spcPct val="77000"/>
              </a:lnSpc>
              <a:spcBef>
                <a:spcPts val="1140"/>
              </a:spcBef>
            </a:pPr>
            <a:r>
              <a:rPr lang="en-US" altLang="zh-CN" sz="1540" dirty="0">
                <a:latin typeface="Calibri Light" panose="020F0302020204030204"/>
                <a:ea typeface="Calibri Light" panose="020F0302020204030204"/>
                <a:cs typeface="Calibri Light" panose="020F0302020204030204"/>
              </a:rPr>
              <a:t>The definition of machine learning in statistical prediction encompasses three core elements:</a:t>
            </a:r>
          </a:p>
          <a:p>
            <a:pPr marL="12700" algn="l" rtl="0" eaLnBrk="0">
              <a:lnSpc>
                <a:spcPct val="77000"/>
              </a:lnSpc>
              <a:spcBef>
                <a:spcPts val="1140"/>
              </a:spcBef>
            </a:pPr>
            <a:r>
              <a:rPr lang="en-US" altLang="zh-CN" sz="1540" dirty="0">
                <a:latin typeface="Calibri Light" panose="020F0302020204030204"/>
                <a:ea typeface="Calibri Light" panose="020F0302020204030204"/>
                <a:cs typeface="Calibri Light" panose="020F0302020204030204"/>
              </a:rPr>
              <a:t>(a) a diverse collection of high-dimensional models for statistical prediction, combined with (b) so-called “regularization” methods for model selection and mitigation of overfit, and (c) efficient algorithms for searching among a vast number of potential model specifications.</a:t>
            </a:r>
          </a:p>
          <a:p>
            <a:pPr marL="400685" algn="l" rtl="0" eaLnBrk="0">
              <a:lnSpc>
                <a:spcPct val="78000"/>
              </a:lnSpc>
              <a:spcBef>
                <a:spcPts val="610"/>
              </a:spcBef>
            </a:pPr>
            <a:r>
              <a:rPr sz="1540" kern="0" spc="0" dirty="0">
                <a:solidFill>
                  <a:srgbClr val="000000">
                    <a:alpha val="100000"/>
                  </a:srgbClr>
                </a:solidFill>
                <a:latin typeface="Arial" panose="020B0604020202020204"/>
                <a:ea typeface="Arial" panose="020B0604020202020204"/>
                <a:cs typeface="Arial" panose="020B0604020202020204"/>
              </a:rPr>
              <a:t>•</a:t>
            </a:r>
            <a:r>
              <a:rPr lang="en-US"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(a) </a:t>
            </a:r>
            <a:r>
              <a:rPr lang="en-US" altLang="zh-CN" sz="1540" dirty="0">
                <a:latin typeface="Calibri Light" panose="020F0302020204030204"/>
                <a:ea typeface="Calibri Light" panose="020F0302020204030204"/>
                <a:cs typeface="Calibri Light" panose="020F0302020204030204"/>
              </a:rPr>
              <a:t>High-Dimensional Models</a:t>
            </a: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The objective is to predict the target variable through a complex functional mapping</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where X∈R      represents the high-dimensional feature matrix, f(X)     is a nonlinear mapping function, and </a:t>
            </a:r>
            <a:r>
              <a:rPr lang="en-US" altLang="en-US" sz="1540" dirty="0">
                <a:latin typeface="Calibri Light" panose="020F0302020204030204"/>
                <a:ea typeface="Calibri Light" panose="020F0302020204030204"/>
                <a:cs typeface="Calibri Light" panose="020F0302020204030204"/>
              </a:rPr>
              <a:t>ϵ</a:t>
            </a:r>
            <a:r>
              <a:rPr lang="en-US" altLang="zh-CN" sz="1540" dirty="0">
                <a:latin typeface="Calibri Light" panose="020F0302020204030204"/>
                <a:ea typeface="Calibri Light" panose="020F0302020204030204"/>
                <a:cs typeface="Calibri Light" panose="020F0302020204030204"/>
              </a:rPr>
              <a:t> denotes the error term.</a:t>
            </a:r>
          </a:p>
          <a:p>
            <a:pPr marL="400685" algn="l" rtl="0" eaLnBrk="0">
              <a:lnSpc>
                <a:spcPct val="78000"/>
              </a:lnSpc>
              <a:spcBef>
                <a:spcPts val="610"/>
              </a:spcBef>
            </a:pPr>
            <a:r>
              <a:rPr sz="1540" kern="0" spc="-1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(b) </a:t>
            </a:r>
            <a:r>
              <a:rPr lang="en-US" altLang="zh-CN" sz="1540" dirty="0">
                <a:latin typeface="Calibri Light" panose="020F0302020204030204"/>
                <a:ea typeface="Calibri Light" panose="020F0302020204030204"/>
                <a:cs typeface="Calibri Light" panose="020F0302020204030204"/>
              </a:rPr>
              <a:t>Regularization Methods</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To mitigate overfitting, a regularization constraint is added to the optimization objective:</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spc="-1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(c) </a:t>
            </a:r>
            <a:r>
              <a:rPr lang="en-US" altLang="zh-CN" sz="1540" dirty="0">
                <a:latin typeface="Calibri Light" panose="020F0302020204030204"/>
                <a:ea typeface="Calibri Light" panose="020F0302020204030204"/>
                <a:cs typeface="Calibri Light" panose="020F0302020204030204"/>
              </a:rPr>
              <a:t>Efficient Algorithms</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Efficient algorithms are employed to search for the optimal model within the function space     : </a:t>
            </a: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2"/>
          <a:stretch>
            <a:fillRect/>
          </a:stretch>
        </p:blipFill>
        <p:spPr>
          <a:xfrm>
            <a:off x="1033145" y="2332990"/>
            <a:ext cx="1562100" cy="495300"/>
          </a:xfrm>
          <a:prstGeom prst="rect">
            <a:avLst/>
          </a:prstGeom>
        </p:spPr>
      </p:pic>
      <p:pic>
        <p:nvPicPr>
          <p:cNvPr id="3" name="图片 2"/>
          <p:cNvPicPr>
            <a:picLocks noChangeAspect="1"/>
          </p:cNvPicPr>
          <p:nvPr/>
        </p:nvPicPr>
        <p:blipFill>
          <a:blip r:embed="rId3"/>
          <a:stretch>
            <a:fillRect/>
          </a:stretch>
        </p:blipFill>
        <p:spPr>
          <a:xfrm>
            <a:off x="1584325" y="2865120"/>
            <a:ext cx="647700" cy="281940"/>
          </a:xfrm>
          <a:prstGeom prst="rect">
            <a:avLst/>
          </a:prstGeom>
        </p:spPr>
      </p:pic>
      <p:pic>
        <p:nvPicPr>
          <p:cNvPr id="4" name="图片 3"/>
          <p:cNvPicPr>
            <a:picLocks noChangeAspect="1"/>
          </p:cNvPicPr>
          <p:nvPr/>
        </p:nvPicPr>
        <p:blipFill>
          <a:blip r:embed="rId4"/>
          <a:stretch>
            <a:fillRect/>
          </a:stretch>
        </p:blipFill>
        <p:spPr>
          <a:xfrm>
            <a:off x="6032500" y="2885440"/>
            <a:ext cx="472440" cy="274320"/>
          </a:xfrm>
          <a:prstGeom prst="rect">
            <a:avLst/>
          </a:prstGeom>
        </p:spPr>
      </p:pic>
      <p:pic>
        <p:nvPicPr>
          <p:cNvPr id="5" name="图片 4"/>
          <p:cNvPicPr>
            <a:picLocks noChangeAspect="1"/>
          </p:cNvPicPr>
          <p:nvPr/>
        </p:nvPicPr>
        <p:blipFill>
          <a:blip r:embed="rId5"/>
          <a:stretch>
            <a:fillRect/>
          </a:stretch>
        </p:blipFill>
        <p:spPr>
          <a:xfrm>
            <a:off x="9406890" y="2938780"/>
            <a:ext cx="160020" cy="129540"/>
          </a:xfrm>
          <a:prstGeom prst="rect">
            <a:avLst/>
          </a:prstGeom>
        </p:spPr>
      </p:pic>
      <p:pic>
        <p:nvPicPr>
          <p:cNvPr id="7" name="图片 6"/>
          <p:cNvPicPr>
            <a:picLocks noChangeAspect="1"/>
          </p:cNvPicPr>
          <p:nvPr/>
        </p:nvPicPr>
        <p:blipFill>
          <a:blip r:embed="rId6"/>
          <a:stretch>
            <a:fillRect/>
          </a:stretch>
        </p:blipFill>
        <p:spPr>
          <a:xfrm>
            <a:off x="1033145" y="3729990"/>
            <a:ext cx="2758440" cy="556260"/>
          </a:xfrm>
          <a:prstGeom prst="rect">
            <a:avLst/>
          </a:prstGeom>
        </p:spPr>
      </p:pic>
      <p:pic>
        <p:nvPicPr>
          <p:cNvPr id="8" name="图片 7"/>
          <p:cNvPicPr>
            <a:picLocks noChangeAspect="1"/>
          </p:cNvPicPr>
          <p:nvPr/>
        </p:nvPicPr>
        <p:blipFill>
          <a:blip r:embed="rId7"/>
          <a:stretch>
            <a:fillRect/>
          </a:stretch>
        </p:blipFill>
        <p:spPr>
          <a:xfrm>
            <a:off x="3991610" y="3742690"/>
            <a:ext cx="4480560" cy="655320"/>
          </a:xfrm>
          <a:prstGeom prst="rect">
            <a:avLst/>
          </a:prstGeom>
        </p:spPr>
      </p:pic>
      <p:pic>
        <p:nvPicPr>
          <p:cNvPr id="10" name="图片 9"/>
          <p:cNvPicPr>
            <a:picLocks noChangeAspect="1"/>
          </p:cNvPicPr>
          <p:nvPr/>
        </p:nvPicPr>
        <p:blipFill>
          <a:blip r:embed="rId8"/>
          <a:stretch>
            <a:fillRect/>
          </a:stretch>
        </p:blipFill>
        <p:spPr>
          <a:xfrm>
            <a:off x="8247380" y="4687570"/>
            <a:ext cx="167640" cy="205740"/>
          </a:xfrm>
          <a:prstGeom prst="rect">
            <a:avLst/>
          </a:prstGeom>
        </p:spPr>
      </p:pic>
      <p:pic>
        <p:nvPicPr>
          <p:cNvPr id="11" name="图片 10"/>
          <p:cNvPicPr>
            <a:picLocks noChangeAspect="1"/>
          </p:cNvPicPr>
          <p:nvPr/>
        </p:nvPicPr>
        <p:blipFill>
          <a:blip r:embed="rId9"/>
          <a:stretch>
            <a:fillRect/>
          </a:stretch>
        </p:blipFill>
        <p:spPr>
          <a:xfrm>
            <a:off x="1083945" y="4876800"/>
            <a:ext cx="3695700" cy="548640"/>
          </a:xfrm>
          <a:prstGeom prst="rect">
            <a:avLst/>
          </a:prstGeom>
        </p:spPr>
      </p:pic>
      <p:sp>
        <p:nvSpPr>
          <p:cNvPr id="12" name="文本框 11"/>
          <p:cNvSpPr txBox="1"/>
          <p:nvPr/>
        </p:nvSpPr>
        <p:spPr>
          <a:xfrm>
            <a:off x="1076960" y="5541645"/>
            <a:ext cx="10598150" cy="583565"/>
          </a:xfrm>
          <a:prstGeom prst="rect">
            <a:avLst/>
          </a:prstGeom>
        </p:spPr>
        <p:txBody>
          <a:bodyPr wrap="square">
            <a:spAutoFit/>
          </a:bodyPr>
          <a:lstStyle/>
          <a:p>
            <a:r>
              <a:rPr lang="en-US" altLang="zh-CN" sz="1600"/>
              <a:t>Heuristic methods or gradient-based optimization techniques (e.g., random forests, gradient boosting machines, neural networks) are used to approximate the optimal solution, significantly reducing computational complexity.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sz="2810" kern="0" spc="-10" dirty="0">
                <a:solidFill>
                  <a:srgbClr val="000000">
                    <a:alpha val="100000"/>
                  </a:srgbClr>
                </a:solidFill>
                <a:latin typeface="Calibri Light" panose="020F0302020204030204"/>
                <a:ea typeface="Calibri Light" panose="020F0302020204030204"/>
                <a:cs typeface="Calibri Light" panose="020F0302020204030204"/>
                <a:sym typeface="+mn-ea"/>
              </a:rPr>
              <a:t>C</a:t>
            </a:r>
            <a:r>
              <a:rPr lang="en-US" altLang="zh-CN" sz="2810" dirty="0">
                <a:latin typeface="Calibri Light" panose="020F0302020204030204"/>
                <a:ea typeface="Calibri Light" panose="020F0302020204030204"/>
                <a:cs typeface="Calibri Light" panose="020F0302020204030204"/>
                <a:sym typeface="+mn-ea"/>
              </a:rPr>
              <a:t>onceptual explanations</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Why Apply Machine Learning Methods to Empirical Asset Pricing?</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lang="en-US" altLang="zh-CN" sz="1540" dirty="0">
                <a:latin typeface="Calibri Light" panose="020F0302020204030204"/>
                <a:ea typeface="Calibri Light" panose="020F0302020204030204"/>
                <a:cs typeface="Calibri Light" panose="020F0302020204030204"/>
              </a:rPr>
              <a:t>Three features of empirical asset pricing make it ideal for machine learning analysis:</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spc="0" dirty="0">
                <a:solidFill>
                  <a:srgbClr val="000000">
                    <a:alpha val="100000"/>
                  </a:srgbClr>
                </a:solidFill>
                <a:latin typeface="Arial" panose="020B0604020202020204"/>
                <a:ea typeface="Arial" panose="020B0604020202020204"/>
                <a:cs typeface="Arial" panose="020B0604020202020204"/>
              </a:rPr>
              <a:t>•</a:t>
            </a:r>
            <a:r>
              <a:rPr lang="en-US"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1.</a:t>
            </a:r>
            <a:r>
              <a:rPr lang="en-US" altLang="zh-CN" sz="1540" dirty="0">
                <a:latin typeface="Calibri Light" panose="020F0302020204030204"/>
                <a:ea typeface="Calibri Light" panose="020F0302020204030204"/>
                <a:cs typeface="Calibri Light" panose="020F0302020204030204"/>
              </a:rPr>
              <a:t>The Predictive Power</a:t>
            </a: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First, the two core research agendas in asset pricing—explaining differences in expected returns across assets and analyzing the dynamics of the aggregate market equity risk premium—are fundamentally predictive problems. Machine learning is particularly well-suited to such tasks due to its strength in prediction.</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dirty="0">
                <a:solidFill>
                  <a:srgbClr val="000000">
                    <a:alpha val="100000"/>
                  </a:srgbClr>
                </a:solidFill>
                <a:latin typeface="Arial" panose="020B0604020202020204"/>
                <a:ea typeface="Arial" panose="020B0604020202020204"/>
                <a:cs typeface="Arial" panose="020B0604020202020204"/>
                <a:sym typeface="+mn-ea"/>
              </a:rPr>
              <a:t>•</a:t>
            </a:r>
            <a:r>
              <a:rPr lang="en-US"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2.Dimensionality</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Second, the set of candidate predictors for risk premiums is vast, including hundreds of stock-level characteristics and dozens of macroeconomic variables documented in the literature. Traditional methods often struggle when the number of predictors approaches the number of observations or when predictors are highly correlated. Machine learning, with its emphasis on variable selection and dimension reduction, effectively addresses these challenges.</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sz="1540" kern="0" dirty="0">
                <a:solidFill>
                  <a:srgbClr val="000000">
                    <a:alpha val="100000"/>
                  </a:srgbClr>
                </a:solidFill>
                <a:latin typeface="Arial" panose="020B0604020202020204"/>
                <a:ea typeface="Arial" panose="020B0604020202020204"/>
                <a:cs typeface="Arial" panose="020B0604020202020204"/>
                <a:sym typeface="+mn-ea"/>
              </a:rPr>
              <a:t>•</a:t>
            </a:r>
            <a:r>
              <a:rPr lang="en-US"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3.</a:t>
            </a:r>
            <a:r>
              <a:rPr lang="en-US" altLang="zh-CN" sz="1540" dirty="0">
                <a:latin typeface="Calibri Light" panose="020F0302020204030204"/>
                <a:ea typeface="Calibri Light" panose="020F0302020204030204"/>
                <a:cs typeface="Calibri Light" panose="020F0302020204030204"/>
              </a:rPr>
              <a:t>Flexibility</a:t>
            </a: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Finally, the functional forms through which high-dimensional predictors influence risk premiums are highly uncertain, encompassing possibilities such as linearity, nonlinearity, and interactions among predictors. Machine learning excels in handling such uncertainties with its methodological diversity, capability to model complex nonlinear relationships, and use of parameter penalization mechanisms, which collectively enable it to balance model flexibility with overfitting avoidance.</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44500" y="3212465"/>
            <a:ext cx="2066925" cy="955675"/>
          </a:xfrm>
          <a:prstGeom prst="rect">
            <a:avLst/>
          </a:prstGeom>
          <a:noFill/>
        </p:spPr>
        <p:txBody>
          <a:bodyPr wrap="square" rtlCol="0">
            <a:spAutoFit/>
          </a:bodyPr>
          <a:lstStyle/>
          <a:p>
            <a:r>
              <a:rPr sz="2810" kern="0" spc="-10" dirty="0">
                <a:solidFill>
                  <a:srgbClr val="000000">
                    <a:alpha val="100000"/>
                  </a:srgbClr>
                </a:solidFill>
                <a:latin typeface="Calibri Light" panose="020F0302020204030204"/>
                <a:ea typeface="Calibri Light" panose="020F0302020204030204"/>
                <a:cs typeface="Calibri Light" panose="020F0302020204030204"/>
              </a:rPr>
              <a:t>model construction</a:t>
            </a:r>
            <a:endParaRPr lang="en-US" sz="2400" dirty="0">
              <a:solidFill>
                <a:srgbClr val="26927D"/>
              </a:solidFill>
            </a:endParaRPr>
          </a:p>
        </p:txBody>
      </p:sp>
      <p:sp>
        <p:nvSpPr>
          <p:cNvPr id="6" name="左大括号 5"/>
          <p:cNvSpPr/>
          <p:nvPr/>
        </p:nvSpPr>
        <p:spPr>
          <a:xfrm>
            <a:off x="2160905" y="2319020"/>
            <a:ext cx="1048385" cy="2546350"/>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8" name="文本框 7"/>
          <p:cNvSpPr txBox="1"/>
          <p:nvPr/>
        </p:nvSpPr>
        <p:spPr>
          <a:xfrm>
            <a:off x="3277870" y="3140710"/>
            <a:ext cx="1903730" cy="645160"/>
          </a:xfrm>
          <a:prstGeom prst="rect">
            <a:avLst/>
          </a:prstGeom>
          <a:noFill/>
        </p:spPr>
        <p:txBody>
          <a:bodyPr wrap="square" rtlCol="0">
            <a:spAutoFit/>
          </a:bodyPr>
          <a:lstStyle/>
          <a:p>
            <a:r>
              <a:rPr lang="zh-CN" altLang="en-US"/>
              <a:t>the most general form</a:t>
            </a:r>
          </a:p>
        </p:txBody>
      </p:sp>
      <p:sp>
        <p:nvSpPr>
          <p:cNvPr id="2" name="文本框 1"/>
          <p:cNvSpPr txBox="1"/>
          <p:nvPr/>
        </p:nvSpPr>
        <p:spPr>
          <a:xfrm>
            <a:off x="3251200" y="2122170"/>
            <a:ext cx="2393315" cy="502285"/>
          </a:xfrm>
          <a:prstGeom prst="rect">
            <a:avLst/>
          </a:prstGeom>
          <a:noFill/>
        </p:spPr>
        <p:txBody>
          <a:bodyPr wrap="square" rtlCol="0">
            <a:noAutofit/>
          </a:bodyPr>
          <a:lstStyle/>
          <a:p>
            <a:r>
              <a:rPr lang="en-US" altLang="zh-CN">
                <a:sym typeface="+mn-ea"/>
              </a:rPr>
              <a:t>t</a:t>
            </a:r>
            <a:r>
              <a:rPr lang="zh-CN" altLang="en-US">
                <a:sym typeface="+mn-ea"/>
              </a:rPr>
              <a:t>heoretical </a:t>
            </a:r>
            <a:r>
              <a:rPr lang="en-US" altLang="zh-CN">
                <a:sym typeface="+mn-ea"/>
              </a:rPr>
              <a:t>f</a:t>
            </a:r>
            <a:r>
              <a:rPr lang="zh-CN" altLang="en-US">
                <a:sym typeface="+mn-ea"/>
              </a:rPr>
              <a:t>oundation</a:t>
            </a:r>
            <a:endParaRPr lang="zh-CN" altLang="en-US"/>
          </a:p>
          <a:p>
            <a:endParaRPr lang="zh-CN" altLang="en-US"/>
          </a:p>
        </p:txBody>
      </p:sp>
      <p:sp>
        <p:nvSpPr>
          <p:cNvPr id="3" name="文本框 2"/>
          <p:cNvSpPr txBox="1"/>
          <p:nvPr/>
        </p:nvSpPr>
        <p:spPr>
          <a:xfrm>
            <a:off x="3284855" y="4469130"/>
            <a:ext cx="2580640" cy="645160"/>
          </a:xfrm>
          <a:prstGeom prst="rect">
            <a:avLst/>
          </a:prstGeom>
          <a:noFill/>
        </p:spPr>
        <p:txBody>
          <a:bodyPr wrap="square" rtlCol="0" anchor="t">
            <a:spAutoFit/>
          </a:bodyPr>
          <a:lstStyle/>
          <a:p>
            <a:r>
              <a:rPr lang="zh-CN" altLang="en-US">
                <a:sym typeface="+mn-ea"/>
              </a:rPr>
              <a:t>g-function methods considered</a:t>
            </a:r>
          </a:p>
        </p:txBody>
      </p:sp>
      <p:sp>
        <p:nvSpPr>
          <p:cNvPr id="14" name="文本框 13"/>
          <p:cNvSpPr txBox="1"/>
          <p:nvPr/>
        </p:nvSpPr>
        <p:spPr>
          <a:xfrm>
            <a:off x="5908040" y="3212465"/>
            <a:ext cx="2077085" cy="955675"/>
          </a:xfrm>
          <a:prstGeom prst="rect">
            <a:avLst/>
          </a:prstGeom>
          <a:noFill/>
        </p:spPr>
        <p:txBody>
          <a:bodyPr wrap="square" rtlCol="0">
            <a:spAutoFit/>
          </a:bodyPr>
          <a:lstStyle/>
          <a:p>
            <a:r>
              <a:rPr sz="2810" kern="0" spc="-10" dirty="0">
                <a:solidFill>
                  <a:srgbClr val="000000">
                    <a:alpha val="100000"/>
                  </a:srgbClr>
                </a:solidFill>
                <a:latin typeface="Calibri Light" panose="020F0302020204030204"/>
                <a:ea typeface="Calibri Light" panose="020F0302020204030204"/>
                <a:cs typeface="Calibri Light" panose="020F0302020204030204"/>
              </a:rPr>
              <a:t>performance evaluation</a:t>
            </a:r>
          </a:p>
        </p:txBody>
      </p:sp>
      <p:sp>
        <p:nvSpPr>
          <p:cNvPr id="4" name="左大括号 3"/>
          <p:cNvSpPr/>
          <p:nvPr/>
        </p:nvSpPr>
        <p:spPr>
          <a:xfrm>
            <a:off x="7854950" y="2491740"/>
            <a:ext cx="1048385" cy="2546350"/>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 name="文本框 6"/>
          <p:cNvSpPr txBox="1"/>
          <p:nvPr/>
        </p:nvSpPr>
        <p:spPr>
          <a:xfrm>
            <a:off x="9006205" y="2327275"/>
            <a:ext cx="2814955" cy="368300"/>
          </a:xfrm>
          <a:prstGeom prst="rect">
            <a:avLst/>
          </a:prstGeom>
          <a:noFill/>
        </p:spPr>
        <p:txBody>
          <a:bodyPr wrap="square" rtlCol="0" anchor="t">
            <a:spAutoFit/>
          </a:bodyPr>
          <a:lstStyle/>
          <a:p>
            <a:r>
              <a:rPr lang="zh-CN" altLang="en-US" sz="1800">
                <a:sym typeface="+mn-ea"/>
              </a:rPr>
              <a:t>Assessing predictive power</a:t>
            </a:r>
          </a:p>
        </p:txBody>
      </p:sp>
      <p:sp>
        <p:nvSpPr>
          <p:cNvPr id="9" name="文本框 8"/>
          <p:cNvSpPr txBox="1"/>
          <p:nvPr/>
        </p:nvSpPr>
        <p:spPr>
          <a:xfrm>
            <a:off x="9231630" y="3408680"/>
            <a:ext cx="2195195" cy="368300"/>
          </a:xfrm>
          <a:prstGeom prst="rect">
            <a:avLst/>
          </a:prstGeom>
          <a:noFill/>
        </p:spPr>
        <p:txBody>
          <a:bodyPr wrap="square" rtlCol="0" anchor="t">
            <a:spAutoFit/>
          </a:bodyPr>
          <a:lstStyle/>
          <a:p>
            <a:r>
              <a:rPr lang="zh-CN" altLang="en-US" sz="1800">
                <a:sym typeface="+mn-ea"/>
              </a:rPr>
              <a:t>Forecast comparison</a:t>
            </a:r>
          </a:p>
        </p:txBody>
      </p:sp>
      <p:sp>
        <p:nvSpPr>
          <p:cNvPr id="10" name="文本框 9"/>
          <p:cNvSpPr txBox="1"/>
          <p:nvPr/>
        </p:nvSpPr>
        <p:spPr>
          <a:xfrm>
            <a:off x="9170035" y="4599305"/>
            <a:ext cx="2651125" cy="645160"/>
          </a:xfrm>
          <a:prstGeom prst="rect">
            <a:avLst/>
          </a:prstGeom>
          <a:noFill/>
        </p:spPr>
        <p:txBody>
          <a:bodyPr wrap="square" rtlCol="0" anchor="t">
            <a:spAutoFit/>
          </a:bodyPr>
          <a:lstStyle/>
          <a:p>
            <a:r>
              <a:rPr lang="zh-CN" altLang="en-US" sz="1800">
                <a:sym typeface="+mn-ea"/>
              </a:rPr>
              <a:t>Variable Importance and Marginal Relationships</a:t>
            </a:r>
          </a:p>
        </p:txBody>
      </p:sp>
      <p:sp>
        <p:nvSpPr>
          <p:cNvPr id="11" name="文本框 10"/>
          <p:cNvSpPr txBox="1"/>
          <p:nvPr/>
        </p:nvSpPr>
        <p:spPr>
          <a:xfrm>
            <a:off x="678180" y="418465"/>
            <a:ext cx="2759710" cy="760095"/>
          </a:xfrm>
          <a:prstGeom prst="rect">
            <a:avLst/>
          </a:prstGeom>
          <a:noFill/>
        </p:spPr>
        <p:txBody>
          <a:bodyPr wrap="square" rtlCol="0">
            <a:noAutofit/>
          </a:bodyPr>
          <a:lstStyle/>
          <a:p>
            <a:r>
              <a:rPr lang="en-US" altLang="zh-CN" sz="3200"/>
              <a:t>Framework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ym typeface="+mn-ea"/>
              </a:rPr>
              <a:t>Theoretical Foundation</a:t>
            </a:r>
            <a:endParaRPr lang="en-US" sz="3600" b="1" dirty="0">
              <a:hlinkClick r:id="rId3" action="ppaction://hlinksldjump"/>
            </a:endParaRPr>
          </a:p>
        </p:txBody>
      </p:sp>
      <p:sp>
        <p:nvSpPr>
          <p:cNvPr id="3" name="Content Placeholder 2"/>
          <p:cNvSpPr>
            <a:spLocks noGrp="1"/>
          </p:cNvSpPr>
          <p:nvPr>
            <p:ph idx="1"/>
          </p:nvPr>
        </p:nvSpPr>
        <p:spPr/>
        <p:txBody>
          <a:bodyPr>
            <a:normAutofit lnSpcReduction="10000"/>
          </a:bodyPr>
          <a:lstStyle/>
          <a:p>
            <a:r>
              <a:rPr lang="en-US" altLang="zh-CN" sz="2800">
                <a:sym typeface="+mn-ea"/>
              </a:rPr>
              <a:t>How to Predict Asset Returns?</a:t>
            </a:r>
            <a:endParaRPr lang="en-US" altLang="zh-CN" sz="2800"/>
          </a:p>
          <a:p>
            <a:pPr marL="0" indent="0">
              <a:buNone/>
            </a:pPr>
            <a:r>
              <a:rPr lang="en-US" sz="2400" dirty="0">
                <a:solidFill>
                  <a:srgbClr val="0070C0"/>
                </a:solidFill>
              </a:rPr>
              <a:t>   </a:t>
            </a:r>
          </a:p>
          <a:p>
            <a:pPr marL="0" indent="0">
              <a:buNone/>
            </a:pPr>
            <a:r>
              <a:rPr lang="en-US" sz="2400" dirty="0"/>
              <a:t>Characteristics-based asset pricing             Link future stock returns to ex-ante characteristics derived from both stock-level features and macroeconomic variables.</a:t>
            </a:r>
          </a:p>
          <a:p>
            <a:pPr marL="0" indent="0">
              <a:buNone/>
            </a:pPr>
            <a:endParaRPr lang="en-US" sz="2400" dirty="0"/>
          </a:p>
          <a:p>
            <a:pPr marL="0" indent="0">
              <a:buNone/>
            </a:pPr>
            <a:r>
              <a:rPr lang="en-US" sz="2400" dirty="0"/>
              <a:t>Characteristics-based asset pricing refers to a method of explaining and predicting asset returns through specific characteristics of the assets, such as market capitalization, book-to-market ratio, momentum, volatility, etc. The core idea of this approach is that asset returns are determined not only by overall market factors but also by the significant influence of the assets' own characteristics.</a:t>
            </a:r>
          </a:p>
          <a:p>
            <a:pPr marL="0" indent="0">
              <a:buNone/>
            </a:pPr>
            <a:endParaRPr lang="en-US" sz="2400" dirty="0">
              <a:solidFill>
                <a:schemeClr val="accent4">
                  <a:lumMod val="50000"/>
                </a:schemeClr>
              </a:solidFill>
            </a:endParaRPr>
          </a:p>
        </p:txBody>
      </p:sp>
      <p:sp>
        <p:nvSpPr>
          <p:cNvPr id="5" name="Slide Number Placeholder 4"/>
          <p:cNvSpPr>
            <a:spLocks noGrp="1"/>
          </p:cNvSpPr>
          <p:nvPr>
            <p:ph type="sldNum" sz="quarter" idx="12"/>
          </p:nvPr>
        </p:nvSpPr>
        <p:spPr/>
        <p:txBody>
          <a:bodyPr/>
          <a:lstStyle/>
          <a:p>
            <a:fld id="{107D843B-1DED-40DC-AF70-C1B4F17B1EA6}" type="slidenum">
              <a:rPr lang="en-US" smtClean="0"/>
              <a:t>8</a:t>
            </a:fld>
            <a:endParaRPr lang="en-US"/>
          </a:p>
        </p:txBody>
      </p:sp>
      <p:sp>
        <p:nvSpPr>
          <p:cNvPr id="4" name="右箭头 3"/>
          <p:cNvSpPr/>
          <p:nvPr/>
        </p:nvSpPr>
        <p:spPr>
          <a:xfrm>
            <a:off x="5446395" y="2741295"/>
            <a:ext cx="351155" cy="21717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r>
              <a:rPr lang="en-US" sz="3600" b="1" dirty="0">
                <a:sym typeface="+mn-ea"/>
              </a:rPr>
              <a:t>Most general form</a:t>
            </a:r>
            <a:endParaRPr lang="en-US" sz="3600" b="1" dirty="0">
              <a:hlinkClick r:id="rId2" action="ppaction://hlinksldjump"/>
            </a:endParaRPr>
          </a:p>
        </p:txBody>
      </p:sp>
      <p:sp>
        <p:nvSpPr>
          <p:cNvPr id="3" name="Content Placeholder 2"/>
          <p:cNvSpPr>
            <a:spLocks noGrp="1"/>
          </p:cNvSpPr>
          <p:nvPr>
            <p:ph idx="1"/>
          </p:nvPr>
        </p:nvSpPr>
        <p:spPr>
          <a:xfrm>
            <a:off x="838200" y="1825625"/>
            <a:ext cx="10515600" cy="4895215"/>
          </a:xfrm>
        </p:spPr>
        <p:txBody>
          <a:bodyPr>
            <a:normAutofit lnSpcReduction="20000"/>
          </a:bodyPr>
          <a:lstStyle/>
          <a:p>
            <a:r>
              <a:rPr lang="en-US" altLang="zh-CN">
                <a:sym typeface="+mn-ea"/>
              </a:rPr>
              <a:t>Defining the </a:t>
            </a:r>
            <a:r>
              <a:rPr lang="en-US" altLang="zh-CN"/>
              <a:t>Asset’s Excess Return</a:t>
            </a:r>
            <a:r>
              <a:rPr lang="en-US" altLang="zh-CN">
                <a:sym typeface="+mn-ea"/>
              </a:rPr>
              <a:t> Prediction Model</a:t>
            </a:r>
            <a:endParaRPr lang="en-US" altLang="zh-CN"/>
          </a:p>
          <a:p>
            <a:pPr marL="0" indent="0">
              <a:buNone/>
            </a:pPr>
            <a:endParaRPr lang="en-US"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altLang="zh-CN" sz="1600">
                <a:sym typeface="+mn-ea"/>
              </a:rPr>
              <a:t>      g∗(⋅)          Methods considered（References）： linear and nonlinear models.</a:t>
            </a:r>
            <a:endParaRPr lang="zh-CN" altLang="en-US" sz="2400" dirty="0">
              <a:sym typeface="+mn-ea"/>
            </a:endParaRPr>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9</a:t>
            </a:fld>
            <a:endParaRPr lang="en-US"/>
          </a:p>
        </p:txBody>
      </p:sp>
      <p:sp>
        <p:nvSpPr>
          <p:cNvPr id="9" name="右箭头 8"/>
          <p:cNvSpPr/>
          <p:nvPr/>
        </p:nvSpPr>
        <p:spPr>
          <a:xfrm>
            <a:off x="1898015" y="4979670"/>
            <a:ext cx="351155" cy="21717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a:stretch>
            <a:fillRect/>
          </a:stretch>
        </p:blipFill>
        <p:spPr>
          <a:xfrm>
            <a:off x="1400810" y="2512060"/>
            <a:ext cx="3465830" cy="527050"/>
          </a:xfrm>
          <a:prstGeom prst="rect">
            <a:avLst/>
          </a:prstGeom>
        </p:spPr>
      </p:pic>
      <p:pic>
        <p:nvPicPr>
          <p:cNvPr id="6" name="图片 5"/>
          <p:cNvPicPr>
            <a:picLocks noChangeAspect="1"/>
          </p:cNvPicPr>
          <p:nvPr/>
        </p:nvPicPr>
        <p:blipFill>
          <a:blip r:embed="rId4"/>
          <a:stretch>
            <a:fillRect/>
          </a:stretch>
        </p:blipFill>
        <p:spPr>
          <a:xfrm>
            <a:off x="5610225" y="2471420"/>
            <a:ext cx="2027555" cy="509270"/>
          </a:xfrm>
          <a:prstGeom prst="rect">
            <a:avLst/>
          </a:prstGeom>
        </p:spPr>
      </p:pic>
      <p:sp>
        <p:nvSpPr>
          <p:cNvPr id="7" name="文本框 6"/>
          <p:cNvSpPr txBox="1"/>
          <p:nvPr/>
        </p:nvSpPr>
        <p:spPr>
          <a:xfrm>
            <a:off x="1097915" y="3214370"/>
            <a:ext cx="9811385" cy="1076325"/>
          </a:xfrm>
          <a:prstGeom prst="rect">
            <a:avLst/>
          </a:prstGeom>
        </p:spPr>
        <p:txBody>
          <a:bodyPr wrap="square">
            <a:spAutoFit/>
          </a:bodyPr>
          <a:lstStyle/>
          <a:p>
            <a:r>
              <a:rPr lang="en-US" altLang="zh-CN" sz="1600"/>
              <a:t>ri,t+1​ represents the excess return of asset i at time t+1.</a:t>
            </a:r>
          </a:p>
          <a:p>
            <a:r>
              <a:rPr lang="en-US" altLang="zh-CN" sz="1600"/>
              <a:t>Et​(ri,t+1​) is the conditional expectation of future excess returns given the information set Ft at time t, often referred to as the risk premium.</a:t>
            </a:r>
          </a:p>
          <a:p>
            <a:r>
              <a:rPr lang="en-US" altLang="zh-CN" sz="1600"/>
              <a:t>εi,t+1​ denotes the prediction error or unpredictable random component, reflecting unanticipated market shocks.</a:t>
            </a:r>
          </a:p>
        </p:txBody>
      </p:sp>
      <p:sp>
        <p:nvSpPr>
          <p:cNvPr id="8" name="文本框 7"/>
          <p:cNvSpPr txBox="1"/>
          <p:nvPr/>
        </p:nvSpPr>
        <p:spPr>
          <a:xfrm>
            <a:off x="1108710" y="4260215"/>
            <a:ext cx="9698990" cy="583565"/>
          </a:xfrm>
          <a:prstGeom prst="rect">
            <a:avLst/>
          </a:prstGeom>
        </p:spPr>
        <p:txBody>
          <a:bodyPr wrap="square">
            <a:spAutoFit/>
          </a:bodyPr>
          <a:lstStyle/>
          <a:p>
            <a:r>
              <a:rPr lang="en-US" altLang="zh-CN" sz="1600"/>
              <a:t>zi,t​ is the vector of feature variables for asset i at time t.</a:t>
            </a:r>
          </a:p>
          <a:p>
            <a:r>
              <a:rPr lang="en-US" altLang="zh-CN" sz="1600"/>
              <a:t>g∗(⋅) is a general prediction function that maps the feature variables zi,t to the conditional expectation Et(ri,t+1).</a:t>
            </a:r>
          </a:p>
        </p:txBody>
      </p:sp>
      <p:sp>
        <p:nvSpPr>
          <p:cNvPr id="10" name="文本框 9"/>
          <p:cNvSpPr txBox="1"/>
          <p:nvPr/>
        </p:nvSpPr>
        <p:spPr>
          <a:xfrm>
            <a:off x="1097915" y="5436235"/>
            <a:ext cx="10079990" cy="829945"/>
          </a:xfrm>
          <a:prstGeom prst="rect">
            <a:avLst/>
          </a:prstGeom>
        </p:spPr>
        <p:txBody>
          <a:bodyPr wrap="square">
            <a:spAutoFit/>
          </a:bodyPr>
          <a:lstStyle/>
          <a:p>
            <a:r>
              <a:rPr lang="en-US" altLang="zh-CN" sz="1600"/>
              <a:t>The </a:t>
            </a:r>
            <a:r>
              <a:rPr lang="en-US" altLang="zh-CN" sz="1600">
                <a:sym typeface="+mn-ea"/>
              </a:rPr>
              <a:t>Most general form </a:t>
            </a:r>
            <a:r>
              <a:rPr lang="en-US" altLang="zh-CN" sz="1600"/>
              <a:t>decomposes asset returns into two parts: the predictable component Et(ri,t+1) and the unpredictable component εi,t+1​. The core research objective is to accurately estimate Et(ri,t+1), and machine learning methods are applied to enhance this estimation.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205"/>
            <a:ext cx="10515600" cy="1325563"/>
          </a:xfrm>
        </p:spPr>
        <p:txBody>
          <a:bodyPr>
            <a:normAutofit/>
          </a:bodyPr>
          <a:lstStyle/>
          <a:p>
            <a:r>
              <a:rPr lang="en-US" sz="3600" dirty="0">
                <a:sym typeface="+mn-ea"/>
              </a:rPr>
              <a:t>   </a:t>
            </a:r>
            <a:r>
              <a:rPr lang="en-US" sz="3600" b="1" dirty="0">
                <a:sym typeface="+mn-ea"/>
              </a:rPr>
              <a:t>                 </a:t>
            </a:r>
            <a:r>
              <a:rPr lang="en-US" sz="3600" dirty="0">
                <a:sym typeface="+mn-ea"/>
              </a:rPr>
              <a:t>                       </a:t>
            </a:r>
            <a:r>
              <a:rPr lang="en-US" sz="3600" b="1" dirty="0">
                <a:sym typeface="+mn-ea"/>
              </a:rPr>
              <a:t>Methods considered</a:t>
            </a:r>
            <a:endParaRPr lang="en-US" sz="3600" b="1" dirty="0">
              <a:hlinkClick r:id="rId2" action="ppaction://hlinksldjump"/>
            </a:endParaRPr>
          </a:p>
        </p:txBody>
      </p:sp>
      <p:sp>
        <p:nvSpPr>
          <p:cNvPr id="10" name="Content Placeholder 9"/>
          <p:cNvSpPr>
            <a:spLocks noGrp="1"/>
          </p:cNvSpPr>
          <p:nvPr>
            <p:ph idx="1"/>
          </p:nvPr>
        </p:nvSpPr>
        <p:spPr>
          <a:xfrm>
            <a:off x="838200" y="1212215"/>
            <a:ext cx="10515600" cy="5645785"/>
          </a:xfrm>
        </p:spPr>
        <p:txBody>
          <a:bodyPr>
            <a:normAutofit/>
          </a:bodyPr>
          <a:lstStyle/>
          <a:p>
            <a:r>
              <a:rPr lang="en-US" sz="2400" dirty="0">
                <a:solidFill>
                  <a:srgbClr val="26927D"/>
                </a:solidFill>
                <a:sym typeface="+mn-ea"/>
              </a:rPr>
              <a:t>linear models</a:t>
            </a:r>
          </a:p>
          <a:p>
            <a:pPr marL="0" indent="0">
              <a:buNone/>
            </a:pPr>
            <a:r>
              <a:rPr lang="en-US" sz="2400" dirty="0">
                <a:sym typeface="+mn-ea"/>
              </a:rPr>
              <a:t>OLS Regression</a:t>
            </a:r>
          </a:p>
          <a:p>
            <a:pPr marL="0" indent="0">
              <a:buNone/>
            </a:pPr>
            <a:r>
              <a:rPr lang="en-US" altLang="zh-CN" sz="2400">
                <a:sym typeface="+mn-ea"/>
              </a:rPr>
              <a:t>The weighted loss function(an extension of OLS)</a:t>
            </a:r>
            <a:endParaRPr lang="zh-CN" altLang="en-US" sz="2400" dirty="0">
              <a:sym typeface="+mn-ea"/>
            </a:endParaRPr>
          </a:p>
          <a:p>
            <a:pPr marL="0" indent="0">
              <a:buNone/>
            </a:pPr>
            <a:r>
              <a:rPr lang="en-US" altLang="zh-CN" sz="2400">
                <a:sym typeface="+mn-ea"/>
              </a:rPr>
              <a:t>The Huber loss function(a variant of OLS)</a:t>
            </a:r>
            <a:r>
              <a:rPr lang="en-US" sz="2400" dirty="0">
                <a:sym typeface="+mn-ea"/>
              </a:rPr>
              <a:t>                                     </a:t>
            </a:r>
          </a:p>
          <a:p>
            <a:pPr marL="0" indent="0">
              <a:buNone/>
            </a:pPr>
            <a:r>
              <a:rPr lang="en-US" sz="2400" dirty="0">
                <a:sym typeface="+mn-ea"/>
              </a:rPr>
              <a:t>Elastic Net Regression</a:t>
            </a:r>
            <a:endParaRPr lang="zh-CN" altLang="en-US" sz="2400" dirty="0">
              <a:sym typeface="+mn-ea"/>
            </a:endParaRPr>
          </a:p>
          <a:p>
            <a:pPr marL="0" indent="0">
              <a:buNone/>
            </a:pPr>
            <a:r>
              <a:rPr lang="en-US" sz="2400" dirty="0">
                <a:sym typeface="+mn-ea"/>
              </a:rPr>
              <a:t>Principal Component Regression (PCR)</a:t>
            </a:r>
            <a:endParaRPr lang="zh-CN" altLang="en-US" sz="2400" dirty="0">
              <a:sym typeface="+mn-ea"/>
            </a:endParaRPr>
          </a:p>
          <a:p>
            <a:pPr marL="0" algn="l">
              <a:buClrTx/>
              <a:buSzTx/>
              <a:buNone/>
            </a:pPr>
            <a:r>
              <a:rPr lang="zh-CN" altLang="en-US" sz="2400" dirty="0">
                <a:sym typeface="+mn-ea"/>
              </a:rPr>
              <a:t>Partial Least Squares Regression (PLS)</a:t>
            </a:r>
          </a:p>
          <a:p>
            <a:pPr marL="0" algn="l">
              <a:buClrTx/>
              <a:buSzTx/>
              <a:buNone/>
            </a:pPr>
            <a:endParaRPr lang="zh-CN" altLang="en-US" sz="2400" dirty="0">
              <a:sym typeface="+mn-ea"/>
            </a:endParaRPr>
          </a:p>
          <a:p>
            <a:r>
              <a:rPr lang="en-US" sz="2400" dirty="0">
                <a:solidFill>
                  <a:srgbClr val="26927D"/>
                </a:solidFill>
                <a:sym typeface="+mn-ea"/>
              </a:rPr>
              <a:t>nonlinear models</a:t>
            </a:r>
          </a:p>
          <a:p>
            <a:pPr marL="0" indent="0">
              <a:buNone/>
            </a:pPr>
            <a:r>
              <a:rPr lang="en-US" sz="2400" dirty="0">
                <a:sym typeface="+mn-ea"/>
              </a:rPr>
              <a:t>Random Forest </a:t>
            </a:r>
          </a:p>
          <a:p>
            <a:pPr marL="0" indent="0">
              <a:buNone/>
            </a:pPr>
            <a:r>
              <a:rPr lang="en-US" altLang="zh-CN" sz="2400">
                <a:sym typeface="+mn-ea"/>
              </a:rPr>
              <a:t>Boosted regression trees</a:t>
            </a:r>
            <a:endParaRPr lang="en-US" sz="2400" dirty="0"/>
          </a:p>
          <a:p>
            <a:pPr marL="0" indent="0">
              <a:buNone/>
            </a:pPr>
            <a:endParaRPr lang="en-US" sz="2400" dirty="0"/>
          </a:p>
          <a:p>
            <a:pPr marL="0" indent="0">
              <a:buNone/>
            </a:pPr>
            <a:endParaRPr lang="en-US" sz="2400" dirty="0"/>
          </a:p>
        </p:txBody>
      </p:sp>
      <p:sp>
        <p:nvSpPr>
          <p:cNvPr id="3" name="Slide Number Placeholder 2"/>
          <p:cNvSpPr>
            <a:spLocks noGrp="1"/>
          </p:cNvSpPr>
          <p:nvPr>
            <p:ph type="sldNum" sz="quarter" idx="12"/>
          </p:nvPr>
        </p:nvSpPr>
        <p:spPr/>
        <p:txBody>
          <a:bodyPr/>
          <a:lstStyle/>
          <a:p>
            <a:fld id="{107D843B-1DED-40DC-AF70-C1B4F17B1EA6}" type="slidenum">
              <a:rPr lang="en-US" smtClean="0"/>
              <a:t>10</a:t>
            </a:fld>
            <a:endParaRPr lang="en-US"/>
          </a:p>
        </p:txBody>
      </p:sp>
      <p:sp>
        <p:nvSpPr>
          <p:cNvPr id="9" name="右箭头 8"/>
          <p:cNvSpPr/>
          <p:nvPr/>
        </p:nvSpPr>
        <p:spPr>
          <a:xfrm>
            <a:off x="4790440" y="64706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右大括号 3"/>
          <p:cNvSpPr/>
          <p:nvPr/>
        </p:nvSpPr>
        <p:spPr>
          <a:xfrm>
            <a:off x="5916295" y="3655695"/>
            <a:ext cx="1397635" cy="567055"/>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文本框 5"/>
          <p:cNvSpPr txBox="1"/>
          <p:nvPr/>
        </p:nvSpPr>
        <p:spPr>
          <a:xfrm>
            <a:off x="7531100" y="3476625"/>
            <a:ext cx="4107815" cy="528955"/>
          </a:xfrm>
          <a:prstGeom prst="rect">
            <a:avLst/>
          </a:prstGeom>
          <a:noFill/>
        </p:spPr>
        <p:txBody>
          <a:bodyPr wrap="square" rtlCol="0">
            <a:noAutofit/>
          </a:bodyPr>
          <a:lstStyle/>
          <a:p>
            <a:r>
              <a:rPr lang="zh-CN" altLang="en-US" sz="2400"/>
              <a:t>Linear Dimension Reduction Techniques</a:t>
            </a:r>
          </a:p>
        </p:txBody>
      </p:sp>
      <p:sp>
        <p:nvSpPr>
          <p:cNvPr id="7" name="右大括号 6"/>
          <p:cNvSpPr/>
          <p:nvPr/>
        </p:nvSpPr>
        <p:spPr>
          <a:xfrm>
            <a:off x="4262120" y="5372100"/>
            <a:ext cx="1527175" cy="651510"/>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1" name="文本框 10"/>
          <p:cNvSpPr txBox="1"/>
          <p:nvPr/>
        </p:nvSpPr>
        <p:spPr>
          <a:xfrm>
            <a:off x="6923405" y="5403850"/>
            <a:ext cx="2712720" cy="460375"/>
          </a:xfrm>
          <a:prstGeom prst="rect">
            <a:avLst/>
          </a:prstGeom>
          <a:noFill/>
        </p:spPr>
        <p:txBody>
          <a:bodyPr wrap="square" rtlCol="0">
            <a:spAutoFit/>
          </a:bodyPr>
          <a:lstStyle/>
          <a:p>
            <a:r>
              <a:rPr lang="zh-CN" altLang="en-US" sz="2400"/>
              <a:t>Tree-based Models</a:t>
            </a:r>
          </a:p>
        </p:txBody>
      </p:sp>
      <p:sp>
        <p:nvSpPr>
          <p:cNvPr id="13" name="文本框 12"/>
          <p:cNvSpPr txBox="1"/>
          <p:nvPr/>
        </p:nvSpPr>
        <p:spPr>
          <a:xfrm>
            <a:off x="866140" y="6255385"/>
            <a:ext cx="2166620" cy="460375"/>
          </a:xfrm>
          <a:prstGeom prst="rect">
            <a:avLst/>
          </a:prstGeom>
        </p:spPr>
        <p:txBody>
          <a:bodyPr wrap="square">
            <a:spAutoFit/>
          </a:bodyPr>
          <a:lstStyle/>
          <a:p>
            <a:r>
              <a:rPr lang="zh-CN" altLang="en-US" sz="2400"/>
              <a:t>Neural Network</a:t>
            </a:r>
          </a:p>
        </p:txBody>
      </p:sp>
      <p:cxnSp>
        <p:nvCxnSpPr>
          <p:cNvPr id="8" name="直接箭头连接符 7"/>
          <p:cNvCxnSpPr/>
          <p:nvPr/>
        </p:nvCxnSpPr>
        <p:spPr>
          <a:xfrm flipV="1">
            <a:off x="3837305" y="3202940"/>
            <a:ext cx="1097280" cy="101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8255635" y="1962785"/>
            <a:ext cx="1850390" cy="363220"/>
          </a:xfrm>
          <a:prstGeom prst="rect">
            <a:avLst/>
          </a:prstGeom>
          <a:noFill/>
        </p:spPr>
        <p:txBody>
          <a:bodyPr wrap="square" rtlCol="0">
            <a:noAutofit/>
          </a:bodyPr>
          <a:lstStyle/>
          <a:p>
            <a:r>
              <a:rPr lang="en-US" altLang="zh-CN" sz="2400">
                <a:sym typeface="+mn-ea"/>
              </a:rPr>
              <a:t>Simple linear</a:t>
            </a:r>
            <a:endParaRPr lang="en-US" altLang="zh-CN" sz="2400"/>
          </a:p>
          <a:p>
            <a:endParaRPr lang="zh-CN" altLang="en-US" sz="2400"/>
          </a:p>
        </p:txBody>
      </p:sp>
      <p:sp>
        <p:nvSpPr>
          <p:cNvPr id="18" name="文本框 17"/>
          <p:cNvSpPr txBox="1"/>
          <p:nvPr/>
        </p:nvSpPr>
        <p:spPr>
          <a:xfrm>
            <a:off x="1065530" y="410845"/>
            <a:ext cx="4132580" cy="500380"/>
          </a:xfrm>
          <a:prstGeom prst="rect">
            <a:avLst/>
          </a:prstGeom>
        </p:spPr>
        <p:txBody>
          <a:bodyPr wrap="square">
            <a:noAutofit/>
          </a:bodyPr>
          <a:lstStyle/>
          <a:p>
            <a:r>
              <a:rPr lang="en-US" altLang="zh-CN" sz="3600"/>
              <a:t>Et​(ri,t+1​)=g∗(zi,t​)</a:t>
            </a:r>
          </a:p>
        </p:txBody>
      </p:sp>
      <p:sp>
        <p:nvSpPr>
          <p:cNvPr id="24" name="文本框 23"/>
          <p:cNvSpPr txBox="1"/>
          <p:nvPr/>
        </p:nvSpPr>
        <p:spPr>
          <a:xfrm>
            <a:off x="5085080" y="2959735"/>
            <a:ext cx="4125595" cy="533400"/>
          </a:xfrm>
          <a:prstGeom prst="rect">
            <a:avLst/>
          </a:prstGeom>
          <a:noFill/>
        </p:spPr>
        <p:txBody>
          <a:bodyPr wrap="square" rtlCol="0">
            <a:noAutofit/>
          </a:bodyPr>
          <a:lstStyle/>
          <a:p>
            <a:r>
              <a:rPr lang="en-US" sz="2400" dirty="0">
                <a:sym typeface="+mn-ea"/>
              </a:rPr>
              <a:t>Penalized Linear Models</a:t>
            </a:r>
            <a:endParaRPr lang="en-US" dirty="0">
              <a:sym typeface="+mn-ea"/>
            </a:endParaRPr>
          </a:p>
          <a:p>
            <a:endParaRPr lang="zh-CN" altLang="en-US"/>
          </a:p>
        </p:txBody>
      </p:sp>
      <p:sp>
        <p:nvSpPr>
          <p:cNvPr id="25" name="右大括号 24"/>
          <p:cNvSpPr/>
          <p:nvPr/>
        </p:nvSpPr>
        <p:spPr>
          <a:xfrm>
            <a:off x="6640195" y="1818640"/>
            <a:ext cx="1397635" cy="885190"/>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6" name="文本框 25"/>
          <p:cNvSpPr txBox="1"/>
          <p:nvPr/>
        </p:nvSpPr>
        <p:spPr>
          <a:xfrm>
            <a:off x="836295" y="4323398"/>
            <a:ext cx="5080000" cy="460375"/>
          </a:xfrm>
          <a:prstGeom prst="rect">
            <a:avLst/>
          </a:prstGeom>
        </p:spPr>
        <p:txBody>
          <a:bodyPr>
            <a:spAutoFit/>
          </a:bodyPr>
          <a:lstStyle/>
          <a:p>
            <a:r>
              <a:rPr lang="en-US" altLang="zh-CN" sz="2400"/>
              <a:t>Generalized Linear Regression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a:sym typeface="+mn-ea"/>
              </a:rPr>
              <a:t>                                            </a:t>
            </a:r>
            <a:r>
              <a:rPr lang="en-US" altLang="zh-CN" sz="3600">
                <a:latin typeface="+mn-lt"/>
                <a:ea typeface="+mn-ea"/>
                <a:cs typeface="+mn-cs"/>
                <a:sym typeface="+mn-ea"/>
              </a:rPr>
              <a:t>OLS Regression</a:t>
            </a:r>
            <a:endParaRPr lang="en-US" altLang="zh-CN" sz="3600">
              <a:latin typeface="+mn-lt"/>
              <a:ea typeface="+mn-ea"/>
              <a:cs typeface="+mn-cs"/>
            </a:endParaRPr>
          </a:p>
        </p:txBody>
      </p:sp>
      <p:sp>
        <p:nvSpPr>
          <p:cNvPr id="3" name="Content Placeholder 2"/>
          <p:cNvSpPr>
            <a:spLocks noGrp="1"/>
          </p:cNvSpPr>
          <p:nvPr>
            <p:ph idx="1"/>
          </p:nvPr>
        </p:nvSpPr>
        <p:spPr>
          <a:xfrm>
            <a:off x="838200" y="1825625"/>
            <a:ext cx="10515600" cy="4895215"/>
          </a:xfrm>
        </p:spPr>
        <p:txBody>
          <a:bodyPr>
            <a:normAutofit/>
          </a:bodyPr>
          <a:lstStyle/>
          <a:p>
            <a:r>
              <a:rPr lang="en-US" dirty="0">
                <a:solidFill>
                  <a:srgbClr val="26927D"/>
                </a:solidFill>
              </a:rPr>
              <a:t>Objective function:</a:t>
            </a:r>
          </a:p>
          <a:p>
            <a:pPr marL="0" indent="0">
              <a:buNone/>
            </a:pPr>
            <a:endParaRPr lang="en-US"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11</a:t>
            </a:fld>
            <a:endParaRPr lang="en-US"/>
          </a:p>
        </p:txBody>
      </p:sp>
      <p:sp>
        <p:nvSpPr>
          <p:cNvPr id="5" name="右箭头 4"/>
          <p:cNvSpPr/>
          <p:nvPr/>
        </p:nvSpPr>
        <p:spPr>
          <a:xfrm>
            <a:off x="4792345" y="90170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645795" y="676910"/>
            <a:ext cx="1959610" cy="645160"/>
          </a:xfrm>
          <a:prstGeom prst="rect">
            <a:avLst/>
          </a:prstGeom>
          <a:noFill/>
        </p:spPr>
        <p:txBody>
          <a:bodyPr wrap="square" rtlCol="0" anchor="t">
            <a:spAutoFit/>
          </a:bodyPr>
          <a:lstStyle/>
          <a:p>
            <a:r>
              <a:rPr lang="en-US" altLang="zh-CN" sz="3600">
                <a:sym typeface="+mn-ea"/>
              </a:rPr>
              <a:t>g∗(zi,t​)</a:t>
            </a:r>
          </a:p>
        </p:txBody>
      </p:sp>
      <p:pic>
        <p:nvPicPr>
          <p:cNvPr id="9" name="图片 8"/>
          <p:cNvPicPr>
            <a:picLocks noChangeAspect="1"/>
          </p:cNvPicPr>
          <p:nvPr/>
        </p:nvPicPr>
        <p:blipFill>
          <a:blip r:embed="rId2"/>
          <a:stretch>
            <a:fillRect/>
          </a:stretch>
        </p:blipFill>
        <p:spPr>
          <a:xfrm>
            <a:off x="858520" y="2360295"/>
            <a:ext cx="3200400" cy="739140"/>
          </a:xfrm>
          <a:prstGeom prst="rect">
            <a:avLst/>
          </a:prstGeom>
        </p:spPr>
      </p:pic>
      <p:pic>
        <p:nvPicPr>
          <p:cNvPr id="10" name="图片 9"/>
          <p:cNvPicPr>
            <a:picLocks noChangeAspect="1"/>
          </p:cNvPicPr>
          <p:nvPr/>
        </p:nvPicPr>
        <p:blipFill>
          <a:blip r:embed="rId3"/>
          <a:stretch>
            <a:fillRect/>
          </a:stretch>
        </p:blipFill>
        <p:spPr>
          <a:xfrm>
            <a:off x="4792345" y="2380615"/>
            <a:ext cx="2484120" cy="662940"/>
          </a:xfrm>
          <a:prstGeom prst="rect">
            <a:avLst/>
          </a:prstGeom>
        </p:spPr>
      </p:pic>
      <p:sp>
        <p:nvSpPr>
          <p:cNvPr id="11" name="文本框 10"/>
          <p:cNvSpPr txBox="1"/>
          <p:nvPr/>
        </p:nvSpPr>
        <p:spPr>
          <a:xfrm>
            <a:off x="679450" y="3016885"/>
            <a:ext cx="10389870" cy="1568450"/>
          </a:xfrm>
          <a:prstGeom prst="rect">
            <a:avLst/>
          </a:prstGeom>
        </p:spPr>
        <p:txBody>
          <a:bodyPr wrap="square">
            <a:spAutoFit/>
          </a:bodyPr>
          <a:lstStyle/>
          <a:p>
            <a:r>
              <a:rPr lang="en-US" altLang="zh-CN" sz="1600"/>
              <a:t>L(θ): The loss function, which measures the error between model predictions and actual returns. Specifically, it represents the mean squared error (MSE) of the predictions, serves as the optimization target, minimized to obtain the optimal parameter vector θ.</a:t>
            </a:r>
          </a:p>
          <a:p>
            <a:r>
              <a:rPr lang="en-US" altLang="zh-CN" sz="1600"/>
              <a:t>ri,t+1: The actual excess return of asset i at time t+1, serving as the prediction target.</a:t>
            </a:r>
          </a:p>
          <a:p>
            <a:r>
              <a:rPr lang="en-US" altLang="zh-CN" sz="1600"/>
              <a:t>N:The total number of assets in the sample.</a:t>
            </a:r>
          </a:p>
          <a:p>
            <a:r>
              <a:rPr lang="en-US" altLang="zh-CN" sz="1600"/>
              <a:t>T:The total number of time periods.</a:t>
            </a:r>
          </a:p>
        </p:txBody>
      </p:sp>
      <p:sp>
        <p:nvSpPr>
          <p:cNvPr id="12" name="文本框 11"/>
          <p:cNvSpPr txBox="1"/>
          <p:nvPr/>
        </p:nvSpPr>
        <p:spPr>
          <a:xfrm>
            <a:off x="590550" y="4446270"/>
            <a:ext cx="11047095" cy="2061210"/>
          </a:xfrm>
          <a:prstGeom prst="rect">
            <a:avLst/>
          </a:prstGeom>
        </p:spPr>
        <p:txBody>
          <a:bodyPr wrap="square">
            <a:spAutoFit/>
          </a:bodyPr>
          <a:lstStyle/>
          <a:p>
            <a:pPr indent="0">
              <a:buNone/>
            </a:pPr>
            <a:r>
              <a:rPr lang="en-US" altLang="zh-CN" sz="1600"/>
              <a:t>  g(zi,t​;θ):Represents the prediction function used to forecast the excess return of asset i at time t+1.</a:t>
            </a:r>
          </a:p>
          <a:p>
            <a:pPr indent="0">
              <a:buNone/>
            </a:pPr>
            <a:r>
              <a:rPr lang="en-US" altLang="zh-CN" sz="1600"/>
              <a:t>   zi,t′ :Denotes the inner product of the feature vector zi,t and the parameter θ, forming the linear model representation.</a:t>
            </a:r>
          </a:p>
          <a:p>
            <a:pPr indent="0">
              <a:buNone/>
            </a:pPr>
            <a:r>
              <a:rPr lang="en-US" altLang="zh-CN" sz="1600"/>
              <a:t>⋅                        </a:t>
            </a:r>
          </a:p>
          <a:p>
            <a:pPr indent="0">
              <a:buNone/>
            </a:pPr>
            <a:r>
              <a:rPr lang="en-US" altLang="zh-CN" sz="1600"/>
              <a:t>                            :Represents the explicit expansion of the inner product, </a:t>
            </a:r>
            <a:r>
              <a:rPr lang="en-US" altLang="zh-CN" sz="1600">
                <a:sym typeface="+mn-ea"/>
              </a:rPr>
              <a:t>illustrates that the predicted value g(zi,t;θ); g(zi,t​;θ) is obtained by weighting each feature zi,t with its corresponding coefficient θ and summing the results.</a:t>
            </a:r>
          </a:p>
          <a:p>
            <a:pPr indent="0">
              <a:buNone/>
            </a:pPr>
            <a:r>
              <a:rPr lang="en-US" altLang="zh-CN" sz="1600">
                <a:sym typeface="+mn-ea"/>
              </a:rPr>
              <a:t>   </a:t>
            </a:r>
            <a:r>
              <a:rPr lang="en-US" altLang="zh-CN" sz="1600"/>
              <a:t>j : the index of the feature, ranging from 1 to P.</a:t>
            </a:r>
          </a:p>
          <a:p>
            <a:pPr indent="0">
              <a:buNone/>
            </a:pPr>
            <a:r>
              <a:rPr lang="en-US" altLang="zh-CN" sz="1600"/>
              <a:t>  zi,t,j : the value of the j-th feature.</a:t>
            </a:r>
          </a:p>
          <a:p>
            <a:pPr indent="0">
              <a:buNone/>
            </a:pPr>
            <a:r>
              <a:rPr lang="en-US" altLang="zh-CN" sz="1600"/>
              <a:t>  θj : the regression coefficient for the j-th feature.</a:t>
            </a:r>
          </a:p>
        </p:txBody>
      </p:sp>
      <p:pic>
        <p:nvPicPr>
          <p:cNvPr id="13" name="图片 12"/>
          <p:cNvPicPr>
            <a:picLocks noChangeAspect="1"/>
          </p:cNvPicPr>
          <p:nvPr/>
        </p:nvPicPr>
        <p:blipFill>
          <a:blip r:embed="rId4"/>
          <a:stretch>
            <a:fillRect/>
          </a:stretch>
        </p:blipFill>
        <p:spPr>
          <a:xfrm>
            <a:off x="815340" y="5163185"/>
            <a:ext cx="1052830" cy="341630"/>
          </a:xfrm>
          <a:prstGeom prst="rect">
            <a:avLst/>
          </a:prstGeom>
        </p:spPr>
      </p:pic>
      <p:pic>
        <p:nvPicPr>
          <p:cNvPr id="14" name="图片 13"/>
          <p:cNvPicPr>
            <a:picLocks noChangeAspect="1"/>
          </p:cNvPicPr>
          <p:nvPr/>
        </p:nvPicPr>
        <p:blipFill>
          <a:blip r:embed="rId5"/>
          <a:stretch>
            <a:fillRect/>
          </a:stretch>
        </p:blipFill>
        <p:spPr>
          <a:xfrm>
            <a:off x="808355" y="4731385"/>
            <a:ext cx="330835" cy="292100"/>
          </a:xfrm>
          <a:prstGeom prst="rect">
            <a:avLst/>
          </a:prstGeom>
        </p:spPr>
      </p:pic>
      <p:sp>
        <p:nvSpPr>
          <p:cNvPr id="15" name="文本框 14"/>
          <p:cNvSpPr txBox="1"/>
          <p:nvPr/>
        </p:nvSpPr>
        <p:spPr>
          <a:xfrm>
            <a:off x="3082925" y="666750"/>
            <a:ext cx="1461135" cy="645160"/>
          </a:xfrm>
          <a:prstGeom prst="rect">
            <a:avLst/>
          </a:prstGeom>
        </p:spPr>
        <p:txBody>
          <a:bodyPr wrap="square">
            <a:spAutoFit/>
          </a:bodyPr>
          <a:lstStyle/>
          <a:p>
            <a:r>
              <a:rPr lang="en-US" altLang="zh-CN" sz="3600"/>
              <a:t>g(zi,t​;θ)</a:t>
            </a:r>
            <a:endParaRPr lang="en-US" altLang="zh-CN" sz="1600"/>
          </a:p>
        </p:txBody>
      </p:sp>
      <p:sp>
        <p:nvSpPr>
          <p:cNvPr id="16" name="右箭头 15"/>
          <p:cNvSpPr/>
          <p:nvPr/>
        </p:nvSpPr>
        <p:spPr>
          <a:xfrm>
            <a:off x="2419350" y="92519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6"/>
          <a:stretch>
            <a:fillRect/>
          </a:stretch>
        </p:blipFill>
        <p:spPr>
          <a:xfrm>
            <a:off x="7820660" y="1452880"/>
            <a:ext cx="3423920" cy="584835"/>
          </a:xfrm>
          <a:prstGeom prst="rect">
            <a:avLst/>
          </a:prstGeom>
        </p:spPr>
      </p:pic>
      <p:pic>
        <p:nvPicPr>
          <p:cNvPr id="8" name="图片 7"/>
          <p:cNvPicPr>
            <a:picLocks noChangeAspect="1"/>
          </p:cNvPicPr>
          <p:nvPr/>
        </p:nvPicPr>
        <p:blipFill>
          <a:blip r:embed="rId7"/>
          <a:stretch>
            <a:fillRect/>
          </a:stretch>
        </p:blipFill>
        <p:spPr>
          <a:xfrm>
            <a:off x="8009890" y="2357755"/>
            <a:ext cx="2674620" cy="228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Explanation-OLS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synthetic sample data</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stock characteristics (ci,t)</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macroeconomic factors (xt)</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Generate interaction variables (zi,t)</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p:cNvPicPr>
            <a:picLocks noChangeAspect="1"/>
          </p:cNvPicPr>
          <p:nvPr/>
        </p:nvPicPr>
        <p:blipFill>
          <a:blip r:embed="rId2"/>
          <a:stretch>
            <a:fillRect/>
          </a:stretch>
        </p:blipFill>
        <p:spPr>
          <a:xfrm>
            <a:off x="709295" y="1094105"/>
            <a:ext cx="4282440" cy="876300"/>
          </a:xfrm>
          <a:prstGeom prst="rect">
            <a:avLst/>
          </a:prstGeom>
        </p:spPr>
      </p:pic>
      <p:pic>
        <p:nvPicPr>
          <p:cNvPr id="3" name="图片 2"/>
          <p:cNvPicPr>
            <a:picLocks noChangeAspect="1"/>
          </p:cNvPicPr>
          <p:nvPr/>
        </p:nvPicPr>
        <p:blipFill>
          <a:blip r:embed="rId3"/>
          <a:stretch>
            <a:fillRect/>
          </a:stretch>
        </p:blipFill>
        <p:spPr>
          <a:xfrm>
            <a:off x="991870" y="2500630"/>
            <a:ext cx="1714500" cy="861060"/>
          </a:xfrm>
          <a:prstGeom prst="rect">
            <a:avLst/>
          </a:prstGeom>
        </p:spPr>
      </p:pic>
      <p:pic>
        <p:nvPicPr>
          <p:cNvPr id="4" name="图片 3"/>
          <p:cNvPicPr>
            <a:picLocks noChangeAspect="1"/>
          </p:cNvPicPr>
          <p:nvPr/>
        </p:nvPicPr>
        <p:blipFill>
          <a:blip r:embed="rId4"/>
          <a:stretch>
            <a:fillRect/>
          </a:stretch>
        </p:blipFill>
        <p:spPr>
          <a:xfrm>
            <a:off x="709295" y="3821430"/>
            <a:ext cx="5920740" cy="441960"/>
          </a:xfrm>
          <a:prstGeom prst="rect">
            <a:avLst/>
          </a:prstGeom>
        </p:spPr>
      </p:pic>
      <p:pic>
        <p:nvPicPr>
          <p:cNvPr id="7" name="图片 6"/>
          <p:cNvPicPr>
            <a:picLocks noChangeAspect="1"/>
          </p:cNvPicPr>
          <p:nvPr/>
        </p:nvPicPr>
        <p:blipFill>
          <a:blip r:embed="rId5"/>
          <a:stretch>
            <a:fillRect/>
          </a:stretch>
        </p:blipFill>
        <p:spPr>
          <a:xfrm>
            <a:off x="678815" y="4704715"/>
            <a:ext cx="4434840" cy="236220"/>
          </a:xfrm>
          <a:prstGeom prst="rect">
            <a:avLst/>
          </a:prstGeom>
        </p:spPr>
      </p:pic>
      <p:sp>
        <p:nvSpPr>
          <p:cNvPr id="5" name="文本框 4"/>
          <p:cNvSpPr txBox="1"/>
          <p:nvPr/>
        </p:nvSpPr>
        <p:spPr>
          <a:xfrm>
            <a:off x="5076190" y="1053465"/>
            <a:ext cx="6096000" cy="953135"/>
          </a:xfrm>
          <a:prstGeom prst="rect">
            <a:avLst/>
          </a:prstGeom>
          <a:noFill/>
        </p:spPr>
        <p:txBody>
          <a:bodyPr wrap="square" rtlCol="0" anchor="t">
            <a:spAutoFit/>
          </a:bodyPr>
          <a:lstStyle/>
          <a:p>
            <a:r>
              <a:rPr lang="en-US" altLang="zh-CN" sz="1400"/>
              <a:t>Import the NumPy library for scientific computing</a:t>
            </a:r>
          </a:p>
          <a:p>
            <a:r>
              <a:rPr lang="en-US" altLang="zh-CN" sz="1400"/>
              <a:t>Import the Pandas library for data processing and analysis</a:t>
            </a:r>
          </a:p>
          <a:p>
            <a:r>
              <a:rPr lang="en-US" altLang="zh-CN" sz="1400"/>
              <a:t>Import the Linear Regression model from the Scikit-learn library</a:t>
            </a:r>
          </a:p>
          <a:p>
            <a:r>
              <a:rPr lang="en-US" altLang="zh-CN" sz="1400"/>
              <a:t>Import the train-test split function from the Scikit-learn library</a:t>
            </a:r>
            <a:endParaRPr lang="zh-CN" altLang="en-US" sz="1400"/>
          </a:p>
        </p:txBody>
      </p:sp>
      <p:sp>
        <p:nvSpPr>
          <p:cNvPr id="6" name="文本框 5"/>
          <p:cNvSpPr txBox="1"/>
          <p:nvPr/>
        </p:nvSpPr>
        <p:spPr>
          <a:xfrm>
            <a:off x="2873375" y="2419985"/>
            <a:ext cx="3961130" cy="953135"/>
          </a:xfrm>
          <a:prstGeom prst="rect">
            <a:avLst/>
          </a:prstGeom>
          <a:noFill/>
        </p:spPr>
        <p:txBody>
          <a:bodyPr wrap="square" rtlCol="0" anchor="t">
            <a:spAutoFit/>
          </a:bodyPr>
          <a:lstStyle/>
          <a:p>
            <a:pPr algn="l">
              <a:buClrTx/>
              <a:buSzTx/>
              <a:buNone/>
            </a:pPr>
            <a:r>
              <a:rPr lang="en-US" altLang="zh-CN" sz="1400"/>
              <a:t>Define the number of stocks as 10</a:t>
            </a:r>
          </a:p>
          <a:p>
            <a:pPr algn="l">
              <a:buClrTx/>
              <a:buSzTx/>
              <a:buNone/>
            </a:pPr>
            <a:r>
              <a:rPr lang="en-US" altLang="zh-CN" sz="1400"/>
              <a:t>Define the number of months as 24</a:t>
            </a:r>
          </a:p>
          <a:p>
            <a:pPr algn="l">
              <a:buClrTx/>
              <a:buSzTx/>
              <a:buNone/>
            </a:pPr>
            <a:r>
              <a:rPr lang="en-US" altLang="zh-CN" sz="1400"/>
              <a:t>Define the number of characteristics per stock as 5</a:t>
            </a:r>
          </a:p>
          <a:p>
            <a:pPr algn="l">
              <a:buClrTx/>
              <a:buSzTx/>
              <a:buNone/>
            </a:pPr>
            <a:r>
              <a:rPr lang="en-US" altLang="zh-CN" sz="1400"/>
              <a:t>Define the number of macroeconomic factors as 3</a:t>
            </a:r>
          </a:p>
        </p:txBody>
      </p:sp>
      <p:sp>
        <p:nvSpPr>
          <p:cNvPr id="9" name="文本框 8"/>
          <p:cNvSpPr txBox="1"/>
          <p:nvPr/>
        </p:nvSpPr>
        <p:spPr>
          <a:xfrm>
            <a:off x="6724650" y="3811270"/>
            <a:ext cx="5466715" cy="521970"/>
          </a:xfrm>
          <a:prstGeom prst="rect">
            <a:avLst/>
          </a:prstGeom>
          <a:noFill/>
        </p:spPr>
        <p:txBody>
          <a:bodyPr wrap="square" rtlCol="0" anchor="t">
            <a:spAutoFit/>
          </a:bodyPr>
          <a:lstStyle/>
          <a:p>
            <a:pPr algn="l">
              <a:buClrTx/>
              <a:buSzTx/>
              <a:buNone/>
            </a:pPr>
            <a:r>
              <a:rPr lang="en-US" altLang="zh-CN" sz="1400"/>
              <a:t>Set the random seed to ensure reproducibility</a:t>
            </a:r>
          </a:p>
          <a:p>
            <a:pPr algn="l">
              <a:buClrTx/>
              <a:buSzTx/>
              <a:buNone/>
            </a:pPr>
            <a:r>
              <a:rPr lang="en-US" altLang="zh-CN" sz="1400"/>
              <a:t>Generate random stock characteristics data</a:t>
            </a:r>
          </a:p>
        </p:txBody>
      </p:sp>
      <p:sp>
        <p:nvSpPr>
          <p:cNvPr id="10" name="文本框 9"/>
          <p:cNvSpPr txBox="1"/>
          <p:nvPr/>
        </p:nvSpPr>
        <p:spPr>
          <a:xfrm>
            <a:off x="5292090" y="4683125"/>
            <a:ext cx="4290695" cy="306705"/>
          </a:xfrm>
          <a:prstGeom prst="rect">
            <a:avLst/>
          </a:prstGeom>
          <a:noFill/>
        </p:spPr>
        <p:txBody>
          <a:bodyPr wrap="square" rtlCol="0" anchor="t">
            <a:spAutoFit/>
          </a:bodyPr>
          <a:lstStyle/>
          <a:p>
            <a:r>
              <a:rPr lang="en-US" altLang="zh-CN" sz="1400"/>
              <a:t>Generate random macroeconomic factors data</a:t>
            </a:r>
          </a:p>
        </p:txBody>
      </p:sp>
      <p:sp>
        <p:nvSpPr>
          <p:cNvPr id="11" name="文本框 10"/>
          <p:cNvSpPr txBox="1"/>
          <p:nvPr/>
        </p:nvSpPr>
        <p:spPr>
          <a:xfrm>
            <a:off x="638175" y="5339715"/>
            <a:ext cx="4798695" cy="1168400"/>
          </a:xfrm>
          <a:prstGeom prst="rect">
            <a:avLst/>
          </a:prstGeom>
          <a:noFill/>
        </p:spPr>
        <p:txBody>
          <a:bodyPr wrap="square" rtlCol="0" anchor="t">
            <a:spAutoFit/>
          </a:bodyPr>
          <a:lstStyle/>
          <a:p>
            <a:pPr algn="l">
              <a:buClrTx/>
              <a:buSzTx/>
              <a:buNone/>
            </a:pPr>
            <a:r>
              <a:rPr lang="en-US" altLang="zh-CN" sz="1400" dirty="0"/>
              <a:t>Initialize the </a:t>
            </a:r>
            <a:r>
              <a:rPr lang="en-US" altLang="zh-CN" sz="1400" dirty="0" err="1"/>
              <a:t>zi_t</a:t>
            </a:r>
            <a:r>
              <a:rPr lang="en-US" altLang="zh-CN" sz="1400" dirty="0"/>
              <a:t> matrix</a:t>
            </a:r>
          </a:p>
          <a:p>
            <a:pPr algn="l">
              <a:buClrTx/>
              <a:buSzTx/>
              <a:buNone/>
            </a:pPr>
            <a:r>
              <a:rPr lang="en-US" altLang="zh-CN" sz="1400" dirty="0"/>
              <a:t>Iterate through all months</a:t>
            </a:r>
          </a:p>
          <a:p>
            <a:pPr algn="l">
              <a:buClrTx/>
              <a:buSzTx/>
              <a:buNone/>
            </a:pPr>
            <a:r>
              <a:rPr lang="en-US" altLang="zh-CN" sz="1400" dirty="0"/>
              <a:t>Iterate through all stocks</a:t>
            </a:r>
          </a:p>
          <a:p>
            <a:pPr algn="l">
              <a:buClrTx/>
              <a:buSzTx/>
              <a:buNone/>
            </a:pPr>
            <a:r>
              <a:rPr lang="en-US" altLang="zh-CN" sz="1400" dirty="0"/>
              <a:t>Compute the outer product of macro factors and stock characteristics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Explanation-OLS Regression</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Define a simple linear model for excess returns (ri,t+1)</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Flatten data for further analysis</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Combine data for regression</a:t>
            </a: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2" name="文本框 1"/>
          <p:cNvSpPr txBox="1"/>
          <p:nvPr/>
        </p:nvSpPr>
        <p:spPr>
          <a:xfrm>
            <a:off x="818832" y="994410"/>
            <a:ext cx="5026025" cy="1383665"/>
          </a:xfrm>
          <a:prstGeom prst="rect">
            <a:avLst/>
          </a:prstGeom>
          <a:noFill/>
        </p:spPr>
        <p:txBody>
          <a:bodyPr wrap="square" rtlCol="0" anchor="t">
            <a:spAutoFit/>
          </a:bodyPr>
          <a:lstStyle/>
          <a:p>
            <a:pPr algn="l">
              <a:buClrTx/>
              <a:buSzTx/>
              <a:buNone/>
            </a:pPr>
            <a:r>
              <a:rPr lang="en-US" altLang="zh-CN" sz="1400" dirty="0"/>
              <a:t>theta Generate a random parameter vector theta</a:t>
            </a:r>
          </a:p>
          <a:p>
            <a:pPr algn="l">
              <a:buClrTx/>
              <a:buSzTx/>
              <a:buNone/>
            </a:pPr>
            <a:r>
              <a:rPr lang="en-US" altLang="zh-CN" sz="1400" dirty="0"/>
              <a:t>Initialize the excess return matrix</a:t>
            </a:r>
          </a:p>
          <a:p>
            <a:r>
              <a:rPr lang="en-US" altLang="zh-CN" sz="1400" dirty="0"/>
              <a:t>Iterate through all months</a:t>
            </a:r>
          </a:p>
          <a:p>
            <a:r>
              <a:rPr lang="en-US" altLang="zh-CN" sz="1400" dirty="0"/>
              <a:t>Iterate through all stocks</a:t>
            </a:r>
          </a:p>
          <a:p>
            <a:r>
              <a:rPr lang="en-US" altLang="zh-CN" sz="1400" dirty="0"/>
              <a:t>Calculate excess returns based on the linear model and add random noise</a:t>
            </a:r>
            <a:endParaRPr lang="zh-CN" altLang="en-US" sz="1400" dirty="0"/>
          </a:p>
        </p:txBody>
      </p:sp>
      <p:sp>
        <p:nvSpPr>
          <p:cNvPr id="3" name="文本框 2"/>
          <p:cNvSpPr txBox="1"/>
          <p:nvPr/>
        </p:nvSpPr>
        <p:spPr>
          <a:xfrm>
            <a:off x="818832" y="2747645"/>
            <a:ext cx="1950085" cy="521970"/>
          </a:xfrm>
          <a:prstGeom prst="rect">
            <a:avLst/>
          </a:prstGeom>
          <a:noFill/>
        </p:spPr>
        <p:txBody>
          <a:bodyPr wrap="square" rtlCol="0" anchor="t">
            <a:spAutoFit/>
          </a:bodyPr>
          <a:lstStyle/>
          <a:p>
            <a:pPr algn="l">
              <a:buClrTx/>
              <a:buSzTx/>
              <a:buNone/>
            </a:pPr>
            <a:r>
              <a:rPr lang="en-US" altLang="zh-CN" sz="1400" dirty="0"/>
              <a:t>Flatten the </a:t>
            </a:r>
            <a:r>
              <a:rPr lang="en-US" altLang="zh-CN" sz="1400" dirty="0" err="1"/>
              <a:t>zi_t</a:t>
            </a:r>
            <a:r>
              <a:rPr lang="en-US" altLang="zh-CN" sz="1400" dirty="0"/>
              <a:t> matrix</a:t>
            </a:r>
          </a:p>
          <a:p>
            <a:pPr algn="l">
              <a:buClrTx/>
              <a:buSzTx/>
              <a:buNone/>
            </a:pPr>
            <a:r>
              <a:rPr lang="en-US" altLang="zh-CN" sz="1400" dirty="0"/>
              <a:t>Flatten the ri_t+1 matrix</a:t>
            </a:r>
          </a:p>
        </p:txBody>
      </p:sp>
      <p:sp>
        <p:nvSpPr>
          <p:cNvPr id="4" name="文本框 3"/>
          <p:cNvSpPr txBox="1"/>
          <p:nvPr/>
        </p:nvSpPr>
        <p:spPr>
          <a:xfrm>
            <a:off x="818832" y="3347085"/>
            <a:ext cx="1887855" cy="737235"/>
          </a:xfrm>
          <a:prstGeom prst="rect">
            <a:avLst/>
          </a:prstGeom>
          <a:noFill/>
        </p:spPr>
        <p:txBody>
          <a:bodyPr wrap="square" rtlCol="0" anchor="t">
            <a:spAutoFit/>
          </a:bodyPr>
          <a:lstStyle/>
          <a:p>
            <a:pPr algn="l">
              <a:buClrTx/>
              <a:buSzTx/>
              <a:buNone/>
            </a:pPr>
            <a:r>
              <a:rPr lang="en-US" altLang="zh-CN" sz="1400" dirty="0"/>
              <a:t>Create a </a:t>
            </a:r>
            <a:r>
              <a:rPr lang="en-US" altLang="zh-CN" sz="1400" dirty="0" err="1"/>
              <a:t>DataFrame</a:t>
            </a:r>
            <a:endParaRPr lang="en-US" altLang="zh-CN" sz="1400" dirty="0"/>
          </a:p>
          <a:p>
            <a:pPr algn="l">
              <a:buClrTx/>
              <a:buSzTx/>
              <a:buNone/>
            </a:pPr>
            <a:r>
              <a:rPr lang="en-US" altLang="zh-CN" sz="1400" dirty="0"/>
              <a:t>Add Stock ID column</a:t>
            </a:r>
          </a:p>
          <a:p>
            <a:pPr algn="l">
              <a:buClrTx/>
              <a:buSzTx/>
              <a:buNone/>
            </a:pPr>
            <a:r>
              <a:rPr lang="en-US" altLang="zh-CN" sz="1400" dirty="0"/>
              <a:t>Add Month column</a:t>
            </a:r>
          </a:p>
        </p:txBody>
      </p:sp>
      <p:sp>
        <p:nvSpPr>
          <p:cNvPr id="6" name="文本框 5"/>
          <p:cNvSpPr txBox="1"/>
          <p:nvPr/>
        </p:nvSpPr>
        <p:spPr>
          <a:xfrm>
            <a:off x="818832" y="4100195"/>
            <a:ext cx="6096000" cy="953135"/>
          </a:xfrm>
          <a:prstGeom prst="rect">
            <a:avLst/>
          </a:prstGeom>
          <a:noFill/>
        </p:spPr>
        <p:txBody>
          <a:bodyPr wrap="square" rtlCol="0" anchor="t">
            <a:spAutoFit/>
          </a:bodyPr>
          <a:lstStyle/>
          <a:p>
            <a:pPr algn="l">
              <a:buClrTx/>
              <a:buSzTx/>
              <a:buNone/>
            </a:pPr>
            <a:r>
              <a:rPr lang="en-US" altLang="zh-CN" sz="1400" dirty="0"/>
              <a:t>Create a </a:t>
            </a:r>
            <a:r>
              <a:rPr lang="en-US" altLang="zh-CN" sz="1400" dirty="0" err="1"/>
              <a:t>DataFrame</a:t>
            </a:r>
            <a:r>
              <a:rPr lang="en-US" altLang="zh-CN" sz="1400" dirty="0"/>
              <a:t> for excess returns</a:t>
            </a:r>
          </a:p>
          <a:p>
            <a:pPr algn="l">
              <a:buClrTx/>
              <a:buSzTx/>
              <a:buNone/>
            </a:pPr>
            <a:r>
              <a:rPr lang="en-US" altLang="zh-CN" sz="1400" dirty="0"/>
              <a:t> Add Stock ID column</a:t>
            </a:r>
          </a:p>
          <a:p>
            <a:pPr algn="l">
              <a:buClrTx/>
              <a:buSzTx/>
              <a:buNone/>
            </a:pPr>
            <a:r>
              <a:rPr lang="en-US" altLang="zh-CN" sz="1400" dirty="0"/>
              <a:t> Add Month column</a:t>
            </a:r>
          </a:p>
          <a:p>
            <a:pPr algn="l">
              <a:buClrTx/>
              <a:buSzTx/>
              <a:buNone/>
            </a:pPr>
            <a:r>
              <a:rPr lang="en-US" altLang="zh-CN" sz="1400" dirty="0"/>
              <a:t> Add excess return column</a:t>
            </a:r>
          </a:p>
        </p:txBody>
      </p:sp>
      <p:sp>
        <p:nvSpPr>
          <p:cNvPr id="7" name="文本框 6"/>
          <p:cNvSpPr txBox="1"/>
          <p:nvPr/>
        </p:nvSpPr>
        <p:spPr>
          <a:xfrm>
            <a:off x="818832" y="5883910"/>
            <a:ext cx="3011170" cy="306705"/>
          </a:xfrm>
          <a:prstGeom prst="rect">
            <a:avLst/>
          </a:prstGeom>
          <a:noFill/>
        </p:spPr>
        <p:txBody>
          <a:bodyPr wrap="square" rtlCol="0" anchor="t">
            <a:spAutoFit/>
          </a:bodyPr>
          <a:lstStyle/>
          <a:p>
            <a:pPr algn="l">
              <a:buClrTx/>
              <a:buSzTx/>
              <a:buNone/>
            </a:pPr>
            <a:r>
              <a:rPr lang="en-US" altLang="zh-CN" sz="1400" dirty="0"/>
              <a:t>Combine </a:t>
            </a:r>
            <a:r>
              <a:rPr lang="en-US" altLang="zh-CN" sz="1400" dirty="0" err="1"/>
              <a:t>zi_t</a:t>
            </a:r>
            <a:r>
              <a:rPr lang="en-US" altLang="zh-CN" sz="1400" dirty="0"/>
              <a:t> and ri_t_plus_1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Explanation-OLS Regression</a:t>
            </a:r>
            <a:endParaRPr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Split the dataset into training and testing sets</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Split the dataset into training and testing sets</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Train OLS regression model</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Evaluate the model</a:t>
            </a: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4" name="文本框 3"/>
          <p:cNvSpPr txBox="1"/>
          <p:nvPr/>
        </p:nvSpPr>
        <p:spPr>
          <a:xfrm>
            <a:off x="3378200" y="3155950"/>
            <a:ext cx="3098800" cy="521970"/>
          </a:xfrm>
          <a:prstGeom prst="rect">
            <a:avLst/>
          </a:prstGeom>
          <a:noFill/>
        </p:spPr>
        <p:txBody>
          <a:bodyPr wrap="square" rtlCol="0" anchor="t">
            <a:spAutoFit/>
          </a:bodyPr>
          <a:lstStyle/>
          <a:p>
            <a:pPr algn="l">
              <a:buClrTx/>
              <a:buSzTx/>
              <a:buNone/>
            </a:pPr>
            <a:r>
              <a:rPr lang="en-US" altLang="zh-CN" sz="1400"/>
              <a:t>Initialize the Linear Regression model</a:t>
            </a:r>
          </a:p>
          <a:p>
            <a:pPr algn="l">
              <a:buClrTx/>
              <a:buSzTx/>
              <a:buFontTx/>
              <a:buNone/>
            </a:pPr>
            <a:r>
              <a:rPr lang="en-US" altLang="zh-CN" sz="1400"/>
              <a:t>Fit the model</a:t>
            </a:r>
          </a:p>
        </p:txBody>
      </p:sp>
      <p:sp>
        <p:nvSpPr>
          <p:cNvPr id="5" name="文本框 4"/>
          <p:cNvSpPr txBox="1"/>
          <p:nvPr/>
        </p:nvSpPr>
        <p:spPr>
          <a:xfrm>
            <a:off x="3314700" y="4128135"/>
            <a:ext cx="6096000" cy="306705"/>
          </a:xfrm>
          <a:prstGeom prst="rect">
            <a:avLst/>
          </a:prstGeom>
          <a:noFill/>
        </p:spPr>
        <p:txBody>
          <a:bodyPr wrap="square" rtlCol="0" anchor="t">
            <a:spAutoFit/>
          </a:bodyPr>
          <a:lstStyle/>
          <a:p>
            <a:r>
              <a:rPr lang="en-US" altLang="zh-CN" sz="1400"/>
              <a:t>Generate predictions using the test dataset</a:t>
            </a:r>
          </a:p>
        </p:txBody>
      </p:sp>
      <p:pic>
        <p:nvPicPr>
          <p:cNvPr id="7" name="图片 6"/>
          <p:cNvPicPr>
            <a:picLocks noChangeAspect="1"/>
          </p:cNvPicPr>
          <p:nvPr/>
        </p:nvPicPr>
        <p:blipFill>
          <a:blip r:embed="rId2"/>
          <a:stretch>
            <a:fillRect/>
          </a:stretch>
        </p:blipFill>
        <p:spPr>
          <a:xfrm>
            <a:off x="6411595" y="3037840"/>
            <a:ext cx="3200400" cy="739140"/>
          </a:xfrm>
          <a:prstGeom prst="rect">
            <a:avLst/>
          </a:prstGeom>
        </p:spPr>
      </p:pic>
      <p:pic>
        <p:nvPicPr>
          <p:cNvPr id="10" name="图片 9"/>
          <p:cNvPicPr>
            <a:picLocks noChangeAspect="1"/>
          </p:cNvPicPr>
          <p:nvPr/>
        </p:nvPicPr>
        <p:blipFill>
          <a:blip r:embed="rId3"/>
          <a:stretch>
            <a:fillRect/>
          </a:stretch>
        </p:blipFill>
        <p:spPr>
          <a:xfrm>
            <a:off x="6574155" y="3961130"/>
            <a:ext cx="2484120" cy="662940"/>
          </a:xfrm>
          <a:prstGeom prst="rect">
            <a:avLst/>
          </a:prstGeom>
        </p:spPr>
      </p:pic>
      <p:sp>
        <p:nvSpPr>
          <p:cNvPr id="8" name="文本框 7"/>
          <p:cNvSpPr txBox="1"/>
          <p:nvPr/>
        </p:nvSpPr>
        <p:spPr>
          <a:xfrm>
            <a:off x="549275" y="2317750"/>
            <a:ext cx="6269990" cy="521970"/>
          </a:xfrm>
          <a:prstGeom prst="rect">
            <a:avLst/>
          </a:prstGeom>
        </p:spPr>
        <p:txBody>
          <a:bodyPr wrap="square">
            <a:spAutoFit/>
          </a:bodyPr>
          <a:lstStyle/>
          <a:p>
            <a:pPr algn="l">
              <a:buClrTx/>
              <a:buSzTx/>
              <a:buNone/>
            </a:pPr>
            <a:r>
              <a:rPr lang="en-US" altLang="zh-CN" sz="1400" dirty="0"/>
              <a:t>Split 70% of data for training/validation and 30% for testing </a:t>
            </a:r>
          </a:p>
          <a:p>
            <a:pPr algn="l">
              <a:buClrTx/>
              <a:buSzTx/>
              <a:buNone/>
            </a:pPr>
            <a:r>
              <a:rPr lang="en-US" altLang="zh-CN" sz="1400" dirty="0"/>
              <a:t>Further split the training/validation set to get approximately 20% for validation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rPr>
              <a:t>OLS Regression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7" name="图片 6" descr="OLS-Time Series "/>
          <p:cNvPicPr>
            <a:picLocks noChangeAspect="1"/>
          </p:cNvPicPr>
          <p:nvPr/>
        </p:nvPicPr>
        <p:blipFill>
          <a:blip r:embed="rId2"/>
          <a:stretch>
            <a:fillRect/>
          </a:stretch>
        </p:blipFill>
        <p:spPr>
          <a:xfrm>
            <a:off x="1322705" y="960120"/>
            <a:ext cx="10085705" cy="5836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a:sym typeface="+mn-ea"/>
              </a:rPr>
              <a:t>                                          </a:t>
            </a:r>
            <a:r>
              <a:rPr lang="en-US" altLang="zh-CN" sz="3600">
                <a:latin typeface="+mn-lt"/>
                <a:ea typeface="+mn-ea"/>
                <a:cs typeface="+mn-cs"/>
              </a:rPr>
              <a:t>an extension of OLS</a:t>
            </a:r>
          </a:p>
        </p:txBody>
      </p:sp>
      <p:sp>
        <p:nvSpPr>
          <p:cNvPr id="3" name="Content Placeholder 2"/>
          <p:cNvSpPr>
            <a:spLocks noGrp="1"/>
          </p:cNvSpPr>
          <p:nvPr>
            <p:ph idx="1"/>
          </p:nvPr>
        </p:nvSpPr>
        <p:spPr>
          <a:xfrm>
            <a:off x="838200" y="1825625"/>
            <a:ext cx="10515600" cy="4895215"/>
          </a:xfrm>
        </p:spPr>
        <p:txBody>
          <a:bodyPr>
            <a:normAutofit/>
          </a:bodyPr>
          <a:lstStyle/>
          <a:p>
            <a:r>
              <a:rPr lang="en-US" dirty="0">
                <a:solidFill>
                  <a:srgbClr val="26927D"/>
                </a:solidFill>
              </a:rPr>
              <a:t>Objective function:</a:t>
            </a:r>
          </a:p>
          <a:p>
            <a:pPr marL="0" indent="0">
              <a:buNone/>
            </a:pPr>
            <a:endParaRPr lang="en-US"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16</a:t>
            </a:fld>
            <a:endParaRPr lang="en-US"/>
          </a:p>
        </p:txBody>
      </p:sp>
      <p:sp>
        <p:nvSpPr>
          <p:cNvPr id="5" name="右箭头 4"/>
          <p:cNvSpPr/>
          <p:nvPr/>
        </p:nvSpPr>
        <p:spPr>
          <a:xfrm>
            <a:off x="4749165" y="94234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807085" y="781685"/>
            <a:ext cx="1959610" cy="645160"/>
          </a:xfrm>
          <a:prstGeom prst="rect">
            <a:avLst/>
          </a:prstGeom>
          <a:noFill/>
        </p:spPr>
        <p:txBody>
          <a:bodyPr wrap="square" rtlCol="0" anchor="t">
            <a:spAutoFit/>
          </a:bodyPr>
          <a:lstStyle/>
          <a:p>
            <a:r>
              <a:rPr lang="en-US" altLang="zh-CN" sz="3600">
                <a:sym typeface="+mn-ea"/>
              </a:rPr>
              <a:t>g∗(zi,t​)</a:t>
            </a:r>
          </a:p>
        </p:txBody>
      </p:sp>
      <p:pic>
        <p:nvPicPr>
          <p:cNvPr id="6" name="图片 5"/>
          <p:cNvPicPr>
            <a:picLocks noChangeAspect="1"/>
          </p:cNvPicPr>
          <p:nvPr/>
        </p:nvPicPr>
        <p:blipFill>
          <a:blip r:embed="rId2"/>
          <a:stretch>
            <a:fillRect/>
          </a:stretch>
        </p:blipFill>
        <p:spPr>
          <a:xfrm>
            <a:off x="968375" y="2342515"/>
            <a:ext cx="3710940" cy="731520"/>
          </a:xfrm>
          <a:prstGeom prst="rect">
            <a:avLst/>
          </a:prstGeom>
        </p:spPr>
      </p:pic>
      <p:sp>
        <p:nvSpPr>
          <p:cNvPr id="8" name="文本框 7"/>
          <p:cNvSpPr txBox="1"/>
          <p:nvPr/>
        </p:nvSpPr>
        <p:spPr>
          <a:xfrm>
            <a:off x="845185" y="4300220"/>
            <a:ext cx="9780905" cy="829945"/>
          </a:xfrm>
          <a:prstGeom prst="rect">
            <a:avLst/>
          </a:prstGeom>
        </p:spPr>
        <p:txBody>
          <a:bodyPr wrap="square">
            <a:spAutoFit/>
          </a:bodyPr>
          <a:lstStyle/>
          <a:p>
            <a:r>
              <a:rPr lang="en-US" altLang="zh-CN" sz="1600"/>
              <a:t>L</a:t>
            </a:r>
            <a:r>
              <a:rPr lang="en-US" altLang="zh-CN" sz="1600" baseline="-25000"/>
              <a:t>W​</a:t>
            </a:r>
            <a:r>
              <a:rPr lang="en-US" altLang="zh-CN" sz="1600"/>
              <a:t>(θ):The weighted loss function, which allows observations to contribute differently to the overall error.</a:t>
            </a:r>
          </a:p>
          <a:p>
            <a:r>
              <a:rPr lang="en-US" altLang="zh-CN" sz="1600"/>
              <a:t>wi,t:Weights assigned to individual observations, reflecting their importance. These weights can be based on factors such as time period, asset size, or statistical properties like variance.</a:t>
            </a:r>
            <a:endParaRPr lang="zh-CN" altLang="en-US" sz="1600"/>
          </a:p>
        </p:txBody>
      </p:sp>
      <p:sp>
        <p:nvSpPr>
          <p:cNvPr id="15" name="文本框 14"/>
          <p:cNvSpPr txBox="1"/>
          <p:nvPr/>
        </p:nvSpPr>
        <p:spPr>
          <a:xfrm>
            <a:off x="845185" y="5560060"/>
            <a:ext cx="9780905" cy="829945"/>
          </a:xfrm>
          <a:prstGeom prst="rect">
            <a:avLst/>
          </a:prstGeom>
        </p:spPr>
        <p:txBody>
          <a:bodyPr wrap="square">
            <a:spAutoFit/>
          </a:bodyPr>
          <a:lstStyle/>
          <a:p>
            <a:r>
              <a:rPr lang="en-US" altLang="zh-CN" sz="1600"/>
              <a:t>The Equation is an extension of OLS with weights wi,t. This allows the model to emphasize certain observations while de-emphasizing others, providing flexibility in handling heterogeneous data, such as prioritizing large-cap stocks or balancing observations across time periods.</a:t>
            </a:r>
          </a:p>
        </p:txBody>
      </p:sp>
      <p:sp>
        <p:nvSpPr>
          <p:cNvPr id="16" name="文本框 15"/>
          <p:cNvSpPr txBox="1"/>
          <p:nvPr/>
        </p:nvSpPr>
        <p:spPr>
          <a:xfrm>
            <a:off x="3082925" y="737870"/>
            <a:ext cx="1461135" cy="645160"/>
          </a:xfrm>
          <a:prstGeom prst="rect">
            <a:avLst/>
          </a:prstGeom>
        </p:spPr>
        <p:txBody>
          <a:bodyPr wrap="square">
            <a:spAutoFit/>
          </a:bodyPr>
          <a:lstStyle/>
          <a:p>
            <a:r>
              <a:rPr lang="en-US" altLang="zh-CN" sz="3600"/>
              <a:t>g(zi,t​;θ)</a:t>
            </a:r>
            <a:endParaRPr lang="en-US" altLang="zh-CN" sz="1600"/>
          </a:p>
        </p:txBody>
      </p:sp>
      <p:sp>
        <p:nvSpPr>
          <p:cNvPr id="17" name="右箭头 16"/>
          <p:cNvSpPr/>
          <p:nvPr/>
        </p:nvSpPr>
        <p:spPr>
          <a:xfrm>
            <a:off x="2620010" y="96266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860425" y="5200968"/>
            <a:ext cx="5080000" cy="337185"/>
          </a:xfrm>
          <a:prstGeom prst="rect">
            <a:avLst/>
          </a:prstGeom>
        </p:spPr>
        <p:txBody>
          <a:bodyPr>
            <a:spAutoFit/>
          </a:bodyPr>
          <a:lstStyle/>
          <a:p>
            <a:r>
              <a:rPr lang="en-US" altLang="zh-CN" sz="1600"/>
              <a:t>Theta is obtained through the weighted normal equation.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Explanation-an extension of OLS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Create a DataFrame for modeling</a:t>
            </a: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Extract predictors, target, and weights</a:t>
            </a: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5" name="文本框 4"/>
          <p:cNvSpPr txBox="1"/>
          <p:nvPr/>
        </p:nvSpPr>
        <p:spPr>
          <a:xfrm>
            <a:off x="772886" y="1075055"/>
            <a:ext cx="6096000" cy="678180"/>
          </a:xfrm>
          <a:prstGeom prst="rect">
            <a:avLst/>
          </a:prstGeom>
          <a:noFill/>
        </p:spPr>
        <p:txBody>
          <a:bodyPr wrap="square" rtlCol="0" anchor="t">
            <a:noAutofit/>
          </a:bodyPr>
          <a:lstStyle/>
          <a:p>
            <a:r>
              <a:rPr lang="en-US" altLang="zh-CN" sz="1400" dirty="0"/>
              <a:t>Import NumPy library for numerical computation</a:t>
            </a:r>
          </a:p>
          <a:p>
            <a:pPr algn="l">
              <a:buClrTx/>
              <a:buSzTx/>
              <a:buNone/>
            </a:pPr>
            <a:r>
              <a:rPr lang="en-US" altLang="zh-CN" sz="1400" dirty="0"/>
              <a:t>Import Pandas library for data processing</a:t>
            </a:r>
          </a:p>
          <a:p>
            <a:pPr algn="l">
              <a:buClrTx/>
              <a:buSzTx/>
              <a:buNone/>
            </a:pPr>
            <a:r>
              <a:rPr lang="en-US" altLang="zh-CN" sz="1400" dirty="0"/>
              <a:t>Import function to split dataset into training and testing sets</a:t>
            </a:r>
          </a:p>
          <a:p>
            <a:pPr algn="l">
              <a:buClrTx/>
              <a:buSzTx/>
              <a:buNone/>
            </a:pPr>
            <a:endParaRPr lang="en-US" altLang="zh-CN"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Explanation-an extension of OLS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Define the weighted loss function</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Define the weighted loss function</a:t>
            </a: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Train the weighted linear regression model </a:t>
            </a: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Predict on the test dataset</a:t>
            </a: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3" name="文本框 2"/>
          <p:cNvSpPr txBox="1"/>
          <p:nvPr/>
        </p:nvSpPr>
        <p:spPr>
          <a:xfrm>
            <a:off x="773430" y="823277"/>
            <a:ext cx="6096000" cy="2153285"/>
          </a:xfrm>
          <a:prstGeom prst="rect">
            <a:avLst/>
          </a:prstGeom>
          <a:noFill/>
        </p:spPr>
        <p:txBody>
          <a:bodyPr wrap="square" rtlCol="0" anchor="t">
            <a:spAutoFit/>
          </a:bodyPr>
          <a:lstStyle/>
          <a:p>
            <a:endParaRPr lang="en-US" altLang="zh-CN" sz="1200" dirty="0"/>
          </a:p>
          <a:p>
            <a:r>
              <a:rPr lang="en-US" altLang="zh-CN" sz="1400" dirty="0"/>
              <a:t>Initialize model parameters as None</a:t>
            </a:r>
          </a:p>
          <a:p>
            <a:endParaRPr lang="en-US" altLang="zh-CN" sz="1200" dirty="0"/>
          </a:p>
          <a:p>
            <a:endParaRPr lang="en-US" altLang="zh-CN" sz="1200" dirty="0"/>
          </a:p>
          <a:p>
            <a:pPr algn="l">
              <a:buClrTx/>
              <a:buSzTx/>
              <a:buFontTx/>
            </a:pPr>
            <a:r>
              <a:rPr lang="en-US" altLang="zh-CN" sz="1400" dirty="0"/>
              <a:t>Solve parameters using the weighted normal equation</a:t>
            </a:r>
          </a:p>
          <a:p>
            <a:pPr algn="l">
              <a:buClrTx/>
              <a:buSzTx/>
              <a:buFontTx/>
            </a:pPr>
            <a:r>
              <a:rPr lang="en-US" altLang="zh-CN" sz="1400" dirty="0"/>
              <a:t>Create diagonal weight matrix</a:t>
            </a:r>
          </a:p>
          <a:p>
            <a:pPr algn="l">
              <a:buClrTx/>
              <a:buSzTx/>
              <a:buFontTx/>
            </a:pPr>
            <a:r>
              <a:rPr lang="en-US" altLang="zh-CN" sz="1400" dirty="0"/>
              <a:t>Calculate parameters</a:t>
            </a:r>
          </a:p>
          <a:p>
            <a:pPr algn="l">
              <a:buClrTx/>
              <a:buSzTx/>
              <a:buFontTx/>
            </a:pPr>
            <a:endParaRPr lang="en-US" altLang="zh-CN" sz="1400" dirty="0"/>
          </a:p>
          <a:p>
            <a:pPr algn="l">
              <a:buClrTx/>
              <a:buSzTx/>
              <a:buFontTx/>
            </a:pPr>
            <a:endParaRPr lang="en-US" altLang="zh-CN" sz="1400" dirty="0"/>
          </a:p>
          <a:p>
            <a:pPr algn="l">
              <a:buClrTx/>
              <a:buSzTx/>
              <a:buFontTx/>
            </a:pPr>
            <a:r>
              <a:rPr lang="en-US" altLang="zh-CN" sz="1400" dirty="0"/>
              <a:t>Make predictions using model parameters</a:t>
            </a:r>
          </a:p>
        </p:txBody>
      </p:sp>
      <p:pic>
        <p:nvPicPr>
          <p:cNvPr id="2" name="图片 1"/>
          <p:cNvPicPr>
            <a:picLocks noChangeAspect="1"/>
          </p:cNvPicPr>
          <p:nvPr/>
        </p:nvPicPr>
        <p:blipFill>
          <a:blip r:embed="rId2"/>
          <a:stretch>
            <a:fillRect/>
          </a:stretch>
        </p:blipFill>
        <p:spPr>
          <a:xfrm>
            <a:off x="3211195" y="1975756"/>
            <a:ext cx="3710940" cy="731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An extension of OLS Regression</a:t>
            </a:r>
            <a:r>
              <a:rPr lang="en-US" altLang="zh-CN" sz="2810" dirty="0">
                <a:latin typeface="Calibri Light" panose="020F0302020204030204"/>
                <a:ea typeface="Calibri Light" panose="020F0302020204030204"/>
                <a:cs typeface="Calibri Light" panose="020F0302020204030204"/>
              </a:rPr>
              <a:t>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Extension Ols-Time Series"/>
          <p:cNvPicPr>
            <a:picLocks noChangeAspect="1"/>
          </p:cNvPicPr>
          <p:nvPr/>
        </p:nvPicPr>
        <p:blipFill>
          <a:blip r:embed="rId2"/>
          <a:stretch>
            <a:fillRect/>
          </a:stretch>
        </p:blipFill>
        <p:spPr>
          <a:xfrm>
            <a:off x="976630" y="988695"/>
            <a:ext cx="10090150" cy="58381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a:sym typeface="+mn-ea"/>
              </a:rPr>
              <a:t>                                        </a:t>
            </a:r>
            <a:r>
              <a:rPr lang="en-US" altLang="zh-CN" sz="3600">
                <a:latin typeface="+mn-lt"/>
                <a:ea typeface="+mn-ea"/>
                <a:cs typeface="+mn-cs"/>
              </a:rPr>
              <a:t>a variant of OLS</a:t>
            </a:r>
          </a:p>
        </p:txBody>
      </p:sp>
      <p:sp>
        <p:nvSpPr>
          <p:cNvPr id="3" name="Content Placeholder 2"/>
          <p:cNvSpPr>
            <a:spLocks noGrp="1"/>
          </p:cNvSpPr>
          <p:nvPr>
            <p:ph idx="1"/>
          </p:nvPr>
        </p:nvSpPr>
        <p:spPr>
          <a:xfrm>
            <a:off x="838200" y="1825625"/>
            <a:ext cx="10515600" cy="4895215"/>
          </a:xfrm>
        </p:spPr>
        <p:txBody>
          <a:bodyPr>
            <a:normAutofit/>
          </a:bodyPr>
          <a:lstStyle/>
          <a:p>
            <a:r>
              <a:rPr lang="en-US" dirty="0">
                <a:solidFill>
                  <a:srgbClr val="26927D"/>
                </a:solidFill>
              </a:rPr>
              <a:t>Objective function:</a:t>
            </a:r>
          </a:p>
          <a:p>
            <a:pPr marL="0" indent="0">
              <a:buNone/>
            </a:pPr>
            <a:endParaRPr lang="en-US"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20</a:t>
            </a:fld>
            <a:endParaRPr lang="en-US"/>
          </a:p>
        </p:txBody>
      </p:sp>
      <p:sp>
        <p:nvSpPr>
          <p:cNvPr id="5" name="右箭头 4"/>
          <p:cNvSpPr/>
          <p:nvPr/>
        </p:nvSpPr>
        <p:spPr>
          <a:xfrm>
            <a:off x="2361565" y="90170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635635" y="697230"/>
            <a:ext cx="1959610" cy="645160"/>
          </a:xfrm>
          <a:prstGeom prst="rect">
            <a:avLst/>
          </a:prstGeom>
          <a:noFill/>
        </p:spPr>
        <p:txBody>
          <a:bodyPr wrap="square" rtlCol="0" anchor="t">
            <a:spAutoFit/>
          </a:bodyPr>
          <a:lstStyle/>
          <a:p>
            <a:r>
              <a:rPr lang="en-US" altLang="zh-CN" sz="3600">
                <a:sym typeface="+mn-ea"/>
              </a:rPr>
              <a:t>g∗(zi,t​)</a:t>
            </a:r>
          </a:p>
        </p:txBody>
      </p:sp>
      <p:pic>
        <p:nvPicPr>
          <p:cNvPr id="9" name="图片 8"/>
          <p:cNvPicPr>
            <a:picLocks noChangeAspect="1"/>
          </p:cNvPicPr>
          <p:nvPr/>
        </p:nvPicPr>
        <p:blipFill>
          <a:blip r:embed="rId2"/>
          <a:stretch>
            <a:fillRect/>
          </a:stretch>
        </p:blipFill>
        <p:spPr>
          <a:xfrm>
            <a:off x="1117600" y="2286000"/>
            <a:ext cx="3619500" cy="762000"/>
          </a:xfrm>
          <a:prstGeom prst="rect">
            <a:avLst/>
          </a:prstGeom>
        </p:spPr>
      </p:pic>
      <p:pic>
        <p:nvPicPr>
          <p:cNvPr id="10" name="图片 9"/>
          <p:cNvPicPr>
            <a:picLocks noChangeAspect="1"/>
          </p:cNvPicPr>
          <p:nvPr/>
        </p:nvPicPr>
        <p:blipFill>
          <a:blip r:embed="rId3"/>
          <a:stretch>
            <a:fillRect/>
          </a:stretch>
        </p:blipFill>
        <p:spPr>
          <a:xfrm>
            <a:off x="1117600" y="3017520"/>
            <a:ext cx="3009900" cy="822960"/>
          </a:xfrm>
          <a:prstGeom prst="rect">
            <a:avLst/>
          </a:prstGeom>
        </p:spPr>
      </p:pic>
      <p:sp>
        <p:nvSpPr>
          <p:cNvPr id="11" name="文本框 10"/>
          <p:cNvSpPr txBox="1"/>
          <p:nvPr/>
        </p:nvSpPr>
        <p:spPr>
          <a:xfrm>
            <a:off x="690880" y="3901440"/>
            <a:ext cx="9740265" cy="2733675"/>
          </a:xfrm>
          <a:prstGeom prst="rect">
            <a:avLst/>
          </a:prstGeom>
        </p:spPr>
        <p:txBody>
          <a:bodyPr wrap="square">
            <a:spAutoFit/>
          </a:bodyPr>
          <a:lstStyle/>
          <a:p>
            <a:pPr indent="0">
              <a:buFont typeface="Arial" panose="020B0604020202020204"/>
              <a:buNone/>
            </a:pPr>
            <a:r>
              <a:rPr lang="en-US" altLang="zh-CN" sz="1600"/>
              <a:t>L</a:t>
            </a:r>
            <a:r>
              <a:rPr lang="en-US" altLang="zh-CN" sz="1600" baseline="-25000"/>
              <a:t>H​</a:t>
            </a:r>
            <a:r>
              <a:rPr lang="en-US" altLang="zh-CN" sz="1600"/>
              <a:t>(θ):The Huber loss function, which combines the advantages of mean squared error (MSE) and mean absolute error (MAE).</a:t>
            </a:r>
          </a:p>
          <a:p>
            <a:pPr indent="0">
              <a:buFont typeface="Arial" panose="020B0604020202020204"/>
              <a:buNone/>
            </a:pPr>
            <a:r>
              <a:rPr lang="en-US" altLang="zh-CN" sz="1600"/>
              <a:t>H(x;ξ):The Huber loss function form:</a:t>
            </a:r>
          </a:p>
          <a:p>
            <a:pPr lvl="2">
              <a:buFont typeface="Arial" panose="020B0604020202020204"/>
              <a:buChar char="•"/>
            </a:pPr>
            <a:r>
              <a:rPr lang="en-US" altLang="zh-CN" sz="1600"/>
              <a:t>For small residuals (|x| ≤ξ), it uses squared error to retain efficiency.</a:t>
            </a:r>
          </a:p>
          <a:p>
            <a:pPr lvl="2">
              <a:buFont typeface="Arial" panose="020B0604020202020204"/>
              <a:buChar char="•"/>
            </a:pPr>
            <a:r>
              <a:rPr lang="en-US" altLang="zh-CN" sz="1600"/>
              <a:t>For large residuals (|x| &gt; ξ), it uses absolute error to reduce sensitivity to outliers.</a:t>
            </a:r>
          </a:p>
          <a:p>
            <a:pPr indent="0">
              <a:buFont typeface="Arial" panose="020B0604020202020204"/>
              <a:buNone/>
            </a:pPr>
            <a:r>
              <a:rPr lang="en-US" altLang="zh-CN" sz="1600"/>
              <a:t>ξ:A tuning parameter that controls the threshold between squared and absolute error regimes.</a:t>
            </a:r>
          </a:p>
          <a:p>
            <a:pPr>
              <a:spcAft>
                <a:spcPct val="60000"/>
              </a:spcAft>
            </a:pPr>
            <a:endParaRPr lang="en-US" altLang="zh-CN" sz="1600"/>
          </a:p>
          <a:p>
            <a:pPr>
              <a:spcAft>
                <a:spcPct val="60000"/>
              </a:spcAft>
            </a:pPr>
            <a:r>
              <a:rPr lang="en-US" altLang="zh-CN" sz="1600"/>
              <a:t>The equation defines a robust loss function, minimizing the impact of extreme observations (outliers) on the model. For small errors, it behaves like MSE to preserve estimation efficiency, while for large errors, it switches to MAE to mitigate the influence of outliers.</a:t>
            </a:r>
          </a:p>
        </p:txBody>
      </p:sp>
      <p:sp>
        <p:nvSpPr>
          <p:cNvPr id="12" name="右箭头 11"/>
          <p:cNvSpPr/>
          <p:nvPr/>
        </p:nvSpPr>
        <p:spPr>
          <a:xfrm>
            <a:off x="4527550" y="91186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文本框 15"/>
          <p:cNvSpPr txBox="1"/>
          <p:nvPr/>
        </p:nvSpPr>
        <p:spPr>
          <a:xfrm>
            <a:off x="2835910" y="668020"/>
            <a:ext cx="1461135" cy="645160"/>
          </a:xfrm>
          <a:prstGeom prst="rect">
            <a:avLst/>
          </a:prstGeom>
        </p:spPr>
        <p:txBody>
          <a:bodyPr wrap="square">
            <a:spAutoFit/>
          </a:bodyPr>
          <a:lstStyle/>
          <a:p>
            <a:r>
              <a:rPr lang="en-US" altLang="zh-CN" sz="3600"/>
              <a:t>g(zi,t​;θ)</a:t>
            </a:r>
            <a:endParaRPr lang="en-US" altLang="zh-CN"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Explanation-a variant of OLS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Train using Huber loss function</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Make predictions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2" name="文本框 1"/>
          <p:cNvSpPr txBox="1"/>
          <p:nvPr/>
        </p:nvSpPr>
        <p:spPr>
          <a:xfrm>
            <a:off x="827405" y="1077912"/>
            <a:ext cx="5114925" cy="953135"/>
          </a:xfrm>
          <a:prstGeom prst="rect">
            <a:avLst/>
          </a:prstGeom>
          <a:noFill/>
        </p:spPr>
        <p:txBody>
          <a:bodyPr wrap="square" rtlCol="0" anchor="t">
            <a:spAutoFit/>
          </a:bodyPr>
          <a:lstStyle/>
          <a:p>
            <a:pPr algn="l">
              <a:buClrTx/>
              <a:buSzTx/>
              <a:buNone/>
            </a:pPr>
            <a:r>
              <a:rPr lang="en-US" altLang="zh-CN" sz="1400" dirty="0"/>
              <a:t>Import NumPy library for numerical computations</a:t>
            </a:r>
          </a:p>
          <a:p>
            <a:pPr algn="l">
              <a:buClrTx/>
              <a:buSzTx/>
              <a:buNone/>
            </a:pPr>
            <a:r>
              <a:rPr lang="en-US" altLang="zh-CN" sz="1400" dirty="0"/>
              <a:t>Import Pandas library for data handling and analysis</a:t>
            </a:r>
          </a:p>
          <a:p>
            <a:r>
              <a:rPr lang="en-US" altLang="zh-CN" sz="1400" dirty="0"/>
              <a:t>Import function to split data into training and testing sets</a:t>
            </a:r>
          </a:p>
          <a:p>
            <a:r>
              <a:rPr lang="en-US" altLang="zh-CN" sz="1400" dirty="0"/>
              <a:t>Import Huber Regressor</a:t>
            </a:r>
            <a:endParaRPr lang="zh-CN" altLang="en-US" sz="1400" dirty="0"/>
          </a:p>
        </p:txBody>
      </p:sp>
      <p:sp>
        <p:nvSpPr>
          <p:cNvPr id="5" name="文本框 4"/>
          <p:cNvSpPr txBox="1"/>
          <p:nvPr/>
        </p:nvSpPr>
        <p:spPr>
          <a:xfrm>
            <a:off x="3596640" y="2932430"/>
            <a:ext cx="3303905" cy="521970"/>
          </a:xfrm>
          <a:prstGeom prst="rect">
            <a:avLst/>
          </a:prstGeom>
          <a:noFill/>
        </p:spPr>
        <p:txBody>
          <a:bodyPr wrap="square" rtlCol="0" anchor="t">
            <a:spAutoFit/>
          </a:bodyPr>
          <a:lstStyle/>
          <a:p>
            <a:r>
              <a:rPr lang="en-US" altLang="zh-CN" sz="1400"/>
              <a:t>Create Huber regression model instance</a:t>
            </a:r>
          </a:p>
          <a:p>
            <a:r>
              <a:rPr lang="en-US" altLang="zh-CN" sz="1400"/>
              <a:t>Fit model to training data</a:t>
            </a:r>
            <a:endParaRPr lang="zh-CN" altLang="en-US" sz="1400"/>
          </a:p>
        </p:txBody>
      </p:sp>
      <p:sp>
        <p:nvSpPr>
          <p:cNvPr id="7" name="文本框 6"/>
          <p:cNvSpPr txBox="1"/>
          <p:nvPr/>
        </p:nvSpPr>
        <p:spPr>
          <a:xfrm>
            <a:off x="4374515" y="4048125"/>
            <a:ext cx="6096000" cy="306705"/>
          </a:xfrm>
          <a:prstGeom prst="rect">
            <a:avLst/>
          </a:prstGeom>
          <a:noFill/>
        </p:spPr>
        <p:txBody>
          <a:bodyPr wrap="square" rtlCol="0" anchor="t">
            <a:spAutoFit/>
          </a:bodyPr>
          <a:lstStyle/>
          <a:p>
            <a:r>
              <a:rPr lang="en-US" altLang="zh-CN" sz="1400"/>
              <a:t>Predictions from Huber model</a:t>
            </a:r>
          </a:p>
        </p:txBody>
      </p:sp>
      <p:pic>
        <p:nvPicPr>
          <p:cNvPr id="9" name="图片 8"/>
          <p:cNvPicPr>
            <a:picLocks noChangeAspect="1"/>
          </p:cNvPicPr>
          <p:nvPr/>
        </p:nvPicPr>
        <p:blipFill>
          <a:blip r:embed="rId2"/>
          <a:stretch>
            <a:fillRect/>
          </a:stretch>
        </p:blipFill>
        <p:spPr>
          <a:xfrm>
            <a:off x="6960235" y="2809240"/>
            <a:ext cx="3619500" cy="762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A variant of OLS Results </a:t>
            </a:r>
            <a:r>
              <a:rPr lang="en-US" altLang="zh-CN" sz="2810" dirty="0">
                <a:latin typeface="Calibri Light" panose="020F0302020204030204"/>
                <a:ea typeface="Calibri Light" panose="020F0302020204030204"/>
                <a:cs typeface="Calibri Light" panose="020F0302020204030204"/>
              </a:rPr>
              <a:t>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Huber Ols-Time Series"/>
          <p:cNvPicPr>
            <a:picLocks noChangeAspect="1"/>
          </p:cNvPicPr>
          <p:nvPr/>
        </p:nvPicPr>
        <p:blipFill>
          <a:blip r:embed="rId2"/>
          <a:stretch>
            <a:fillRect/>
          </a:stretch>
        </p:blipFill>
        <p:spPr>
          <a:xfrm>
            <a:off x="1279525" y="982345"/>
            <a:ext cx="10120630" cy="58566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pPr algn="l">
              <a:lnSpc>
                <a:spcPct val="100000"/>
              </a:lnSpc>
              <a:buClrTx/>
              <a:buSzTx/>
              <a:buFontTx/>
            </a:pPr>
            <a:r>
              <a:rPr lang="en-US" sz="3600" dirty="0">
                <a:sym typeface="+mn-ea"/>
              </a:rPr>
              <a:t>                                            </a:t>
            </a:r>
            <a:endParaRPr lang="en-US" altLang="zh-CN" sz="3600">
              <a:latin typeface="+mn-lt"/>
              <a:ea typeface="+mn-ea"/>
              <a:cs typeface="+mn-cs"/>
            </a:endParaRPr>
          </a:p>
        </p:txBody>
      </p:sp>
      <p:sp>
        <p:nvSpPr>
          <p:cNvPr id="3" name="Content Placeholder 2"/>
          <p:cNvSpPr>
            <a:spLocks noGrp="1"/>
          </p:cNvSpPr>
          <p:nvPr>
            <p:ph idx="1"/>
          </p:nvPr>
        </p:nvSpPr>
        <p:spPr>
          <a:xfrm>
            <a:off x="838200" y="1825625"/>
            <a:ext cx="10515600" cy="4895215"/>
          </a:xfrm>
        </p:spPr>
        <p:txBody>
          <a:bodyPr>
            <a:normAutofit/>
          </a:bodyPr>
          <a:lstStyle/>
          <a:p>
            <a:r>
              <a:rPr lang="en-US" dirty="0">
                <a:solidFill>
                  <a:srgbClr val="26927D"/>
                </a:solidFill>
              </a:rPr>
              <a:t>Objective function:</a:t>
            </a:r>
          </a:p>
          <a:p>
            <a:pPr marL="0" indent="0">
              <a:buNone/>
            </a:pPr>
            <a:endParaRPr lang="en-US"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23</a:t>
            </a:fld>
            <a:endParaRPr lang="en-US"/>
          </a:p>
        </p:txBody>
      </p:sp>
      <p:sp>
        <p:nvSpPr>
          <p:cNvPr id="5" name="右箭头 4"/>
          <p:cNvSpPr/>
          <p:nvPr/>
        </p:nvSpPr>
        <p:spPr>
          <a:xfrm>
            <a:off x="4792345" y="49149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645795" y="277495"/>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082925" y="278130"/>
            <a:ext cx="1461135" cy="645160"/>
          </a:xfrm>
          <a:prstGeom prst="rect">
            <a:avLst/>
          </a:prstGeom>
        </p:spPr>
        <p:txBody>
          <a:bodyPr wrap="square">
            <a:spAutoFit/>
          </a:bodyPr>
          <a:lstStyle/>
          <a:p>
            <a:r>
              <a:rPr lang="en-US" altLang="zh-CN" sz="3600"/>
              <a:t>g(zi,t​;θ)</a:t>
            </a:r>
            <a:endParaRPr lang="en-US" altLang="zh-CN" sz="1600"/>
          </a:p>
        </p:txBody>
      </p:sp>
      <p:sp>
        <p:nvSpPr>
          <p:cNvPr id="16" name="右箭头 15"/>
          <p:cNvSpPr/>
          <p:nvPr/>
        </p:nvSpPr>
        <p:spPr>
          <a:xfrm>
            <a:off x="2459990" y="494030"/>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302885" y="238125"/>
            <a:ext cx="4367530" cy="645160"/>
          </a:xfrm>
          <a:prstGeom prst="rect">
            <a:avLst/>
          </a:prstGeom>
          <a:noFill/>
        </p:spPr>
        <p:txBody>
          <a:bodyPr wrap="square" rtlCol="0" anchor="t">
            <a:spAutoFit/>
          </a:bodyPr>
          <a:lstStyle/>
          <a:p>
            <a:r>
              <a:rPr lang="en-US" altLang="zh-CN" sz="3600">
                <a:sym typeface="+mn-ea"/>
              </a:rPr>
              <a:t>Elastic Net Regression</a:t>
            </a:r>
          </a:p>
        </p:txBody>
      </p:sp>
      <p:pic>
        <p:nvPicPr>
          <p:cNvPr id="8" name="图片 7"/>
          <p:cNvPicPr>
            <a:picLocks noChangeAspect="1"/>
          </p:cNvPicPr>
          <p:nvPr/>
        </p:nvPicPr>
        <p:blipFill>
          <a:blip r:embed="rId2"/>
          <a:stretch>
            <a:fillRect/>
          </a:stretch>
        </p:blipFill>
        <p:spPr>
          <a:xfrm>
            <a:off x="1286510" y="2402205"/>
            <a:ext cx="2335530" cy="366395"/>
          </a:xfrm>
          <a:prstGeom prst="rect">
            <a:avLst/>
          </a:prstGeom>
        </p:spPr>
      </p:pic>
      <p:pic>
        <p:nvPicPr>
          <p:cNvPr id="17" name="图片 16"/>
          <p:cNvPicPr>
            <a:picLocks noChangeAspect="1"/>
          </p:cNvPicPr>
          <p:nvPr/>
        </p:nvPicPr>
        <p:blipFill>
          <a:blip r:embed="rId3"/>
          <a:stretch>
            <a:fillRect/>
          </a:stretch>
        </p:blipFill>
        <p:spPr>
          <a:xfrm>
            <a:off x="4411980" y="2251710"/>
            <a:ext cx="3978275" cy="765175"/>
          </a:xfrm>
          <a:prstGeom prst="rect">
            <a:avLst/>
          </a:prstGeom>
        </p:spPr>
      </p:pic>
      <p:sp>
        <p:nvSpPr>
          <p:cNvPr id="18" name="文本框 17"/>
          <p:cNvSpPr txBox="1"/>
          <p:nvPr/>
        </p:nvSpPr>
        <p:spPr>
          <a:xfrm>
            <a:off x="553085" y="2906395"/>
            <a:ext cx="11303000" cy="1076325"/>
          </a:xfrm>
          <a:prstGeom prst="rect">
            <a:avLst/>
          </a:prstGeom>
        </p:spPr>
        <p:txBody>
          <a:bodyPr wrap="square">
            <a:spAutoFit/>
          </a:bodyPr>
          <a:lstStyle/>
          <a:p>
            <a:r>
              <a:rPr lang="en-US" altLang="zh-CN" sz="1600"/>
              <a:t>L(θ):The base loss function, which measures prediction error, such as Mean Squared Error (MSE) or robust alternatives like the Huber loss function.</a:t>
            </a:r>
          </a:p>
          <a:p>
            <a:r>
              <a:rPr lang="en-US" altLang="zh-CN" sz="1600"/>
              <a:t>ϕ(θ;⋅):The penalty function, used for model regularization by introducing bias to reduce sensitivity to noise. The specific form depends on the choice of regularization method.</a:t>
            </a:r>
          </a:p>
        </p:txBody>
      </p:sp>
      <p:sp>
        <p:nvSpPr>
          <p:cNvPr id="19" name="文本框 18"/>
          <p:cNvSpPr txBox="1"/>
          <p:nvPr/>
        </p:nvSpPr>
        <p:spPr>
          <a:xfrm>
            <a:off x="553085" y="3891915"/>
            <a:ext cx="11179175" cy="2061210"/>
          </a:xfrm>
          <a:prstGeom prst="rect">
            <a:avLst/>
          </a:prstGeom>
        </p:spPr>
        <p:txBody>
          <a:bodyPr wrap="square">
            <a:spAutoFit/>
          </a:bodyPr>
          <a:lstStyle/>
          <a:p>
            <a:r>
              <a:rPr lang="en-US" altLang="zh-CN" sz="1600" dirty="0"/>
              <a:t>λ:The regularization strength parameter. Larger λ values impose stronger penalties, further shrinking parameter values and reducing model complexity.</a:t>
            </a:r>
          </a:p>
          <a:p>
            <a:r>
              <a:rPr lang="en-US" altLang="zh-CN" sz="1600" dirty="0"/>
              <a:t>ρ:The mixing parameter that determines the relative weights of L1(lasso) and L2(ridge) penalties:</a:t>
            </a:r>
          </a:p>
          <a:p>
            <a:pPr lvl="1" indent="0">
              <a:buFont typeface="Arial" panose="020B0604020202020204"/>
              <a:buNone/>
            </a:pPr>
            <a:r>
              <a:rPr lang="en-US" altLang="zh-CN" sz="1600" dirty="0"/>
              <a:t>When ρ=0, only L1 penalty is retained, resulting in pure lasso regression, which achieves feature selection by shrinking some parameters to exactly zero.</a:t>
            </a:r>
          </a:p>
          <a:p>
            <a:pPr lvl="1" indent="0">
              <a:buFont typeface="Arial" panose="020B0604020202020204"/>
              <a:buNone/>
            </a:pPr>
            <a:r>
              <a:rPr lang="en-US" altLang="zh-CN" sz="1600" dirty="0"/>
              <a:t>When ρ=1, only L2 penalty is retained, resulting in pure ridge regression, which reduces parameter magnitudes without driving them to zero.</a:t>
            </a:r>
          </a:p>
          <a:p>
            <a:r>
              <a:rPr lang="en-US" altLang="zh-CN" sz="1600" dirty="0"/>
              <a:t>P:The number of predictors or features.</a:t>
            </a:r>
          </a:p>
        </p:txBody>
      </p:sp>
      <p:sp>
        <p:nvSpPr>
          <p:cNvPr id="20" name="文本框 19"/>
          <p:cNvSpPr txBox="1"/>
          <p:nvPr/>
        </p:nvSpPr>
        <p:spPr>
          <a:xfrm>
            <a:off x="553720" y="5865495"/>
            <a:ext cx="10974705" cy="993140"/>
          </a:xfrm>
          <a:prstGeom prst="rect">
            <a:avLst/>
          </a:prstGeom>
        </p:spPr>
        <p:txBody>
          <a:bodyPr wrap="square">
            <a:noAutofit/>
          </a:bodyPr>
          <a:lstStyle/>
          <a:p>
            <a:r>
              <a:rPr lang="en-US" altLang="zh-CN" sz="1600"/>
              <a:t>                                 : The L1(lasso) component tends to reduce unimportant or redundant feature coefficients to zero, effectively selecting a subset of features that are most useful for prediction.</a:t>
            </a:r>
          </a:p>
          <a:p>
            <a:r>
              <a:rPr lang="en-US" altLang="zh-CN" sz="1600"/>
              <a:t>                      : The L2(ridge) component, which controls the absolute values of parameters to prevent them from becoming excessively large.</a:t>
            </a:r>
          </a:p>
        </p:txBody>
      </p:sp>
      <p:pic>
        <p:nvPicPr>
          <p:cNvPr id="21" name="图片 20"/>
          <p:cNvPicPr>
            <a:picLocks noChangeAspect="1"/>
          </p:cNvPicPr>
          <p:nvPr/>
        </p:nvPicPr>
        <p:blipFill>
          <a:blip r:embed="rId4"/>
          <a:stretch>
            <a:fillRect/>
          </a:stretch>
        </p:blipFill>
        <p:spPr>
          <a:xfrm>
            <a:off x="635000" y="5916295"/>
            <a:ext cx="1432560" cy="281940"/>
          </a:xfrm>
          <a:prstGeom prst="rect">
            <a:avLst/>
          </a:prstGeom>
        </p:spPr>
      </p:pic>
      <p:pic>
        <p:nvPicPr>
          <p:cNvPr id="22" name="图片 21"/>
          <p:cNvPicPr>
            <a:picLocks noChangeAspect="1"/>
          </p:cNvPicPr>
          <p:nvPr/>
        </p:nvPicPr>
        <p:blipFill>
          <a:blip r:embed="rId5"/>
          <a:stretch>
            <a:fillRect/>
          </a:stretch>
        </p:blipFill>
        <p:spPr>
          <a:xfrm>
            <a:off x="742950" y="6381115"/>
            <a:ext cx="805180" cy="32956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Explanation-Elastic Net Regression</a:t>
            </a:r>
          </a:p>
          <a:p>
            <a:pPr marL="86360" algn="l" rtl="0" eaLnBrk="0">
              <a:lnSpc>
                <a:spcPts val="3785"/>
              </a:lnSpc>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tuning using validation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3" name="文本框 2"/>
          <p:cNvSpPr txBox="1"/>
          <p:nvPr/>
        </p:nvSpPr>
        <p:spPr>
          <a:xfrm>
            <a:off x="942158" y="1249045"/>
            <a:ext cx="6064250" cy="953135"/>
          </a:xfrm>
          <a:prstGeom prst="rect">
            <a:avLst/>
          </a:prstGeom>
          <a:noFill/>
        </p:spPr>
        <p:txBody>
          <a:bodyPr wrap="square" rtlCol="0" anchor="t">
            <a:spAutoFit/>
          </a:bodyPr>
          <a:lstStyle/>
          <a:p>
            <a:r>
              <a:rPr lang="en-US" altLang="zh-CN" sz="1400" dirty="0"/>
              <a:t>Import the </a:t>
            </a:r>
            <a:r>
              <a:rPr lang="en-US" altLang="zh-CN" sz="1400" dirty="0" err="1"/>
              <a:t>numpy</a:t>
            </a:r>
            <a:r>
              <a:rPr lang="en-US" altLang="zh-CN" sz="1400" dirty="0"/>
              <a:t> library for numerical computations and data generation</a:t>
            </a:r>
          </a:p>
          <a:p>
            <a:r>
              <a:rPr lang="en-US" altLang="zh-CN" sz="1400" dirty="0"/>
              <a:t>Import the pandas library for data manipulation and creating </a:t>
            </a:r>
            <a:r>
              <a:rPr lang="en-US" altLang="zh-CN" sz="1400" dirty="0" err="1"/>
              <a:t>dataframes</a:t>
            </a:r>
            <a:endParaRPr lang="en-US" altLang="zh-CN" sz="1400" dirty="0"/>
          </a:p>
          <a:p>
            <a:r>
              <a:rPr lang="en-US" altLang="zh-CN" sz="1400" dirty="0"/>
              <a:t>Import </a:t>
            </a:r>
            <a:r>
              <a:rPr lang="en-US" altLang="zh-CN" sz="1400" dirty="0" err="1"/>
              <a:t>train_test_split</a:t>
            </a:r>
            <a:r>
              <a:rPr lang="en-US" altLang="zh-CN" sz="1400" dirty="0"/>
              <a:t> for splitting datasets</a:t>
            </a:r>
          </a:p>
          <a:p>
            <a:r>
              <a:rPr lang="en-US" altLang="zh-CN" sz="1400" dirty="0"/>
              <a:t>Import </a:t>
            </a:r>
            <a:r>
              <a:rPr lang="en-US" altLang="zh-CN" sz="1400" dirty="0" err="1"/>
              <a:t>ElasticNet</a:t>
            </a:r>
            <a:r>
              <a:rPr lang="en-US" altLang="zh-CN" sz="1400" dirty="0"/>
              <a:t> for implementing Elastic Net regression</a:t>
            </a:r>
            <a:endParaRPr lang="zh-CN" altLang="en-US" sz="1400" dirty="0"/>
          </a:p>
        </p:txBody>
      </p:sp>
      <p:sp>
        <p:nvSpPr>
          <p:cNvPr id="4" name="文本框 3"/>
          <p:cNvSpPr txBox="1"/>
          <p:nvPr/>
        </p:nvSpPr>
        <p:spPr>
          <a:xfrm>
            <a:off x="942158" y="3041650"/>
            <a:ext cx="3553460" cy="2676525"/>
          </a:xfrm>
          <a:prstGeom prst="rect">
            <a:avLst/>
          </a:prstGeom>
          <a:noFill/>
        </p:spPr>
        <p:txBody>
          <a:bodyPr wrap="square" rtlCol="0" anchor="t">
            <a:spAutoFit/>
          </a:bodyPr>
          <a:lstStyle/>
          <a:p>
            <a:pPr algn="l">
              <a:buClrTx/>
              <a:buSzTx/>
              <a:buNone/>
            </a:pPr>
            <a:r>
              <a:rPr lang="en-US" altLang="zh-CN" sz="1400" dirty="0"/>
              <a:t>Candidate values for regularization strength</a:t>
            </a:r>
          </a:p>
          <a:p>
            <a:pPr algn="l">
              <a:buClrTx/>
              <a:buSzTx/>
              <a:buNone/>
            </a:pPr>
            <a:r>
              <a:rPr lang="en-US" altLang="zh-CN" sz="1400" dirty="0"/>
              <a:t>Candidate values for L1/L2 mixing parameter</a:t>
            </a:r>
          </a:p>
          <a:p>
            <a:pPr algn="l">
              <a:buClrTx/>
              <a:buSzTx/>
              <a:buNone/>
            </a:pPr>
            <a:r>
              <a:rPr lang="en-US" altLang="zh-CN" sz="1400" dirty="0"/>
              <a:t>Initialize Elastic Net model for regression</a:t>
            </a:r>
          </a:p>
          <a:p>
            <a:pPr algn="l">
              <a:buClrTx/>
              <a:buSzTx/>
              <a:buNone/>
            </a:pPr>
            <a:r>
              <a:rPr lang="en-US" altLang="zh-CN" sz="1400" dirty="0"/>
              <a:t>Train model on training set</a:t>
            </a:r>
          </a:p>
          <a:p>
            <a:pPr algn="l">
              <a:buClrTx/>
              <a:buSzTx/>
              <a:buNone/>
            </a:pPr>
            <a:r>
              <a:rPr lang="en-US" altLang="zh-CN" sz="1400" dirty="0"/>
              <a:t>Predict on validation set</a:t>
            </a:r>
          </a:p>
          <a:p>
            <a:pPr algn="l">
              <a:buClrTx/>
              <a:buSzTx/>
              <a:buNone/>
            </a:pPr>
            <a:r>
              <a:rPr lang="en-US" altLang="zh-CN" sz="1400" dirty="0"/>
              <a:t>Calculate validation set MSE</a:t>
            </a:r>
          </a:p>
          <a:p>
            <a:pPr algn="l">
              <a:buClrTx/>
              <a:buSzTx/>
              <a:buNone/>
            </a:pPr>
            <a:endParaRPr lang="en-US" altLang="zh-CN" sz="1400" dirty="0"/>
          </a:p>
          <a:p>
            <a:pPr algn="l">
              <a:buClrTx/>
              <a:buSzTx/>
              <a:buNone/>
            </a:pPr>
            <a:r>
              <a:rPr lang="en-US" altLang="zh-CN" sz="1400" dirty="0"/>
              <a:t>Update best hyperparameters if current MSE is lower</a:t>
            </a:r>
          </a:p>
          <a:p>
            <a:pPr algn="l">
              <a:buClrTx/>
              <a:buSzTx/>
              <a:buNone/>
            </a:pPr>
            <a:r>
              <a:rPr lang="en-US" altLang="zh-CN" sz="1400" dirty="0"/>
              <a:t>Update best MSE value</a:t>
            </a:r>
          </a:p>
          <a:p>
            <a:pPr algn="l">
              <a:buClrTx/>
              <a:buSzTx/>
              <a:buNone/>
            </a:pPr>
            <a:r>
              <a:rPr lang="en-US" altLang="zh-CN" sz="1400" dirty="0"/>
              <a:t>Update best alpha value</a:t>
            </a:r>
          </a:p>
          <a:p>
            <a:pPr algn="l">
              <a:buClrTx/>
              <a:buSzTx/>
              <a:buNone/>
            </a:pPr>
            <a:r>
              <a:rPr lang="en-US" altLang="zh-CN" sz="1400" dirty="0"/>
              <a:t>Update best l1_ratio value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Explanation-Elastic Net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Train final model with best hyperparameters from validation set</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Evaluate the model on the test set</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2" name="文本框 1"/>
          <p:cNvSpPr txBox="1"/>
          <p:nvPr/>
        </p:nvSpPr>
        <p:spPr>
          <a:xfrm>
            <a:off x="638175" y="1620520"/>
            <a:ext cx="4759325" cy="521970"/>
          </a:xfrm>
          <a:prstGeom prst="rect">
            <a:avLst/>
          </a:prstGeom>
          <a:noFill/>
        </p:spPr>
        <p:txBody>
          <a:bodyPr wrap="square" rtlCol="0" anchor="t">
            <a:spAutoFit/>
          </a:bodyPr>
          <a:lstStyle/>
          <a:p>
            <a:r>
              <a:rPr lang="en-US" altLang="zh-CN" sz="1400"/>
              <a:t>Initialize the final Elastic Net model with best hyperparameters</a:t>
            </a:r>
          </a:p>
          <a:p>
            <a:r>
              <a:rPr lang="en-US" altLang="zh-CN" sz="1400"/>
              <a:t>Train the final model on the training set</a:t>
            </a:r>
            <a:endParaRPr lang="zh-CN" altLang="en-US" sz="1400"/>
          </a:p>
        </p:txBody>
      </p:sp>
      <p:sp>
        <p:nvSpPr>
          <p:cNvPr id="3" name="文本框 2"/>
          <p:cNvSpPr txBox="1"/>
          <p:nvPr/>
        </p:nvSpPr>
        <p:spPr>
          <a:xfrm>
            <a:off x="859428" y="2736305"/>
            <a:ext cx="3434080" cy="306705"/>
          </a:xfrm>
          <a:prstGeom prst="rect">
            <a:avLst/>
          </a:prstGeom>
          <a:noFill/>
        </p:spPr>
        <p:txBody>
          <a:bodyPr wrap="square" rtlCol="0" anchor="t">
            <a:spAutoFit/>
          </a:bodyPr>
          <a:lstStyle/>
          <a:p>
            <a:r>
              <a:rPr lang="en-US" altLang="zh-CN" sz="1400" dirty="0"/>
              <a:t>Make predictions on the test set</a:t>
            </a:r>
            <a:endParaRPr lang="zh-CN" altLang="en-US" sz="1400" dirty="0"/>
          </a:p>
        </p:txBody>
      </p:sp>
      <p:pic>
        <p:nvPicPr>
          <p:cNvPr id="4" name="图片 3"/>
          <p:cNvPicPr>
            <a:picLocks noChangeAspect="1"/>
          </p:cNvPicPr>
          <p:nvPr/>
        </p:nvPicPr>
        <p:blipFill>
          <a:blip r:embed="rId2"/>
          <a:stretch>
            <a:fillRect/>
          </a:stretch>
        </p:blipFill>
        <p:spPr>
          <a:xfrm>
            <a:off x="5443855" y="1566545"/>
            <a:ext cx="2335530" cy="3663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Elastic Net Regression</a:t>
            </a:r>
            <a:r>
              <a:rPr lang="en-US" altLang="zh-CN" sz="2810" dirty="0">
                <a:latin typeface="Calibri Light" panose="020F0302020204030204"/>
                <a:ea typeface="Calibri Light" panose="020F0302020204030204"/>
                <a:cs typeface="Calibri Light" panose="020F0302020204030204"/>
              </a:rPr>
              <a:t>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ElasticNet-Time Series"/>
          <p:cNvPicPr>
            <a:picLocks noChangeAspect="1"/>
          </p:cNvPicPr>
          <p:nvPr/>
        </p:nvPicPr>
        <p:blipFill>
          <a:blip r:embed="rId2"/>
          <a:stretch>
            <a:fillRect/>
          </a:stretch>
        </p:blipFill>
        <p:spPr>
          <a:xfrm>
            <a:off x="947420" y="977900"/>
            <a:ext cx="10144760" cy="58699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1: Define the Linear Model</a:t>
            </a:r>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27</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lstStyle/>
          <a:p>
            <a:r>
              <a:rPr lang="en-US" altLang="zh-CN" sz="2400">
                <a:sym typeface="+mn-ea"/>
              </a:rPr>
              <a:t>Principal Component Regression (PCR)</a:t>
            </a:r>
          </a:p>
        </p:txBody>
      </p:sp>
      <p:pic>
        <p:nvPicPr>
          <p:cNvPr id="12" name="图片 11"/>
          <p:cNvPicPr>
            <a:picLocks noChangeAspect="1"/>
          </p:cNvPicPr>
          <p:nvPr/>
        </p:nvPicPr>
        <p:blipFill>
          <a:blip r:embed="rId2"/>
          <a:stretch>
            <a:fillRect/>
          </a:stretch>
        </p:blipFill>
        <p:spPr>
          <a:xfrm>
            <a:off x="1619250" y="2193925"/>
            <a:ext cx="1051560" cy="312420"/>
          </a:xfrm>
          <a:prstGeom prst="rect">
            <a:avLst/>
          </a:prstGeom>
        </p:spPr>
      </p:pic>
      <p:sp>
        <p:nvSpPr>
          <p:cNvPr id="14" name="文本框 13"/>
          <p:cNvSpPr txBox="1"/>
          <p:nvPr/>
        </p:nvSpPr>
        <p:spPr>
          <a:xfrm>
            <a:off x="5759450" y="885190"/>
            <a:ext cx="6096000" cy="460375"/>
          </a:xfrm>
          <a:prstGeom prst="rect">
            <a:avLst/>
          </a:prstGeom>
          <a:noFill/>
        </p:spPr>
        <p:txBody>
          <a:bodyPr wrap="square" rtlCol="0" anchor="t">
            <a:spAutoFit/>
          </a:bodyPr>
          <a:lstStyle/>
          <a:p>
            <a:r>
              <a:rPr lang="en-US" altLang="zh-CN" sz="2400">
                <a:sym typeface="+mn-ea"/>
              </a:rPr>
              <a:t>Partial Least Squares Regression (PLS)</a:t>
            </a:r>
          </a:p>
        </p:txBody>
      </p:sp>
      <p:sp>
        <p:nvSpPr>
          <p:cNvPr id="16" name="文本框 15"/>
          <p:cNvSpPr txBox="1"/>
          <p:nvPr/>
        </p:nvSpPr>
        <p:spPr>
          <a:xfrm>
            <a:off x="838200" y="2468245"/>
            <a:ext cx="10852150" cy="1076325"/>
          </a:xfrm>
          <a:prstGeom prst="rect">
            <a:avLst/>
          </a:prstGeom>
        </p:spPr>
        <p:txBody>
          <a:bodyPr wrap="square">
            <a:spAutoFit/>
          </a:bodyPr>
          <a:lstStyle/>
          <a:p>
            <a:r>
              <a:rPr lang="en-US" altLang="zh-CN" sz="1600"/>
              <a:t>R: A NT×1 vector of realized excess returns, containing all assets i and time periods t with observations ri,t+1.</a:t>
            </a:r>
          </a:p>
          <a:p>
            <a:r>
              <a:rPr lang="en-US" altLang="zh-CN" sz="1600"/>
              <a:t>Z: A NT×P predictor matrix, where each row corresponds to the P-dimensional predictor vector zi,t for a specific asset i at time t.</a:t>
            </a:r>
          </a:p>
          <a:p>
            <a:r>
              <a:rPr lang="en-US" altLang="zh-CN" sz="1600"/>
              <a:t>θ: A P×1 vector of regression coefficients.</a:t>
            </a:r>
          </a:p>
          <a:p>
            <a:r>
              <a:rPr lang="en-US" altLang="zh-CN" sz="1600"/>
              <a:t>E: A residual vector of size NT×1, representing deviations between predicted and actual returns.</a:t>
            </a:r>
          </a:p>
        </p:txBody>
      </p:sp>
      <p:sp>
        <p:nvSpPr>
          <p:cNvPr id="17" name="文本框 16"/>
          <p:cNvSpPr txBox="1"/>
          <p:nvPr/>
        </p:nvSpPr>
        <p:spPr>
          <a:xfrm>
            <a:off x="849630" y="3539490"/>
            <a:ext cx="10607675" cy="583565"/>
          </a:xfrm>
          <a:prstGeom prst="rect">
            <a:avLst/>
          </a:prstGeom>
        </p:spPr>
        <p:txBody>
          <a:bodyPr wrap="square">
            <a:spAutoFit/>
          </a:bodyPr>
          <a:lstStyle/>
          <a:p>
            <a:r>
              <a:rPr lang="en-US" altLang="zh-CN" sz="1600"/>
              <a:t>The equation expresses the linear regression model                                       in a compact matrix form. This serves as the foundational setup for applying dimensionality reduction techniques like PCR and PLS.</a:t>
            </a:r>
          </a:p>
        </p:txBody>
      </p:sp>
      <p:pic>
        <p:nvPicPr>
          <p:cNvPr id="18" name="图片 17"/>
          <p:cNvPicPr>
            <a:picLocks noChangeAspect="1"/>
          </p:cNvPicPr>
          <p:nvPr/>
        </p:nvPicPr>
        <p:blipFill>
          <a:blip r:embed="rId3"/>
          <a:stretch>
            <a:fillRect/>
          </a:stretch>
        </p:blipFill>
        <p:spPr>
          <a:xfrm>
            <a:off x="5227320" y="3548380"/>
            <a:ext cx="1700530" cy="287655"/>
          </a:xfrm>
          <a:prstGeom prst="rect">
            <a:avLst/>
          </a:prstGeom>
        </p:spPr>
      </p:pic>
      <p:sp>
        <p:nvSpPr>
          <p:cNvPr id="19" name="文本框 18"/>
          <p:cNvSpPr txBox="1"/>
          <p:nvPr/>
        </p:nvSpPr>
        <p:spPr>
          <a:xfrm>
            <a:off x="829310" y="4237673"/>
            <a:ext cx="5080000" cy="337185"/>
          </a:xfrm>
          <a:prstGeom prst="rect">
            <a:avLst/>
          </a:prstGeom>
        </p:spPr>
        <p:txBody>
          <a:bodyPr>
            <a:spAutoFit/>
          </a:bodyPr>
          <a:lstStyle/>
          <a:p>
            <a:r>
              <a:rPr lang="en-US" altLang="zh-CN" sz="1600"/>
              <a:t>Step 2: Perform Dimensionality Reduction</a:t>
            </a:r>
          </a:p>
        </p:txBody>
      </p:sp>
      <p:pic>
        <p:nvPicPr>
          <p:cNvPr id="20" name="图片 19"/>
          <p:cNvPicPr>
            <a:picLocks noChangeAspect="1"/>
          </p:cNvPicPr>
          <p:nvPr/>
        </p:nvPicPr>
        <p:blipFill>
          <a:blip r:embed="rId4"/>
          <a:stretch>
            <a:fillRect/>
          </a:stretch>
        </p:blipFill>
        <p:spPr>
          <a:xfrm>
            <a:off x="1403350" y="4504690"/>
            <a:ext cx="1653540" cy="266700"/>
          </a:xfrm>
          <a:prstGeom prst="rect">
            <a:avLst/>
          </a:prstGeom>
        </p:spPr>
      </p:pic>
      <p:sp>
        <p:nvSpPr>
          <p:cNvPr id="21" name="文本框 20"/>
          <p:cNvSpPr txBox="1"/>
          <p:nvPr/>
        </p:nvSpPr>
        <p:spPr>
          <a:xfrm>
            <a:off x="849630" y="4730750"/>
            <a:ext cx="10897870" cy="1076325"/>
          </a:xfrm>
          <a:prstGeom prst="rect">
            <a:avLst/>
          </a:prstGeom>
        </p:spPr>
        <p:txBody>
          <a:bodyPr wrap="square">
            <a:spAutoFit/>
          </a:bodyPr>
          <a:lstStyle/>
          <a:p>
            <a:r>
              <a:rPr lang="en-US" altLang="zh-CN" sz="1600"/>
              <a:t>ZΩ</a:t>
            </a:r>
            <a:r>
              <a:rPr lang="en-US" altLang="zh-CN" sz="1600" baseline="-25000"/>
              <a:t>K​</a:t>
            </a:r>
            <a:r>
              <a:rPr lang="en-US" altLang="zh-CN" sz="1600"/>
              <a:t>: The dimension-reduced version of Z, projected onto a K-dimensional linear subspace using Ω</a:t>
            </a:r>
            <a:r>
              <a:rPr lang="en-US" altLang="zh-CN" sz="1600" baseline="-25000"/>
              <a:t>K</a:t>
            </a:r>
            <a:r>
              <a:rPr lang="en-US" altLang="zh-CN" sz="1600"/>
              <a:t>.</a:t>
            </a:r>
          </a:p>
          <a:p>
            <a:r>
              <a:rPr lang="en-US" altLang="zh-CN" sz="1600"/>
              <a:t>Ω</a:t>
            </a:r>
            <a:r>
              <a:rPr lang="en-US" altLang="zh-CN" sz="1600" baseline="-25000"/>
              <a:t>K</a:t>
            </a:r>
            <a:r>
              <a:rPr lang="en-US" altLang="zh-CN" sz="1600"/>
              <a:t>: A P×K dimensionality reduction matrix, defining the K linear combinations of predictors.</a:t>
            </a:r>
          </a:p>
          <a:p>
            <a:r>
              <a:rPr lang="en-US" altLang="zh-CN" sz="1600"/>
              <a:t>θ</a:t>
            </a:r>
            <a:r>
              <a:rPr lang="en-US" altLang="zh-CN" sz="1600" baseline="-25000"/>
              <a:t>K</a:t>
            </a:r>
            <a:r>
              <a:rPr lang="en-US" altLang="zh-CN" sz="1600"/>
              <a:t>: A K×1 vector of regression coefficients for the dimension-reduced predictors.</a:t>
            </a:r>
          </a:p>
          <a:p>
            <a:r>
              <a:rPr lang="en-US" altLang="zh-CN" sz="1600"/>
              <a:t>E~: Residuals in the dimension-reduced model.</a:t>
            </a:r>
          </a:p>
        </p:txBody>
      </p:sp>
      <p:pic>
        <p:nvPicPr>
          <p:cNvPr id="23" name="图片 22"/>
          <p:cNvPicPr>
            <a:picLocks noChangeAspect="1"/>
          </p:cNvPicPr>
          <p:nvPr/>
        </p:nvPicPr>
        <p:blipFill>
          <a:blip r:embed="rId5"/>
          <a:stretch>
            <a:fillRect/>
          </a:stretch>
        </p:blipFill>
        <p:spPr>
          <a:xfrm>
            <a:off x="960120" y="5523865"/>
            <a:ext cx="183515" cy="224155"/>
          </a:xfrm>
          <a:prstGeom prst="rect">
            <a:avLst/>
          </a:prstGeom>
        </p:spPr>
      </p:pic>
      <p:sp>
        <p:nvSpPr>
          <p:cNvPr id="24" name="文本框 23"/>
          <p:cNvSpPr txBox="1"/>
          <p:nvPr/>
        </p:nvSpPr>
        <p:spPr>
          <a:xfrm>
            <a:off x="695960" y="5731510"/>
            <a:ext cx="10429875" cy="1076325"/>
          </a:xfrm>
          <a:prstGeom prst="rect">
            <a:avLst/>
          </a:prstGeom>
        </p:spPr>
        <p:txBody>
          <a:bodyPr wrap="square">
            <a:spAutoFit/>
          </a:bodyPr>
          <a:lstStyle/>
          <a:p>
            <a:r>
              <a:rPr lang="en-US" altLang="zh-CN" sz="1600"/>
              <a:t>Compute the reduction matrix ΩK to project Z onto a lower-dimensional subspace.</a:t>
            </a:r>
          </a:p>
          <a:p>
            <a:pPr>
              <a:buFont typeface="Arial" panose="020B0604020202020204"/>
              <a:buChar char="•"/>
            </a:pPr>
            <a:r>
              <a:rPr lang="en-US" altLang="zh-CN" sz="1600"/>
              <a:t>For PCR, compute principal components by maximizing the variance of Zw.</a:t>
            </a:r>
          </a:p>
          <a:p>
            <a:pPr>
              <a:buFont typeface="Arial" panose="020B0604020202020204"/>
              <a:buChar char="•"/>
            </a:pPr>
            <a:r>
              <a:rPr lang="en-US" altLang="zh-CN" sz="1600"/>
              <a:t>For PLS, compute components that maximize the correlation with R.</a:t>
            </a:r>
          </a:p>
          <a:p>
            <a:r>
              <a:rPr lang="en-US" altLang="zh-CN" sz="1600"/>
              <a:t>Transform Z into its reduced form ZΩ</a:t>
            </a:r>
            <a:r>
              <a:rPr lang="en-US" altLang="zh-CN" sz="1600" baseline="-25000"/>
              <a:t>K</a:t>
            </a:r>
            <a:r>
              <a:rPr lang="en-US" altLang="zh-CN" sz="1600"/>
              <a:t> using the projection matrix.</a:t>
            </a:r>
          </a:p>
        </p:txBody>
      </p:sp>
      <p:sp>
        <p:nvSpPr>
          <p:cNvPr id="25" name="文本框 24"/>
          <p:cNvSpPr txBox="1"/>
          <p:nvPr/>
        </p:nvSpPr>
        <p:spPr>
          <a:xfrm>
            <a:off x="8124825" y="5523865"/>
            <a:ext cx="4286250" cy="675640"/>
          </a:xfrm>
          <a:prstGeom prst="rect">
            <a:avLst/>
          </a:prstGeom>
        </p:spPr>
        <p:txBody>
          <a:bodyPr>
            <a:noAutofit/>
          </a:bodyPr>
          <a:lstStyle/>
          <a:p>
            <a:r>
              <a:rPr lang="en-US" altLang="zh-CN" sz="1600"/>
              <a:t>To reduce feature redundancy and multicollinearity while retaining the most important predictive information.</a:t>
            </a:r>
          </a:p>
        </p:txBody>
      </p:sp>
      <p:sp>
        <p:nvSpPr>
          <p:cNvPr id="26" name="文本框 25"/>
          <p:cNvSpPr txBox="1"/>
          <p:nvPr/>
        </p:nvSpPr>
        <p:spPr>
          <a:xfrm>
            <a:off x="5710555" y="1470660"/>
            <a:ext cx="5973445" cy="829945"/>
          </a:xfrm>
          <a:prstGeom prst="rect">
            <a:avLst/>
          </a:prstGeom>
        </p:spPr>
        <p:txBody>
          <a:bodyPr wrap="square">
            <a:spAutoFit/>
          </a:bodyPr>
          <a:lstStyle/>
          <a:p>
            <a:r>
              <a:rPr lang="en-US" altLang="zh-CN" sz="1600"/>
              <a:t>To extract key information from the predictors by calculating components via PCR or PLS, emphasizing variance (PCR) or predictive relevance (PLS).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3: Determine Combination Weights for Predictors </a:t>
            </a:r>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28</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lstStyle/>
          <a:p>
            <a:r>
              <a:rPr lang="en-US" altLang="zh-CN" sz="2400">
                <a:sym typeface="+mn-ea"/>
              </a:rPr>
              <a:t>Principal Component Regression (PCR)</a:t>
            </a:r>
          </a:p>
        </p:txBody>
      </p:sp>
      <p:sp>
        <p:nvSpPr>
          <p:cNvPr id="14" name="文本框 13"/>
          <p:cNvSpPr txBox="1"/>
          <p:nvPr/>
        </p:nvSpPr>
        <p:spPr>
          <a:xfrm>
            <a:off x="5759450" y="885190"/>
            <a:ext cx="6096000" cy="460375"/>
          </a:xfrm>
          <a:prstGeom prst="rect">
            <a:avLst/>
          </a:prstGeom>
          <a:noFill/>
        </p:spPr>
        <p:txBody>
          <a:bodyPr wrap="square" rtlCol="0" anchor="t">
            <a:spAutoFit/>
          </a:bodyPr>
          <a:lstStyle/>
          <a:p>
            <a:r>
              <a:rPr lang="en-US" altLang="zh-CN" sz="2400">
                <a:sym typeface="+mn-ea"/>
              </a:rPr>
              <a:t>Partial Least Squares Regression (PLS)</a:t>
            </a:r>
          </a:p>
        </p:txBody>
      </p:sp>
      <p:pic>
        <p:nvPicPr>
          <p:cNvPr id="2" name="图片 1"/>
          <p:cNvPicPr>
            <a:picLocks noChangeAspect="1"/>
          </p:cNvPicPr>
          <p:nvPr/>
        </p:nvPicPr>
        <p:blipFill>
          <a:blip r:embed="rId2"/>
          <a:stretch>
            <a:fillRect/>
          </a:stretch>
        </p:blipFill>
        <p:spPr>
          <a:xfrm>
            <a:off x="1540510" y="2607945"/>
            <a:ext cx="6111240" cy="289560"/>
          </a:xfrm>
          <a:prstGeom prst="rect">
            <a:avLst/>
          </a:prstGeom>
        </p:spPr>
      </p:pic>
      <p:sp>
        <p:nvSpPr>
          <p:cNvPr id="6" name="文本框 5"/>
          <p:cNvSpPr txBox="1"/>
          <p:nvPr/>
        </p:nvSpPr>
        <p:spPr>
          <a:xfrm>
            <a:off x="1122680" y="2884805"/>
            <a:ext cx="10347960" cy="829945"/>
          </a:xfrm>
          <a:prstGeom prst="rect">
            <a:avLst/>
          </a:prstGeom>
        </p:spPr>
        <p:txBody>
          <a:bodyPr wrap="square">
            <a:spAutoFit/>
          </a:bodyPr>
          <a:lstStyle/>
          <a:p>
            <a:r>
              <a:rPr lang="en-US" altLang="zh-CN" sz="1600"/>
              <a:t>w</a:t>
            </a:r>
            <a:r>
              <a:rPr lang="en-US" altLang="zh-CN" sz="1600" baseline="-25000"/>
              <a:t>j​</a:t>
            </a:r>
            <a:r>
              <a:rPr lang="en-US" altLang="zh-CN" sz="1600"/>
              <a:t>:The j-th principal component weight vector.</a:t>
            </a:r>
          </a:p>
          <a:p>
            <a:r>
              <a:rPr lang="en-US" altLang="zh-CN" sz="1600"/>
              <a:t>Var(Z</a:t>
            </a:r>
            <a:r>
              <a:rPr lang="en-US" altLang="zh-CN" sz="1600" baseline="-25000"/>
              <a:t>w</a:t>
            </a:r>
            <a:r>
              <a:rPr lang="en-US" altLang="zh-CN" sz="1600"/>
              <a:t>):The variance of the linear combination Zw, representing the amount of information captured by this component.</a:t>
            </a:r>
          </a:p>
          <a:p>
            <a:r>
              <a:rPr lang="en-US" altLang="zh-CN" sz="1600"/>
              <a:t>Cov(Z</a:t>
            </a:r>
            <a:r>
              <a:rPr lang="en-US" altLang="zh-CN" sz="1600" baseline="-25000"/>
              <a:t>w</a:t>
            </a:r>
            <a:r>
              <a:rPr lang="en-US" altLang="zh-CN" sz="1600"/>
              <a:t>,Z</a:t>
            </a:r>
            <a:r>
              <a:rPr lang="en-US" altLang="zh-CN" sz="1600" baseline="-25000"/>
              <a:t>wl</a:t>
            </a:r>
            <a:r>
              <a:rPr lang="en-US" altLang="zh-CN" sz="1600"/>
              <a:t>):Ensures orthogonality among the principal components.</a:t>
            </a:r>
          </a:p>
        </p:txBody>
      </p:sp>
      <p:sp>
        <p:nvSpPr>
          <p:cNvPr id="7" name="文本框 6"/>
          <p:cNvSpPr txBox="1"/>
          <p:nvPr/>
        </p:nvSpPr>
        <p:spPr>
          <a:xfrm>
            <a:off x="1168400" y="4858385"/>
            <a:ext cx="9836785" cy="829945"/>
          </a:xfrm>
          <a:prstGeom prst="rect">
            <a:avLst/>
          </a:prstGeom>
        </p:spPr>
        <p:txBody>
          <a:bodyPr wrap="square">
            <a:spAutoFit/>
          </a:bodyPr>
          <a:lstStyle/>
          <a:p>
            <a:r>
              <a:rPr lang="en-US" altLang="zh-CN" sz="1600"/>
              <a:t>PCR seeks the linear combinations of Z (principal components) that maximize the variance while ensuring that each new component is orthogonal to the previous ones. The solution to this optimization is typically obtained via singular value decomposition (SVD).</a:t>
            </a:r>
          </a:p>
        </p:txBody>
      </p:sp>
      <p:sp>
        <p:nvSpPr>
          <p:cNvPr id="8" name="文本框 7"/>
          <p:cNvSpPr txBox="1"/>
          <p:nvPr/>
        </p:nvSpPr>
        <p:spPr>
          <a:xfrm>
            <a:off x="889000" y="2229803"/>
            <a:ext cx="5080000" cy="337185"/>
          </a:xfrm>
          <a:prstGeom prst="rect">
            <a:avLst/>
          </a:prstGeom>
        </p:spPr>
        <p:txBody>
          <a:bodyPr>
            <a:spAutoFit/>
          </a:bodyPr>
          <a:lstStyle/>
          <a:p>
            <a:r>
              <a:rPr lang="en-US" altLang="zh-CN" sz="1600"/>
              <a:t>For PCR:</a:t>
            </a:r>
          </a:p>
        </p:txBody>
      </p:sp>
      <p:sp>
        <p:nvSpPr>
          <p:cNvPr id="13" name="文本框 12"/>
          <p:cNvSpPr txBox="1"/>
          <p:nvPr/>
        </p:nvSpPr>
        <p:spPr>
          <a:xfrm>
            <a:off x="1122680" y="3813175"/>
            <a:ext cx="8933180" cy="337185"/>
          </a:xfrm>
          <a:prstGeom prst="rect">
            <a:avLst/>
          </a:prstGeom>
        </p:spPr>
        <p:txBody>
          <a:bodyPr wrap="square">
            <a:spAutoFit/>
          </a:bodyPr>
          <a:lstStyle/>
          <a:p>
            <a:r>
              <a:rPr lang="en-US" altLang="zh-CN" sz="1600"/>
              <a:t>Goal: Maximize the variance explained by each principal component Zwj​.</a:t>
            </a:r>
          </a:p>
        </p:txBody>
      </p:sp>
      <p:sp>
        <p:nvSpPr>
          <p:cNvPr id="22" name="文本框 21"/>
          <p:cNvSpPr txBox="1"/>
          <p:nvPr/>
        </p:nvSpPr>
        <p:spPr>
          <a:xfrm>
            <a:off x="1122045" y="4177030"/>
            <a:ext cx="10348595" cy="583565"/>
          </a:xfrm>
          <a:prstGeom prst="rect">
            <a:avLst/>
          </a:prstGeom>
        </p:spPr>
        <p:txBody>
          <a:bodyPr wrap="square">
            <a:spAutoFit/>
          </a:bodyPr>
          <a:lstStyle/>
          <a:p>
            <a:r>
              <a:rPr lang="en-US" altLang="zh-CN" sz="1600"/>
              <a:t>Use singular value decomposition (SVD) to compute eigenvectors corresponding to the largest eigenvalues of Z′Z.</a:t>
            </a:r>
          </a:p>
          <a:p>
            <a:r>
              <a:rPr lang="en-US" altLang="zh-CN" sz="1600"/>
              <a:t>Construct ΩK by stacking the top K eigenvectors.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3: Determine Combination Weights for Predictors </a:t>
            </a:r>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29</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lstStyle/>
          <a:p>
            <a:r>
              <a:rPr lang="en-US" altLang="zh-CN" sz="2400">
                <a:sym typeface="+mn-ea"/>
              </a:rPr>
              <a:t>Principal Component Regression (PCR)</a:t>
            </a:r>
          </a:p>
        </p:txBody>
      </p:sp>
      <p:sp>
        <p:nvSpPr>
          <p:cNvPr id="14" name="文本框 13"/>
          <p:cNvSpPr txBox="1"/>
          <p:nvPr/>
        </p:nvSpPr>
        <p:spPr>
          <a:xfrm>
            <a:off x="5759450" y="885190"/>
            <a:ext cx="6096000" cy="460375"/>
          </a:xfrm>
          <a:prstGeom prst="rect">
            <a:avLst/>
          </a:prstGeom>
          <a:noFill/>
        </p:spPr>
        <p:txBody>
          <a:bodyPr wrap="square" rtlCol="0" anchor="t">
            <a:spAutoFit/>
          </a:bodyPr>
          <a:lstStyle/>
          <a:p>
            <a:r>
              <a:rPr lang="en-US" altLang="zh-CN" sz="2400">
                <a:sym typeface="+mn-ea"/>
              </a:rPr>
              <a:t>Partial Least Squares Regression (PLS)</a:t>
            </a:r>
          </a:p>
        </p:txBody>
      </p:sp>
      <p:sp>
        <p:nvSpPr>
          <p:cNvPr id="8" name="文本框 7"/>
          <p:cNvSpPr txBox="1"/>
          <p:nvPr/>
        </p:nvSpPr>
        <p:spPr>
          <a:xfrm>
            <a:off x="889000" y="2229803"/>
            <a:ext cx="5080000" cy="337185"/>
          </a:xfrm>
          <a:prstGeom prst="rect">
            <a:avLst/>
          </a:prstGeom>
        </p:spPr>
        <p:txBody>
          <a:bodyPr>
            <a:spAutoFit/>
          </a:bodyPr>
          <a:lstStyle/>
          <a:p>
            <a:r>
              <a:rPr lang="en-US" altLang="zh-CN" sz="1600"/>
              <a:t>For PLS:</a:t>
            </a:r>
          </a:p>
        </p:txBody>
      </p:sp>
      <p:pic>
        <p:nvPicPr>
          <p:cNvPr id="12" name="图片 11"/>
          <p:cNvPicPr>
            <a:picLocks noChangeAspect="1"/>
          </p:cNvPicPr>
          <p:nvPr/>
        </p:nvPicPr>
        <p:blipFill>
          <a:blip r:embed="rId2"/>
          <a:stretch>
            <a:fillRect/>
          </a:stretch>
        </p:blipFill>
        <p:spPr>
          <a:xfrm>
            <a:off x="1793240" y="2518410"/>
            <a:ext cx="6492240" cy="358140"/>
          </a:xfrm>
          <a:prstGeom prst="rect">
            <a:avLst/>
          </a:prstGeom>
        </p:spPr>
      </p:pic>
      <p:sp>
        <p:nvSpPr>
          <p:cNvPr id="16" name="文本框 15"/>
          <p:cNvSpPr txBox="1"/>
          <p:nvPr/>
        </p:nvSpPr>
        <p:spPr>
          <a:xfrm>
            <a:off x="1146810" y="3796030"/>
            <a:ext cx="8409940" cy="344170"/>
          </a:xfrm>
          <a:prstGeom prst="rect">
            <a:avLst/>
          </a:prstGeom>
        </p:spPr>
        <p:txBody>
          <a:bodyPr wrap="square">
            <a:noAutofit/>
          </a:bodyPr>
          <a:lstStyle/>
          <a:p>
            <a:r>
              <a:rPr lang="en-US" altLang="zh-CN" sz="1600"/>
              <a:t>Goal: Maximize the squared covariance between predictors and the target R.</a:t>
            </a:r>
          </a:p>
        </p:txBody>
      </p:sp>
      <p:sp>
        <p:nvSpPr>
          <p:cNvPr id="17" name="文本框 16"/>
          <p:cNvSpPr txBox="1"/>
          <p:nvPr/>
        </p:nvSpPr>
        <p:spPr>
          <a:xfrm>
            <a:off x="697230" y="4170045"/>
            <a:ext cx="9977755" cy="583565"/>
          </a:xfrm>
          <a:prstGeom prst="rect">
            <a:avLst/>
          </a:prstGeom>
        </p:spPr>
        <p:txBody>
          <a:bodyPr wrap="square">
            <a:spAutoFit/>
          </a:bodyPr>
          <a:lstStyle/>
          <a:p>
            <a:pPr lvl="1" indent="0">
              <a:buFont typeface="Arial" panose="020B0604020202020204"/>
              <a:buNone/>
            </a:pPr>
            <a:r>
              <a:rPr lang="en-US" altLang="zh-CN" sz="1600"/>
              <a:t>Compute weights wj that emphasize predictors most correlated with R. Orthogonalize Z with respect to        previously selected components to ensure independence.</a:t>
            </a:r>
          </a:p>
        </p:txBody>
      </p:sp>
      <p:sp>
        <p:nvSpPr>
          <p:cNvPr id="18" name="文本框 17"/>
          <p:cNvSpPr txBox="1"/>
          <p:nvPr/>
        </p:nvSpPr>
        <p:spPr>
          <a:xfrm>
            <a:off x="1179830" y="4856480"/>
            <a:ext cx="9782175" cy="829945"/>
          </a:xfrm>
          <a:prstGeom prst="rect">
            <a:avLst/>
          </a:prstGeom>
        </p:spPr>
        <p:txBody>
          <a:bodyPr wrap="square">
            <a:spAutoFit/>
          </a:bodyPr>
          <a:lstStyle/>
          <a:p>
            <a:r>
              <a:rPr lang="en-US" altLang="zh-CN" sz="1600"/>
              <a:t>PLS maximizes the predictive association between the reduced-dimension predictors Zw and the target variable R. Unlike PCR, which focuses on capturing the variance within predictors, PLS emphasizes predictors that are most relevant for predicting R.</a:t>
            </a:r>
          </a:p>
        </p:txBody>
      </p:sp>
      <p:sp>
        <p:nvSpPr>
          <p:cNvPr id="19" name="文本框 18"/>
          <p:cNvSpPr txBox="1"/>
          <p:nvPr/>
        </p:nvSpPr>
        <p:spPr>
          <a:xfrm>
            <a:off x="1179830" y="3093085"/>
            <a:ext cx="9688830" cy="583565"/>
          </a:xfrm>
          <a:prstGeom prst="rect">
            <a:avLst/>
          </a:prstGeom>
        </p:spPr>
        <p:txBody>
          <a:bodyPr wrap="square">
            <a:spAutoFit/>
          </a:bodyPr>
          <a:lstStyle/>
          <a:p>
            <a:r>
              <a:rPr lang="en-US" altLang="zh-CN" sz="1600"/>
              <a:t>Cov2(R,Zw):The squared covariance between the target variable R and the linear combination of predictors Zw.</a:t>
            </a:r>
          </a:p>
          <a:p>
            <a:r>
              <a:rPr lang="en-US" altLang="zh-CN" sz="1600"/>
              <a:t>Cov(Zw,Zwl): Ensures orthogonality among components, similar to PCR.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4: </a:t>
            </a:r>
            <a:r>
              <a:rPr lang="en-US" altLang="zh-CN" sz="1600">
                <a:sym typeface="+mn-ea"/>
              </a:rPr>
              <a:t>Perform Regression on Dimension-Reduced Predictors</a:t>
            </a: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30</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710555" y="389890"/>
            <a:ext cx="6037580" cy="460375"/>
          </a:xfrm>
          <a:prstGeom prst="rect">
            <a:avLst/>
          </a:prstGeom>
          <a:noFill/>
        </p:spPr>
        <p:txBody>
          <a:bodyPr wrap="square" rtlCol="0" anchor="t">
            <a:spAutoFit/>
          </a:bodyPr>
          <a:lstStyle/>
          <a:p>
            <a:r>
              <a:rPr lang="en-US" altLang="zh-CN" sz="2400">
                <a:sym typeface="+mn-ea"/>
              </a:rPr>
              <a:t>Principal Component Regression (PCR)</a:t>
            </a:r>
          </a:p>
        </p:txBody>
      </p:sp>
      <p:sp>
        <p:nvSpPr>
          <p:cNvPr id="14" name="文本框 13"/>
          <p:cNvSpPr txBox="1"/>
          <p:nvPr/>
        </p:nvSpPr>
        <p:spPr>
          <a:xfrm>
            <a:off x="5759450" y="885190"/>
            <a:ext cx="6096000" cy="460375"/>
          </a:xfrm>
          <a:prstGeom prst="rect">
            <a:avLst/>
          </a:prstGeom>
          <a:noFill/>
        </p:spPr>
        <p:txBody>
          <a:bodyPr wrap="square" rtlCol="0" anchor="t">
            <a:spAutoFit/>
          </a:bodyPr>
          <a:lstStyle/>
          <a:p>
            <a:r>
              <a:rPr lang="en-US" altLang="zh-CN" sz="2400">
                <a:sym typeface="+mn-ea"/>
              </a:rPr>
              <a:t>Partial Least Squares Regression (PLS)</a:t>
            </a:r>
          </a:p>
        </p:txBody>
      </p:sp>
      <p:sp>
        <p:nvSpPr>
          <p:cNvPr id="19" name="文本框 18"/>
          <p:cNvSpPr txBox="1"/>
          <p:nvPr/>
        </p:nvSpPr>
        <p:spPr>
          <a:xfrm>
            <a:off x="829310" y="4237990"/>
            <a:ext cx="10203815" cy="337185"/>
          </a:xfrm>
          <a:prstGeom prst="rect">
            <a:avLst/>
          </a:prstGeom>
        </p:spPr>
        <p:txBody>
          <a:bodyPr wrap="square">
            <a:spAutoFit/>
          </a:bodyPr>
          <a:lstStyle/>
          <a:p>
            <a:r>
              <a:rPr lang="en-US" altLang="zh-CN" sz="1600"/>
              <a:t>Step 5: Make Predictions Using the Dimension-Reduced Model</a:t>
            </a:r>
          </a:p>
        </p:txBody>
      </p:sp>
      <p:pic>
        <p:nvPicPr>
          <p:cNvPr id="6" name="图片 5"/>
          <p:cNvPicPr>
            <a:picLocks noChangeAspect="1"/>
          </p:cNvPicPr>
          <p:nvPr/>
        </p:nvPicPr>
        <p:blipFill>
          <a:blip r:embed="rId2"/>
          <a:stretch>
            <a:fillRect/>
          </a:stretch>
        </p:blipFill>
        <p:spPr>
          <a:xfrm>
            <a:off x="1708150" y="2186940"/>
            <a:ext cx="2522220" cy="350520"/>
          </a:xfrm>
          <a:prstGeom prst="rect">
            <a:avLst/>
          </a:prstGeom>
        </p:spPr>
      </p:pic>
      <p:sp>
        <p:nvSpPr>
          <p:cNvPr id="8" name="文本框 7"/>
          <p:cNvSpPr txBox="1"/>
          <p:nvPr/>
        </p:nvSpPr>
        <p:spPr>
          <a:xfrm>
            <a:off x="1001395" y="2531745"/>
            <a:ext cx="10210165" cy="829945"/>
          </a:xfrm>
          <a:prstGeom prst="rect">
            <a:avLst/>
          </a:prstGeom>
        </p:spPr>
        <p:txBody>
          <a:bodyPr wrap="square">
            <a:spAutoFit/>
          </a:bodyPr>
          <a:lstStyle/>
          <a:p>
            <a:r>
              <a:rPr lang="en-US" altLang="zh-CN" sz="1600"/>
              <a:t>θ</a:t>
            </a:r>
            <a:r>
              <a:rPr lang="en-US" altLang="zh-CN" sz="1600" baseline="-25000"/>
              <a:t>K​</a:t>
            </a:r>
            <a:r>
              <a:rPr lang="en-US" altLang="zh-CN" sz="1600"/>
              <a:t>:Regression coefficients for the dimension-reduced predictors, estimated by minimizing residuals.</a:t>
            </a:r>
          </a:p>
          <a:p>
            <a:r>
              <a:rPr lang="en-US" altLang="zh-CN" sz="1600"/>
              <a:t>Residual Sum of Squares (RSS):The sum of squared differences between observed and predicted returns, minimized to fit the model.</a:t>
            </a:r>
          </a:p>
        </p:txBody>
      </p:sp>
      <p:sp>
        <p:nvSpPr>
          <p:cNvPr id="13" name="文本框 12"/>
          <p:cNvSpPr txBox="1"/>
          <p:nvPr/>
        </p:nvSpPr>
        <p:spPr>
          <a:xfrm>
            <a:off x="995680" y="3270250"/>
            <a:ext cx="10205720" cy="337185"/>
          </a:xfrm>
          <a:prstGeom prst="rect">
            <a:avLst/>
          </a:prstGeom>
        </p:spPr>
        <p:txBody>
          <a:bodyPr wrap="square">
            <a:spAutoFit/>
          </a:bodyPr>
          <a:lstStyle/>
          <a:p>
            <a:r>
              <a:rPr lang="en-US" altLang="zh-CN" sz="1600"/>
              <a:t>Perform Ordinary Least Squares (OLS) regression on the reduced predictors ZΩ</a:t>
            </a:r>
            <a:r>
              <a:rPr lang="en-US" altLang="zh-CN" sz="1600" baseline="-25000"/>
              <a:t>K</a:t>
            </a:r>
            <a:r>
              <a:rPr lang="en-US" altLang="zh-CN" sz="1600"/>
              <a:t>.Solve R∼(ZΩK)    to estimate θ</a:t>
            </a:r>
            <a:r>
              <a:rPr lang="en-US" altLang="zh-CN" sz="1600" baseline="-25000"/>
              <a:t>K</a:t>
            </a:r>
            <a:r>
              <a:rPr lang="en-US" altLang="zh-CN" sz="1600"/>
              <a:t>.</a:t>
            </a:r>
          </a:p>
        </p:txBody>
      </p:sp>
      <p:pic>
        <p:nvPicPr>
          <p:cNvPr id="22" name="图片 21"/>
          <p:cNvPicPr>
            <a:picLocks noChangeAspect="1"/>
          </p:cNvPicPr>
          <p:nvPr/>
        </p:nvPicPr>
        <p:blipFill>
          <a:blip r:embed="rId3"/>
          <a:stretch>
            <a:fillRect/>
          </a:stretch>
        </p:blipFill>
        <p:spPr>
          <a:xfrm>
            <a:off x="8124825" y="3301365"/>
            <a:ext cx="929640" cy="266700"/>
          </a:xfrm>
          <a:prstGeom prst="rect">
            <a:avLst/>
          </a:prstGeom>
        </p:spPr>
      </p:pic>
      <p:sp>
        <p:nvSpPr>
          <p:cNvPr id="26" name="文本框 25"/>
          <p:cNvSpPr txBox="1"/>
          <p:nvPr/>
        </p:nvSpPr>
        <p:spPr>
          <a:xfrm>
            <a:off x="985520" y="3528695"/>
            <a:ext cx="10048240" cy="583565"/>
          </a:xfrm>
          <a:prstGeom prst="rect">
            <a:avLst/>
          </a:prstGeom>
        </p:spPr>
        <p:txBody>
          <a:bodyPr wrap="square">
            <a:spAutoFit/>
          </a:bodyPr>
          <a:lstStyle/>
          <a:p>
            <a:r>
              <a:rPr lang="en-US" altLang="zh-CN" sz="1600"/>
              <a:t>To fit the regression model using dimension-reduced predictors, achieving an optimal relationship between predictors and returns.</a:t>
            </a:r>
          </a:p>
        </p:txBody>
      </p:sp>
      <p:pic>
        <p:nvPicPr>
          <p:cNvPr id="27" name="图片 26"/>
          <p:cNvPicPr>
            <a:picLocks noChangeAspect="1"/>
          </p:cNvPicPr>
          <p:nvPr/>
        </p:nvPicPr>
        <p:blipFill>
          <a:blip r:embed="rId4"/>
          <a:stretch>
            <a:fillRect/>
          </a:stretch>
        </p:blipFill>
        <p:spPr>
          <a:xfrm>
            <a:off x="1538605" y="4531360"/>
            <a:ext cx="1226820" cy="243840"/>
          </a:xfrm>
          <a:prstGeom prst="rect">
            <a:avLst/>
          </a:prstGeom>
        </p:spPr>
      </p:pic>
      <p:sp>
        <p:nvSpPr>
          <p:cNvPr id="30" name="文本框 29"/>
          <p:cNvSpPr txBox="1"/>
          <p:nvPr/>
        </p:nvSpPr>
        <p:spPr>
          <a:xfrm>
            <a:off x="1061720" y="4773930"/>
            <a:ext cx="7773035" cy="583565"/>
          </a:xfrm>
          <a:prstGeom prst="rect">
            <a:avLst/>
          </a:prstGeom>
        </p:spPr>
        <p:txBody>
          <a:bodyPr wrap="square">
            <a:spAutoFit/>
          </a:bodyPr>
          <a:lstStyle/>
          <a:p>
            <a:r>
              <a:rPr lang="en-US" altLang="zh-CN" sz="1600"/>
              <a:t>θ^</a:t>
            </a:r>
            <a:r>
              <a:rPr lang="en-US" altLang="zh-CN" sz="1600" baseline="30000"/>
              <a:t>K​</a:t>
            </a:r>
            <a:r>
              <a:rPr lang="en-US" altLang="zh-CN" sz="1600"/>
              <a:t>:The estimated regression coefficients from the reduced model.</a:t>
            </a:r>
          </a:p>
          <a:p>
            <a:r>
              <a:rPr lang="en-US" altLang="zh-CN" sz="1600"/>
              <a:t>R^:The predicted excess returns for all assets and time periods.</a:t>
            </a:r>
          </a:p>
        </p:txBody>
      </p:sp>
      <p:pic>
        <p:nvPicPr>
          <p:cNvPr id="31" name="图片 30"/>
          <p:cNvPicPr>
            <a:picLocks noChangeAspect="1"/>
          </p:cNvPicPr>
          <p:nvPr/>
        </p:nvPicPr>
        <p:blipFill>
          <a:blip r:embed="rId5"/>
          <a:stretch>
            <a:fillRect/>
          </a:stretch>
        </p:blipFill>
        <p:spPr>
          <a:xfrm>
            <a:off x="1137285" y="4681855"/>
            <a:ext cx="284480" cy="367665"/>
          </a:xfrm>
          <a:prstGeom prst="rect">
            <a:avLst/>
          </a:prstGeom>
        </p:spPr>
      </p:pic>
      <p:pic>
        <p:nvPicPr>
          <p:cNvPr id="32" name="图片 31"/>
          <p:cNvPicPr>
            <a:picLocks noChangeAspect="1"/>
          </p:cNvPicPr>
          <p:nvPr/>
        </p:nvPicPr>
        <p:blipFill>
          <a:blip r:embed="rId6"/>
          <a:stretch>
            <a:fillRect/>
          </a:stretch>
        </p:blipFill>
        <p:spPr>
          <a:xfrm>
            <a:off x="1137285" y="5033010"/>
            <a:ext cx="213360" cy="228600"/>
          </a:xfrm>
          <a:prstGeom prst="rect">
            <a:avLst/>
          </a:prstGeom>
        </p:spPr>
      </p:pic>
      <p:sp>
        <p:nvSpPr>
          <p:cNvPr id="33" name="文本框 32"/>
          <p:cNvSpPr txBox="1"/>
          <p:nvPr/>
        </p:nvSpPr>
        <p:spPr>
          <a:xfrm>
            <a:off x="1117600" y="5349875"/>
            <a:ext cx="10274935" cy="337185"/>
          </a:xfrm>
          <a:prstGeom prst="rect">
            <a:avLst/>
          </a:prstGeom>
        </p:spPr>
        <p:txBody>
          <a:bodyPr wrap="square">
            <a:spAutoFit/>
          </a:bodyPr>
          <a:lstStyle/>
          <a:p>
            <a:r>
              <a:rPr lang="en-US" altLang="zh-CN" sz="1600"/>
              <a:t>Multiply ZΩ</a:t>
            </a:r>
            <a:r>
              <a:rPr lang="en-US" altLang="zh-CN" sz="1600" baseline="-25000"/>
              <a:t>K</a:t>
            </a:r>
            <a:r>
              <a:rPr lang="en-US" altLang="zh-CN" sz="1600"/>
              <a:t>   by the estimated coefficients θ^. Compute R^ as the predicted returns for future periods.</a:t>
            </a:r>
          </a:p>
        </p:txBody>
      </p:sp>
      <p:pic>
        <p:nvPicPr>
          <p:cNvPr id="34" name="图片 33"/>
          <p:cNvPicPr>
            <a:picLocks noChangeAspect="1"/>
          </p:cNvPicPr>
          <p:nvPr/>
        </p:nvPicPr>
        <p:blipFill>
          <a:blip r:embed="rId7"/>
          <a:stretch>
            <a:fillRect/>
          </a:stretch>
        </p:blipFill>
        <p:spPr>
          <a:xfrm>
            <a:off x="1925955" y="5420995"/>
            <a:ext cx="396240" cy="205740"/>
          </a:xfrm>
          <a:prstGeom prst="rect">
            <a:avLst/>
          </a:prstGeom>
        </p:spPr>
      </p:pic>
      <p:pic>
        <p:nvPicPr>
          <p:cNvPr id="35" name="图片 34"/>
          <p:cNvPicPr>
            <a:picLocks noChangeAspect="1"/>
          </p:cNvPicPr>
          <p:nvPr/>
        </p:nvPicPr>
        <p:blipFill>
          <a:blip r:embed="rId8"/>
          <a:stretch>
            <a:fillRect/>
          </a:stretch>
        </p:blipFill>
        <p:spPr>
          <a:xfrm>
            <a:off x="4787900" y="5360035"/>
            <a:ext cx="243840" cy="266700"/>
          </a:xfrm>
          <a:prstGeom prst="rect">
            <a:avLst/>
          </a:prstGeom>
        </p:spPr>
      </p:pic>
      <p:pic>
        <p:nvPicPr>
          <p:cNvPr id="36" name="图片 35"/>
          <p:cNvPicPr>
            <a:picLocks noChangeAspect="1"/>
          </p:cNvPicPr>
          <p:nvPr/>
        </p:nvPicPr>
        <p:blipFill>
          <a:blip r:embed="rId9"/>
          <a:stretch>
            <a:fillRect/>
          </a:stretch>
        </p:blipFill>
        <p:spPr>
          <a:xfrm>
            <a:off x="5915660" y="5339715"/>
            <a:ext cx="194945" cy="276860"/>
          </a:xfrm>
          <a:prstGeom prst="rect">
            <a:avLst/>
          </a:prstGeom>
        </p:spPr>
      </p:pic>
      <p:sp>
        <p:nvSpPr>
          <p:cNvPr id="37" name="文本框 36"/>
          <p:cNvSpPr txBox="1"/>
          <p:nvPr/>
        </p:nvSpPr>
        <p:spPr>
          <a:xfrm>
            <a:off x="1112520" y="5724525"/>
            <a:ext cx="8824595" cy="337185"/>
          </a:xfrm>
          <a:prstGeom prst="rect">
            <a:avLst/>
          </a:prstGeom>
        </p:spPr>
        <p:txBody>
          <a:bodyPr wrap="square">
            <a:spAutoFit/>
          </a:bodyPr>
          <a:lstStyle/>
          <a:p>
            <a:r>
              <a:rPr lang="en-US" altLang="zh-CN" sz="1600"/>
              <a:t>To use the regression model for forecasting future returns based on dimension-reduced predictors.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Explanation-Principal Component Regression (PCR)/Partial Least Squares Regression (PLS)</a:t>
            </a: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The sample data construction part is the same as the OLS part.</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tuning and Principal Component Regression (PCR)</a:t>
            </a: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2" name="文本框 1"/>
          <p:cNvSpPr txBox="1"/>
          <p:nvPr/>
        </p:nvSpPr>
        <p:spPr>
          <a:xfrm>
            <a:off x="718820" y="1287145"/>
            <a:ext cx="5080000" cy="1383665"/>
          </a:xfrm>
          <a:prstGeom prst="rect">
            <a:avLst/>
          </a:prstGeom>
        </p:spPr>
        <p:txBody>
          <a:bodyPr>
            <a:spAutoFit/>
          </a:bodyPr>
          <a:lstStyle/>
          <a:p>
            <a:r>
              <a:rPr lang="en-US" altLang="zh-CN" sz="1400" dirty="0"/>
              <a:t>Import </a:t>
            </a:r>
            <a:r>
              <a:rPr lang="en-US" altLang="zh-CN" sz="1400" dirty="0" err="1"/>
              <a:t>numpy</a:t>
            </a:r>
            <a:r>
              <a:rPr lang="en-US" altLang="zh-CN" sz="1400" dirty="0"/>
              <a:t> for numerical operations</a:t>
            </a:r>
          </a:p>
          <a:p>
            <a:r>
              <a:rPr lang="en-US" altLang="zh-CN" sz="1400" dirty="0"/>
              <a:t>Import pandas for data manipulation</a:t>
            </a:r>
          </a:p>
          <a:p>
            <a:r>
              <a:rPr lang="en-US" altLang="zh-CN" sz="1400" dirty="0"/>
              <a:t>Import </a:t>
            </a:r>
            <a:r>
              <a:rPr lang="en-US" altLang="zh-CN" sz="1400" dirty="0" err="1"/>
              <a:t>train_test_split</a:t>
            </a:r>
            <a:r>
              <a:rPr lang="en-US" altLang="zh-CN" sz="1400" dirty="0"/>
              <a:t> from </a:t>
            </a:r>
            <a:r>
              <a:rPr lang="en-US" altLang="zh-CN" sz="1400" dirty="0" err="1"/>
              <a:t>sklearn</a:t>
            </a:r>
            <a:r>
              <a:rPr lang="en-US" altLang="zh-CN" sz="1400" dirty="0"/>
              <a:t> for splitting the dataset </a:t>
            </a:r>
          </a:p>
          <a:p>
            <a:r>
              <a:rPr lang="en-US" altLang="zh-CN" sz="1400" dirty="0"/>
              <a:t>Import PCA for principal component analysis</a:t>
            </a:r>
          </a:p>
          <a:p>
            <a:r>
              <a:rPr lang="en-US" altLang="zh-CN" sz="1400" dirty="0"/>
              <a:t>Import </a:t>
            </a:r>
            <a:r>
              <a:rPr lang="en-US" altLang="zh-CN" sz="1400" dirty="0" err="1"/>
              <a:t>PLSRegression</a:t>
            </a:r>
            <a:r>
              <a:rPr lang="en-US" altLang="zh-CN" sz="1400" dirty="0"/>
              <a:t> for partial least squares regression</a:t>
            </a:r>
          </a:p>
          <a:p>
            <a:r>
              <a:rPr lang="en-US" altLang="zh-CN" sz="1400" dirty="0"/>
              <a:t>Import </a:t>
            </a:r>
            <a:r>
              <a:rPr lang="en-US" altLang="zh-CN" sz="1400" dirty="0" err="1"/>
              <a:t>LinearRegression</a:t>
            </a:r>
            <a:r>
              <a:rPr lang="en-US" altLang="zh-CN" sz="1400" dirty="0"/>
              <a:t> for linear regression </a:t>
            </a:r>
          </a:p>
        </p:txBody>
      </p:sp>
      <p:sp>
        <p:nvSpPr>
          <p:cNvPr id="5" name="文本框 4"/>
          <p:cNvSpPr txBox="1"/>
          <p:nvPr/>
        </p:nvSpPr>
        <p:spPr>
          <a:xfrm>
            <a:off x="718820" y="3823335"/>
            <a:ext cx="5883910" cy="2891790"/>
          </a:xfrm>
          <a:prstGeom prst="rect">
            <a:avLst/>
          </a:prstGeom>
        </p:spPr>
        <p:txBody>
          <a:bodyPr wrap="square">
            <a:spAutoFit/>
          </a:bodyPr>
          <a:lstStyle/>
          <a:p>
            <a:r>
              <a:rPr lang="en-US" altLang="zh-CN" sz="1400" dirty="0"/>
              <a:t>Initialize the best PCR MSE as infinity</a:t>
            </a:r>
          </a:p>
          <a:p>
            <a:r>
              <a:rPr lang="en-US" altLang="zh-CN" sz="1400" dirty="0"/>
              <a:t>Initialize the best number of PCR components as None</a:t>
            </a:r>
          </a:p>
          <a:p>
            <a:r>
              <a:rPr lang="en-US" altLang="zh-CN" sz="1400" dirty="0"/>
              <a:t>Loop over number of components from 1 to min(number of features, 20) </a:t>
            </a:r>
          </a:p>
          <a:p>
            <a:r>
              <a:rPr lang="en-US" altLang="zh-CN" sz="1400" dirty="0"/>
              <a:t>Create a PCA object with the given number of components</a:t>
            </a:r>
          </a:p>
          <a:p>
            <a:r>
              <a:rPr lang="en-US" altLang="zh-CN" sz="1400" dirty="0"/>
              <a:t>Apply PCA to the training data </a:t>
            </a:r>
          </a:p>
          <a:p>
            <a:r>
              <a:rPr lang="en-US" altLang="zh-CN" sz="1400" dirty="0"/>
              <a:t>Transform the validation data using the fitted PCA </a:t>
            </a:r>
          </a:p>
          <a:p>
            <a:r>
              <a:rPr lang="en-US" altLang="zh-CN" sz="1400" dirty="0"/>
              <a:t>Initialize a linear regression model </a:t>
            </a:r>
          </a:p>
          <a:p>
            <a:r>
              <a:rPr lang="en-US" altLang="zh-CN" sz="1400" dirty="0"/>
              <a:t>Fit the linear regression model using the PCA-transformed training data</a:t>
            </a:r>
          </a:p>
          <a:p>
            <a:r>
              <a:rPr lang="en-US" altLang="zh-CN" sz="1400" dirty="0"/>
              <a:t>Predict the returns for the validation set</a:t>
            </a:r>
          </a:p>
          <a:p>
            <a:r>
              <a:rPr lang="en-US" altLang="zh-CN" sz="1400" dirty="0"/>
              <a:t>Calculate the mean squared error (MSE) on the validation set</a:t>
            </a:r>
          </a:p>
          <a:p>
            <a:r>
              <a:rPr lang="en-US" altLang="zh-CN" sz="1400" dirty="0"/>
              <a:t>If the current MSE is lower than the best recorded MSE </a:t>
            </a:r>
          </a:p>
          <a:p>
            <a:r>
              <a:rPr lang="en-US" altLang="zh-CN" sz="1400" dirty="0"/>
              <a:t>Update the best MSE</a:t>
            </a:r>
          </a:p>
          <a:p>
            <a:r>
              <a:rPr lang="en-US" altLang="zh-CN" sz="1400" dirty="0"/>
              <a:t>Update the best number of components</a:t>
            </a:r>
          </a:p>
        </p:txBody>
      </p:sp>
      <p:pic>
        <p:nvPicPr>
          <p:cNvPr id="7" name="图片 6"/>
          <p:cNvPicPr>
            <a:picLocks noChangeAspect="1"/>
          </p:cNvPicPr>
          <p:nvPr/>
        </p:nvPicPr>
        <p:blipFill>
          <a:blip r:embed="rId2"/>
          <a:stretch>
            <a:fillRect/>
          </a:stretch>
        </p:blipFill>
        <p:spPr>
          <a:xfrm>
            <a:off x="5515338" y="5570855"/>
            <a:ext cx="2522220" cy="3505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Explanation-Principal Component Regression (PCR)/Partial Least Squares Regression (PLS)</a:t>
            </a: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sym typeface="+mn-ea"/>
              </a:rPr>
              <a:t>Train PCR with best hyperparameter</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Hyperparameter tuning and Partial Least Squares Regression</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14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Train PLS with best hyperparameter</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4" name="文本框 3"/>
          <p:cNvSpPr txBox="1"/>
          <p:nvPr/>
        </p:nvSpPr>
        <p:spPr>
          <a:xfrm>
            <a:off x="811715" y="1264920"/>
            <a:ext cx="5361940" cy="1383665"/>
          </a:xfrm>
          <a:prstGeom prst="rect">
            <a:avLst/>
          </a:prstGeom>
        </p:spPr>
        <p:txBody>
          <a:bodyPr wrap="square">
            <a:spAutoFit/>
          </a:bodyPr>
          <a:lstStyle/>
          <a:p>
            <a:r>
              <a:rPr lang="en-US" altLang="zh-CN" sz="1400" dirty="0"/>
              <a:t>Create a PCA object with the best number of components </a:t>
            </a:r>
          </a:p>
          <a:p>
            <a:r>
              <a:rPr lang="en-US" altLang="zh-CN" sz="1400" dirty="0"/>
              <a:t>Reapply PCA to the training data</a:t>
            </a:r>
          </a:p>
          <a:p>
            <a:r>
              <a:rPr lang="en-US" altLang="zh-CN" sz="1400" dirty="0"/>
              <a:t>Transform the test data using the fitted PCA </a:t>
            </a:r>
          </a:p>
          <a:p>
            <a:r>
              <a:rPr lang="en-US" altLang="zh-CN" sz="1400" dirty="0"/>
              <a:t>Initialize a new linear regression model </a:t>
            </a:r>
          </a:p>
          <a:p>
            <a:r>
              <a:rPr lang="en-US" altLang="zh-CN" sz="1400" dirty="0"/>
              <a:t>Fit the linear regression model on the PCA-transformed training data </a:t>
            </a:r>
          </a:p>
          <a:p>
            <a:r>
              <a:rPr lang="en-US" altLang="zh-CN" sz="1400" dirty="0"/>
              <a:t>Predict the returns for the test set</a:t>
            </a:r>
          </a:p>
        </p:txBody>
      </p:sp>
      <p:sp>
        <p:nvSpPr>
          <p:cNvPr id="5" name="文本框 4"/>
          <p:cNvSpPr txBox="1"/>
          <p:nvPr/>
        </p:nvSpPr>
        <p:spPr>
          <a:xfrm>
            <a:off x="811715" y="3099435"/>
            <a:ext cx="5909945" cy="2245360"/>
          </a:xfrm>
          <a:prstGeom prst="rect">
            <a:avLst/>
          </a:prstGeom>
        </p:spPr>
        <p:txBody>
          <a:bodyPr wrap="square">
            <a:spAutoFit/>
          </a:bodyPr>
          <a:lstStyle/>
          <a:p>
            <a:r>
              <a:rPr lang="en-US" altLang="zh-CN" sz="1400" dirty="0"/>
              <a:t>Initialize the best PLS MSE as infinity </a:t>
            </a:r>
          </a:p>
          <a:p>
            <a:r>
              <a:rPr lang="en-US" altLang="zh-CN" sz="1400" dirty="0"/>
              <a:t>Initialize the best number of PLS components as None</a:t>
            </a:r>
          </a:p>
          <a:p>
            <a:r>
              <a:rPr lang="en-US" altLang="zh-CN" sz="1400" dirty="0"/>
              <a:t>Loop over number of components from 1 to min(number of features, 20) </a:t>
            </a:r>
          </a:p>
          <a:p>
            <a:r>
              <a:rPr lang="en-US" altLang="zh-CN" sz="1400" dirty="0"/>
              <a:t>Create a </a:t>
            </a:r>
            <a:r>
              <a:rPr lang="en-US" altLang="zh-CN" sz="1400" dirty="0" err="1"/>
              <a:t>PLSRegression</a:t>
            </a:r>
            <a:r>
              <a:rPr lang="en-US" altLang="zh-CN" sz="1400" dirty="0"/>
              <a:t> object with the given number of components </a:t>
            </a:r>
          </a:p>
          <a:p>
            <a:r>
              <a:rPr lang="en-US" altLang="zh-CN" sz="1400" dirty="0"/>
              <a:t>Fit the PLS model using the training data </a:t>
            </a:r>
          </a:p>
          <a:p>
            <a:r>
              <a:rPr lang="en-US" altLang="zh-CN" sz="1400" dirty="0"/>
              <a:t>Predict the returns for the validation set </a:t>
            </a:r>
          </a:p>
          <a:p>
            <a:r>
              <a:rPr lang="en-US" altLang="zh-CN" sz="1400" dirty="0"/>
              <a:t>Calculate the mean squared error (MSE) on the validation set</a:t>
            </a:r>
          </a:p>
          <a:p>
            <a:r>
              <a:rPr lang="en-US" altLang="zh-CN" sz="1400" dirty="0"/>
              <a:t>If the current MSE is lower than the best recorded MSE </a:t>
            </a:r>
          </a:p>
          <a:p>
            <a:r>
              <a:rPr lang="en-US" altLang="zh-CN" sz="1400" dirty="0"/>
              <a:t>Update the best MSE </a:t>
            </a:r>
          </a:p>
          <a:p>
            <a:r>
              <a:rPr lang="en-US" altLang="zh-CN" sz="1400" dirty="0"/>
              <a:t>Update the best number of components</a:t>
            </a:r>
          </a:p>
        </p:txBody>
      </p:sp>
      <p:sp>
        <p:nvSpPr>
          <p:cNvPr id="8" name="文本框 7"/>
          <p:cNvSpPr txBox="1"/>
          <p:nvPr/>
        </p:nvSpPr>
        <p:spPr>
          <a:xfrm>
            <a:off x="811715" y="5834698"/>
            <a:ext cx="5080000" cy="737235"/>
          </a:xfrm>
          <a:prstGeom prst="rect">
            <a:avLst/>
          </a:prstGeom>
        </p:spPr>
        <p:txBody>
          <a:bodyPr>
            <a:spAutoFit/>
          </a:bodyPr>
          <a:lstStyle/>
          <a:p>
            <a:r>
              <a:rPr lang="en-US" altLang="zh-CN" sz="1400" dirty="0"/>
              <a:t>Create a </a:t>
            </a:r>
            <a:r>
              <a:rPr lang="en-US" altLang="zh-CN" sz="1400" dirty="0" err="1"/>
              <a:t>PLSRegression</a:t>
            </a:r>
            <a:r>
              <a:rPr lang="en-US" altLang="zh-CN" sz="1400" dirty="0"/>
              <a:t> object with the best number of components Fit the PLS model using the training data</a:t>
            </a:r>
          </a:p>
          <a:p>
            <a:r>
              <a:rPr lang="en-US" altLang="zh-CN" sz="1400" dirty="0"/>
              <a:t>Predict the returns for the test set and flatten the output</a:t>
            </a:r>
          </a:p>
        </p:txBody>
      </p:sp>
      <p:pic>
        <p:nvPicPr>
          <p:cNvPr id="9" name="图片 8"/>
          <p:cNvPicPr>
            <a:picLocks noChangeAspect="1"/>
          </p:cNvPicPr>
          <p:nvPr/>
        </p:nvPicPr>
        <p:blipFill>
          <a:blip r:embed="rId3"/>
          <a:stretch>
            <a:fillRect/>
          </a:stretch>
        </p:blipFill>
        <p:spPr>
          <a:xfrm>
            <a:off x="4068082" y="4101465"/>
            <a:ext cx="2522220" cy="350520"/>
          </a:xfrm>
          <a:prstGeom prst="rect">
            <a:avLst/>
          </a:prstGeom>
        </p:spPr>
      </p:pic>
      <p:pic>
        <p:nvPicPr>
          <p:cNvPr id="27" name="图片 26"/>
          <p:cNvPicPr>
            <a:picLocks noChangeAspect="1"/>
          </p:cNvPicPr>
          <p:nvPr/>
        </p:nvPicPr>
        <p:blipFill>
          <a:blip r:embed="rId4"/>
          <a:stretch>
            <a:fillRect/>
          </a:stretch>
        </p:blipFill>
        <p:spPr>
          <a:xfrm>
            <a:off x="3655245" y="2350135"/>
            <a:ext cx="1226820" cy="243840"/>
          </a:xfrm>
          <a:prstGeom prst="rect">
            <a:avLst/>
          </a:prstGeom>
        </p:spPr>
      </p:pic>
      <p:pic>
        <p:nvPicPr>
          <p:cNvPr id="11" name="图片 10"/>
          <p:cNvPicPr>
            <a:picLocks noChangeAspect="1"/>
          </p:cNvPicPr>
          <p:nvPr/>
        </p:nvPicPr>
        <p:blipFill>
          <a:blip r:embed="rId4"/>
          <a:stretch>
            <a:fillRect/>
          </a:stretch>
        </p:blipFill>
        <p:spPr>
          <a:xfrm>
            <a:off x="4946835" y="6081395"/>
            <a:ext cx="1226820" cy="2438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Principal Component Regression (PCR)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PCR-Time Series"/>
          <p:cNvPicPr>
            <a:picLocks noChangeAspect="1"/>
          </p:cNvPicPr>
          <p:nvPr/>
        </p:nvPicPr>
        <p:blipFill>
          <a:blip r:embed="rId2"/>
          <a:stretch>
            <a:fillRect/>
          </a:stretch>
        </p:blipFill>
        <p:spPr>
          <a:xfrm>
            <a:off x="1150620" y="974725"/>
            <a:ext cx="10119995" cy="587311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Partial Least Squares Regression (PLS) Results </a:t>
            </a:r>
            <a:r>
              <a:rPr lang="en-US" altLang="zh-CN" sz="2810" dirty="0">
                <a:latin typeface="Calibri Light" panose="020F0302020204030204"/>
                <a:ea typeface="Calibri Light" panose="020F0302020204030204"/>
                <a:cs typeface="Calibri Light" panose="020F0302020204030204"/>
              </a:rPr>
              <a:t>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Pls-Time Series"/>
          <p:cNvPicPr>
            <a:picLocks noChangeAspect="1"/>
          </p:cNvPicPr>
          <p:nvPr/>
        </p:nvPicPr>
        <p:blipFill>
          <a:blip r:embed="rId2"/>
          <a:stretch>
            <a:fillRect/>
          </a:stretch>
        </p:blipFill>
        <p:spPr>
          <a:xfrm>
            <a:off x="1032510" y="956945"/>
            <a:ext cx="10146665" cy="58705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1: Model Setup and Predictor Expansion</a:t>
            </a:r>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35</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5741035" y="527685"/>
            <a:ext cx="5974715" cy="645160"/>
          </a:xfrm>
          <a:prstGeom prst="rect">
            <a:avLst/>
          </a:prstGeom>
        </p:spPr>
        <p:txBody>
          <a:bodyPr wrap="square">
            <a:spAutoFit/>
          </a:bodyPr>
          <a:lstStyle/>
          <a:p>
            <a:r>
              <a:rPr lang="en-US" altLang="zh-CN" sz="3600"/>
              <a:t>Generalized Linear Regression</a:t>
            </a:r>
          </a:p>
        </p:txBody>
      </p:sp>
      <p:pic>
        <p:nvPicPr>
          <p:cNvPr id="7" name="图片 6"/>
          <p:cNvPicPr>
            <a:picLocks noChangeAspect="1"/>
          </p:cNvPicPr>
          <p:nvPr/>
        </p:nvPicPr>
        <p:blipFill>
          <a:blip r:embed="rId2"/>
          <a:stretch>
            <a:fillRect/>
          </a:stretch>
        </p:blipFill>
        <p:spPr>
          <a:xfrm>
            <a:off x="1611630" y="2180590"/>
            <a:ext cx="2301240" cy="396240"/>
          </a:xfrm>
          <a:prstGeom prst="rect">
            <a:avLst/>
          </a:prstGeom>
        </p:spPr>
      </p:pic>
      <p:sp>
        <p:nvSpPr>
          <p:cNvPr id="12" name="文本框 11"/>
          <p:cNvSpPr txBox="1"/>
          <p:nvPr/>
        </p:nvSpPr>
        <p:spPr>
          <a:xfrm>
            <a:off x="817880" y="2652395"/>
            <a:ext cx="10476230" cy="1814830"/>
          </a:xfrm>
          <a:prstGeom prst="rect">
            <a:avLst/>
          </a:prstGeom>
        </p:spPr>
        <p:txBody>
          <a:bodyPr wrap="square">
            <a:spAutoFit/>
          </a:bodyPr>
          <a:lstStyle/>
          <a:p>
            <a:r>
              <a:rPr lang="en-US" altLang="zh-CN" sz="1600"/>
              <a:t>g(z;θ,p(⋅)): The conditional expected return as modeled by the generalized linear regression.</a:t>
            </a:r>
          </a:p>
          <a:p>
            <a:r>
              <a:rPr lang="en-US" altLang="zh-CN" sz="1600"/>
              <a:t>p(zj): The basis function vector, representing a nonlinear transformation of the original predictor zj</a:t>
            </a:r>
          </a:p>
          <a:p>
            <a:endParaRPr lang="en-US" altLang="zh-CN" sz="1600"/>
          </a:p>
          <a:p>
            <a:endParaRPr lang="en-US" altLang="zh-CN" sz="1600"/>
          </a:p>
          <a:p>
            <a:r>
              <a:rPr lang="en-US" altLang="zh-CN" sz="1600"/>
              <a:t>θj: The regression coefficients associated with the j-th predictor's basis functions.</a:t>
            </a:r>
          </a:p>
          <a:p>
            <a:r>
              <a:rPr lang="en-US" altLang="zh-CN" sz="1600"/>
              <a:t>P: The number of original stock characteristics (predictors). Examples of such characteristics include market capitalization, book-to-market ratio, momentum, and volatility.</a:t>
            </a:r>
          </a:p>
        </p:txBody>
      </p:sp>
      <p:sp>
        <p:nvSpPr>
          <p:cNvPr id="6" name="文本框 5"/>
          <p:cNvSpPr txBox="1"/>
          <p:nvPr/>
        </p:nvSpPr>
        <p:spPr>
          <a:xfrm>
            <a:off x="1289050" y="3126105"/>
            <a:ext cx="6253480" cy="337185"/>
          </a:xfrm>
          <a:prstGeom prst="rect">
            <a:avLst/>
          </a:prstGeom>
        </p:spPr>
        <p:txBody>
          <a:bodyPr wrap="square">
            <a:spAutoFit/>
          </a:bodyPr>
          <a:lstStyle/>
          <a:p>
            <a:r>
              <a:rPr lang="en-US" altLang="zh-CN" sz="1600"/>
              <a:t>A second-order spline expansion is adopted as the basis function:</a:t>
            </a:r>
          </a:p>
        </p:txBody>
      </p:sp>
      <p:pic>
        <p:nvPicPr>
          <p:cNvPr id="11" name="图片 10"/>
          <p:cNvPicPr>
            <a:picLocks noChangeAspect="1"/>
          </p:cNvPicPr>
          <p:nvPr/>
        </p:nvPicPr>
        <p:blipFill>
          <a:blip r:embed="rId3"/>
          <a:stretch>
            <a:fillRect/>
          </a:stretch>
        </p:blipFill>
        <p:spPr>
          <a:xfrm>
            <a:off x="6847840" y="3150235"/>
            <a:ext cx="3246120" cy="320040"/>
          </a:xfrm>
          <a:prstGeom prst="rect">
            <a:avLst/>
          </a:prstGeom>
        </p:spPr>
      </p:pic>
      <p:sp>
        <p:nvSpPr>
          <p:cNvPr id="13" name="文本框 12"/>
          <p:cNvSpPr txBox="1"/>
          <p:nvPr/>
        </p:nvSpPr>
        <p:spPr>
          <a:xfrm>
            <a:off x="1285240" y="3348355"/>
            <a:ext cx="8711565" cy="337185"/>
          </a:xfrm>
          <a:prstGeom prst="rect">
            <a:avLst/>
          </a:prstGeom>
        </p:spPr>
        <p:txBody>
          <a:bodyPr wrap="square">
            <a:spAutoFit/>
          </a:bodyPr>
          <a:lstStyle/>
          <a:p>
            <a:r>
              <a:rPr lang="en-US" altLang="zh-CN" sz="1600"/>
              <a:t>where c1,c2,...,cK−2 are knots of the spline functions.</a:t>
            </a:r>
          </a:p>
        </p:txBody>
      </p:sp>
      <p:sp>
        <p:nvSpPr>
          <p:cNvPr id="17" name="文本框 16"/>
          <p:cNvSpPr txBox="1"/>
          <p:nvPr/>
        </p:nvSpPr>
        <p:spPr>
          <a:xfrm>
            <a:off x="918210" y="5586095"/>
            <a:ext cx="10633075" cy="1076325"/>
          </a:xfrm>
          <a:prstGeom prst="rect">
            <a:avLst/>
          </a:prstGeom>
        </p:spPr>
        <p:txBody>
          <a:bodyPr wrap="square">
            <a:spAutoFit/>
          </a:bodyPr>
          <a:lstStyle/>
          <a:p>
            <a:r>
              <a:rPr lang="en-US" altLang="zh-CN" sz="1600"/>
              <a:t>The Generalized Linear Model (GLM) extends the classical linear regression model by introducing nonlinear transformations while maintaining interpretability. Spline expansion enables the prediction function g(z;θ,p(⋅)) to better capture nonlinear relationships while avoiding the complexity and lack of interpretability inherent in deep neural networks. Second-order splines allow for smooth data fitting while avoiding excessive oscillations.</a:t>
            </a:r>
          </a:p>
        </p:txBody>
      </p:sp>
      <p:sp>
        <p:nvSpPr>
          <p:cNvPr id="14" name="文本框 13"/>
          <p:cNvSpPr txBox="1"/>
          <p:nvPr/>
        </p:nvSpPr>
        <p:spPr>
          <a:xfrm>
            <a:off x="817880" y="4533900"/>
            <a:ext cx="6318250" cy="337185"/>
          </a:xfrm>
          <a:prstGeom prst="rect">
            <a:avLst/>
          </a:prstGeom>
        </p:spPr>
        <p:txBody>
          <a:bodyPr wrap="square">
            <a:spAutoFit/>
          </a:bodyPr>
          <a:lstStyle/>
          <a:p>
            <a:r>
              <a:rPr lang="en-US" altLang="zh-CN" sz="1600"/>
              <a:t>Standard linear regression assumes a direct linear relationship:</a:t>
            </a:r>
          </a:p>
        </p:txBody>
      </p:sp>
      <p:sp>
        <p:nvSpPr>
          <p:cNvPr id="19" name="文本框 18"/>
          <p:cNvSpPr txBox="1"/>
          <p:nvPr/>
        </p:nvSpPr>
        <p:spPr>
          <a:xfrm>
            <a:off x="838200" y="4899660"/>
            <a:ext cx="10981055" cy="337185"/>
          </a:xfrm>
          <a:prstGeom prst="rect">
            <a:avLst/>
          </a:prstGeom>
        </p:spPr>
        <p:txBody>
          <a:bodyPr wrap="square">
            <a:spAutoFit/>
          </a:bodyPr>
          <a:lstStyle/>
          <a:p>
            <a:r>
              <a:rPr lang="en-US" altLang="zh-CN" sz="1600"/>
              <a:t>Generalized Linear Model (GLM) with spline expansion first transforms zj​ using nonlinear basis functions, then applies regression:</a:t>
            </a:r>
          </a:p>
        </p:txBody>
      </p:sp>
      <p:pic>
        <p:nvPicPr>
          <p:cNvPr id="21" name="图片 20"/>
          <p:cNvPicPr>
            <a:picLocks noChangeAspect="1"/>
          </p:cNvPicPr>
          <p:nvPr/>
        </p:nvPicPr>
        <p:blipFill>
          <a:blip r:embed="rId4"/>
          <a:stretch>
            <a:fillRect/>
          </a:stretch>
        </p:blipFill>
        <p:spPr>
          <a:xfrm>
            <a:off x="6113780" y="4460875"/>
            <a:ext cx="1615440" cy="396240"/>
          </a:xfrm>
          <a:prstGeom prst="rect">
            <a:avLst/>
          </a:prstGeom>
        </p:spPr>
      </p:pic>
      <p:pic>
        <p:nvPicPr>
          <p:cNvPr id="22" name="图片 21"/>
          <p:cNvPicPr>
            <a:picLocks noChangeAspect="1"/>
          </p:cNvPicPr>
          <p:nvPr/>
        </p:nvPicPr>
        <p:blipFill>
          <a:blip r:embed="rId2"/>
          <a:stretch>
            <a:fillRect/>
          </a:stretch>
        </p:blipFill>
        <p:spPr>
          <a:xfrm>
            <a:off x="871220" y="5181600"/>
            <a:ext cx="2301240" cy="3962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sym typeface="+mn-ea"/>
              </a:rPr>
              <a:t>Step 2: Make Predictions Using the Dimension-Reduced Model</a:t>
            </a: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36</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5741035" y="527685"/>
            <a:ext cx="5974715" cy="645160"/>
          </a:xfrm>
          <a:prstGeom prst="rect">
            <a:avLst/>
          </a:prstGeom>
        </p:spPr>
        <p:txBody>
          <a:bodyPr wrap="square">
            <a:spAutoFit/>
          </a:bodyPr>
          <a:lstStyle/>
          <a:p>
            <a:r>
              <a:rPr lang="en-US" altLang="zh-CN" sz="3600"/>
              <a:t>Generalized Linear Regression</a:t>
            </a:r>
          </a:p>
        </p:txBody>
      </p:sp>
      <p:pic>
        <p:nvPicPr>
          <p:cNvPr id="18" name="图片 17"/>
          <p:cNvPicPr>
            <a:picLocks noChangeAspect="1"/>
          </p:cNvPicPr>
          <p:nvPr/>
        </p:nvPicPr>
        <p:blipFill>
          <a:blip r:embed="rId2"/>
          <a:stretch>
            <a:fillRect/>
          </a:stretch>
        </p:blipFill>
        <p:spPr>
          <a:xfrm>
            <a:off x="1351915" y="2172335"/>
            <a:ext cx="2842260" cy="457200"/>
          </a:xfrm>
          <a:prstGeom prst="rect">
            <a:avLst/>
          </a:prstGeom>
        </p:spPr>
      </p:pic>
      <p:sp>
        <p:nvSpPr>
          <p:cNvPr id="6" name="文本框 5"/>
          <p:cNvSpPr txBox="1"/>
          <p:nvPr/>
        </p:nvSpPr>
        <p:spPr>
          <a:xfrm>
            <a:off x="1005840" y="2644775"/>
            <a:ext cx="8927465" cy="1076325"/>
          </a:xfrm>
          <a:prstGeom prst="rect">
            <a:avLst/>
          </a:prstGeom>
        </p:spPr>
        <p:txBody>
          <a:bodyPr wrap="square">
            <a:spAutoFit/>
          </a:bodyPr>
          <a:lstStyle/>
          <a:p>
            <a:r>
              <a:rPr lang="en-US" altLang="zh-CN" sz="1600"/>
              <a:t>ϕ(θ;λ,K): The group lasso penalty function.</a:t>
            </a:r>
          </a:p>
          <a:p>
            <a:r>
              <a:rPr lang="en-US" altLang="zh-CN" sz="1600"/>
              <a:t>λ: The penalization strength, controlling the sparsity of the selected features.</a:t>
            </a:r>
          </a:p>
          <a:p>
            <a:r>
              <a:rPr lang="en-US" altLang="zh-CN" sz="1600"/>
              <a:t>K: The number of basis functions per predictor.</a:t>
            </a:r>
          </a:p>
          <a:p>
            <a:r>
              <a:rPr lang="en-US" altLang="zh-CN" sz="1600"/>
              <a:t>θj,k: The k-th coefficient for the j-th predictor's basis functions.</a:t>
            </a:r>
          </a:p>
        </p:txBody>
      </p:sp>
      <p:sp>
        <p:nvSpPr>
          <p:cNvPr id="8" name="文本框 7"/>
          <p:cNvSpPr txBox="1"/>
          <p:nvPr/>
        </p:nvSpPr>
        <p:spPr>
          <a:xfrm>
            <a:off x="942340" y="3769995"/>
            <a:ext cx="10182860" cy="829945"/>
          </a:xfrm>
          <a:prstGeom prst="rect">
            <a:avLst/>
          </a:prstGeom>
        </p:spPr>
        <p:txBody>
          <a:bodyPr wrap="square">
            <a:spAutoFit/>
          </a:bodyPr>
          <a:lstStyle/>
          <a:p>
            <a:r>
              <a:rPr lang="en-US" altLang="zh-CN" sz="1600"/>
              <a:t>Define the penalty function to apply group-wise shrinkage to the coefficients θj,k of all basis functions for each predictor zj. Ensure that entire groups (all basis functions for a predictor) are either selected or excluded, promoting sparsity at the predictor level.</a:t>
            </a:r>
          </a:p>
        </p:txBody>
      </p:sp>
      <p:sp>
        <p:nvSpPr>
          <p:cNvPr id="11" name="文本框 10"/>
          <p:cNvSpPr txBox="1"/>
          <p:nvPr/>
        </p:nvSpPr>
        <p:spPr>
          <a:xfrm>
            <a:off x="965200" y="4599940"/>
            <a:ext cx="10160635" cy="583565"/>
          </a:xfrm>
          <a:prstGeom prst="rect">
            <a:avLst/>
          </a:prstGeom>
        </p:spPr>
        <p:txBody>
          <a:bodyPr wrap="square">
            <a:spAutoFit/>
          </a:bodyPr>
          <a:lstStyle/>
          <a:p>
            <a:r>
              <a:rPr lang="en-US" altLang="zh-CN" sz="1600"/>
              <a:t>To regularize the model by reducing overfitting, especially in the high-dimensional setting where predictors are expanded into many basis functions.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sym typeface="+mn-ea"/>
              </a:rPr>
              <a:t>Step 3: Optimization of the Penalized Loss Function</a:t>
            </a: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37</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5741035" y="527685"/>
            <a:ext cx="5974715" cy="645160"/>
          </a:xfrm>
          <a:prstGeom prst="rect">
            <a:avLst/>
          </a:prstGeom>
        </p:spPr>
        <p:txBody>
          <a:bodyPr wrap="square">
            <a:spAutoFit/>
          </a:bodyPr>
          <a:lstStyle/>
          <a:p>
            <a:r>
              <a:rPr lang="en-US" altLang="zh-CN" sz="3600"/>
              <a:t>Generalized Linear Regression</a:t>
            </a:r>
          </a:p>
        </p:txBody>
      </p:sp>
      <p:sp>
        <p:nvSpPr>
          <p:cNvPr id="7" name="文本框 6"/>
          <p:cNvSpPr txBox="1"/>
          <p:nvPr/>
        </p:nvSpPr>
        <p:spPr>
          <a:xfrm>
            <a:off x="932180" y="2171383"/>
            <a:ext cx="5080000" cy="337185"/>
          </a:xfrm>
          <a:prstGeom prst="rect">
            <a:avLst/>
          </a:prstGeom>
        </p:spPr>
        <p:txBody>
          <a:bodyPr>
            <a:spAutoFit/>
          </a:bodyPr>
          <a:lstStyle/>
          <a:p>
            <a:r>
              <a:rPr lang="en-US" altLang="zh-CN" sz="1600"/>
              <a:t>The combined full objective function in a single line is:</a:t>
            </a:r>
          </a:p>
        </p:txBody>
      </p:sp>
      <p:pic>
        <p:nvPicPr>
          <p:cNvPr id="12" name="图片 11"/>
          <p:cNvPicPr>
            <a:picLocks noChangeAspect="1"/>
          </p:cNvPicPr>
          <p:nvPr/>
        </p:nvPicPr>
        <p:blipFill>
          <a:blip r:embed="rId2"/>
          <a:stretch>
            <a:fillRect/>
          </a:stretch>
        </p:blipFill>
        <p:spPr>
          <a:xfrm>
            <a:off x="1343660" y="2480310"/>
            <a:ext cx="4853940" cy="632460"/>
          </a:xfrm>
          <a:prstGeom prst="rect">
            <a:avLst/>
          </a:prstGeom>
        </p:spPr>
      </p:pic>
      <p:sp>
        <p:nvSpPr>
          <p:cNvPr id="14" name="文本框 13"/>
          <p:cNvSpPr txBox="1"/>
          <p:nvPr/>
        </p:nvSpPr>
        <p:spPr>
          <a:xfrm>
            <a:off x="1005840" y="3112770"/>
            <a:ext cx="10460355" cy="583565"/>
          </a:xfrm>
          <a:prstGeom prst="rect">
            <a:avLst/>
          </a:prstGeom>
        </p:spPr>
        <p:txBody>
          <a:bodyPr wrap="square">
            <a:spAutoFit/>
          </a:bodyPr>
          <a:lstStyle/>
          <a:p>
            <a:r>
              <a:rPr lang="en-US" altLang="zh-CN" sz="1600" dirty="0"/>
              <a:t>Minimize the objective function L(</a:t>
            </a:r>
            <a:r>
              <a:rPr lang="en-US" altLang="zh-CN" sz="1600" dirty="0" err="1"/>
              <a:t>θ;λ,K</a:t>
            </a:r>
            <a:r>
              <a:rPr lang="en-US" altLang="zh-CN" sz="1600" dirty="0"/>
              <a:t>) with respect to θ using optimization algorithms such as accelerated proximal gradient descent. Tune the hyperparameters λ (penalization strength) and K (number of basis functions) using validation data.</a:t>
            </a:r>
          </a:p>
        </p:txBody>
      </p:sp>
      <p:sp>
        <p:nvSpPr>
          <p:cNvPr id="16" name="文本框 15"/>
          <p:cNvSpPr txBox="1"/>
          <p:nvPr/>
        </p:nvSpPr>
        <p:spPr>
          <a:xfrm>
            <a:off x="995680" y="3696335"/>
            <a:ext cx="10597515" cy="337185"/>
          </a:xfrm>
          <a:prstGeom prst="rect">
            <a:avLst/>
          </a:prstGeom>
        </p:spPr>
        <p:txBody>
          <a:bodyPr wrap="square">
            <a:spAutoFit/>
          </a:bodyPr>
          <a:lstStyle/>
          <a:p>
            <a:r>
              <a:rPr lang="en-US" altLang="zh-CN" sz="1600"/>
              <a:t>To estimate the model coefficients θ while balancing fit quality and complexity through penalization.</a:t>
            </a:r>
          </a:p>
        </p:txBody>
      </p:sp>
      <p:sp>
        <p:nvSpPr>
          <p:cNvPr id="17" name="文本框 16"/>
          <p:cNvSpPr txBox="1"/>
          <p:nvPr/>
        </p:nvSpPr>
        <p:spPr>
          <a:xfrm>
            <a:off x="934720" y="4209733"/>
            <a:ext cx="5080000" cy="337185"/>
          </a:xfrm>
          <a:prstGeom prst="rect">
            <a:avLst/>
          </a:prstGeom>
        </p:spPr>
        <p:txBody>
          <a:bodyPr>
            <a:spAutoFit/>
          </a:bodyPr>
          <a:lstStyle/>
          <a:p>
            <a:r>
              <a:rPr lang="en-US" altLang="zh-CN" sz="1600"/>
              <a:t>Step 4: Out-of-Sample Prediction</a:t>
            </a:r>
          </a:p>
        </p:txBody>
      </p:sp>
      <p:sp>
        <p:nvSpPr>
          <p:cNvPr id="19" name="文本框 18"/>
          <p:cNvSpPr txBox="1"/>
          <p:nvPr/>
        </p:nvSpPr>
        <p:spPr>
          <a:xfrm>
            <a:off x="1005840" y="4464368"/>
            <a:ext cx="5080000" cy="337185"/>
          </a:xfrm>
          <a:prstGeom prst="rect">
            <a:avLst/>
          </a:prstGeom>
        </p:spPr>
        <p:txBody>
          <a:bodyPr>
            <a:spAutoFit/>
          </a:bodyPr>
          <a:lstStyle/>
          <a:p>
            <a:r>
              <a:rPr lang="en-US" altLang="zh-CN" sz="1600"/>
              <a:t>Use the optimized model to predict future returns:</a:t>
            </a:r>
          </a:p>
        </p:txBody>
      </p:sp>
      <p:pic>
        <p:nvPicPr>
          <p:cNvPr id="21" name="图片 20"/>
          <p:cNvPicPr>
            <a:picLocks noChangeAspect="1"/>
          </p:cNvPicPr>
          <p:nvPr/>
        </p:nvPicPr>
        <p:blipFill>
          <a:blip r:embed="rId3"/>
          <a:stretch>
            <a:fillRect/>
          </a:stretch>
        </p:blipFill>
        <p:spPr>
          <a:xfrm>
            <a:off x="5335270" y="4507230"/>
            <a:ext cx="1645920" cy="251460"/>
          </a:xfrm>
          <a:prstGeom prst="rect">
            <a:avLst/>
          </a:prstGeom>
        </p:spPr>
      </p:pic>
      <p:sp>
        <p:nvSpPr>
          <p:cNvPr id="23" name="文本框 22"/>
          <p:cNvSpPr txBox="1"/>
          <p:nvPr/>
        </p:nvSpPr>
        <p:spPr>
          <a:xfrm>
            <a:off x="1066800" y="4728845"/>
            <a:ext cx="9874250" cy="583565"/>
          </a:xfrm>
          <a:prstGeom prst="rect">
            <a:avLst/>
          </a:prstGeom>
        </p:spPr>
        <p:txBody>
          <a:bodyPr wrap="square">
            <a:spAutoFit/>
          </a:bodyPr>
          <a:lstStyle/>
          <a:p>
            <a:r>
              <a:rPr lang="en-US" altLang="zh-CN" sz="1600"/>
              <a:t>θ^: The estimated coefficients after optimization.</a:t>
            </a:r>
          </a:p>
          <a:p>
            <a:r>
              <a:rPr lang="en-US" altLang="zh-CN" sz="1600"/>
              <a:t>g(zi,t;θ^,p(⋅)): The predicted return based on the fitted model.</a:t>
            </a:r>
          </a:p>
        </p:txBody>
      </p:sp>
      <p:sp>
        <p:nvSpPr>
          <p:cNvPr id="24" name="文本框 23"/>
          <p:cNvSpPr txBox="1"/>
          <p:nvPr/>
        </p:nvSpPr>
        <p:spPr>
          <a:xfrm>
            <a:off x="1005840" y="5402580"/>
            <a:ext cx="10791825" cy="583565"/>
          </a:xfrm>
          <a:prstGeom prst="rect">
            <a:avLst/>
          </a:prstGeom>
        </p:spPr>
        <p:txBody>
          <a:bodyPr wrap="square">
            <a:spAutoFit/>
          </a:bodyPr>
          <a:lstStyle/>
          <a:p>
            <a:r>
              <a:rPr lang="en-US" altLang="zh-CN" sz="1600"/>
              <a:t>Apply the basis function transformations p(zj) to new predictors zi,t. Use the fitted coefficients θ^ to compute predictions r^i,t+1.</a:t>
            </a:r>
          </a:p>
          <a:p>
            <a:r>
              <a:rPr lang="en-US" altLang="zh-CN" sz="1600"/>
              <a:t>To produce predictions for asset returns based on the trained and regularized model.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Explanation-Generalized Linear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The sample data construction part is the same as the OLS part</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Spline transformation</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4" name="文本框 3"/>
          <p:cNvSpPr txBox="1"/>
          <p:nvPr/>
        </p:nvSpPr>
        <p:spPr>
          <a:xfrm>
            <a:off x="638175" y="4404360"/>
            <a:ext cx="6096000" cy="953135"/>
          </a:xfrm>
          <a:prstGeom prst="rect">
            <a:avLst/>
          </a:prstGeom>
          <a:noFill/>
        </p:spPr>
        <p:txBody>
          <a:bodyPr wrap="square" rtlCol="0" anchor="t">
            <a:spAutoFit/>
          </a:bodyPr>
          <a:lstStyle/>
          <a:p>
            <a:r>
              <a:rPr lang="en-US" altLang="zh-CN" sz="1400"/>
              <a:t>Create spline transformer with quadratic splines and 5 uniformly distributed knots</a:t>
            </a:r>
          </a:p>
          <a:p>
            <a:r>
              <a:rPr lang="en-US" altLang="zh-CN" sz="1400"/>
              <a:t>Apply spline transformation to training data</a:t>
            </a:r>
          </a:p>
          <a:p>
            <a:r>
              <a:rPr lang="en-US" altLang="zh-CN" sz="1400"/>
              <a:t>Apply spline transformation to validation data</a:t>
            </a:r>
          </a:p>
          <a:p>
            <a:r>
              <a:rPr lang="en-US" altLang="zh-CN" sz="1400"/>
              <a:t>Apply spline transformation to testing data</a:t>
            </a:r>
            <a:endParaRPr lang="zh-CN" altLang="en-US" sz="1400"/>
          </a:p>
        </p:txBody>
      </p:sp>
      <p:sp>
        <p:nvSpPr>
          <p:cNvPr id="5" name="文本框 4"/>
          <p:cNvSpPr txBox="1"/>
          <p:nvPr/>
        </p:nvSpPr>
        <p:spPr>
          <a:xfrm>
            <a:off x="867682" y="1093470"/>
            <a:ext cx="4846955" cy="1168400"/>
          </a:xfrm>
          <a:prstGeom prst="rect">
            <a:avLst/>
          </a:prstGeom>
          <a:noFill/>
        </p:spPr>
        <p:txBody>
          <a:bodyPr wrap="square" rtlCol="0" anchor="t">
            <a:spAutoFit/>
          </a:bodyPr>
          <a:lstStyle/>
          <a:p>
            <a:r>
              <a:rPr lang="en-US" altLang="zh-CN" sz="1400" dirty="0"/>
              <a:t>Import NumPy library for array and mathematical operations</a:t>
            </a:r>
          </a:p>
          <a:p>
            <a:r>
              <a:rPr lang="en-US" altLang="zh-CN" sz="1400" dirty="0"/>
              <a:t>Import Pandas library for data manipulation and analysis</a:t>
            </a:r>
          </a:p>
          <a:p>
            <a:r>
              <a:rPr lang="en-US" altLang="zh-CN" sz="1400" dirty="0"/>
              <a:t>Import </a:t>
            </a:r>
            <a:r>
              <a:rPr lang="en-US" altLang="zh-CN" sz="1400" dirty="0" err="1"/>
              <a:t>train_test_split</a:t>
            </a:r>
            <a:r>
              <a:rPr lang="en-US" altLang="zh-CN" sz="1400" dirty="0"/>
              <a:t> from scikit-learn for dataset splitting</a:t>
            </a:r>
          </a:p>
          <a:p>
            <a:r>
              <a:rPr lang="en-US" altLang="zh-CN" sz="1400" dirty="0"/>
              <a:t>Import </a:t>
            </a:r>
            <a:r>
              <a:rPr lang="en-US" altLang="zh-CN" sz="1400" dirty="0" err="1"/>
              <a:t>SplineTransformer</a:t>
            </a:r>
            <a:r>
              <a:rPr lang="en-US" altLang="zh-CN" sz="1400" dirty="0"/>
              <a:t> for spline basis transformations</a:t>
            </a:r>
          </a:p>
          <a:p>
            <a:r>
              <a:rPr lang="en-US" altLang="zh-CN" sz="1400" dirty="0"/>
              <a:t>Import </a:t>
            </a:r>
            <a:r>
              <a:rPr lang="en-US" altLang="zh-CN" sz="1400" dirty="0" err="1"/>
              <a:t>ElasticNet</a:t>
            </a:r>
            <a:r>
              <a:rPr lang="en-US" altLang="zh-CN" sz="1400" dirty="0"/>
              <a:t> for Elastic Net regression</a:t>
            </a:r>
            <a:endParaRPr lang="zh-CN" altLang="en-US" sz="1400" dirty="0"/>
          </a:p>
        </p:txBody>
      </p:sp>
      <p:pic>
        <p:nvPicPr>
          <p:cNvPr id="7" name="图片 6"/>
          <p:cNvPicPr>
            <a:picLocks noChangeAspect="1"/>
          </p:cNvPicPr>
          <p:nvPr/>
        </p:nvPicPr>
        <p:blipFill>
          <a:blip r:embed="rId2"/>
          <a:srcRect l="71634" t="-801" r="9961" b="-3365"/>
          <a:stretch>
            <a:fillRect/>
          </a:stretch>
        </p:blipFill>
        <p:spPr>
          <a:xfrm>
            <a:off x="1280432" y="3564313"/>
            <a:ext cx="602737" cy="5873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Explanation-Generalized Linear Regression</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hyperparameter tuning</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Predict on the test set</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Split data into training and testing sets</a:t>
            </a: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Spline transformation</a:t>
            </a: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2" name="文本框 1"/>
          <p:cNvSpPr txBox="1"/>
          <p:nvPr/>
        </p:nvSpPr>
        <p:spPr>
          <a:xfrm>
            <a:off x="805724" y="995499"/>
            <a:ext cx="4352290" cy="2891790"/>
          </a:xfrm>
          <a:prstGeom prst="rect">
            <a:avLst/>
          </a:prstGeom>
        </p:spPr>
        <p:txBody>
          <a:bodyPr wrap="square">
            <a:spAutoFit/>
          </a:bodyPr>
          <a:lstStyle/>
          <a:p>
            <a:r>
              <a:rPr lang="en-US" altLang="zh-CN" sz="1400" dirty="0"/>
              <a:t>Define list of l1_ratio values </a:t>
            </a:r>
          </a:p>
          <a:p>
            <a:r>
              <a:rPr lang="en-US" altLang="zh-CN" sz="1400" dirty="0"/>
              <a:t>Define list of alpha values logarithmically spaced</a:t>
            </a:r>
          </a:p>
          <a:p>
            <a:r>
              <a:rPr lang="en-US" altLang="zh-CN" sz="1400" dirty="0"/>
              <a:t>Initialize </a:t>
            </a:r>
            <a:r>
              <a:rPr lang="en-US" altLang="zh-CN" sz="1400" dirty="0" err="1"/>
              <a:t>best_model</a:t>
            </a:r>
            <a:r>
              <a:rPr lang="en-US" altLang="zh-CN" sz="1400" dirty="0"/>
              <a:t> as None</a:t>
            </a:r>
          </a:p>
          <a:p>
            <a:r>
              <a:rPr lang="en-US" altLang="zh-CN" sz="1400" dirty="0"/>
              <a:t>Initialize best validation MSE as infinity</a:t>
            </a:r>
          </a:p>
          <a:p>
            <a:r>
              <a:rPr lang="en-US" altLang="zh-CN" sz="1400" dirty="0"/>
              <a:t>Loop over each l1_ratio value</a:t>
            </a:r>
          </a:p>
          <a:p>
            <a:r>
              <a:rPr lang="en-US" altLang="zh-CN" sz="1400" dirty="0"/>
              <a:t>Loop over each alpha value</a:t>
            </a:r>
          </a:p>
          <a:p>
            <a:r>
              <a:rPr lang="en-US" altLang="zh-CN" sz="1400" dirty="0"/>
              <a:t>Initialize </a:t>
            </a:r>
            <a:r>
              <a:rPr lang="en-US" altLang="zh-CN" sz="1400" dirty="0" err="1"/>
              <a:t>ElasticNet</a:t>
            </a:r>
            <a:r>
              <a:rPr lang="en-US" altLang="zh-CN" sz="1400" dirty="0"/>
              <a:t> model with current hyperparameters</a:t>
            </a:r>
          </a:p>
          <a:p>
            <a:r>
              <a:rPr lang="en-US" altLang="zh-CN" sz="1400" dirty="0"/>
              <a:t>Fit the model on the training data</a:t>
            </a:r>
          </a:p>
          <a:p>
            <a:r>
              <a:rPr lang="en-US" altLang="zh-CN" sz="1400" dirty="0"/>
              <a:t>Predict on the validation set</a:t>
            </a:r>
          </a:p>
          <a:p>
            <a:r>
              <a:rPr lang="en-US" altLang="zh-CN" sz="1400" dirty="0"/>
              <a:t>Compute mean squared error for validation set</a:t>
            </a:r>
          </a:p>
          <a:p>
            <a:r>
              <a:rPr lang="en-US" altLang="zh-CN" sz="1400" dirty="0"/>
              <a:t>If current model performs better, update best model</a:t>
            </a:r>
          </a:p>
          <a:p>
            <a:r>
              <a:rPr lang="en-US" altLang="zh-CN" sz="1400" dirty="0"/>
              <a:t>Update best validation MSE</a:t>
            </a:r>
          </a:p>
          <a:p>
            <a:r>
              <a:rPr lang="en-US" altLang="zh-CN" sz="1400" dirty="0"/>
              <a:t>Set current model as best model</a:t>
            </a:r>
            <a:endParaRPr lang="zh-CN" altLang="en-US" sz="1400" dirty="0"/>
          </a:p>
        </p:txBody>
      </p:sp>
      <p:sp>
        <p:nvSpPr>
          <p:cNvPr id="3" name="文本框 2"/>
          <p:cNvSpPr txBox="1"/>
          <p:nvPr/>
        </p:nvSpPr>
        <p:spPr>
          <a:xfrm>
            <a:off x="4349115" y="5216207"/>
            <a:ext cx="5080000" cy="306705"/>
          </a:xfrm>
          <a:prstGeom prst="rect">
            <a:avLst/>
          </a:prstGeom>
        </p:spPr>
        <p:txBody>
          <a:bodyPr>
            <a:spAutoFit/>
          </a:bodyPr>
          <a:lstStyle/>
          <a:p>
            <a:r>
              <a:rPr lang="en-US" altLang="zh-CN" sz="1400"/>
              <a:t>Predict on the test set using the best model</a:t>
            </a:r>
          </a:p>
        </p:txBody>
      </p:sp>
      <p:pic>
        <p:nvPicPr>
          <p:cNvPr id="12" name="图片 11"/>
          <p:cNvPicPr>
            <a:picLocks noChangeAspect="1"/>
          </p:cNvPicPr>
          <p:nvPr/>
        </p:nvPicPr>
        <p:blipFill>
          <a:blip r:embed="rId2"/>
          <a:stretch>
            <a:fillRect/>
          </a:stretch>
        </p:blipFill>
        <p:spPr>
          <a:xfrm>
            <a:off x="966561" y="4023994"/>
            <a:ext cx="4853940" cy="632460"/>
          </a:xfrm>
          <a:prstGeom prst="rect">
            <a:avLst/>
          </a:prstGeom>
        </p:spPr>
      </p:pic>
      <p:pic>
        <p:nvPicPr>
          <p:cNvPr id="21" name="图片 20"/>
          <p:cNvPicPr>
            <a:picLocks noChangeAspect="1"/>
          </p:cNvPicPr>
          <p:nvPr/>
        </p:nvPicPr>
        <p:blipFill>
          <a:blip r:embed="rId3"/>
          <a:stretch>
            <a:fillRect/>
          </a:stretch>
        </p:blipFill>
        <p:spPr>
          <a:xfrm>
            <a:off x="7856855" y="5215890"/>
            <a:ext cx="1645920" cy="2514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Generalized Linear Regression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4" name="图片 3" descr="Generalized Linear-Time Series"/>
          <p:cNvPicPr>
            <a:picLocks noChangeAspect="1"/>
          </p:cNvPicPr>
          <p:nvPr/>
        </p:nvPicPr>
        <p:blipFill>
          <a:blip r:embed="rId2"/>
          <a:stretch>
            <a:fillRect/>
          </a:stretch>
        </p:blipFill>
        <p:spPr>
          <a:xfrm>
            <a:off x="1143635" y="987425"/>
            <a:ext cx="10126980" cy="586041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sym typeface="+mn-ea"/>
              </a:rPr>
              <a:t>Step 1: </a:t>
            </a:r>
            <a:r>
              <a:rPr lang="en-US" altLang="zh-CN" sz="1600"/>
              <a:t>Building a single regression tree model</a:t>
            </a:r>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41</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735955" y="257492"/>
            <a:ext cx="5080000" cy="1198880"/>
          </a:xfrm>
          <a:prstGeom prst="rect">
            <a:avLst/>
          </a:prstGeom>
        </p:spPr>
        <p:txBody>
          <a:bodyPr>
            <a:spAutoFit/>
          </a:bodyPr>
          <a:lstStyle/>
          <a:p>
            <a:r>
              <a:rPr lang="en-US" altLang="zh-CN" sz="3600"/>
              <a:t>Boosted regression trees and random forests</a:t>
            </a:r>
          </a:p>
        </p:txBody>
      </p:sp>
      <p:pic>
        <p:nvPicPr>
          <p:cNvPr id="11" name="图片 10"/>
          <p:cNvPicPr>
            <a:picLocks noChangeAspect="1"/>
          </p:cNvPicPr>
          <p:nvPr/>
        </p:nvPicPr>
        <p:blipFill>
          <a:blip r:embed="rId2"/>
          <a:stretch>
            <a:fillRect/>
          </a:stretch>
        </p:blipFill>
        <p:spPr>
          <a:xfrm>
            <a:off x="1323340" y="2179955"/>
            <a:ext cx="3086100" cy="617220"/>
          </a:xfrm>
          <a:prstGeom prst="rect">
            <a:avLst/>
          </a:prstGeom>
        </p:spPr>
      </p:pic>
      <p:sp>
        <p:nvSpPr>
          <p:cNvPr id="13" name="文本框 12"/>
          <p:cNvSpPr txBox="1"/>
          <p:nvPr/>
        </p:nvSpPr>
        <p:spPr>
          <a:xfrm>
            <a:off x="606425" y="2730500"/>
            <a:ext cx="10613390" cy="1814830"/>
          </a:xfrm>
          <a:prstGeom prst="rect">
            <a:avLst/>
          </a:prstGeom>
        </p:spPr>
        <p:txBody>
          <a:bodyPr wrap="square">
            <a:spAutoFit/>
          </a:bodyPr>
          <a:lstStyle/>
          <a:p>
            <a:r>
              <a:rPr lang="en-US" altLang="zh-CN" sz="1600"/>
              <a:t>g(zi,t​;θ,K,L):Prediction function of the regression tree for asset i at time t.</a:t>
            </a:r>
          </a:p>
          <a:p>
            <a:r>
              <a:rPr lang="en-US" altLang="zh-CN" sz="1600"/>
              <a:t>zi,t:Predictor vector for asset i at time t.</a:t>
            </a:r>
          </a:p>
          <a:p>
            <a:r>
              <a:rPr lang="en-US" altLang="zh-CN" sz="1600"/>
              <a:t>K:Number of leaves (terminal nodes) in the regression tree.</a:t>
            </a:r>
          </a:p>
          <a:p>
            <a:r>
              <a:rPr lang="en-US" altLang="zh-CN" sz="1600"/>
              <a:t>L:Maximum depth of the regression tree.</a:t>
            </a:r>
          </a:p>
          <a:p>
            <a:r>
              <a:rPr lang="en-US" altLang="zh-CN" sz="1600"/>
              <a:t>θk​:Mean of the target variable (ri,t+1​) within partition Ck(L).</a:t>
            </a:r>
          </a:p>
          <a:p>
            <a:r>
              <a:rPr lang="en-US" altLang="zh-CN" sz="1600"/>
              <a:t>Ck(L):Partition of the predictor space corresponding to the k-th leaf node.</a:t>
            </a:r>
          </a:p>
          <a:p>
            <a:r>
              <a:rPr lang="en-US" altLang="zh-CN" sz="1600"/>
              <a:t>1{zi,t∈Ck(L)}:Indicator function; equals 1 if zi,t​ belongs to partition Ck(L), 0 otherwise.</a:t>
            </a:r>
          </a:p>
        </p:txBody>
      </p:sp>
      <p:sp>
        <p:nvSpPr>
          <p:cNvPr id="18" name="文本框 17"/>
          <p:cNvSpPr txBox="1"/>
          <p:nvPr/>
        </p:nvSpPr>
        <p:spPr>
          <a:xfrm>
            <a:off x="675640" y="4545330"/>
            <a:ext cx="10984865" cy="337185"/>
          </a:xfrm>
          <a:prstGeom prst="rect">
            <a:avLst/>
          </a:prstGeom>
        </p:spPr>
        <p:txBody>
          <a:bodyPr wrap="square">
            <a:spAutoFit/>
          </a:bodyPr>
          <a:lstStyle/>
          <a:p>
            <a:r>
              <a:rPr lang="en-US" altLang="zh-CN" sz="1600"/>
              <a:t>To partition the predictor space into K disjoint regions and assign each region a mean value θk as the prediction.</a:t>
            </a:r>
          </a:p>
        </p:txBody>
      </p:sp>
      <p:sp>
        <p:nvSpPr>
          <p:cNvPr id="28" name="文本框 27"/>
          <p:cNvSpPr txBox="1"/>
          <p:nvPr/>
        </p:nvSpPr>
        <p:spPr>
          <a:xfrm>
            <a:off x="494030" y="5166995"/>
            <a:ext cx="10558145" cy="1322070"/>
          </a:xfrm>
          <a:prstGeom prst="rect">
            <a:avLst/>
          </a:prstGeom>
        </p:spPr>
        <p:txBody>
          <a:bodyPr wrap="square">
            <a:spAutoFit/>
          </a:bodyPr>
          <a:lstStyle/>
          <a:p>
            <a:r>
              <a:rPr lang="en-US" altLang="zh-CN" sz="1600" dirty="0"/>
              <a:t>Figure 1 shows an example with two predictors, “size” and “b/m.” The left panel describes how the tree assigns each observation to a partition based on its predictor values. First, observations are sorted on size. Those above the breakpoint of 0.5 are assigned to Category 3. Those with small size are then further sorted by b/m. Observations with small size and b/m below 0.3 are assigned to Category 1, while those with b/m above 0.3 go into Category 2. Finally, forecasts for observations in each partition are defined as the simple average of the outcome variable’s value among observations in that partition.</a:t>
            </a:r>
          </a:p>
        </p:txBody>
      </p:sp>
      <p:pic>
        <p:nvPicPr>
          <p:cNvPr id="29" name="图片 28"/>
          <p:cNvPicPr>
            <a:picLocks noChangeAspect="1"/>
          </p:cNvPicPr>
          <p:nvPr/>
        </p:nvPicPr>
        <p:blipFill>
          <a:blip r:embed="rId3"/>
          <a:stretch>
            <a:fillRect/>
          </a:stretch>
        </p:blipFill>
        <p:spPr>
          <a:xfrm>
            <a:off x="6877050" y="1320800"/>
            <a:ext cx="5039360" cy="2425700"/>
          </a:xfrm>
          <a:prstGeom prst="rect">
            <a:avLst/>
          </a:prstGeom>
        </p:spPr>
      </p:pic>
      <p:sp>
        <p:nvSpPr>
          <p:cNvPr id="30" name="文本框 29"/>
          <p:cNvSpPr txBox="1"/>
          <p:nvPr/>
        </p:nvSpPr>
        <p:spPr>
          <a:xfrm>
            <a:off x="6918960" y="3736340"/>
            <a:ext cx="5460365" cy="337185"/>
          </a:xfrm>
          <a:prstGeom prst="rect">
            <a:avLst/>
          </a:prstGeom>
        </p:spPr>
        <p:txBody>
          <a:bodyPr wrap="square">
            <a:spAutoFit/>
          </a:bodyPr>
          <a:lstStyle/>
          <a:p>
            <a:r>
              <a:rPr lang="en-US" altLang="zh-CN" sz="1600">
                <a:solidFill>
                  <a:srgbClr val="000000"/>
                </a:solidFill>
                <a:latin typeface="Times-Roman"/>
                <a:ea typeface="Times-Roman"/>
              </a:rPr>
              <a:t>The example in Figure 1 has the following prediction equation:</a:t>
            </a:r>
          </a:p>
        </p:txBody>
      </p:sp>
      <p:pic>
        <p:nvPicPr>
          <p:cNvPr id="31" name="图片 30"/>
          <p:cNvPicPr>
            <a:picLocks noChangeAspect="1"/>
          </p:cNvPicPr>
          <p:nvPr/>
        </p:nvPicPr>
        <p:blipFill>
          <a:blip r:embed="rId4"/>
          <a:stretch>
            <a:fillRect/>
          </a:stretch>
        </p:blipFill>
        <p:spPr>
          <a:xfrm>
            <a:off x="7102475" y="4040505"/>
            <a:ext cx="4960620" cy="2438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2: Build the Tree Structure</a:t>
            </a:r>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42</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735955" y="257492"/>
            <a:ext cx="5080000" cy="1198880"/>
          </a:xfrm>
          <a:prstGeom prst="rect">
            <a:avLst/>
          </a:prstGeom>
        </p:spPr>
        <p:txBody>
          <a:bodyPr>
            <a:spAutoFit/>
          </a:bodyPr>
          <a:lstStyle/>
          <a:p>
            <a:r>
              <a:rPr lang="en-US" altLang="zh-CN" sz="3600"/>
              <a:t>Boosted regression trees and random forests</a:t>
            </a:r>
          </a:p>
        </p:txBody>
      </p:sp>
      <p:pic>
        <p:nvPicPr>
          <p:cNvPr id="2" name="图片 1"/>
          <p:cNvPicPr>
            <a:picLocks noChangeAspect="1"/>
          </p:cNvPicPr>
          <p:nvPr/>
        </p:nvPicPr>
        <p:blipFill>
          <a:blip r:embed="rId2"/>
          <a:stretch>
            <a:fillRect/>
          </a:stretch>
        </p:blipFill>
        <p:spPr>
          <a:xfrm>
            <a:off x="1357630" y="2179320"/>
            <a:ext cx="4198620" cy="556260"/>
          </a:xfrm>
          <a:prstGeom prst="rect">
            <a:avLst/>
          </a:prstGeom>
        </p:spPr>
      </p:pic>
      <p:sp>
        <p:nvSpPr>
          <p:cNvPr id="7" name="文本框 6"/>
          <p:cNvSpPr txBox="1"/>
          <p:nvPr/>
        </p:nvSpPr>
        <p:spPr>
          <a:xfrm>
            <a:off x="1006475" y="2795905"/>
            <a:ext cx="9248140" cy="1076325"/>
          </a:xfrm>
          <a:prstGeom prst="rect">
            <a:avLst/>
          </a:prstGeom>
        </p:spPr>
        <p:txBody>
          <a:bodyPr wrap="square">
            <a:spAutoFit/>
          </a:bodyPr>
          <a:lstStyle/>
          <a:p>
            <a:r>
              <a:rPr lang="en-US" altLang="zh-CN" sz="1600"/>
              <a:t>H(θ,C): Impurity (or loss) of a partition C.</a:t>
            </a:r>
          </a:p>
          <a:p>
            <a:r>
              <a:rPr lang="en-US" altLang="zh-CN" sz="1600"/>
              <a:t>|C|: Number of observations in partition C.</a:t>
            </a:r>
          </a:p>
          <a:p>
            <a:r>
              <a:rPr lang="en-US" altLang="zh-CN" sz="1600"/>
              <a:t>ri,t+1: Observed outcome for asset i at time t+1 (e.g., realized excess return).</a:t>
            </a:r>
          </a:p>
          <a:p>
            <a:r>
              <a:rPr lang="en-US" altLang="zh-CN" sz="1600"/>
              <a:t>θ: Mean value of ri,t+1 in partition C.</a:t>
            </a:r>
          </a:p>
        </p:txBody>
      </p:sp>
      <p:sp>
        <p:nvSpPr>
          <p:cNvPr id="11" name="文本框 10"/>
          <p:cNvSpPr txBox="1"/>
          <p:nvPr/>
        </p:nvSpPr>
        <p:spPr>
          <a:xfrm>
            <a:off x="440055" y="3821430"/>
            <a:ext cx="11251565" cy="337185"/>
          </a:xfrm>
          <a:prstGeom prst="rect">
            <a:avLst/>
          </a:prstGeom>
        </p:spPr>
        <p:txBody>
          <a:bodyPr wrap="square">
            <a:spAutoFit/>
          </a:bodyPr>
          <a:lstStyle/>
          <a:p>
            <a:r>
              <a:rPr lang="en-US" altLang="zh-CN" sz="1600"/>
              <a:t>For a candidate split, calculate Hsplit=H(θ,C1)+H(θ,C2), where C1 and C2 are the resulting partitions.</a:t>
            </a:r>
          </a:p>
        </p:txBody>
      </p:sp>
      <p:sp>
        <p:nvSpPr>
          <p:cNvPr id="13" name="文本框 12"/>
          <p:cNvSpPr txBox="1"/>
          <p:nvPr/>
        </p:nvSpPr>
        <p:spPr>
          <a:xfrm>
            <a:off x="8743315" y="3821430"/>
            <a:ext cx="3319145" cy="337185"/>
          </a:xfrm>
          <a:prstGeom prst="rect">
            <a:avLst/>
          </a:prstGeom>
        </p:spPr>
        <p:txBody>
          <a:bodyPr wrap="square">
            <a:spAutoFit/>
          </a:bodyPr>
          <a:lstStyle/>
          <a:p>
            <a:r>
              <a:rPr lang="en-US" altLang="zh-CN" sz="1600"/>
              <a:t>Choose the split that minimizes Hsplit.</a:t>
            </a:r>
          </a:p>
        </p:txBody>
      </p:sp>
      <p:sp>
        <p:nvSpPr>
          <p:cNvPr id="17" name="文本框 16"/>
          <p:cNvSpPr txBox="1"/>
          <p:nvPr/>
        </p:nvSpPr>
        <p:spPr>
          <a:xfrm>
            <a:off x="427355" y="4064000"/>
            <a:ext cx="11579860" cy="583565"/>
          </a:xfrm>
          <a:prstGeom prst="rect">
            <a:avLst/>
          </a:prstGeom>
        </p:spPr>
        <p:txBody>
          <a:bodyPr wrap="square">
            <a:spAutoFit/>
          </a:bodyPr>
          <a:lstStyle/>
          <a:p>
            <a:r>
              <a:rPr lang="en-US" altLang="zh-CN" sz="1600"/>
              <a:t>Continue splitting recursively until a pre-specified depth L is reached or other stopping criteria are met (e.g., minimum number of observations per leaf). It ensures each split improves the homogeneity within partitions, minimizing prediction error.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3: Combine Trees for Ensemble Methods</a:t>
            </a:r>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43</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735955" y="257492"/>
            <a:ext cx="5080000" cy="1198880"/>
          </a:xfrm>
          <a:prstGeom prst="rect">
            <a:avLst/>
          </a:prstGeom>
        </p:spPr>
        <p:txBody>
          <a:bodyPr>
            <a:spAutoFit/>
          </a:bodyPr>
          <a:lstStyle/>
          <a:p>
            <a:r>
              <a:rPr lang="en-US" altLang="zh-CN" sz="3600"/>
              <a:t>Boosted regression trees and random forests</a:t>
            </a:r>
          </a:p>
        </p:txBody>
      </p:sp>
      <p:sp>
        <p:nvSpPr>
          <p:cNvPr id="8" name="文本框 7"/>
          <p:cNvSpPr txBox="1"/>
          <p:nvPr/>
        </p:nvSpPr>
        <p:spPr>
          <a:xfrm>
            <a:off x="182245" y="2178685"/>
            <a:ext cx="2841625" cy="337185"/>
          </a:xfrm>
          <a:prstGeom prst="rect">
            <a:avLst/>
          </a:prstGeom>
        </p:spPr>
        <p:txBody>
          <a:bodyPr wrap="square">
            <a:spAutoFit/>
          </a:bodyPr>
          <a:lstStyle/>
          <a:p>
            <a:r>
              <a:rPr lang="en-US" altLang="zh-CN" sz="1600"/>
              <a:t>Boosted Regression Trees (BRT):</a:t>
            </a:r>
          </a:p>
        </p:txBody>
      </p:sp>
      <p:sp>
        <p:nvSpPr>
          <p:cNvPr id="12" name="文本框 11"/>
          <p:cNvSpPr txBox="1"/>
          <p:nvPr/>
        </p:nvSpPr>
        <p:spPr>
          <a:xfrm>
            <a:off x="398780" y="2515870"/>
            <a:ext cx="8154670" cy="583565"/>
          </a:xfrm>
          <a:prstGeom prst="rect">
            <a:avLst/>
          </a:prstGeom>
        </p:spPr>
        <p:txBody>
          <a:bodyPr wrap="square">
            <a:spAutoFit/>
          </a:bodyPr>
          <a:lstStyle/>
          <a:p>
            <a:r>
              <a:rPr lang="en-US" altLang="zh-CN" sz="1600"/>
              <a:t>1.Stepwise Fitting:</a:t>
            </a:r>
          </a:p>
          <a:p>
            <a:pPr>
              <a:buFont typeface="Arial" panose="020B0604020202020204"/>
              <a:buChar char="•"/>
            </a:pPr>
            <a:r>
              <a:rPr lang="en-US" altLang="zh-CN" sz="1600"/>
              <a:t>Fit a shallow tree gb(zi,t) to the residuals from the previous tree:</a:t>
            </a:r>
          </a:p>
        </p:txBody>
      </p:sp>
      <p:pic>
        <p:nvPicPr>
          <p:cNvPr id="14" name="图片 13"/>
          <p:cNvPicPr>
            <a:picLocks noChangeAspect="1"/>
          </p:cNvPicPr>
          <p:nvPr/>
        </p:nvPicPr>
        <p:blipFill>
          <a:blip r:embed="rId2"/>
          <a:stretch>
            <a:fillRect/>
          </a:stretch>
        </p:blipFill>
        <p:spPr>
          <a:xfrm>
            <a:off x="358775" y="3164205"/>
            <a:ext cx="2019300" cy="327660"/>
          </a:xfrm>
          <a:prstGeom prst="rect">
            <a:avLst/>
          </a:prstGeom>
        </p:spPr>
      </p:pic>
      <p:sp>
        <p:nvSpPr>
          <p:cNvPr id="19" name="文本框 18"/>
          <p:cNvSpPr txBox="1"/>
          <p:nvPr/>
        </p:nvSpPr>
        <p:spPr>
          <a:xfrm>
            <a:off x="395605" y="4099560"/>
            <a:ext cx="1668145" cy="337185"/>
          </a:xfrm>
          <a:prstGeom prst="rect">
            <a:avLst/>
          </a:prstGeom>
        </p:spPr>
        <p:txBody>
          <a:bodyPr wrap="square">
            <a:spAutoFit/>
          </a:bodyPr>
          <a:lstStyle/>
          <a:p>
            <a:r>
              <a:rPr lang="en-US" altLang="zh-CN" sz="1600"/>
              <a:t>2.Additive Model:</a:t>
            </a:r>
          </a:p>
        </p:txBody>
      </p:sp>
      <p:sp>
        <p:nvSpPr>
          <p:cNvPr id="20" name="文本框 19"/>
          <p:cNvSpPr txBox="1"/>
          <p:nvPr/>
        </p:nvSpPr>
        <p:spPr>
          <a:xfrm>
            <a:off x="927100" y="4397375"/>
            <a:ext cx="3308985" cy="337185"/>
          </a:xfrm>
          <a:prstGeom prst="rect">
            <a:avLst/>
          </a:prstGeom>
        </p:spPr>
        <p:txBody>
          <a:bodyPr wrap="square">
            <a:spAutoFit/>
          </a:bodyPr>
          <a:lstStyle/>
          <a:p>
            <a:r>
              <a:rPr lang="en-US" altLang="zh-CN" sz="1600"/>
              <a:t>Combine predictions from all  trees:</a:t>
            </a:r>
          </a:p>
        </p:txBody>
      </p:sp>
      <p:sp>
        <p:nvSpPr>
          <p:cNvPr id="22" name="文本框 21"/>
          <p:cNvSpPr txBox="1"/>
          <p:nvPr/>
        </p:nvSpPr>
        <p:spPr>
          <a:xfrm>
            <a:off x="430530" y="5343525"/>
            <a:ext cx="4279900" cy="583565"/>
          </a:xfrm>
          <a:prstGeom prst="rect">
            <a:avLst/>
          </a:prstGeom>
        </p:spPr>
        <p:txBody>
          <a:bodyPr wrap="square">
            <a:spAutoFit/>
          </a:bodyPr>
          <a:lstStyle/>
          <a:p>
            <a:r>
              <a:rPr lang="en-US" altLang="zh-CN" sz="1600"/>
              <a:t>where ν is a shrinkage parameter controlling the contribution of each tree.</a:t>
            </a:r>
          </a:p>
        </p:txBody>
      </p:sp>
      <p:sp>
        <p:nvSpPr>
          <p:cNvPr id="23" name="文本框 22"/>
          <p:cNvSpPr txBox="1"/>
          <p:nvPr/>
        </p:nvSpPr>
        <p:spPr>
          <a:xfrm>
            <a:off x="6203950" y="2189480"/>
            <a:ext cx="2125345" cy="337185"/>
          </a:xfrm>
          <a:prstGeom prst="rect">
            <a:avLst/>
          </a:prstGeom>
        </p:spPr>
        <p:txBody>
          <a:bodyPr wrap="square">
            <a:spAutoFit/>
          </a:bodyPr>
          <a:lstStyle/>
          <a:p>
            <a:r>
              <a:rPr lang="en-US" altLang="zh-CN" sz="1600"/>
              <a:t>Random Forests (RF):</a:t>
            </a:r>
          </a:p>
        </p:txBody>
      </p:sp>
      <p:sp>
        <p:nvSpPr>
          <p:cNvPr id="24" name="文本框 23"/>
          <p:cNvSpPr txBox="1"/>
          <p:nvPr/>
        </p:nvSpPr>
        <p:spPr>
          <a:xfrm>
            <a:off x="6276340" y="2515870"/>
            <a:ext cx="2743200" cy="337185"/>
          </a:xfrm>
          <a:prstGeom prst="rect">
            <a:avLst/>
          </a:prstGeom>
        </p:spPr>
        <p:txBody>
          <a:bodyPr wrap="square">
            <a:spAutoFit/>
          </a:bodyPr>
          <a:lstStyle/>
          <a:p>
            <a:r>
              <a:rPr lang="en-US" altLang="zh-CN" sz="1600"/>
              <a:t>1.Bootstrap Sampling:</a:t>
            </a:r>
          </a:p>
        </p:txBody>
      </p:sp>
      <p:sp>
        <p:nvSpPr>
          <p:cNvPr id="25" name="文本框 24"/>
          <p:cNvSpPr txBox="1"/>
          <p:nvPr/>
        </p:nvSpPr>
        <p:spPr>
          <a:xfrm>
            <a:off x="6276340" y="2834640"/>
            <a:ext cx="4864100" cy="337185"/>
          </a:xfrm>
          <a:prstGeom prst="rect">
            <a:avLst/>
          </a:prstGeom>
        </p:spPr>
        <p:txBody>
          <a:bodyPr wrap="square">
            <a:spAutoFit/>
          </a:bodyPr>
          <a:lstStyle/>
          <a:p>
            <a:r>
              <a:rPr lang="en-US" altLang="zh-CN" sz="1600"/>
              <a:t>Generate B bootstrap samples from the training data.</a:t>
            </a:r>
          </a:p>
        </p:txBody>
      </p:sp>
      <p:sp>
        <p:nvSpPr>
          <p:cNvPr id="26" name="文本框 25"/>
          <p:cNvSpPr txBox="1"/>
          <p:nvPr/>
        </p:nvSpPr>
        <p:spPr>
          <a:xfrm>
            <a:off x="6297930" y="3185160"/>
            <a:ext cx="2648585" cy="337185"/>
          </a:xfrm>
          <a:prstGeom prst="rect">
            <a:avLst/>
          </a:prstGeom>
        </p:spPr>
        <p:txBody>
          <a:bodyPr wrap="square">
            <a:spAutoFit/>
          </a:bodyPr>
          <a:lstStyle/>
          <a:p>
            <a:r>
              <a:rPr lang="en-US" altLang="zh-CN" sz="1600"/>
              <a:t>2.Tree Construction:</a:t>
            </a:r>
          </a:p>
        </p:txBody>
      </p:sp>
      <p:sp>
        <p:nvSpPr>
          <p:cNvPr id="27" name="文本框 26"/>
          <p:cNvSpPr txBox="1"/>
          <p:nvPr/>
        </p:nvSpPr>
        <p:spPr>
          <a:xfrm>
            <a:off x="6297930" y="3525202"/>
            <a:ext cx="5080000" cy="829945"/>
          </a:xfrm>
          <a:prstGeom prst="rect">
            <a:avLst/>
          </a:prstGeom>
        </p:spPr>
        <p:txBody>
          <a:bodyPr>
            <a:spAutoFit/>
          </a:bodyPr>
          <a:lstStyle/>
          <a:p>
            <a:r>
              <a:rPr lang="en-US" altLang="zh-CN" sz="1600"/>
              <a:t>For each sample, grow a tree Tb(zi,t) using a random subset of predictors at each split. Each tree uses formula for predictions:</a:t>
            </a:r>
          </a:p>
        </p:txBody>
      </p:sp>
      <p:pic>
        <p:nvPicPr>
          <p:cNvPr id="28" name="图片 27"/>
          <p:cNvPicPr>
            <a:picLocks noChangeAspect="1"/>
          </p:cNvPicPr>
          <p:nvPr/>
        </p:nvPicPr>
        <p:blipFill>
          <a:blip r:embed="rId3"/>
          <a:stretch>
            <a:fillRect/>
          </a:stretch>
        </p:blipFill>
        <p:spPr>
          <a:xfrm>
            <a:off x="7609205" y="4059555"/>
            <a:ext cx="2522220" cy="624840"/>
          </a:xfrm>
          <a:prstGeom prst="rect">
            <a:avLst/>
          </a:prstGeom>
        </p:spPr>
      </p:pic>
      <p:sp>
        <p:nvSpPr>
          <p:cNvPr id="29" name="文本框 28"/>
          <p:cNvSpPr txBox="1"/>
          <p:nvPr/>
        </p:nvSpPr>
        <p:spPr>
          <a:xfrm>
            <a:off x="6297930" y="4770755"/>
            <a:ext cx="2256155" cy="337185"/>
          </a:xfrm>
          <a:prstGeom prst="rect">
            <a:avLst/>
          </a:prstGeom>
        </p:spPr>
        <p:txBody>
          <a:bodyPr wrap="square">
            <a:spAutoFit/>
          </a:bodyPr>
          <a:lstStyle/>
          <a:p>
            <a:r>
              <a:rPr lang="en-US" altLang="zh-CN" sz="1600"/>
              <a:t>3.Aggregate Predictions:</a:t>
            </a:r>
          </a:p>
        </p:txBody>
      </p:sp>
      <p:sp>
        <p:nvSpPr>
          <p:cNvPr id="31" name="文本框 30"/>
          <p:cNvSpPr txBox="1"/>
          <p:nvPr/>
        </p:nvSpPr>
        <p:spPr>
          <a:xfrm>
            <a:off x="6413500" y="5064760"/>
            <a:ext cx="4964430" cy="337185"/>
          </a:xfrm>
          <a:prstGeom prst="rect">
            <a:avLst/>
          </a:prstGeom>
        </p:spPr>
        <p:txBody>
          <a:bodyPr wrap="square">
            <a:spAutoFit/>
          </a:bodyPr>
          <a:lstStyle/>
          <a:p>
            <a:r>
              <a:rPr lang="en-US" altLang="zh-CN" sz="1600"/>
              <a:t>Average predictions across all B trees:</a:t>
            </a:r>
          </a:p>
        </p:txBody>
      </p:sp>
      <p:pic>
        <p:nvPicPr>
          <p:cNvPr id="32" name="图片 31"/>
          <p:cNvPicPr>
            <a:picLocks noChangeAspect="1"/>
          </p:cNvPicPr>
          <p:nvPr/>
        </p:nvPicPr>
        <p:blipFill>
          <a:blip r:embed="rId4"/>
          <a:stretch>
            <a:fillRect/>
          </a:stretch>
        </p:blipFill>
        <p:spPr>
          <a:xfrm>
            <a:off x="7554595" y="5369560"/>
            <a:ext cx="1844040" cy="624840"/>
          </a:xfrm>
          <a:prstGeom prst="rect">
            <a:avLst/>
          </a:prstGeom>
        </p:spPr>
      </p:pic>
      <p:pic>
        <p:nvPicPr>
          <p:cNvPr id="16" name="图片 15"/>
          <p:cNvPicPr>
            <a:picLocks noChangeAspect="1"/>
          </p:cNvPicPr>
          <p:nvPr/>
        </p:nvPicPr>
        <p:blipFill>
          <a:blip r:embed="rId5"/>
          <a:stretch>
            <a:fillRect/>
          </a:stretch>
        </p:blipFill>
        <p:spPr>
          <a:xfrm>
            <a:off x="2506345" y="3002280"/>
            <a:ext cx="3322320" cy="632460"/>
          </a:xfrm>
          <a:prstGeom prst="rect">
            <a:avLst/>
          </a:prstGeom>
        </p:spPr>
      </p:pic>
      <p:pic>
        <p:nvPicPr>
          <p:cNvPr id="17" name="图片 16"/>
          <p:cNvPicPr>
            <a:picLocks noChangeAspect="1"/>
          </p:cNvPicPr>
          <p:nvPr/>
        </p:nvPicPr>
        <p:blipFill>
          <a:blip r:embed="rId6"/>
          <a:stretch>
            <a:fillRect/>
          </a:stretch>
        </p:blipFill>
        <p:spPr>
          <a:xfrm>
            <a:off x="1233170" y="4822190"/>
            <a:ext cx="2674620" cy="43434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4: Final Prediction</a:t>
            </a:r>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44</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5735955" y="257492"/>
            <a:ext cx="5080000" cy="1198880"/>
          </a:xfrm>
          <a:prstGeom prst="rect">
            <a:avLst/>
          </a:prstGeom>
        </p:spPr>
        <p:txBody>
          <a:bodyPr>
            <a:spAutoFit/>
          </a:bodyPr>
          <a:lstStyle/>
          <a:p>
            <a:r>
              <a:rPr lang="en-US" altLang="zh-CN" sz="3600"/>
              <a:t>Boosted regression trees and random forests</a:t>
            </a:r>
          </a:p>
        </p:txBody>
      </p:sp>
      <p:sp>
        <p:nvSpPr>
          <p:cNvPr id="8" name="文本框 7"/>
          <p:cNvSpPr txBox="1"/>
          <p:nvPr/>
        </p:nvSpPr>
        <p:spPr>
          <a:xfrm>
            <a:off x="1229360" y="2188210"/>
            <a:ext cx="7611110" cy="337185"/>
          </a:xfrm>
          <a:prstGeom prst="rect">
            <a:avLst/>
          </a:prstGeom>
        </p:spPr>
        <p:txBody>
          <a:bodyPr wrap="square">
            <a:spAutoFit/>
          </a:bodyPr>
          <a:lstStyle/>
          <a:p>
            <a:r>
              <a:rPr lang="en-US" altLang="zh-CN" sz="1600"/>
              <a:t>For both BRT and RF, the final prediction for asset i at time t is:</a:t>
            </a:r>
          </a:p>
        </p:txBody>
      </p:sp>
      <p:pic>
        <p:nvPicPr>
          <p:cNvPr id="12" name="图片 11"/>
          <p:cNvPicPr>
            <a:picLocks noChangeAspect="1"/>
          </p:cNvPicPr>
          <p:nvPr/>
        </p:nvPicPr>
        <p:blipFill>
          <a:blip r:embed="rId2"/>
          <a:stretch>
            <a:fillRect/>
          </a:stretch>
        </p:blipFill>
        <p:spPr>
          <a:xfrm>
            <a:off x="5014595" y="2581275"/>
            <a:ext cx="1272540" cy="358140"/>
          </a:xfrm>
          <a:prstGeom prst="rect">
            <a:avLst/>
          </a:prstGeom>
        </p:spPr>
      </p:pic>
      <p:sp>
        <p:nvSpPr>
          <p:cNvPr id="14" name="文本框 13"/>
          <p:cNvSpPr txBox="1"/>
          <p:nvPr/>
        </p:nvSpPr>
        <p:spPr>
          <a:xfrm>
            <a:off x="3465195" y="3037205"/>
            <a:ext cx="4535170" cy="337185"/>
          </a:xfrm>
          <a:prstGeom prst="rect">
            <a:avLst/>
          </a:prstGeom>
        </p:spPr>
        <p:txBody>
          <a:bodyPr wrap="square">
            <a:spAutoFit/>
          </a:bodyPr>
          <a:lstStyle/>
          <a:p>
            <a:r>
              <a:rPr lang="en-US" altLang="zh-CN" sz="1600"/>
              <a:t>where g^(zi,t) is the combined output from all trees.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Explanation-Boosted regression trees and random forests</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The sample data construction part is the same as the OLS part.</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Hyperparameter Optimization for Boosted Regression Trees (BRT)</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Predict for BRT on test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2" name="文本框 1"/>
          <p:cNvSpPr txBox="1"/>
          <p:nvPr/>
        </p:nvSpPr>
        <p:spPr>
          <a:xfrm>
            <a:off x="6797040" y="1045845"/>
            <a:ext cx="4977765" cy="953135"/>
          </a:xfrm>
          <a:prstGeom prst="rect">
            <a:avLst/>
          </a:prstGeom>
          <a:noFill/>
        </p:spPr>
        <p:txBody>
          <a:bodyPr wrap="square" rtlCol="0" anchor="t">
            <a:spAutoFit/>
          </a:bodyPr>
          <a:lstStyle/>
          <a:p>
            <a:r>
              <a:rPr lang="en-US" altLang="zh-CN" sz="1400"/>
              <a:t>Import NumPy for numerical computations</a:t>
            </a:r>
          </a:p>
          <a:p>
            <a:r>
              <a:rPr lang="en-US" altLang="zh-CN" sz="1400"/>
              <a:t>Import Pandas for data processing</a:t>
            </a:r>
          </a:p>
          <a:p>
            <a:r>
              <a:rPr lang="en-US" altLang="zh-CN" sz="1400"/>
              <a:t>Import tool for splitting train and test sets</a:t>
            </a:r>
          </a:p>
          <a:p>
            <a:r>
              <a:rPr lang="en-US" altLang="zh-CN" sz="1400"/>
              <a:t>Import GradientBoostingRegressor and RandomForestRegressor</a:t>
            </a:r>
            <a:endParaRPr lang="zh-CN" altLang="en-US" sz="1400"/>
          </a:p>
        </p:txBody>
      </p:sp>
      <p:sp>
        <p:nvSpPr>
          <p:cNvPr id="3" name="文本框 2"/>
          <p:cNvSpPr txBox="1"/>
          <p:nvPr/>
        </p:nvSpPr>
        <p:spPr>
          <a:xfrm>
            <a:off x="8049895" y="2849245"/>
            <a:ext cx="3973195" cy="3322955"/>
          </a:xfrm>
          <a:prstGeom prst="rect">
            <a:avLst/>
          </a:prstGeom>
          <a:noFill/>
        </p:spPr>
        <p:txBody>
          <a:bodyPr wrap="square" rtlCol="0" anchor="t">
            <a:spAutoFit/>
          </a:bodyPr>
          <a:lstStyle/>
          <a:p>
            <a:r>
              <a:rPr lang="en-US" altLang="zh-CN" sz="1400"/>
              <a:t>Initialize best parameters storage</a:t>
            </a:r>
          </a:p>
          <a:p>
            <a:r>
              <a:rPr lang="en-US" altLang="zh-CN" sz="1400"/>
              <a:t>Initialize best model storage</a:t>
            </a:r>
          </a:p>
          <a:p>
            <a:r>
              <a:rPr lang="en-US" altLang="zh-CN" sz="1400"/>
              <a:t>Set initial RMSE to infinity</a:t>
            </a:r>
          </a:p>
          <a:p>
            <a:r>
              <a:rPr lang="en-US" altLang="zh-CN" sz="1400"/>
              <a:t>Loop through different numbers of decision trees</a:t>
            </a:r>
          </a:p>
          <a:p>
            <a:r>
              <a:rPr lang="en-US" altLang="zh-CN" sz="1400"/>
              <a:t>Loop through different learning rates</a:t>
            </a:r>
          </a:p>
          <a:p>
            <a:r>
              <a:rPr lang="en-US" altLang="zh-CN" sz="1400"/>
              <a:t>Loop through different maximum tree depths</a:t>
            </a:r>
          </a:p>
          <a:p>
            <a:r>
              <a:rPr lang="en-US" altLang="zh-CN" sz="1400"/>
              <a:t>Create BRT model with the current hyperparameter combinationTrain the BRT model on the training set</a:t>
            </a:r>
          </a:p>
          <a:p>
            <a:r>
              <a:rPr lang="en-US" altLang="zh-CN" sz="1400"/>
              <a:t>Predict on validation set</a:t>
            </a:r>
          </a:p>
          <a:p>
            <a:r>
              <a:rPr lang="en-US" altLang="zh-CN" sz="1400"/>
              <a:t>Calculate RMSE on the validation set</a:t>
            </a:r>
          </a:p>
          <a:p>
            <a:r>
              <a:rPr lang="en-US" altLang="zh-CN" sz="1400"/>
              <a:t>Update best parameters if current RMSE is lower than previous best RMSE</a:t>
            </a:r>
          </a:p>
          <a:p>
            <a:r>
              <a:rPr lang="en-US" altLang="zh-CN" sz="1400"/>
              <a:t>Update best RMSE</a:t>
            </a:r>
          </a:p>
          <a:p>
            <a:r>
              <a:rPr lang="en-US" altLang="zh-CN" sz="1400"/>
              <a:t>Update best hyperparameters</a:t>
            </a:r>
          </a:p>
          <a:p>
            <a:r>
              <a:rPr lang="en-US" altLang="zh-CN" sz="1400"/>
              <a:t>Update best model</a:t>
            </a:r>
            <a:endParaRPr lang="zh-CN" altLang="en-US" sz="1400"/>
          </a:p>
        </p:txBody>
      </p:sp>
      <p:sp>
        <p:nvSpPr>
          <p:cNvPr id="6" name="文本框 5"/>
          <p:cNvSpPr txBox="1"/>
          <p:nvPr/>
        </p:nvSpPr>
        <p:spPr>
          <a:xfrm>
            <a:off x="3921760" y="6461442"/>
            <a:ext cx="5080000" cy="306705"/>
          </a:xfrm>
          <a:prstGeom prst="rect">
            <a:avLst/>
          </a:prstGeom>
        </p:spPr>
        <p:txBody>
          <a:bodyPr>
            <a:spAutoFit/>
          </a:bodyPr>
          <a:lstStyle/>
          <a:p>
            <a:r>
              <a:rPr lang="en-US" altLang="zh-CN" sz="1400"/>
              <a:t>Predict on the test set using the best model</a:t>
            </a:r>
          </a:p>
        </p:txBody>
      </p:sp>
      <p:pic>
        <p:nvPicPr>
          <p:cNvPr id="17" name="图片 16"/>
          <p:cNvPicPr>
            <a:picLocks noChangeAspect="1"/>
          </p:cNvPicPr>
          <p:nvPr/>
        </p:nvPicPr>
        <p:blipFill>
          <a:blip r:embed="rId2"/>
          <a:stretch>
            <a:fillRect/>
          </a:stretch>
        </p:blipFill>
        <p:spPr>
          <a:xfrm>
            <a:off x="441960" y="5701665"/>
            <a:ext cx="2544445" cy="413385"/>
          </a:xfrm>
          <a:prstGeom prst="rect">
            <a:avLst/>
          </a:prstGeom>
        </p:spPr>
      </p:pic>
      <p:pic>
        <p:nvPicPr>
          <p:cNvPr id="8" name="图片 7"/>
          <p:cNvPicPr>
            <a:picLocks noChangeAspect="1"/>
          </p:cNvPicPr>
          <p:nvPr/>
        </p:nvPicPr>
        <p:blipFill>
          <a:blip r:embed="rId3"/>
          <a:stretch>
            <a:fillRect/>
          </a:stretch>
        </p:blipFill>
        <p:spPr>
          <a:xfrm>
            <a:off x="3203575" y="5682615"/>
            <a:ext cx="3072765" cy="584835"/>
          </a:xfrm>
          <a:prstGeom prst="rect">
            <a:avLst/>
          </a:prstGeom>
        </p:spPr>
      </p:pic>
      <p:pic>
        <p:nvPicPr>
          <p:cNvPr id="12" name="图片 11"/>
          <p:cNvPicPr>
            <a:picLocks noChangeAspect="1"/>
          </p:cNvPicPr>
          <p:nvPr/>
        </p:nvPicPr>
        <p:blipFill>
          <a:blip r:embed="rId4"/>
          <a:stretch>
            <a:fillRect/>
          </a:stretch>
        </p:blipFill>
        <p:spPr>
          <a:xfrm>
            <a:off x="7481570" y="6343015"/>
            <a:ext cx="1272540" cy="3581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Explanation-Boosted regression trees and random forests</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a:t>
            </a:r>
            <a:r>
              <a:rPr lang="en-US" altLang="zh-CN" sz="1540" dirty="0">
                <a:latin typeface="Calibri Light" panose="020F0302020204030204"/>
                <a:ea typeface="Calibri Light" panose="020F0302020204030204"/>
                <a:cs typeface="Calibri Light" panose="020F0302020204030204"/>
              </a:rPr>
              <a:t>Hyperparameter Optimization for Random Forests (RF)</a:t>
            </a: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sym typeface="+mn-ea"/>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Predict for RF on test set</a:t>
            </a: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
        <p:nvSpPr>
          <p:cNvPr id="6" name="文本框 5"/>
          <p:cNvSpPr txBox="1"/>
          <p:nvPr/>
        </p:nvSpPr>
        <p:spPr>
          <a:xfrm>
            <a:off x="3921760" y="6385877"/>
            <a:ext cx="5080000" cy="306705"/>
          </a:xfrm>
          <a:prstGeom prst="rect">
            <a:avLst/>
          </a:prstGeom>
        </p:spPr>
        <p:txBody>
          <a:bodyPr>
            <a:spAutoFit/>
          </a:bodyPr>
          <a:lstStyle/>
          <a:p>
            <a:r>
              <a:rPr lang="en-US" altLang="zh-CN" sz="1400"/>
              <a:t>Predict on the test set using the best model</a:t>
            </a:r>
          </a:p>
        </p:txBody>
      </p:sp>
      <p:sp>
        <p:nvSpPr>
          <p:cNvPr id="4" name="文本框 3"/>
          <p:cNvSpPr txBox="1"/>
          <p:nvPr/>
        </p:nvSpPr>
        <p:spPr>
          <a:xfrm>
            <a:off x="494665" y="3890645"/>
            <a:ext cx="4973320" cy="2122805"/>
          </a:xfrm>
          <a:prstGeom prst="rect">
            <a:avLst/>
          </a:prstGeom>
          <a:noFill/>
        </p:spPr>
        <p:txBody>
          <a:bodyPr wrap="square" rtlCol="0" anchor="t">
            <a:noAutofit/>
          </a:bodyPr>
          <a:lstStyle/>
          <a:p>
            <a:r>
              <a:rPr lang="en-US" altLang="zh-CN" sz="1200"/>
              <a:t>Initialize best parameters storage</a:t>
            </a:r>
          </a:p>
          <a:p>
            <a:r>
              <a:rPr lang="en-US" altLang="zh-CN" sz="1200"/>
              <a:t>Initialize best model storage</a:t>
            </a:r>
          </a:p>
          <a:p>
            <a:r>
              <a:rPr lang="en-US" altLang="zh-CN" sz="1200"/>
              <a:t>Set initial RMSE to infinity</a:t>
            </a:r>
          </a:p>
          <a:p>
            <a:r>
              <a:rPr lang="en-US" altLang="zh-CN" sz="1200"/>
              <a:t>Loop through different hyperparameter combinations to select the best ones</a:t>
            </a:r>
          </a:p>
          <a:p>
            <a:r>
              <a:rPr lang="en-US" altLang="zh-CN" sz="1200"/>
              <a:t>Loop through different numbers of decision trees</a:t>
            </a:r>
          </a:p>
          <a:p>
            <a:r>
              <a:rPr lang="en-US" altLang="zh-CN" sz="1200"/>
              <a:t>Loop through different maximum tree depths</a:t>
            </a:r>
          </a:p>
          <a:p>
            <a:r>
              <a:rPr lang="en-US" altLang="zh-CN" sz="1200"/>
              <a:t>Loop through different minimum samples required for a split         </a:t>
            </a:r>
          </a:p>
          <a:p>
            <a:r>
              <a:rPr lang="en-US" altLang="zh-CN" sz="1200"/>
              <a:t>Create RandomForest model with the current hyperparameter combination  </a:t>
            </a:r>
          </a:p>
          <a:p>
            <a:r>
              <a:rPr lang="en-US" altLang="zh-CN" sz="1200"/>
              <a:t>Train the RandomForest model on the training set</a:t>
            </a:r>
          </a:p>
          <a:p>
            <a:r>
              <a:rPr lang="en-US" altLang="zh-CN" sz="1200"/>
              <a:t>Predict on validation set</a:t>
            </a:r>
          </a:p>
          <a:p>
            <a:r>
              <a:rPr lang="en-US" altLang="zh-CN" sz="1200"/>
              <a:t>Calculate RMSE on the validation set</a:t>
            </a:r>
          </a:p>
          <a:p>
            <a:endParaRPr lang="zh-CN" altLang="en-US" sz="1200"/>
          </a:p>
        </p:txBody>
      </p:sp>
      <p:sp>
        <p:nvSpPr>
          <p:cNvPr id="5" name="文本框 4"/>
          <p:cNvSpPr txBox="1"/>
          <p:nvPr/>
        </p:nvSpPr>
        <p:spPr>
          <a:xfrm>
            <a:off x="6876415" y="3981450"/>
            <a:ext cx="4824095" cy="829945"/>
          </a:xfrm>
          <a:prstGeom prst="rect">
            <a:avLst/>
          </a:prstGeom>
          <a:noFill/>
        </p:spPr>
        <p:txBody>
          <a:bodyPr wrap="square" rtlCol="0" anchor="t">
            <a:spAutoFit/>
          </a:bodyPr>
          <a:lstStyle/>
          <a:p>
            <a:r>
              <a:rPr lang="en-US" altLang="zh-CN" sz="1200">
                <a:sym typeface="+mn-ea"/>
              </a:rPr>
              <a:t>Update best parameters if current RMSE is lower than previous best RMSE</a:t>
            </a:r>
            <a:endParaRPr lang="en-US" altLang="zh-CN" sz="1200"/>
          </a:p>
          <a:p>
            <a:r>
              <a:rPr lang="en-US" altLang="zh-CN" sz="1200">
                <a:sym typeface="+mn-ea"/>
              </a:rPr>
              <a:t>Update best RMSE</a:t>
            </a:r>
            <a:endParaRPr lang="en-US" altLang="zh-CN" sz="1200"/>
          </a:p>
          <a:p>
            <a:r>
              <a:rPr lang="en-US" altLang="zh-CN" sz="1200">
                <a:sym typeface="+mn-ea"/>
              </a:rPr>
              <a:t>Update best hyperparameters</a:t>
            </a:r>
            <a:endParaRPr lang="en-US" altLang="zh-CN" sz="1200"/>
          </a:p>
          <a:p>
            <a:r>
              <a:rPr lang="en-US" altLang="zh-CN" sz="1200">
                <a:sym typeface="+mn-ea"/>
              </a:rPr>
              <a:t>Update best model</a:t>
            </a:r>
          </a:p>
        </p:txBody>
      </p:sp>
      <p:pic>
        <p:nvPicPr>
          <p:cNvPr id="28" name="图片 27"/>
          <p:cNvPicPr>
            <a:picLocks noChangeAspect="1"/>
          </p:cNvPicPr>
          <p:nvPr/>
        </p:nvPicPr>
        <p:blipFill>
          <a:blip r:embed="rId2"/>
          <a:stretch>
            <a:fillRect/>
          </a:stretch>
        </p:blipFill>
        <p:spPr>
          <a:xfrm>
            <a:off x="1161868" y="1788160"/>
            <a:ext cx="2049780" cy="508000"/>
          </a:xfrm>
          <a:prstGeom prst="rect">
            <a:avLst/>
          </a:prstGeom>
        </p:spPr>
      </p:pic>
      <p:pic>
        <p:nvPicPr>
          <p:cNvPr id="32" name="图片 31"/>
          <p:cNvPicPr>
            <a:picLocks noChangeAspect="1"/>
          </p:cNvPicPr>
          <p:nvPr/>
        </p:nvPicPr>
        <p:blipFill>
          <a:blip r:embed="rId3"/>
          <a:stretch>
            <a:fillRect/>
          </a:stretch>
        </p:blipFill>
        <p:spPr>
          <a:xfrm>
            <a:off x="4417150" y="1788160"/>
            <a:ext cx="1497965" cy="508000"/>
          </a:xfrm>
          <a:prstGeom prst="rect">
            <a:avLst/>
          </a:prstGeom>
        </p:spPr>
      </p:pic>
      <p:pic>
        <p:nvPicPr>
          <p:cNvPr id="7" name="图片 6"/>
          <p:cNvPicPr>
            <a:picLocks noChangeAspect="1"/>
          </p:cNvPicPr>
          <p:nvPr/>
        </p:nvPicPr>
        <p:blipFill>
          <a:blip r:embed="rId4"/>
          <a:stretch>
            <a:fillRect/>
          </a:stretch>
        </p:blipFill>
        <p:spPr>
          <a:xfrm>
            <a:off x="7350760" y="6356985"/>
            <a:ext cx="1272540" cy="3581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Boosted regression trees</a:t>
            </a:r>
            <a:r>
              <a:rPr lang="en-US" altLang="zh-CN" sz="2810" dirty="0">
                <a:latin typeface="Calibri Light" panose="020F0302020204030204"/>
                <a:ea typeface="Calibri Light" panose="020F0302020204030204"/>
                <a:cs typeface="Calibri Light" panose="020F0302020204030204"/>
              </a:rPr>
              <a:t> Results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Boosted Regression Trees-Time Series"/>
          <p:cNvPicPr>
            <a:picLocks noChangeAspect="1"/>
          </p:cNvPicPr>
          <p:nvPr/>
        </p:nvPicPr>
        <p:blipFill>
          <a:blip r:embed="rId2"/>
          <a:stretch>
            <a:fillRect/>
          </a:stretch>
        </p:blipFill>
        <p:spPr>
          <a:xfrm>
            <a:off x="1062355" y="953135"/>
            <a:ext cx="10187940" cy="589470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Random Forests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altLang="zh-CN" sz="2810" dirty="0">
                <a:latin typeface="Calibri Light" panose="020F0302020204030204"/>
                <a:ea typeface="Calibri Light" panose="020F0302020204030204"/>
                <a:cs typeface="Calibri Light" panose="020F0302020204030204"/>
                <a:sym typeface="+mn-ea"/>
              </a:rPr>
              <a:t>the generated Sample Data</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 name="图片 1" descr="Random Forest-Time Series"/>
          <p:cNvPicPr>
            <a:picLocks noChangeAspect="1"/>
          </p:cNvPicPr>
          <p:nvPr/>
        </p:nvPicPr>
        <p:blipFill>
          <a:blip r:embed="rId2"/>
          <a:stretch>
            <a:fillRect/>
          </a:stretch>
        </p:blipFill>
        <p:spPr>
          <a:xfrm>
            <a:off x="1363345" y="982345"/>
            <a:ext cx="10120630" cy="585533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r>
              <a:rPr lang="en-US" altLang="zh-CN" sz="1600"/>
              <a:t>Step 1: Initialization</a:t>
            </a:r>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49</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917565" y="550228"/>
            <a:ext cx="5080000" cy="645160"/>
          </a:xfrm>
          <a:prstGeom prst="rect">
            <a:avLst/>
          </a:prstGeom>
        </p:spPr>
        <p:txBody>
          <a:bodyPr>
            <a:spAutoFit/>
          </a:bodyPr>
          <a:lstStyle/>
          <a:p>
            <a:r>
              <a:rPr lang="en-US" altLang="zh-CN" sz="3600"/>
              <a:t>Neural Network</a:t>
            </a:r>
          </a:p>
        </p:txBody>
      </p:sp>
      <p:sp>
        <p:nvSpPr>
          <p:cNvPr id="13" name="文本框 12"/>
          <p:cNvSpPr txBox="1"/>
          <p:nvPr/>
        </p:nvSpPr>
        <p:spPr>
          <a:xfrm>
            <a:off x="1404620" y="2243773"/>
            <a:ext cx="5080000" cy="337185"/>
          </a:xfrm>
          <a:prstGeom prst="rect">
            <a:avLst/>
          </a:prstGeom>
        </p:spPr>
        <p:txBody>
          <a:bodyPr>
            <a:spAutoFit/>
          </a:bodyPr>
          <a:lstStyle/>
          <a:p>
            <a:r>
              <a:rPr lang="en-US" altLang="zh-CN" sz="1600"/>
              <a:t>Define the input layer:</a:t>
            </a:r>
          </a:p>
        </p:txBody>
      </p:sp>
      <p:sp>
        <p:nvSpPr>
          <p:cNvPr id="16" name="文本框 15"/>
          <p:cNvSpPr txBox="1"/>
          <p:nvPr/>
        </p:nvSpPr>
        <p:spPr>
          <a:xfrm>
            <a:off x="1577975" y="2581275"/>
            <a:ext cx="689610" cy="337185"/>
          </a:xfrm>
          <a:prstGeom prst="rect">
            <a:avLst/>
          </a:prstGeom>
        </p:spPr>
        <p:txBody>
          <a:bodyPr wrap="square">
            <a:spAutoFit/>
          </a:bodyPr>
          <a:lstStyle/>
          <a:p>
            <a:r>
              <a:rPr lang="en-US" altLang="zh-CN" sz="1600"/>
              <a:t>Input</a:t>
            </a:r>
          </a:p>
        </p:txBody>
      </p:sp>
      <p:pic>
        <p:nvPicPr>
          <p:cNvPr id="17" name="图片 16"/>
          <p:cNvPicPr>
            <a:picLocks noChangeAspect="1"/>
          </p:cNvPicPr>
          <p:nvPr/>
        </p:nvPicPr>
        <p:blipFill>
          <a:blip r:embed="rId2"/>
          <a:stretch>
            <a:fillRect/>
          </a:stretch>
        </p:blipFill>
        <p:spPr>
          <a:xfrm>
            <a:off x="2213610" y="2630170"/>
            <a:ext cx="1379220" cy="266700"/>
          </a:xfrm>
          <a:prstGeom prst="rect">
            <a:avLst/>
          </a:prstGeom>
        </p:spPr>
      </p:pic>
      <p:sp>
        <p:nvSpPr>
          <p:cNvPr id="18" name="文本框 17"/>
          <p:cNvSpPr txBox="1"/>
          <p:nvPr/>
        </p:nvSpPr>
        <p:spPr>
          <a:xfrm>
            <a:off x="3528060" y="2581275"/>
            <a:ext cx="3244215" cy="337185"/>
          </a:xfrm>
          <a:prstGeom prst="rect">
            <a:avLst/>
          </a:prstGeom>
        </p:spPr>
        <p:txBody>
          <a:bodyPr wrap="square">
            <a:spAutoFit/>
          </a:bodyPr>
          <a:lstStyle/>
          <a:p>
            <a:r>
              <a:rPr lang="en-US" altLang="zh-CN" sz="1600"/>
              <a:t>represents raw predictor variables.</a:t>
            </a:r>
          </a:p>
        </p:txBody>
      </p:sp>
      <p:sp>
        <p:nvSpPr>
          <p:cNvPr id="19" name="文本框 18"/>
          <p:cNvSpPr txBox="1"/>
          <p:nvPr/>
        </p:nvSpPr>
        <p:spPr>
          <a:xfrm>
            <a:off x="1577975" y="2945448"/>
            <a:ext cx="5080000" cy="337185"/>
          </a:xfrm>
          <a:prstGeom prst="rect">
            <a:avLst/>
          </a:prstGeom>
        </p:spPr>
        <p:txBody>
          <a:bodyPr>
            <a:spAutoFit/>
          </a:bodyPr>
          <a:lstStyle/>
          <a:p>
            <a:r>
              <a:rPr lang="en-US" altLang="zh-CN" sz="1600"/>
              <a:t>Include a bias term by augmenting the input vector: </a:t>
            </a:r>
          </a:p>
        </p:txBody>
      </p:sp>
      <p:pic>
        <p:nvPicPr>
          <p:cNvPr id="20" name="图片 19"/>
          <p:cNvPicPr>
            <a:picLocks noChangeAspect="1"/>
          </p:cNvPicPr>
          <p:nvPr/>
        </p:nvPicPr>
        <p:blipFill>
          <a:blip r:embed="rId3"/>
          <a:stretch>
            <a:fillRect/>
          </a:stretch>
        </p:blipFill>
        <p:spPr>
          <a:xfrm>
            <a:off x="6037580" y="2978150"/>
            <a:ext cx="1485900" cy="289560"/>
          </a:xfrm>
          <a:prstGeom prst="rect">
            <a:avLst/>
          </a:prstGeom>
        </p:spPr>
      </p:pic>
      <p:sp>
        <p:nvSpPr>
          <p:cNvPr id="21" name="文本框 20"/>
          <p:cNvSpPr txBox="1"/>
          <p:nvPr/>
        </p:nvSpPr>
        <p:spPr>
          <a:xfrm>
            <a:off x="1415415" y="3288348"/>
            <a:ext cx="5080000" cy="337185"/>
          </a:xfrm>
          <a:prstGeom prst="rect">
            <a:avLst/>
          </a:prstGeom>
        </p:spPr>
        <p:txBody>
          <a:bodyPr>
            <a:spAutoFit/>
          </a:bodyPr>
          <a:lstStyle/>
          <a:p>
            <a:r>
              <a:rPr lang="en-US" altLang="zh-CN" sz="1600"/>
              <a:t>Choose network architecture:</a:t>
            </a:r>
          </a:p>
        </p:txBody>
      </p:sp>
      <p:sp>
        <p:nvSpPr>
          <p:cNvPr id="22" name="文本框 21"/>
          <p:cNvSpPr txBox="1"/>
          <p:nvPr/>
        </p:nvSpPr>
        <p:spPr>
          <a:xfrm>
            <a:off x="1692275" y="3642995"/>
            <a:ext cx="8404860" cy="337185"/>
          </a:xfrm>
          <a:prstGeom prst="rect">
            <a:avLst/>
          </a:prstGeom>
        </p:spPr>
        <p:txBody>
          <a:bodyPr wrap="square">
            <a:spAutoFit/>
          </a:bodyPr>
          <a:lstStyle/>
          <a:p>
            <a:r>
              <a:rPr lang="en-US" altLang="zh-CN" sz="1600"/>
              <a:t>Specify the number of hidden layers L, neurons per layer K</a:t>
            </a:r>
            <a:r>
              <a:rPr lang="en-US" altLang="zh-CN" sz="1600" baseline="30000"/>
              <a:t>(l)</a:t>
            </a:r>
            <a:r>
              <a:rPr lang="en-US" altLang="zh-CN" sz="1600"/>
              <a:t>, and activation functions.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50</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917565" y="550228"/>
            <a:ext cx="5080000" cy="645160"/>
          </a:xfrm>
          <a:prstGeom prst="rect">
            <a:avLst/>
          </a:prstGeom>
        </p:spPr>
        <p:txBody>
          <a:bodyPr>
            <a:spAutoFit/>
          </a:bodyPr>
          <a:lstStyle/>
          <a:p>
            <a:r>
              <a:rPr lang="en-US" altLang="zh-CN" sz="3600"/>
              <a:t>Neural Network</a:t>
            </a:r>
          </a:p>
        </p:txBody>
      </p:sp>
      <p:sp>
        <p:nvSpPr>
          <p:cNvPr id="23" name="文本框 22"/>
          <p:cNvSpPr txBox="1"/>
          <p:nvPr/>
        </p:nvSpPr>
        <p:spPr>
          <a:xfrm>
            <a:off x="837565" y="1811973"/>
            <a:ext cx="5080000" cy="337185"/>
          </a:xfrm>
          <a:prstGeom prst="rect">
            <a:avLst/>
          </a:prstGeom>
        </p:spPr>
        <p:txBody>
          <a:bodyPr>
            <a:spAutoFit/>
          </a:bodyPr>
          <a:lstStyle/>
          <a:p>
            <a:r>
              <a:rPr lang="en-US" altLang="zh-CN" sz="1600"/>
              <a:t>Step 2: Forward Propagation</a:t>
            </a:r>
          </a:p>
        </p:txBody>
      </p:sp>
      <p:sp>
        <p:nvSpPr>
          <p:cNvPr id="24" name="文本框 23"/>
          <p:cNvSpPr txBox="1"/>
          <p:nvPr/>
        </p:nvSpPr>
        <p:spPr>
          <a:xfrm>
            <a:off x="847725" y="2069148"/>
            <a:ext cx="5080000" cy="337185"/>
          </a:xfrm>
          <a:prstGeom prst="rect">
            <a:avLst/>
          </a:prstGeom>
        </p:spPr>
        <p:txBody>
          <a:bodyPr>
            <a:spAutoFit/>
          </a:bodyPr>
          <a:lstStyle/>
          <a:p>
            <a:r>
              <a:rPr lang="en-US" altLang="zh-CN" sz="1600"/>
              <a:t>Layer-wise transformations:</a:t>
            </a:r>
          </a:p>
        </p:txBody>
      </p:sp>
      <p:sp>
        <p:nvSpPr>
          <p:cNvPr id="25" name="文本框 24"/>
          <p:cNvSpPr txBox="1"/>
          <p:nvPr/>
        </p:nvSpPr>
        <p:spPr>
          <a:xfrm>
            <a:off x="1105535" y="2329815"/>
            <a:ext cx="6340475" cy="337185"/>
          </a:xfrm>
          <a:prstGeom prst="rect">
            <a:avLst/>
          </a:prstGeom>
        </p:spPr>
        <p:txBody>
          <a:bodyPr wrap="square">
            <a:spAutoFit/>
          </a:bodyPr>
          <a:lstStyle/>
          <a:p>
            <a:r>
              <a:rPr lang="en-US" altLang="zh-CN" sz="1600"/>
              <a:t>Compute the outputs for each hidden layer using formula :</a:t>
            </a:r>
          </a:p>
        </p:txBody>
      </p:sp>
      <p:pic>
        <p:nvPicPr>
          <p:cNvPr id="26" name="图片 25"/>
          <p:cNvPicPr>
            <a:picLocks noChangeAspect="1"/>
          </p:cNvPicPr>
          <p:nvPr/>
        </p:nvPicPr>
        <p:blipFill>
          <a:blip r:embed="rId2"/>
          <a:stretch>
            <a:fillRect/>
          </a:stretch>
        </p:blipFill>
        <p:spPr>
          <a:xfrm>
            <a:off x="1412240" y="2609850"/>
            <a:ext cx="3322320" cy="365760"/>
          </a:xfrm>
          <a:prstGeom prst="rect">
            <a:avLst/>
          </a:prstGeom>
        </p:spPr>
      </p:pic>
      <p:sp>
        <p:nvSpPr>
          <p:cNvPr id="27" name="文本框 26"/>
          <p:cNvSpPr txBox="1"/>
          <p:nvPr/>
        </p:nvSpPr>
        <p:spPr>
          <a:xfrm>
            <a:off x="786130" y="2878455"/>
            <a:ext cx="9240520" cy="1076325"/>
          </a:xfrm>
          <a:prstGeom prst="rect">
            <a:avLst/>
          </a:prstGeom>
        </p:spPr>
        <p:txBody>
          <a:bodyPr wrap="square">
            <a:spAutoFit/>
          </a:bodyPr>
          <a:lstStyle/>
          <a:p>
            <a:r>
              <a:rPr lang="en-US" altLang="zh-CN" sz="1600"/>
              <a:t>z: Input vector of raw predictors.</a:t>
            </a:r>
          </a:p>
          <a:p>
            <a:r>
              <a:rPr lang="en-US" altLang="zh-CN" sz="1600"/>
              <a:t>x</a:t>
            </a:r>
            <a:r>
              <a:rPr lang="en-US" altLang="zh-CN" sz="1600" baseline="-25000"/>
              <a:t>k</a:t>
            </a:r>
            <a:r>
              <a:rPr lang="en-US" altLang="zh-CN" sz="1600" baseline="30000"/>
              <a:t>(l)</a:t>
            </a:r>
            <a:r>
              <a:rPr lang="en-US" altLang="zh-CN" sz="1600"/>
              <a:t>: Output of neuron k in layer l.</a:t>
            </a:r>
          </a:p>
          <a:p>
            <a:r>
              <a:rPr lang="en-US" altLang="zh-CN" sz="1600"/>
              <a:t>θ</a:t>
            </a:r>
            <a:r>
              <a:rPr lang="en-US" altLang="zh-CN" sz="1600" baseline="-25000"/>
              <a:t>k</a:t>
            </a:r>
            <a:r>
              <a:rPr lang="en-US" altLang="zh-CN" sz="1600" baseline="30000"/>
              <a:t>(l)</a:t>
            </a:r>
            <a:r>
              <a:rPr lang="en-US" altLang="zh-CN" sz="1600"/>
              <a:t>: Weight parameters associated with the connections to neuron k in layer l.</a:t>
            </a:r>
          </a:p>
          <a:p>
            <a:r>
              <a:rPr lang="en-US" altLang="zh-CN" sz="1600"/>
              <a:t>ReLU(⋅): Rectified Linear Unit activation function, defined as:</a:t>
            </a:r>
          </a:p>
        </p:txBody>
      </p:sp>
      <p:pic>
        <p:nvPicPr>
          <p:cNvPr id="28" name="图片 27"/>
          <p:cNvPicPr>
            <a:picLocks noChangeAspect="1"/>
          </p:cNvPicPr>
          <p:nvPr/>
        </p:nvPicPr>
        <p:blipFill>
          <a:blip r:embed="rId3"/>
          <a:stretch>
            <a:fillRect/>
          </a:stretch>
        </p:blipFill>
        <p:spPr>
          <a:xfrm>
            <a:off x="5990590" y="3669030"/>
            <a:ext cx="2263140" cy="655320"/>
          </a:xfrm>
          <a:prstGeom prst="rect">
            <a:avLst/>
          </a:prstGeom>
        </p:spPr>
      </p:pic>
      <p:sp>
        <p:nvSpPr>
          <p:cNvPr id="6" name="文本框 5"/>
          <p:cNvSpPr txBox="1"/>
          <p:nvPr/>
        </p:nvSpPr>
        <p:spPr>
          <a:xfrm>
            <a:off x="734060" y="4323080"/>
            <a:ext cx="7921625" cy="583565"/>
          </a:xfrm>
          <a:prstGeom prst="rect">
            <a:avLst/>
          </a:prstGeom>
        </p:spPr>
        <p:txBody>
          <a:bodyPr wrap="square">
            <a:spAutoFit/>
          </a:bodyPr>
          <a:lstStyle/>
          <a:p>
            <a:r>
              <a:rPr lang="en-US" altLang="zh-CN" sz="1600"/>
              <a:t>Defines the output of neuron k in layer l. This captures the nonlinear transformation of the input signal by applying a weight matrix θ</a:t>
            </a:r>
            <a:r>
              <a:rPr lang="en-US" altLang="zh-CN" sz="1600" baseline="-25000"/>
              <a:t>k</a:t>
            </a:r>
            <a:r>
              <a:rPr lang="en-US" altLang="zh-CN" sz="1600" baseline="30000"/>
              <a:t>(l−1)</a:t>
            </a:r>
            <a:r>
              <a:rPr lang="en-US" altLang="zh-CN" sz="1600"/>
              <a:t> and an activation function (ReLU).</a:t>
            </a:r>
          </a:p>
        </p:txBody>
      </p:sp>
      <p:sp>
        <p:nvSpPr>
          <p:cNvPr id="7" name="文本框 6"/>
          <p:cNvSpPr txBox="1"/>
          <p:nvPr/>
        </p:nvSpPr>
        <p:spPr>
          <a:xfrm>
            <a:off x="734060" y="4849813"/>
            <a:ext cx="5080000" cy="337185"/>
          </a:xfrm>
          <a:prstGeom prst="rect">
            <a:avLst/>
          </a:prstGeom>
        </p:spPr>
        <p:txBody>
          <a:bodyPr>
            <a:spAutoFit/>
          </a:bodyPr>
          <a:lstStyle/>
          <a:p>
            <a:r>
              <a:rPr lang="en-US" altLang="zh-CN" sz="1600"/>
              <a:t>Final Output Layer Transformation:</a:t>
            </a:r>
          </a:p>
        </p:txBody>
      </p:sp>
      <p:sp>
        <p:nvSpPr>
          <p:cNvPr id="8" name="文本框 7"/>
          <p:cNvSpPr txBox="1"/>
          <p:nvPr/>
        </p:nvSpPr>
        <p:spPr>
          <a:xfrm>
            <a:off x="1031875" y="5380990"/>
            <a:ext cx="5895975" cy="829945"/>
          </a:xfrm>
          <a:prstGeom prst="rect">
            <a:avLst/>
          </a:prstGeom>
        </p:spPr>
        <p:txBody>
          <a:bodyPr wrap="square">
            <a:spAutoFit/>
          </a:bodyPr>
          <a:lstStyle/>
          <a:p>
            <a:r>
              <a:rPr lang="en-US" altLang="zh-CN" sz="1600"/>
              <a:t>L: Total number of layers in the neural network.</a:t>
            </a:r>
          </a:p>
          <a:p>
            <a:r>
              <a:rPr lang="en-US" altLang="zh-CN" sz="1600"/>
              <a:t>g(z; </a:t>
            </a:r>
            <a:r>
              <a:rPr lang="en-US" altLang="zh-CN" sz="1600">
                <a:sym typeface="+mn-ea"/>
              </a:rPr>
              <a:t>θ</a:t>
            </a:r>
            <a:r>
              <a:rPr lang="en-US" altLang="zh-CN" sz="1600"/>
              <a:t>): Final output, representing the predicted return.</a:t>
            </a:r>
          </a:p>
          <a:p>
            <a:r>
              <a:rPr lang="en-US" altLang="zh-CN" sz="1600"/>
              <a:t>θ: Combined parameter set for all layers in the network.</a:t>
            </a:r>
          </a:p>
        </p:txBody>
      </p:sp>
      <p:sp>
        <p:nvSpPr>
          <p:cNvPr id="12" name="文本框 11"/>
          <p:cNvSpPr txBox="1"/>
          <p:nvPr/>
        </p:nvSpPr>
        <p:spPr>
          <a:xfrm>
            <a:off x="895985" y="5119053"/>
            <a:ext cx="5080000" cy="337185"/>
          </a:xfrm>
          <a:prstGeom prst="rect">
            <a:avLst/>
          </a:prstGeom>
        </p:spPr>
        <p:txBody>
          <a:bodyPr>
            <a:spAutoFit/>
          </a:bodyPr>
          <a:lstStyle/>
          <a:p>
            <a:r>
              <a:rPr lang="en-US" altLang="zh-CN" sz="1600"/>
              <a:t>Compute the prediction using formula below:</a:t>
            </a:r>
          </a:p>
        </p:txBody>
      </p:sp>
      <p:pic>
        <p:nvPicPr>
          <p:cNvPr id="14" name="图片 13"/>
          <p:cNvPicPr>
            <a:picLocks noChangeAspect="1"/>
          </p:cNvPicPr>
          <p:nvPr/>
        </p:nvPicPr>
        <p:blipFill>
          <a:blip r:embed="rId4"/>
          <a:stretch>
            <a:fillRect/>
          </a:stretch>
        </p:blipFill>
        <p:spPr>
          <a:xfrm>
            <a:off x="4779010" y="5154930"/>
            <a:ext cx="1950720" cy="266700"/>
          </a:xfrm>
          <a:prstGeom prst="rect">
            <a:avLst/>
          </a:prstGeom>
        </p:spPr>
      </p:pic>
      <p:sp>
        <p:nvSpPr>
          <p:cNvPr id="29" name="文本框 28"/>
          <p:cNvSpPr txBox="1"/>
          <p:nvPr/>
        </p:nvSpPr>
        <p:spPr>
          <a:xfrm>
            <a:off x="735965" y="6137910"/>
            <a:ext cx="7975600" cy="337185"/>
          </a:xfrm>
          <a:prstGeom prst="rect">
            <a:avLst/>
          </a:prstGeom>
        </p:spPr>
        <p:txBody>
          <a:bodyPr wrap="square">
            <a:spAutoFit/>
          </a:bodyPr>
          <a:lstStyle/>
          <a:p>
            <a:r>
              <a:rPr lang="en-US" altLang="zh-CN" sz="1600"/>
              <a:t>Aggregates all transformed signals from the last hidden layer into a single prediction output.</a:t>
            </a:r>
          </a:p>
        </p:txBody>
      </p:sp>
      <p:pic>
        <p:nvPicPr>
          <p:cNvPr id="31" name="图片 30"/>
          <p:cNvPicPr>
            <a:picLocks noChangeAspect="1"/>
          </p:cNvPicPr>
          <p:nvPr/>
        </p:nvPicPr>
        <p:blipFill>
          <a:blip r:embed="rId5"/>
          <a:stretch>
            <a:fillRect/>
          </a:stretch>
        </p:blipFill>
        <p:spPr>
          <a:xfrm>
            <a:off x="7125970" y="1433195"/>
            <a:ext cx="4849495" cy="1632585"/>
          </a:xfrm>
          <a:prstGeom prst="rect">
            <a:avLst/>
          </a:prstGeom>
        </p:spPr>
      </p:pic>
      <p:sp>
        <p:nvSpPr>
          <p:cNvPr id="32" name="文本框 31"/>
          <p:cNvSpPr txBox="1"/>
          <p:nvPr/>
        </p:nvSpPr>
        <p:spPr>
          <a:xfrm>
            <a:off x="8946515" y="3181350"/>
            <a:ext cx="3245485" cy="2416175"/>
          </a:xfrm>
          <a:prstGeom prst="rect">
            <a:avLst/>
          </a:prstGeom>
        </p:spPr>
        <p:txBody>
          <a:bodyPr wrap="square">
            <a:noAutofit/>
          </a:bodyPr>
          <a:lstStyle/>
          <a:p>
            <a:r>
              <a:rPr lang="en-US" altLang="zh-CN" sz="1600"/>
              <a:t>Inputs (z1,z2,z3,z4) are fed into the input layer.</a:t>
            </a:r>
          </a:p>
          <a:p>
            <a:endParaRPr lang="en-US" altLang="zh-CN" sz="1600"/>
          </a:p>
          <a:p>
            <a:endParaRPr lang="en-US" altLang="zh-CN" sz="1600"/>
          </a:p>
        </p:txBody>
      </p:sp>
      <p:sp>
        <p:nvSpPr>
          <p:cNvPr id="33" name="文本框 32"/>
          <p:cNvSpPr txBox="1"/>
          <p:nvPr/>
        </p:nvSpPr>
        <p:spPr>
          <a:xfrm>
            <a:off x="8945880" y="3643630"/>
            <a:ext cx="3241675" cy="925830"/>
          </a:xfrm>
          <a:prstGeom prst="rect">
            <a:avLst/>
          </a:prstGeom>
        </p:spPr>
        <p:txBody>
          <a:bodyPr wrap="square">
            <a:noAutofit/>
          </a:bodyPr>
          <a:lstStyle/>
          <a:p>
            <a:r>
              <a:rPr lang="en-US" altLang="zh-CN" sz="1600"/>
              <a:t>Linear Aggregation: Each neuron computes a weighted sum of inputs:</a:t>
            </a:r>
          </a:p>
        </p:txBody>
      </p:sp>
      <p:pic>
        <p:nvPicPr>
          <p:cNvPr id="34" name="图片 33"/>
          <p:cNvPicPr>
            <a:picLocks noChangeAspect="1"/>
          </p:cNvPicPr>
          <p:nvPr/>
        </p:nvPicPr>
        <p:blipFill>
          <a:blip r:embed="rId6"/>
          <a:stretch>
            <a:fillRect/>
          </a:stretch>
        </p:blipFill>
        <p:spPr>
          <a:xfrm>
            <a:off x="9642475" y="4192905"/>
            <a:ext cx="1936750" cy="633095"/>
          </a:xfrm>
          <a:prstGeom prst="rect">
            <a:avLst/>
          </a:prstGeom>
        </p:spPr>
      </p:pic>
      <p:sp>
        <p:nvSpPr>
          <p:cNvPr id="35" name="文本框 34"/>
          <p:cNvSpPr txBox="1"/>
          <p:nvPr/>
        </p:nvSpPr>
        <p:spPr>
          <a:xfrm>
            <a:off x="9061450" y="4719955"/>
            <a:ext cx="3352800" cy="829945"/>
          </a:xfrm>
          <a:prstGeom prst="rect">
            <a:avLst/>
          </a:prstGeom>
        </p:spPr>
        <p:txBody>
          <a:bodyPr wrap="square">
            <a:spAutoFit/>
          </a:bodyPr>
          <a:lstStyle/>
          <a:p>
            <a:r>
              <a:rPr lang="en-US" altLang="zh-CN" sz="1600"/>
              <a:t>Nonlinear Transformation: The activation function f (ReLU)</a:t>
            </a:r>
          </a:p>
          <a:p>
            <a:r>
              <a:rPr lang="en-US" altLang="zh-CN" sz="1600"/>
              <a:t>introduces nonlinearity.</a:t>
            </a:r>
          </a:p>
        </p:txBody>
      </p:sp>
      <p:sp>
        <p:nvSpPr>
          <p:cNvPr id="36" name="文本框 35"/>
          <p:cNvSpPr txBox="1"/>
          <p:nvPr/>
        </p:nvSpPr>
        <p:spPr>
          <a:xfrm>
            <a:off x="9065260" y="5517515"/>
            <a:ext cx="3061335" cy="829945"/>
          </a:xfrm>
          <a:prstGeom prst="rect">
            <a:avLst/>
          </a:prstGeom>
        </p:spPr>
        <p:txBody>
          <a:bodyPr wrap="square">
            <a:spAutoFit/>
          </a:bodyPr>
          <a:lstStyle/>
          <a:p>
            <a:r>
              <a:rPr lang="en-US" altLang="zh-CN" sz="1600"/>
              <a:t>The final layer aggregates the outputs from the hidden layer neurons:</a:t>
            </a:r>
          </a:p>
        </p:txBody>
      </p:sp>
      <p:pic>
        <p:nvPicPr>
          <p:cNvPr id="37" name="图片 36"/>
          <p:cNvPicPr>
            <a:picLocks noChangeAspect="1"/>
          </p:cNvPicPr>
          <p:nvPr/>
        </p:nvPicPr>
        <p:blipFill>
          <a:blip r:embed="rId7"/>
          <a:stretch>
            <a:fillRect/>
          </a:stretch>
        </p:blipFill>
        <p:spPr>
          <a:xfrm>
            <a:off x="9973945" y="6101080"/>
            <a:ext cx="1736090" cy="4959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57325"/>
            <a:ext cx="10515600" cy="5263515"/>
          </a:xfrm>
        </p:spPr>
        <p:txBody>
          <a:bodyPr>
            <a:normAutofit lnSpcReduction="10000"/>
          </a:bodyPr>
          <a:lstStyle/>
          <a:p>
            <a:r>
              <a:rPr lang="en-US" dirty="0">
                <a:solidFill>
                  <a:srgbClr val="26927D"/>
                </a:solidFill>
              </a:rPr>
              <a:t>Steps:</a:t>
            </a:r>
          </a:p>
          <a:p>
            <a:pPr marL="0" indent="0">
              <a:buNone/>
            </a:pPr>
            <a:endParaRPr lang="en-US" altLang="zh-CN" sz="1600"/>
          </a:p>
          <a:p>
            <a:pPr marL="0" indent="0">
              <a:buNone/>
            </a:pPr>
            <a:endParaRPr lang="en-US" altLang="zh-CN" sz="1600">
              <a:sym typeface="+mn-ea"/>
            </a:endParaRPr>
          </a:p>
          <a:p>
            <a:pPr marL="0" indent="0">
              <a:buNone/>
            </a:pPr>
            <a:endParaRPr lang="en-US" altLang="zh-CN" sz="1600"/>
          </a:p>
          <a:p>
            <a:pPr marL="0" indent="0">
              <a:buNone/>
            </a:pPr>
            <a:endParaRPr lang="en-US" altLang="zh-CN" sz="1600"/>
          </a:p>
          <a:p>
            <a:pPr marL="0" indent="0">
              <a:buNone/>
            </a:pPr>
            <a:endParaRPr lang="en-US" altLang="zh-CN" sz="1600"/>
          </a:p>
          <a:p>
            <a:pPr marL="0" indent="0">
              <a:buNone/>
            </a:pPr>
            <a:endParaRPr lang="en-US" sz="2400" dirty="0"/>
          </a:p>
          <a:p>
            <a:pPr marL="0" indent="0">
              <a:buNone/>
            </a:pPr>
            <a:endParaRPr lang="en-US" sz="2400" dirty="0"/>
          </a:p>
          <a:p>
            <a:pPr marL="0" indent="0">
              <a:buNone/>
            </a:pPr>
            <a:endParaRPr lang="en-US" sz="2400" dirty="0">
              <a:sym typeface="+mn-ea"/>
            </a:endParaRPr>
          </a:p>
          <a:p>
            <a:pPr marL="0" indent="0">
              <a:buNone/>
            </a:pPr>
            <a:endParaRPr lang="en-US" sz="2400" dirty="0"/>
          </a:p>
          <a:p>
            <a:pPr marL="0" indent="0">
              <a:buNone/>
            </a:pPr>
            <a:endParaRPr lang="en-US" sz="2400" baseline="-25000" dirty="0">
              <a:sym typeface="+mn-ea"/>
            </a:endParaRPr>
          </a:p>
          <a:p>
            <a:pPr marL="0" indent="0">
              <a:buNone/>
            </a:pPr>
            <a:endParaRPr lang="en-US" sz="2400" dirty="0">
              <a:sym typeface="+mn-ea"/>
            </a:endParaRPr>
          </a:p>
          <a:p>
            <a:pPr marL="0" indent="0">
              <a:buNone/>
            </a:pPr>
            <a:endParaRPr lang="en-US" sz="2400" dirty="0">
              <a:sym typeface="+mn-ea"/>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51</a:t>
            </a:fld>
            <a:endParaRPr lang="en-US"/>
          </a:p>
        </p:txBody>
      </p:sp>
      <p:sp>
        <p:nvSpPr>
          <p:cNvPr id="5" name="右箭头 4"/>
          <p:cNvSpPr/>
          <p:nvPr/>
        </p:nvSpPr>
        <p:spPr>
          <a:xfrm>
            <a:off x="276542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1005840" y="539750"/>
            <a:ext cx="1959610" cy="645160"/>
          </a:xfrm>
          <a:prstGeom prst="rect">
            <a:avLst/>
          </a:prstGeom>
          <a:noFill/>
        </p:spPr>
        <p:txBody>
          <a:bodyPr wrap="square" rtlCol="0" anchor="t">
            <a:spAutoFit/>
          </a:bodyPr>
          <a:lstStyle/>
          <a:p>
            <a:r>
              <a:rPr lang="en-US" altLang="zh-CN" sz="3600">
                <a:sym typeface="+mn-ea"/>
              </a:rPr>
              <a:t>g∗(zi,t​)</a:t>
            </a:r>
          </a:p>
        </p:txBody>
      </p:sp>
      <p:sp>
        <p:nvSpPr>
          <p:cNvPr id="15" name="文本框 14"/>
          <p:cNvSpPr txBox="1"/>
          <p:nvPr/>
        </p:nvSpPr>
        <p:spPr>
          <a:xfrm>
            <a:off x="3326765" y="534670"/>
            <a:ext cx="1461135" cy="645160"/>
          </a:xfrm>
          <a:prstGeom prst="rect">
            <a:avLst/>
          </a:prstGeom>
        </p:spPr>
        <p:txBody>
          <a:bodyPr wrap="square">
            <a:spAutoFit/>
          </a:bodyPr>
          <a:lstStyle/>
          <a:p>
            <a:r>
              <a:rPr lang="en-US" altLang="zh-CN" sz="3600"/>
              <a:t>g(zi,t​;θ)</a:t>
            </a:r>
            <a:endParaRPr lang="en-US" altLang="zh-CN" sz="1600"/>
          </a:p>
        </p:txBody>
      </p:sp>
      <p:sp>
        <p:nvSpPr>
          <p:cNvPr id="10" name="右箭头 9"/>
          <p:cNvSpPr/>
          <p:nvPr/>
        </p:nvSpPr>
        <p:spPr>
          <a:xfrm>
            <a:off x="5149215" y="767715"/>
            <a:ext cx="407035" cy="264160"/>
          </a:xfrm>
          <a:prstGeom prst="right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5917565" y="550228"/>
            <a:ext cx="5080000" cy="645160"/>
          </a:xfrm>
          <a:prstGeom prst="rect">
            <a:avLst/>
          </a:prstGeom>
        </p:spPr>
        <p:txBody>
          <a:bodyPr>
            <a:spAutoFit/>
          </a:bodyPr>
          <a:lstStyle/>
          <a:p>
            <a:r>
              <a:rPr lang="en-US" altLang="zh-CN" sz="3600"/>
              <a:t>Neural Network</a:t>
            </a:r>
          </a:p>
        </p:txBody>
      </p:sp>
      <p:sp>
        <p:nvSpPr>
          <p:cNvPr id="23" name="文本框 22"/>
          <p:cNvSpPr txBox="1"/>
          <p:nvPr/>
        </p:nvSpPr>
        <p:spPr>
          <a:xfrm>
            <a:off x="837565" y="1811973"/>
            <a:ext cx="5080000" cy="337185"/>
          </a:xfrm>
          <a:prstGeom prst="rect">
            <a:avLst/>
          </a:prstGeom>
        </p:spPr>
        <p:txBody>
          <a:bodyPr>
            <a:spAutoFit/>
          </a:bodyPr>
          <a:lstStyle/>
          <a:p>
            <a:r>
              <a:rPr lang="en-US" altLang="zh-CN" sz="1600"/>
              <a:t>Step 3: Backpropagation for Optimization</a:t>
            </a:r>
          </a:p>
        </p:txBody>
      </p:sp>
      <p:sp>
        <p:nvSpPr>
          <p:cNvPr id="2" name="文本框 1"/>
          <p:cNvSpPr txBox="1"/>
          <p:nvPr/>
        </p:nvSpPr>
        <p:spPr>
          <a:xfrm>
            <a:off x="1146810" y="2149475"/>
            <a:ext cx="2179320" cy="337185"/>
          </a:xfrm>
          <a:prstGeom prst="rect">
            <a:avLst/>
          </a:prstGeom>
        </p:spPr>
        <p:txBody>
          <a:bodyPr wrap="square">
            <a:spAutoFit/>
          </a:bodyPr>
          <a:lstStyle/>
          <a:p>
            <a:r>
              <a:rPr lang="en-US" altLang="zh-CN" sz="1600"/>
              <a:t>1.Objective Function:</a:t>
            </a:r>
          </a:p>
        </p:txBody>
      </p:sp>
      <p:sp>
        <p:nvSpPr>
          <p:cNvPr id="13" name="文本框 12"/>
          <p:cNvSpPr txBox="1"/>
          <p:nvPr/>
        </p:nvSpPr>
        <p:spPr>
          <a:xfrm>
            <a:off x="1371600" y="2466022"/>
            <a:ext cx="5080000" cy="337185"/>
          </a:xfrm>
          <a:prstGeom prst="rect">
            <a:avLst/>
          </a:prstGeom>
        </p:spPr>
        <p:txBody>
          <a:bodyPr>
            <a:spAutoFit/>
          </a:bodyPr>
          <a:lstStyle/>
          <a:p>
            <a:r>
              <a:rPr lang="en-US" altLang="zh-CN" sz="1600"/>
              <a:t>Minimize the penalized L2 objective:</a:t>
            </a:r>
          </a:p>
        </p:txBody>
      </p:sp>
      <p:pic>
        <p:nvPicPr>
          <p:cNvPr id="16" name="图片 15"/>
          <p:cNvPicPr>
            <a:picLocks noChangeAspect="1"/>
          </p:cNvPicPr>
          <p:nvPr/>
        </p:nvPicPr>
        <p:blipFill>
          <a:blip r:embed="rId2"/>
          <a:stretch>
            <a:fillRect/>
          </a:stretch>
        </p:blipFill>
        <p:spPr>
          <a:xfrm>
            <a:off x="1948815" y="2799715"/>
            <a:ext cx="3794760" cy="647700"/>
          </a:xfrm>
          <a:prstGeom prst="rect">
            <a:avLst/>
          </a:prstGeom>
        </p:spPr>
      </p:pic>
      <p:sp>
        <p:nvSpPr>
          <p:cNvPr id="17" name="文本框 16"/>
          <p:cNvSpPr txBox="1"/>
          <p:nvPr/>
        </p:nvSpPr>
        <p:spPr>
          <a:xfrm>
            <a:off x="1355725" y="3423920"/>
            <a:ext cx="9067165" cy="337185"/>
          </a:xfrm>
          <a:prstGeom prst="rect">
            <a:avLst/>
          </a:prstGeom>
        </p:spPr>
        <p:txBody>
          <a:bodyPr wrap="square">
            <a:spAutoFit/>
          </a:bodyPr>
          <a:lstStyle/>
          <a:p>
            <a:r>
              <a:rPr lang="en-US" altLang="zh-CN" sz="1600"/>
              <a:t>Regularization:              penalizes large weight magnitudes to prevent overfitting.</a:t>
            </a:r>
          </a:p>
        </p:txBody>
      </p:sp>
      <p:pic>
        <p:nvPicPr>
          <p:cNvPr id="18" name="图片 17"/>
          <p:cNvPicPr>
            <a:picLocks noChangeAspect="1"/>
          </p:cNvPicPr>
          <p:nvPr/>
        </p:nvPicPr>
        <p:blipFill>
          <a:blip r:embed="rId3"/>
          <a:stretch>
            <a:fillRect/>
          </a:stretch>
        </p:blipFill>
        <p:spPr>
          <a:xfrm>
            <a:off x="2765425" y="3472815"/>
            <a:ext cx="495300" cy="243840"/>
          </a:xfrm>
          <a:prstGeom prst="rect">
            <a:avLst/>
          </a:prstGeom>
        </p:spPr>
      </p:pic>
      <p:sp>
        <p:nvSpPr>
          <p:cNvPr id="19" name="文本框 18"/>
          <p:cNvSpPr txBox="1"/>
          <p:nvPr/>
        </p:nvSpPr>
        <p:spPr>
          <a:xfrm>
            <a:off x="1243330" y="3715068"/>
            <a:ext cx="5080000" cy="337185"/>
          </a:xfrm>
          <a:prstGeom prst="rect">
            <a:avLst/>
          </a:prstGeom>
        </p:spPr>
        <p:txBody>
          <a:bodyPr>
            <a:spAutoFit/>
          </a:bodyPr>
          <a:lstStyle/>
          <a:p>
            <a:r>
              <a:rPr lang="en-US" altLang="zh-CN" sz="1600"/>
              <a:t>2.Gradient Descent Optimization:</a:t>
            </a:r>
          </a:p>
        </p:txBody>
      </p:sp>
      <p:sp>
        <p:nvSpPr>
          <p:cNvPr id="20" name="文本框 19"/>
          <p:cNvSpPr txBox="1"/>
          <p:nvPr/>
        </p:nvSpPr>
        <p:spPr>
          <a:xfrm>
            <a:off x="1437005" y="3980498"/>
            <a:ext cx="5080000" cy="337185"/>
          </a:xfrm>
          <a:prstGeom prst="rect">
            <a:avLst/>
          </a:prstGeom>
        </p:spPr>
        <p:txBody>
          <a:bodyPr>
            <a:spAutoFit/>
          </a:bodyPr>
          <a:lstStyle/>
          <a:p>
            <a:r>
              <a:rPr lang="en-US" altLang="zh-CN" sz="1600"/>
              <a:t>Use Stochastic Gradient Descent (SGD) to update weights:</a:t>
            </a:r>
          </a:p>
        </p:txBody>
      </p:sp>
      <p:pic>
        <p:nvPicPr>
          <p:cNvPr id="21" name="图片 20"/>
          <p:cNvPicPr>
            <a:picLocks noChangeAspect="1"/>
          </p:cNvPicPr>
          <p:nvPr/>
        </p:nvPicPr>
        <p:blipFill>
          <a:blip r:embed="rId4"/>
          <a:stretch>
            <a:fillRect/>
          </a:stretch>
        </p:blipFill>
        <p:spPr>
          <a:xfrm>
            <a:off x="2558415" y="4244975"/>
            <a:ext cx="1638300" cy="556260"/>
          </a:xfrm>
          <a:prstGeom prst="rect">
            <a:avLst/>
          </a:prstGeom>
        </p:spPr>
      </p:pic>
      <p:sp>
        <p:nvSpPr>
          <p:cNvPr id="22" name="文本框 21"/>
          <p:cNvSpPr txBox="1"/>
          <p:nvPr/>
        </p:nvSpPr>
        <p:spPr>
          <a:xfrm>
            <a:off x="2382520" y="4756785"/>
            <a:ext cx="2265680" cy="337185"/>
          </a:xfrm>
          <a:prstGeom prst="rect">
            <a:avLst/>
          </a:prstGeom>
        </p:spPr>
        <p:txBody>
          <a:bodyPr wrap="square">
            <a:spAutoFit/>
          </a:bodyPr>
          <a:lstStyle/>
          <a:p>
            <a:r>
              <a:rPr lang="en-US" altLang="zh-CN" sz="1600"/>
              <a:t>η is the learning rate</a:t>
            </a:r>
          </a:p>
        </p:txBody>
      </p:sp>
      <p:sp>
        <p:nvSpPr>
          <p:cNvPr id="30" name="文本框 29"/>
          <p:cNvSpPr txBox="1"/>
          <p:nvPr/>
        </p:nvSpPr>
        <p:spPr>
          <a:xfrm>
            <a:off x="1264920" y="5050473"/>
            <a:ext cx="5080000" cy="337185"/>
          </a:xfrm>
          <a:prstGeom prst="rect">
            <a:avLst/>
          </a:prstGeom>
        </p:spPr>
        <p:txBody>
          <a:bodyPr>
            <a:spAutoFit/>
          </a:bodyPr>
          <a:lstStyle/>
          <a:p>
            <a:r>
              <a:rPr lang="en-US" altLang="zh-CN" sz="1600"/>
              <a:t>3.Regularization Techniques:</a:t>
            </a:r>
          </a:p>
        </p:txBody>
      </p:sp>
      <p:sp>
        <p:nvSpPr>
          <p:cNvPr id="38" name="文本框 37"/>
          <p:cNvSpPr txBox="1"/>
          <p:nvPr/>
        </p:nvSpPr>
        <p:spPr>
          <a:xfrm>
            <a:off x="1719580" y="5301615"/>
            <a:ext cx="7828280" cy="337185"/>
          </a:xfrm>
          <a:prstGeom prst="rect">
            <a:avLst/>
          </a:prstGeom>
        </p:spPr>
        <p:txBody>
          <a:bodyPr wrap="square">
            <a:spAutoFit/>
          </a:bodyPr>
          <a:lstStyle/>
          <a:p>
            <a:r>
              <a:rPr lang="en-US" altLang="zh-CN" sz="1600"/>
              <a:t>Employ early stopping, batch normalization, and dropout to prevent overfitting.</a:t>
            </a:r>
          </a:p>
        </p:txBody>
      </p:sp>
      <p:sp>
        <p:nvSpPr>
          <p:cNvPr id="39" name="文本框 38"/>
          <p:cNvSpPr txBox="1"/>
          <p:nvPr/>
        </p:nvSpPr>
        <p:spPr>
          <a:xfrm>
            <a:off x="926465" y="5626418"/>
            <a:ext cx="5080000" cy="337185"/>
          </a:xfrm>
          <a:prstGeom prst="rect">
            <a:avLst/>
          </a:prstGeom>
        </p:spPr>
        <p:txBody>
          <a:bodyPr>
            <a:spAutoFit/>
          </a:bodyPr>
          <a:lstStyle/>
          <a:p>
            <a:r>
              <a:rPr lang="en-US" altLang="zh-CN" sz="1600"/>
              <a:t>Step 4: Prediction</a:t>
            </a:r>
          </a:p>
        </p:txBody>
      </p:sp>
      <p:sp>
        <p:nvSpPr>
          <p:cNvPr id="40" name="文本框 39"/>
          <p:cNvSpPr txBox="1"/>
          <p:nvPr/>
        </p:nvSpPr>
        <p:spPr>
          <a:xfrm>
            <a:off x="1323340" y="5935345"/>
            <a:ext cx="7590155" cy="337185"/>
          </a:xfrm>
          <a:prstGeom prst="rect">
            <a:avLst/>
          </a:prstGeom>
        </p:spPr>
        <p:txBody>
          <a:bodyPr wrap="square">
            <a:spAutoFit/>
          </a:bodyPr>
          <a:lstStyle/>
          <a:p>
            <a:r>
              <a:rPr lang="en-US" altLang="zh-CN" sz="1600"/>
              <a:t>After training, use the optimized parameters θ^ for prediction:</a:t>
            </a:r>
          </a:p>
        </p:txBody>
      </p:sp>
      <p:pic>
        <p:nvPicPr>
          <p:cNvPr id="41" name="图片 40"/>
          <p:cNvPicPr>
            <a:picLocks noChangeAspect="1"/>
          </p:cNvPicPr>
          <p:nvPr/>
        </p:nvPicPr>
        <p:blipFill>
          <a:blip r:embed="rId5"/>
          <a:stretch>
            <a:fillRect/>
          </a:stretch>
        </p:blipFill>
        <p:spPr>
          <a:xfrm>
            <a:off x="6602730" y="5938520"/>
            <a:ext cx="1463040" cy="327660"/>
          </a:xfrm>
          <a:prstGeom prst="rect">
            <a:avLst/>
          </a:prstGeom>
        </p:spPr>
      </p:pic>
      <p:pic>
        <p:nvPicPr>
          <p:cNvPr id="42" name="图片 41"/>
          <p:cNvPicPr>
            <a:picLocks noChangeAspect="1"/>
          </p:cNvPicPr>
          <p:nvPr/>
        </p:nvPicPr>
        <p:blipFill>
          <a:blip r:embed="rId6"/>
          <a:stretch>
            <a:fillRect/>
          </a:stretch>
        </p:blipFill>
        <p:spPr>
          <a:xfrm>
            <a:off x="5122545" y="5892165"/>
            <a:ext cx="196215" cy="38481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Explanation-Neural Network</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Import library</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The sample data construction part is the same as the OLS part.</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sym typeface="+mn-ea"/>
              </a:rPr>
              <a:t>• Neural Network Model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sym typeface="+mn-ea"/>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sym typeface="+mn-ea"/>
              </a:rPr>
              <a:t>   </a:t>
            </a:r>
            <a:endParaRPr lang="en-US" altLang="zh-CN" sz="1540" dirty="0">
              <a:latin typeface="Calibri Light" panose="020F0302020204030204"/>
              <a:ea typeface="Calibri Light" panose="020F0302020204030204"/>
              <a:cs typeface="Calibri Light" panose="020F030202020403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38000"/>
              </a:lnSpc>
            </a:pPr>
            <a:endParaRPr sz="365" dirty="0">
              <a:latin typeface="Arial" panose="020B0604020202020204"/>
              <a:ea typeface="Arial" panose="020B0604020202020204"/>
              <a:cs typeface="Arial" panose="020B060402020202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26" name="图片 25"/>
          <p:cNvPicPr>
            <a:picLocks noChangeAspect="1"/>
          </p:cNvPicPr>
          <p:nvPr/>
        </p:nvPicPr>
        <p:blipFill>
          <a:blip r:embed="rId2"/>
          <a:stretch>
            <a:fillRect/>
          </a:stretch>
        </p:blipFill>
        <p:spPr>
          <a:xfrm>
            <a:off x="548640" y="6064250"/>
            <a:ext cx="3322320" cy="365760"/>
          </a:xfrm>
          <a:prstGeom prst="rect">
            <a:avLst/>
          </a:prstGeom>
        </p:spPr>
      </p:pic>
      <p:sp>
        <p:nvSpPr>
          <p:cNvPr id="2" name="文本框 1"/>
          <p:cNvSpPr txBox="1"/>
          <p:nvPr/>
        </p:nvSpPr>
        <p:spPr>
          <a:xfrm>
            <a:off x="4826635" y="952500"/>
            <a:ext cx="5791200" cy="1383665"/>
          </a:xfrm>
          <a:prstGeom prst="rect">
            <a:avLst/>
          </a:prstGeom>
          <a:noFill/>
        </p:spPr>
        <p:txBody>
          <a:bodyPr wrap="square" rtlCol="0" anchor="t">
            <a:spAutoFit/>
          </a:bodyPr>
          <a:lstStyle/>
          <a:p>
            <a:r>
              <a:rPr lang="en-US" altLang="zh-CN" sz="1400"/>
              <a:t>Import numpy library for data generation and processing</a:t>
            </a:r>
          </a:p>
          <a:p>
            <a:r>
              <a:rPr lang="en-US" altLang="zh-CN" sz="1400"/>
              <a:t>Import pandas library for data manipulation and analysis</a:t>
            </a:r>
          </a:p>
          <a:p>
            <a:r>
              <a:rPr lang="en-US" altLang="zh-CN" sz="1400"/>
              <a:t>Import TensorFlow library for building and training neural networks</a:t>
            </a:r>
          </a:p>
          <a:p>
            <a:r>
              <a:rPr lang="en-US" altLang="zh-CN" sz="1400"/>
              <a:t>Import train_test_split from sklearn for splitting train and test datasets</a:t>
            </a:r>
          </a:p>
          <a:p>
            <a:r>
              <a:rPr lang="en-US" altLang="zh-CN" sz="1400"/>
              <a:t>Import mean_squared_error from sklearn to calculate mean squared error</a:t>
            </a:r>
          </a:p>
          <a:p>
            <a:r>
              <a:rPr lang="en-US" altLang="zh-CN" sz="1400"/>
              <a:t>For hyperparameter optimization</a:t>
            </a:r>
            <a:endParaRPr lang="zh-CN" altLang="en-US" sz="1400"/>
          </a:p>
        </p:txBody>
      </p:sp>
      <p:sp>
        <p:nvSpPr>
          <p:cNvPr id="5" name="文本框 4"/>
          <p:cNvSpPr txBox="1"/>
          <p:nvPr/>
        </p:nvSpPr>
        <p:spPr>
          <a:xfrm>
            <a:off x="4642167" y="3001644"/>
            <a:ext cx="4822825" cy="737235"/>
          </a:xfrm>
          <a:prstGeom prst="rect">
            <a:avLst/>
          </a:prstGeom>
          <a:noFill/>
        </p:spPr>
        <p:txBody>
          <a:bodyPr wrap="square" rtlCol="0" anchor="t">
            <a:spAutoFit/>
          </a:bodyPr>
          <a:lstStyle/>
          <a:p>
            <a:r>
              <a:rPr lang="en-US" altLang="zh-CN" sz="1400" dirty="0"/>
              <a:t>Create a neural network model</a:t>
            </a:r>
            <a:r>
              <a:rPr lang="zh-CN" altLang="en-US" sz="1400" dirty="0"/>
              <a:t>：</a:t>
            </a:r>
            <a:r>
              <a:rPr lang="en-US" altLang="zh-CN" sz="1400" dirty="0"/>
              <a:t>(Learning rate controls optimizer step size</a:t>
            </a:r>
            <a:r>
              <a:rPr lang="zh-CN" altLang="en-US" sz="1400" dirty="0"/>
              <a:t>；</a:t>
            </a:r>
            <a:r>
              <a:rPr lang="en-US" altLang="zh-CN" sz="1400" dirty="0" err="1"/>
              <a:t>neurons_layer</a:t>
            </a:r>
            <a:r>
              <a:rPr lang="en-US" altLang="zh-CN" sz="1400" dirty="0"/>
              <a:t>: Number of neurons in the first/</a:t>
            </a:r>
            <a:r>
              <a:rPr lang="en-US" altLang="zh-CN" sz="1400" dirty="0">
                <a:sym typeface="+mn-ea"/>
              </a:rPr>
              <a:t>second/</a:t>
            </a:r>
            <a:r>
              <a:rPr lang="en-US" altLang="zh-CN" sz="1400" dirty="0"/>
              <a:t> hidden/</a:t>
            </a:r>
            <a:r>
              <a:rPr lang="en-US" altLang="zh-CN" sz="1400" dirty="0">
                <a:sym typeface="+mn-ea"/>
              </a:rPr>
              <a:t>third</a:t>
            </a:r>
            <a:r>
              <a:rPr lang="en-US" altLang="zh-CN" sz="1400" dirty="0"/>
              <a:t> layer)</a:t>
            </a:r>
          </a:p>
        </p:txBody>
      </p:sp>
      <p:sp>
        <p:nvSpPr>
          <p:cNvPr id="6" name="文本框 5"/>
          <p:cNvSpPr txBox="1"/>
          <p:nvPr/>
        </p:nvSpPr>
        <p:spPr>
          <a:xfrm>
            <a:off x="4642167" y="3759200"/>
            <a:ext cx="4184650" cy="1383665"/>
          </a:xfrm>
          <a:prstGeom prst="rect">
            <a:avLst/>
          </a:prstGeom>
          <a:noFill/>
        </p:spPr>
        <p:txBody>
          <a:bodyPr wrap="square" rtlCol="0" anchor="t">
            <a:spAutoFit/>
          </a:bodyPr>
          <a:lstStyle/>
          <a:p>
            <a:pPr algn="l">
              <a:buClrTx/>
              <a:buSzTx/>
              <a:buNone/>
            </a:pPr>
            <a:r>
              <a:rPr lang="en-US" altLang="zh-CN" sz="1400" dirty="0"/>
              <a:t>Use Sequential model</a:t>
            </a:r>
          </a:p>
          <a:p>
            <a:pPr algn="l">
              <a:buClrTx/>
              <a:buSzTx/>
              <a:buNone/>
            </a:pPr>
            <a:r>
              <a:rPr lang="en-US" altLang="zh-CN" sz="1400" dirty="0"/>
              <a:t>Input layer with shape equal to number of </a:t>
            </a:r>
            <a:r>
              <a:rPr lang="en-US" altLang="zh-CN" sz="1400" dirty="0" err="1"/>
              <a:t>zi_t</a:t>
            </a:r>
            <a:r>
              <a:rPr lang="en-US" altLang="zh-CN" sz="1400" dirty="0"/>
              <a:t> features</a:t>
            </a:r>
          </a:p>
          <a:p>
            <a:pPr algn="l">
              <a:buClrTx/>
              <a:buSzTx/>
              <a:buNone/>
            </a:pPr>
            <a:r>
              <a:rPr lang="en-US" altLang="zh-CN" sz="1400" dirty="0"/>
              <a:t>Hidden layer 1</a:t>
            </a:r>
          </a:p>
          <a:p>
            <a:pPr algn="l">
              <a:buClrTx/>
              <a:buSzTx/>
              <a:buNone/>
            </a:pPr>
            <a:r>
              <a:rPr lang="en-US" altLang="zh-CN" sz="1400" dirty="0"/>
              <a:t>Hidden layer 2</a:t>
            </a:r>
          </a:p>
          <a:p>
            <a:pPr algn="l">
              <a:buClrTx/>
              <a:buSzTx/>
              <a:buNone/>
            </a:pPr>
            <a:r>
              <a:rPr lang="en-US" altLang="zh-CN" sz="1400" dirty="0"/>
              <a:t>Hidden layer 3</a:t>
            </a:r>
          </a:p>
          <a:p>
            <a:pPr algn="l">
              <a:buClrTx/>
              <a:buSzTx/>
              <a:buNone/>
            </a:pPr>
            <a:r>
              <a:rPr lang="en-US" altLang="zh-CN" sz="1400" dirty="0"/>
              <a:t>Output layer</a:t>
            </a:r>
          </a:p>
        </p:txBody>
      </p:sp>
      <p:sp>
        <p:nvSpPr>
          <p:cNvPr id="7" name="文本框 6"/>
          <p:cNvSpPr txBox="1"/>
          <p:nvPr/>
        </p:nvSpPr>
        <p:spPr>
          <a:xfrm>
            <a:off x="4642167" y="5142865"/>
            <a:ext cx="2924175" cy="737235"/>
          </a:xfrm>
          <a:prstGeom prst="rect">
            <a:avLst/>
          </a:prstGeom>
          <a:noFill/>
        </p:spPr>
        <p:txBody>
          <a:bodyPr wrap="square" rtlCol="0" anchor="t">
            <a:spAutoFit/>
          </a:bodyPr>
          <a:lstStyle/>
          <a:p>
            <a:r>
              <a:rPr lang="en-US" altLang="zh-CN" sz="1400" dirty="0"/>
              <a:t>Adam optimizer</a:t>
            </a:r>
          </a:p>
          <a:p>
            <a:r>
              <a:rPr lang="en-US" altLang="zh-CN" sz="1400" dirty="0"/>
              <a:t>Loss function is mean squared error</a:t>
            </a:r>
          </a:p>
          <a:p>
            <a:r>
              <a:rPr lang="en-US" altLang="zh-CN" sz="1400" dirty="0"/>
              <a:t>Mean absolute error</a:t>
            </a:r>
            <a:endParaRPr lang="zh-CN" alt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Python Explanation-Neural Network</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Hyperparameter Optimization</a:t>
            </a: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Evaluate the Best Model on Test Set</a:t>
            </a: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16" name="图片 15"/>
          <p:cNvPicPr>
            <a:picLocks noChangeAspect="1"/>
          </p:cNvPicPr>
          <p:nvPr/>
        </p:nvPicPr>
        <p:blipFill>
          <a:blip r:embed="rId2"/>
          <a:stretch>
            <a:fillRect/>
          </a:stretch>
        </p:blipFill>
        <p:spPr>
          <a:xfrm>
            <a:off x="565150" y="5257165"/>
            <a:ext cx="3794760" cy="647700"/>
          </a:xfrm>
          <a:prstGeom prst="rect">
            <a:avLst/>
          </a:prstGeom>
        </p:spPr>
      </p:pic>
      <p:sp>
        <p:nvSpPr>
          <p:cNvPr id="4" name="文本框 3"/>
          <p:cNvSpPr txBox="1"/>
          <p:nvPr/>
        </p:nvSpPr>
        <p:spPr>
          <a:xfrm>
            <a:off x="3840027" y="781685"/>
            <a:ext cx="4902200" cy="1198880"/>
          </a:xfrm>
          <a:prstGeom prst="rect">
            <a:avLst/>
          </a:prstGeom>
          <a:noFill/>
        </p:spPr>
        <p:txBody>
          <a:bodyPr wrap="square" rtlCol="0" anchor="t">
            <a:spAutoFit/>
          </a:bodyPr>
          <a:lstStyle/>
          <a:p>
            <a:r>
              <a:rPr lang="en-US" altLang="zh-CN" sz="1200" dirty="0"/>
              <a:t>Initialize the best model variable, initially no model is selected</a:t>
            </a:r>
          </a:p>
          <a:p>
            <a:r>
              <a:rPr lang="en-US" altLang="zh-CN" sz="1200" dirty="0"/>
              <a:t>Initialize the minimum validation loss to infinity to find a better model</a:t>
            </a:r>
          </a:p>
          <a:p>
            <a:r>
              <a:rPr lang="en-US" altLang="zh-CN" sz="1200" dirty="0"/>
              <a:t>Set the list of learning rates to try</a:t>
            </a:r>
          </a:p>
          <a:p>
            <a:r>
              <a:rPr lang="en-US" altLang="zh-CN" sz="1200" dirty="0"/>
              <a:t>Options for the number of neurons in the first hidden layer</a:t>
            </a:r>
          </a:p>
          <a:p>
            <a:r>
              <a:rPr lang="en-US" altLang="zh-CN" sz="1200" dirty="0"/>
              <a:t>Options for the number of neurons in the second hidden layer</a:t>
            </a:r>
          </a:p>
          <a:p>
            <a:r>
              <a:rPr lang="en-US" altLang="zh-CN" sz="1200" dirty="0"/>
              <a:t>Options for the number of neurons in the third hidden layer</a:t>
            </a:r>
            <a:endParaRPr lang="zh-CN" altLang="en-US" sz="1200" dirty="0"/>
          </a:p>
        </p:txBody>
      </p:sp>
      <p:sp>
        <p:nvSpPr>
          <p:cNvPr id="5" name="文本框 4"/>
          <p:cNvSpPr txBox="1"/>
          <p:nvPr/>
        </p:nvSpPr>
        <p:spPr>
          <a:xfrm>
            <a:off x="3906702" y="1980565"/>
            <a:ext cx="4768850" cy="2491740"/>
          </a:xfrm>
          <a:prstGeom prst="rect">
            <a:avLst/>
          </a:prstGeom>
          <a:noFill/>
        </p:spPr>
        <p:txBody>
          <a:bodyPr wrap="square" rtlCol="0" anchor="t">
            <a:spAutoFit/>
          </a:bodyPr>
          <a:lstStyle/>
          <a:p>
            <a:r>
              <a:rPr lang="en-US" altLang="zh-CN" sz="1200" dirty="0"/>
              <a:t>Iterate over all learning rates</a:t>
            </a:r>
          </a:p>
          <a:p>
            <a:r>
              <a:rPr lang="en-US" altLang="zh-CN" sz="1200" dirty="0"/>
              <a:t>Iterate over options for the number of neurons in the first hidden layer</a:t>
            </a:r>
          </a:p>
          <a:p>
            <a:r>
              <a:rPr lang="en-US" altLang="zh-CN" sz="1200" dirty="0"/>
              <a:t>Iterate over options for the number of neurons in the second hidden layer</a:t>
            </a:r>
          </a:p>
          <a:p>
            <a:r>
              <a:rPr lang="en-US" altLang="zh-CN" sz="1200" dirty="0"/>
              <a:t>Iterate over options for the number of neurons in the third hidden layer</a:t>
            </a:r>
          </a:p>
          <a:p>
            <a:r>
              <a:rPr lang="en-US" altLang="zh-CN" sz="1200" dirty="0"/>
              <a:t>Create a neural network model with the current hyperparameter combination</a:t>
            </a:r>
          </a:p>
          <a:p>
            <a:r>
              <a:rPr lang="en-US" altLang="zh-CN" sz="1200" dirty="0"/>
              <a:t>Train the model and evaluate on the validation set</a:t>
            </a:r>
          </a:p>
          <a:p>
            <a:r>
              <a:rPr lang="en-US" altLang="zh-CN" sz="1200" dirty="0"/>
              <a:t>Evaluate model performance on validation set</a:t>
            </a:r>
          </a:p>
          <a:p>
            <a:r>
              <a:rPr lang="en-US" altLang="zh-CN" sz="1200" dirty="0"/>
              <a:t>Train the model for 50 epochs</a:t>
            </a:r>
          </a:p>
          <a:p>
            <a:r>
              <a:rPr lang="en-US" altLang="zh-CN" sz="1200" dirty="0"/>
              <a:t>Each training batch contains 32 samples</a:t>
            </a:r>
          </a:p>
          <a:p>
            <a:r>
              <a:rPr lang="en-US" altLang="zh-CN" sz="1200" dirty="0"/>
              <a:t>Suppress detailed logs</a:t>
            </a:r>
          </a:p>
          <a:p>
            <a:r>
              <a:rPr lang="en-US" altLang="zh-CN" sz="1200" dirty="0"/>
              <a:t>Callbacks including early stopping</a:t>
            </a:r>
          </a:p>
          <a:p>
            <a:r>
              <a:rPr lang="en-US" altLang="zh-CN" sz="1200" dirty="0"/>
              <a:t>Stop training if no improvement for 5 iterations, restore best weights</a:t>
            </a:r>
            <a:endParaRPr lang="zh-CN" altLang="en-US" sz="1200" dirty="0"/>
          </a:p>
        </p:txBody>
      </p:sp>
      <p:sp>
        <p:nvSpPr>
          <p:cNvPr id="6" name="文本框 5"/>
          <p:cNvSpPr txBox="1"/>
          <p:nvPr/>
        </p:nvSpPr>
        <p:spPr>
          <a:xfrm>
            <a:off x="3840027" y="4398010"/>
            <a:ext cx="4695825" cy="1014730"/>
          </a:xfrm>
          <a:prstGeom prst="rect">
            <a:avLst/>
          </a:prstGeom>
          <a:noFill/>
        </p:spPr>
        <p:txBody>
          <a:bodyPr wrap="square" rtlCol="0" anchor="t">
            <a:spAutoFit/>
          </a:bodyPr>
          <a:lstStyle/>
          <a:p>
            <a:r>
              <a:rPr lang="en-US" altLang="zh-CN" sz="1200" dirty="0"/>
              <a:t>Get the minimum validation loss for the current hyperparameter combination</a:t>
            </a:r>
          </a:p>
          <a:p>
            <a:r>
              <a:rPr lang="en-US" altLang="zh-CN" sz="1200" dirty="0"/>
              <a:t>If the current model has a lower validation loss, update the best model</a:t>
            </a:r>
          </a:p>
          <a:p>
            <a:r>
              <a:rPr lang="en-US" altLang="zh-CN" sz="1200" dirty="0"/>
              <a:t>Update the current best validation loss value</a:t>
            </a:r>
          </a:p>
          <a:p>
            <a:r>
              <a:rPr lang="en-US" altLang="zh-CN" sz="1200" dirty="0"/>
              <a:t>Update the current best model</a:t>
            </a:r>
            <a:endParaRPr lang="zh-CN" altLang="en-US" sz="1200" dirty="0"/>
          </a:p>
        </p:txBody>
      </p:sp>
      <p:sp>
        <p:nvSpPr>
          <p:cNvPr id="7" name="文本框 6"/>
          <p:cNvSpPr txBox="1"/>
          <p:nvPr/>
        </p:nvSpPr>
        <p:spPr>
          <a:xfrm>
            <a:off x="3559175" y="6470015"/>
            <a:ext cx="1424305" cy="275590"/>
          </a:xfrm>
          <a:prstGeom prst="rect">
            <a:avLst/>
          </a:prstGeom>
          <a:noFill/>
        </p:spPr>
        <p:txBody>
          <a:bodyPr wrap="square" rtlCol="0" anchor="t">
            <a:spAutoFit/>
          </a:bodyPr>
          <a:lstStyle/>
          <a:p>
            <a:r>
              <a:rPr lang="en-US" altLang="zh-CN" sz="1200"/>
              <a:t>Predict on test set</a:t>
            </a:r>
            <a:endParaRPr lang="zh-CN" altLang="en-US"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Neural Network Results</a:t>
            </a:r>
            <a:r>
              <a:rPr lang="en-US" altLang="zh-CN" sz="2810" dirty="0">
                <a:latin typeface="Calibri Light" panose="020F0302020204030204"/>
                <a:ea typeface="Calibri Light" panose="020F0302020204030204"/>
                <a:cs typeface="Calibri Light" panose="020F0302020204030204"/>
              </a:rPr>
              <a:t> for Stock Return Prediction: A Time Series Analysis of </a:t>
            </a:r>
            <a:r>
              <a:rPr lang="en-US" sz="2810" b="1" dirty="0">
                <a:sym typeface="+mn-ea"/>
              </a:rPr>
              <a:t> </a:t>
            </a:r>
            <a:r>
              <a:rPr lang="en-US" altLang="zh-CN" sz="2810" dirty="0">
                <a:latin typeface="Calibri Light" panose="020F0302020204030204"/>
                <a:ea typeface="Calibri Light" panose="020F0302020204030204"/>
                <a:cs typeface="Calibri Light" panose="020F0302020204030204"/>
                <a:sym typeface="+mn-ea"/>
              </a:rPr>
              <a:t>the generated </a:t>
            </a:r>
            <a:r>
              <a:rPr lang="en-US" altLang="zh-CN" sz="2810" dirty="0">
                <a:latin typeface="Calibri Light" panose="020F0302020204030204"/>
                <a:ea typeface="Calibri Light" panose="020F0302020204030204"/>
                <a:cs typeface="Calibri Light" panose="020F0302020204030204"/>
              </a:rPr>
              <a:t>Sample Data</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r>
              <a:rPr lang="en-US" altLang="zh-CN" sz="1540" dirty="0">
                <a:latin typeface="Calibri Light" panose="020F0302020204030204"/>
                <a:ea typeface="Calibri Light" panose="020F0302020204030204"/>
                <a:cs typeface="Calibri Light" panose="020F0302020204030204"/>
              </a:rPr>
              <a:t> </a:t>
            </a: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endParaRPr lang="en-US" altLang="zh-CN" sz="1540" dirty="0">
              <a:latin typeface="Calibri Light" panose="020F0302020204030204"/>
              <a:ea typeface="Calibri Light" panose="020F0302020204030204"/>
              <a:cs typeface="Calibri Light" panose="020F0302020204030204"/>
              <a:sym typeface="+mn-ea"/>
            </a:endParaRPr>
          </a:p>
          <a:p>
            <a:pPr algn="l" rtl="0" eaLnBrk="0">
              <a:lnSpc>
                <a:spcPct val="138000"/>
              </a:lnSpc>
            </a:pPr>
            <a:endParaRPr lang="en-US" altLang="zh-CN" sz="1540" dirty="0">
              <a:latin typeface="Calibri Light" panose="020F0302020204030204"/>
              <a:ea typeface="Calibri Light" panose="020F0302020204030204"/>
              <a:cs typeface="Calibri Light" panose="020F0302020204030204"/>
            </a:endParaRPr>
          </a:p>
          <a:p>
            <a:pPr algn="l" rtl="0" eaLnBrk="0">
              <a:lnSpc>
                <a:spcPct val="107000"/>
              </a:lnSpc>
            </a:pPr>
            <a:endParaRPr sz="365" dirty="0">
              <a:latin typeface="Arial" panose="020B0604020202020204"/>
              <a:ea typeface="Arial" panose="020B0604020202020204"/>
              <a:cs typeface="Arial" panose="020B060402020202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pic>
        <p:nvPicPr>
          <p:cNvPr id="3" name="图片 2" descr="Neural Network-Time Series"/>
          <p:cNvPicPr>
            <a:picLocks noChangeAspect="1"/>
          </p:cNvPicPr>
          <p:nvPr/>
        </p:nvPicPr>
        <p:blipFill>
          <a:blip r:embed="rId2"/>
          <a:stretch>
            <a:fillRect/>
          </a:stretch>
        </p:blipFill>
        <p:spPr>
          <a:xfrm>
            <a:off x="1206500" y="978535"/>
            <a:ext cx="10161905" cy="587946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36413"/>
          </a:xfrm>
        </p:spPr>
        <p:txBody>
          <a:bodyPr>
            <a:normAutofit/>
          </a:bodyPr>
          <a:lstStyle/>
          <a:p>
            <a:r>
              <a:rPr lang="en-US" sz="3600" b="1" dirty="0"/>
              <a:t>Assessing predictive power</a:t>
            </a:r>
          </a:p>
        </p:txBody>
      </p:sp>
      <p:sp>
        <p:nvSpPr>
          <p:cNvPr id="3" name="Content Placeholder 2"/>
          <p:cNvSpPr>
            <a:spLocks noGrp="1"/>
          </p:cNvSpPr>
          <p:nvPr>
            <p:ph idx="1"/>
          </p:nvPr>
        </p:nvSpPr>
        <p:spPr>
          <a:xfrm>
            <a:off x="838200" y="1256665"/>
            <a:ext cx="10515600" cy="4895215"/>
          </a:xfrm>
        </p:spPr>
        <p:txBody>
          <a:bodyPr>
            <a:normAutofit/>
          </a:bodyPr>
          <a:lstStyle/>
          <a:p>
            <a:r>
              <a:rPr lang="en-US" dirty="0">
                <a:solidFill>
                  <a:srgbClr val="26927D"/>
                </a:solidFill>
              </a:rPr>
              <a:t>The standard out-of-sample R</a:t>
            </a:r>
            <a:r>
              <a:rPr lang="en-US" baseline="30000" dirty="0">
                <a:solidFill>
                  <a:srgbClr val="26927D"/>
                </a:solidFill>
              </a:rPr>
              <a:t>2</a:t>
            </a:r>
            <a:r>
              <a:rPr lang="en-US" dirty="0">
                <a:solidFill>
                  <a:srgbClr val="26927D"/>
                </a:solidFill>
              </a:rPr>
              <a:t> statistic:</a:t>
            </a:r>
          </a:p>
          <a:p>
            <a:pPr marL="0" indent="0">
              <a:buNone/>
            </a:pPr>
            <a:endParaRPr lang="zh-CN" altLang="en-US" dirty="0">
              <a:sym typeface="+mn-ea"/>
            </a:endParaRPr>
          </a:p>
          <a:p>
            <a:pPr marL="0" indent="0">
              <a:buNone/>
            </a:pPr>
            <a:r>
              <a:rPr lang="en-US" altLang="zh-CN" dirty="0">
                <a:sym typeface="+mn-ea"/>
              </a:rPr>
              <a:t>                                        </a:t>
            </a:r>
          </a:p>
          <a:p>
            <a:pPr marL="0" indent="0">
              <a:buNone/>
            </a:pPr>
            <a:r>
              <a:rPr lang="en-US" altLang="zh-CN" dirty="0">
                <a:sym typeface="+mn-ea"/>
              </a:rPr>
              <a:t> </a:t>
            </a:r>
          </a:p>
          <a:p>
            <a:pPr marL="0" indent="0">
              <a:buNone/>
            </a:pPr>
            <a:endParaRPr lang="en-US" altLang="zh-CN" sz="2400" dirty="0">
              <a:sym typeface="+mn-ea"/>
            </a:endParaRPr>
          </a:p>
          <a:p>
            <a:pPr marL="0" indent="0">
              <a:buNone/>
            </a:pPr>
            <a:endParaRPr lang="en-US" altLang="zh-CN" sz="2400" dirty="0">
              <a:sym typeface="+mn-ea"/>
            </a:endParaRPr>
          </a:p>
          <a:p>
            <a:pPr marL="0" indent="0">
              <a:buNone/>
            </a:pPr>
            <a:endParaRPr lang="en-US" altLang="zh-CN" sz="2400" dirty="0">
              <a:sym typeface="+mn-ea"/>
            </a:endParaRPr>
          </a:p>
          <a:p>
            <a:pPr marL="0" indent="0">
              <a:buNone/>
            </a:pPr>
            <a:r>
              <a:rPr lang="en-US" altLang="zh-CN" sz="2400" dirty="0">
                <a:sym typeface="+mn-ea"/>
              </a:rPr>
              <a:t>           </a:t>
            </a:r>
          </a:p>
          <a:p>
            <a:pPr marL="0" indent="0">
              <a:buNone/>
            </a:pPr>
            <a:r>
              <a:rPr lang="en-US" sz="2400" dirty="0">
                <a:sym typeface="+mn-ea"/>
              </a:rPr>
              <a:t>   </a:t>
            </a:r>
          </a:p>
        </p:txBody>
      </p:sp>
      <p:pic>
        <p:nvPicPr>
          <p:cNvPr id="7" name="图片 6"/>
          <p:cNvPicPr>
            <a:picLocks noChangeAspect="1"/>
          </p:cNvPicPr>
          <p:nvPr/>
        </p:nvPicPr>
        <p:blipFill>
          <a:blip r:embed="rId2"/>
          <a:stretch>
            <a:fillRect/>
          </a:stretch>
        </p:blipFill>
        <p:spPr>
          <a:xfrm>
            <a:off x="2004695" y="1691005"/>
            <a:ext cx="3652520" cy="754380"/>
          </a:xfrm>
          <a:prstGeom prst="rect">
            <a:avLst/>
          </a:prstGeom>
        </p:spPr>
      </p:pic>
      <p:sp>
        <p:nvSpPr>
          <p:cNvPr id="8" name="文本框 7"/>
          <p:cNvSpPr txBox="1"/>
          <p:nvPr/>
        </p:nvSpPr>
        <p:spPr>
          <a:xfrm>
            <a:off x="956945" y="2409190"/>
            <a:ext cx="8851265" cy="1076325"/>
          </a:xfrm>
          <a:prstGeom prst="rect">
            <a:avLst/>
          </a:prstGeom>
        </p:spPr>
        <p:txBody>
          <a:bodyPr wrap="square">
            <a:spAutoFit/>
          </a:bodyPr>
          <a:lstStyle/>
          <a:p>
            <a:r>
              <a:rPr lang="en-US" altLang="zh-CN" sz="1600"/>
              <a:t>R</a:t>
            </a:r>
            <a:r>
              <a:rPr lang="en-US" altLang="zh-CN" sz="1600" baseline="-25000"/>
              <a:t>oos</a:t>
            </a:r>
            <a:r>
              <a:rPr lang="en-US" altLang="zh-CN" sz="1600" baseline="30000"/>
              <a:t>2​</a:t>
            </a:r>
            <a:r>
              <a:rPr lang="en-US" altLang="zh-CN" sz="1600"/>
              <a:t>: Out-of-sample R</a:t>
            </a:r>
            <a:r>
              <a:rPr lang="en-US" altLang="zh-CN" sz="1600" baseline="30000"/>
              <a:t>2</a:t>
            </a:r>
            <a:r>
              <a:rPr lang="en-US" altLang="zh-CN" sz="1600"/>
              <a:t>, which measures the predictive performance of the model.</a:t>
            </a:r>
          </a:p>
          <a:p>
            <a:r>
              <a:rPr lang="en-US" altLang="zh-CN" sz="1600"/>
              <a:t>ri,t+1: The actual excess return of stock i at time t+1.</a:t>
            </a:r>
          </a:p>
          <a:p>
            <a:r>
              <a:rPr lang="en-US" altLang="zh-CN" sz="1600"/>
              <a:t>r^i,t+1: The predicted excess return of stock i at time t+1.</a:t>
            </a:r>
          </a:p>
          <a:p>
            <a:r>
              <a:rPr lang="en-US" altLang="zh-CN" sz="1600"/>
              <a:t>T3: The test sample set, comprising observations not used for training or validation.</a:t>
            </a:r>
          </a:p>
        </p:txBody>
      </p:sp>
      <p:sp>
        <p:nvSpPr>
          <p:cNvPr id="9" name="文本框 8"/>
          <p:cNvSpPr txBox="1"/>
          <p:nvPr/>
        </p:nvSpPr>
        <p:spPr>
          <a:xfrm>
            <a:off x="942340" y="3535680"/>
            <a:ext cx="10608945" cy="829945"/>
          </a:xfrm>
          <a:prstGeom prst="rect">
            <a:avLst/>
          </a:prstGeom>
        </p:spPr>
        <p:txBody>
          <a:bodyPr wrap="square">
            <a:spAutoFit/>
          </a:bodyPr>
          <a:lstStyle/>
          <a:p>
            <a:r>
              <a:rPr lang="en-US" altLang="zh-CN" sz="1600"/>
              <a:t>This formula is used to measure the out-of-sample predictive performance of a model, aiming to evaluate how closely the predicted values r^i,t+1 match the actual values ri,t+1. This formula provides a consistent and comparable metric for assessing model performance.</a:t>
            </a:r>
          </a:p>
        </p:txBody>
      </p:sp>
      <p:sp>
        <p:nvSpPr>
          <p:cNvPr id="10" name="文本框 9"/>
          <p:cNvSpPr txBox="1"/>
          <p:nvPr/>
        </p:nvSpPr>
        <p:spPr>
          <a:xfrm>
            <a:off x="942340" y="5681980"/>
            <a:ext cx="10726420" cy="829945"/>
          </a:xfrm>
          <a:prstGeom prst="rect">
            <a:avLst/>
          </a:prstGeom>
        </p:spPr>
        <p:txBody>
          <a:bodyPr wrap="square">
            <a:spAutoFit/>
          </a:bodyPr>
          <a:lstStyle/>
          <a:p>
            <a:r>
              <a:rPr lang="en-US" altLang="zh-CN" sz="1600"/>
              <a:t>By calculating R</a:t>
            </a:r>
            <a:r>
              <a:rPr lang="en-US" altLang="zh-CN" sz="1600" baseline="-25000"/>
              <a:t>oos</a:t>
            </a:r>
            <a:r>
              <a:rPr lang="en-US" altLang="zh-CN" sz="1600" baseline="30000"/>
              <a:t>2</a:t>
            </a:r>
            <a:r>
              <a:rPr lang="en-US" altLang="zh-CN" sz="1600"/>
              <a:t> on the test dataset, researchers can:</a:t>
            </a:r>
          </a:p>
          <a:p>
            <a:pPr>
              <a:buAutoNum type="arabicPeriod"/>
            </a:pPr>
            <a:r>
              <a:rPr lang="en-US" altLang="zh-CN" sz="1600"/>
              <a:t>Determine whether the model improves prediction accuracy (R</a:t>
            </a:r>
            <a:r>
              <a:rPr lang="en-US" altLang="zh-CN" sz="1600" baseline="-25000"/>
              <a:t>oos</a:t>
            </a:r>
            <a:r>
              <a:rPr lang="en-US" altLang="zh-CN" sz="1600" baseline="30000"/>
              <a:t>2</a:t>
            </a:r>
            <a:r>
              <a:rPr lang="en-US" altLang="zh-CN" sz="1600"/>
              <a:t>&gt;0 indicates better-than-naive predictions).</a:t>
            </a:r>
          </a:p>
          <a:p>
            <a:pPr>
              <a:buAutoNum type="arabicPeriod"/>
            </a:pPr>
            <a:r>
              <a:rPr lang="en-US" altLang="zh-CN" sz="1600"/>
              <a:t>Compare the predictive performance of different models (higher R</a:t>
            </a:r>
            <a:r>
              <a:rPr lang="en-US" altLang="zh-CN" sz="1600" baseline="-25000"/>
              <a:t>oos</a:t>
            </a:r>
            <a:r>
              <a:rPr lang="en-US" altLang="zh-CN" sz="1600" baseline="30000"/>
              <a:t>2</a:t>
            </a:r>
            <a:r>
              <a:rPr lang="en-US" altLang="zh-CN" sz="1600"/>
              <a:t> indicates better performance).</a:t>
            </a:r>
          </a:p>
        </p:txBody>
      </p:sp>
      <p:sp>
        <p:nvSpPr>
          <p:cNvPr id="11" name="文本框 10"/>
          <p:cNvSpPr txBox="1"/>
          <p:nvPr/>
        </p:nvSpPr>
        <p:spPr>
          <a:xfrm>
            <a:off x="948690" y="4269740"/>
            <a:ext cx="10917555" cy="1322070"/>
          </a:xfrm>
          <a:prstGeom prst="rect">
            <a:avLst/>
          </a:prstGeom>
        </p:spPr>
        <p:txBody>
          <a:bodyPr wrap="square">
            <a:spAutoFit/>
          </a:bodyPr>
          <a:lstStyle/>
          <a:p>
            <a:r>
              <a:rPr lang="en-US" altLang="zh-CN" sz="1600"/>
              <a:t>Numerator: Represents the sum of squared prediction errors, which quantifies the total deviation of predictions r^i,t+1 from actual outcomes ri,t+1. A smaller numerator indicates higher predictive accuracy.</a:t>
            </a:r>
          </a:p>
          <a:p>
            <a:r>
              <a:rPr lang="en-US" altLang="zh-CN" sz="1600"/>
              <a:t>Denominator: Represents the sum of squared actual excess returns without demeaning. This serves as a benchmark and ensures the evaluation is based on the magnitude of the actual data rather than relative to a sample mean. Using undemeaned returns avoids inflating the </a:t>
            </a:r>
            <a:r>
              <a:rPr lang="en-US" altLang="zh-CN" sz="1600">
                <a:sym typeface="+mn-ea"/>
              </a:rPr>
              <a:t>R</a:t>
            </a:r>
            <a:r>
              <a:rPr lang="en-US" altLang="zh-CN" sz="1600" baseline="-25000">
                <a:sym typeface="+mn-ea"/>
              </a:rPr>
              <a:t>oos</a:t>
            </a:r>
            <a:r>
              <a:rPr lang="en-US" altLang="zh-CN" sz="1600" baseline="30000">
                <a:sym typeface="+mn-ea"/>
              </a:rPr>
              <a:t>2</a:t>
            </a:r>
            <a:r>
              <a:rPr lang="en-US" altLang="zh-CN" sz="1600"/>
              <a:t> by comparing against a noisy mean prediction.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1810" y="-635"/>
            <a:ext cx="10841990" cy="1325880"/>
          </a:xfrm>
        </p:spPr>
        <p:txBody>
          <a:bodyPr>
            <a:normAutofit/>
          </a:bodyPr>
          <a:lstStyle/>
          <a:p>
            <a:r>
              <a:rPr lang="en-US" sz="3600" b="1" dirty="0"/>
              <a:t>The computed results of the standard out-of-sample R</a:t>
            </a:r>
            <a:r>
              <a:rPr lang="en-US" sz="3600" b="1" baseline="30000" dirty="0"/>
              <a:t>2</a:t>
            </a:r>
            <a:r>
              <a:rPr lang="en-US" sz="3600" b="1" dirty="0"/>
              <a:t> statistic </a:t>
            </a:r>
            <a:r>
              <a:rPr lang="en-US" sz="3600" b="1" dirty="0">
                <a:sym typeface="+mn-ea"/>
              </a:rPr>
              <a:t>in the generated sample data</a:t>
            </a:r>
            <a:endParaRPr lang="en-US" sz="3600" b="1" dirty="0"/>
          </a:p>
        </p:txBody>
      </p:sp>
      <p:sp>
        <p:nvSpPr>
          <p:cNvPr id="4" name="灯片编号占位符 3"/>
          <p:cNvSpPr>
            <a:spLocks noGrp="1"/>
          </p:cNvSpPr>
          <p:nvPr>
            <p:ph type="sldNum" sz="quarter" idx="12"/>
          </p:nvPr>
        </p:nvSpPr>
        <p:spPr/>
        <p:txBody>
          <a:bodyPr/>
          <a:lstStyle/>
          <a:p>
            <a:fld id="{107D843B-1DED-40DC-AF70-C1B4F17B1EA6}" type="slidenum">
              <a:rPr lang="en-US" smtClean="0"/>
              <a:t>56</a:t>
            </a:fld>
            <a:endParaRPr lang="en-US"/>
          </a:p>
        </p:txBody>
      </p:sp>
      <p:graphicFrame>
        <p:nvGraphicFramePr>
          <p:cNvPr id="5" name="内容占位符 4"/>
          <p:cNvGraphicFramePr>
            <a:graphicFrameLocks noGrp="1"/>
          </p:cNvGraphicFramePr>
          <p:nvPr>
            <p:ph idx="1"/>
            <p:custDataLst>
              <p:tags r:id="rId1"/>
            </p:custDataLst>
          </p:nvPr>
        </p:nvGraphicFramePr>
        <p:xfrm>
          <a:off x="363220" y="1825625"/>
          <a:ext cx="11245850" cy="3352165"/>
        </p:xfrm>
        <a:graphic>
          <a:graphicData uri="http://schemas.openxmlformats.org/drawingml/2006/table">
            <a:tbl>
              <a:tblPr firstRow="1" bandRow="1">
                <a:tableStyleId>{5C22544A-7EE6-4342-B048-85BDC9FD1C3A}</a:tableStyleId>
              </a:tblPr>
              <a:tblGrid>
                <a:gridCol w="1022350">
                  <a:extLst>
                    <a:ext uri="{9D8B030D-6E8A-4147-A177-3AD203B41FA5}">
                      <a16:colId xmlns:a16="http://schemas.microsoft.com/office/drawing/2014/main" val="20000"/>
                    </a:ext>
                  </a:extLst>
                </a:gridCol>
                <a:gridCol w="1022350">
                  <a:extLst>
                    <a:ext uri="{9D8B030D-6E8A-4147-A177-3AD203B41FA5}">
                      <a16:colId xmlns:a16="http://schemas.microsoft.com/office/drawing/2014/main" val="20001"/>
                    </a:ext>
                  </a:extLst>
                </a:gridCol>
                <a:gridCol w="1022350">
                  <a:extLst>
                    <a:ext uri="{9D8B030D-6E8A-4147-A177-3AD203B41FA5}">
                      <a16:colId xmlns:a16="http://schemas.microsoft.com/office/drawing/2014/main" val="20002"/>
                    </a:ext>
                  </a:extLst>
                </a:gridCol>
                <a:gridCol w="1022350">
                  <a:extLst>
                    <a:ext uri="{9D8B030D-6E8A-4147-A177-3AD203B41FA5}">
                      <a16:colId xmlns:a16="http://schemas.microsoft.com/office/drawing/2014/main" val="20003"/>
                    </a:ext>
                  </a:extLst>
                </a:gridCol>
                <a:gridCol w="1022350">
                  <a:extLst>
                    <a:ext uri="{9D8B030D-6E8A-4147-A177-3AD203B41FA5}">
                      <a16:colId xmlns:a16="http://schemas.microsoft.com/office/drawing/2014/main" val="20004"/>
                    </a:ext>
                  </a:extLst>
                </a:gridCol>
                <a:gridCol w="1022350">
                  <a:extLst>
                    <a:ext uri="{9D8B030D-6E8A-4147-A177-3AD203B41FA5}">
                      <a16:colId xmlns:a16="http://schemas.microsoft.com/office/drawing/2014/main" val="20005"/>
                    </a:ext>
                  </a:extLst>
                </a:gridCol>
                <a:gridCol w="1022350">
                  <a:extLst>
                    <a:ext uri="{9D8B030D-6E8A-4147-A177-3AD203B41FA5}">
                      <a16:colId xmlns:a16="http://schemas.microsoft.com/office/drawing/2014/main" val="20006"/>
                    </a:ext>
                  </a:extLst>
                </a:gridCol>
                <a:gridCol w="1022350">
                  <a:extLst>
                    <a:ext uri="{9D8B030D-6E8A-4147-A177-3AD203B41FA5}">
                      <a16:colId xmlns:a16="http://schemas.microsoft.com/office/drawing/2014/main" val="20007"/>
                    </a:ext>
                  </a:extLst>
                </a:gridCol>
                <a:gridCol w="1022350">
                  <a:extLst>
                    <a:ext uri="{9D8B030D-6E8A-4147-A177-3AD203B41FA5}">
                      <a16:colId xmlns:a16="http://schemas.microsoft.com/office/drawing/2014/main" val="20008"/>
                    </a:ext>
                  </a:extLst>
                </a:gridCol>
                <a:gridCol w="1022350">
                  <a:extLst>
                    <a:ext uri="{9D8B030D-6E8A-4147-A177-3AD203B41FA5}">
                      <a16:colId xmlns:a16="http://schemas.microsoft.com/office/drawing/2014/main" val="20009"/>
                    </a:ext>
                  </a:extLst>
                </a:gridCol>
                <a:gridCol w="1022350">
                  <a:extLst>
                    <a:ext uri="{9D8B030D-6E8A-4147-A177-3AD203B41FA5}">
                      <a16:colId xmlns:a16="http://schemas.microsoft.com/office/drawing/2014/main" val="20010"/>
                    </a:ext>
                  </a:extLst>
                </a:gridCol>
              </a:tblGrid>
              <a:tr h="1919605">
                <a:tc>
                  <a:txBody>
                    <a:bodyPr/>
                    <a:lstStyle/>
                    <a:p>
                      <a:pPr algn="ctr" fontAlgn="t"/>
                      <a:r>
                        <a:rPr lang="en-US" altLang="zh-CN" sz="1800" b="1" i="0">
                          <a:solidFill>
                            <a:srgbClr val="000000"/>
                          </a:solidFill>
                          <a:latin typeface="宋体" panose="02010600030101010101" pitchFamily="2" charset="-122"/>
                          <a:ea typeface="宋体" panose="02010600030101010101" pitchFamily="2" charset="-122"/>
                        </a:rPr>
                        <a:t>Model</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OLS</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Weighted Linear Regression</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Huber</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ElasticNet</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PCR</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PLS</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Generalized Linear</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Neural Network</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Boosted Regression Trees</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Random Forest</a:t>
                      </a:r>
                    </a:p>
                  </a:txBody>
                  <a:tcPr marL="7937" marR="7937" marT="7937" marB="0" anchor="ctr"/>
                </a:tc>
                <a:extLst>
                  <a:ext uri="{0D108BD9-81ED-4DB2-BD59-A6C34878D82A}">
                    <a16:rowId xmlns:a16="http://schemas.microsoft.com/office/drawing/2014/main" val="10000"/>
                  </a:ext>
                </a:extLst>
              </a:tr>
              <a:tr h="1432560">
                <a:tc>
                  <a:txBody>
                    <a:bodyPr/>
                    <a:lstStyle/>
                    <a:p>
                      <a:pPr algn="ctr" fontAlgn="t"/>
                      <a:r>
                        <a:rPr lang="en-US" altLang="zh-CN" sz="1800" b="1" i="0">
                          <a:solidFill>
                            <a:srgbClr val="000000"/>
                          </a:solidFill>
                          <a:latin typeface="宋体" panose="02010600030101010101" pitchFamily="2" charset="-122"/>
                          <a:ea typeface="宋体" panose="02010600030101010101" pitchFamily="2" charset="-122"/>
                        </a:rPr>
                        <a:t>Out-of-Sample R²</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0.996831186</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0.996723293</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0.996604838</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0.990315146</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0.996831186</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0.996875776</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0.990549716</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0.991076154</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0.903032359</a:t>
                      </a:r>
                    </a:p>
                  </a:txBody>
                  <a:tcPr marL="7937" marR="7937" marT="7937" marB="0" anchor="ctr"/>
                </a:tc>
                <a:tc>
                  <a:txBody>
                    <a:bodyPr/>
                    <a:lstStyle/>
                    <a:p>
                      <a:pPr algn="ctr" fontAlgn="b"/>
                      <a:r>
                        <a:rPr lang="en-US" altLang="zh-CN" sz="1800" b="0" i="0">
                          <a:solidFill>
                            <a:srgbClr val="000000"/>
                          </a:solidFill>
                          <a:latin typeface="宋体" panose="02010600030101010101" pitchFamily="2" charset="-122"/>
                          <a:ea typeface="宋体" panose="02010600030101010101" pitchFamily="2" charset="-122"/>
                        </a:rPr>
                        <a:t>0.881419004</a:t>
                      </a:r>
                    </a:p>
                  </a:txBody>
                  <a:tcPr marL="7937" marR="7937" marT="7937"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
            <a:ext cx="10515600" cy="1325563"/>
          </a:xfrm>
        </p:spPr>
        <p:txBody>
          <a:bodyPr>
            <a:normAutofit/>
          </a:bodyPr>
          <a:lstStyle/>
          <a:p>
            <a:r>
              <a:rPr lang="en-US" sz="3600" b="1" dirty="0"/>
              <a:t>The computed results of the standard out-of-sample R</a:t>
            </a:r>
            <a:r>
              <a:rPr lang="en-US" sz="3600" b="1" baseline="30000" dirty="0"/>
              <a:t>2</a:t>
            </a:r>
            <a:r>
              <a:rPr lang="en-US" sz="3600" b="1" dirty="0"/>
              <a:t>  statistic in the paper</a:t>
            </a:r>
          </a:p>
        </p:txBody>
      </p:sp>
      <p:sp>
        <p:nvSpPr>
          <p:cNvPr id="4" name="灯片编号占位符 3"/>
          <p:cNvSpPr>
            <a:spLocks noGrp="1"/>
          </p:cNvSpPr>
          <p:nvPr>
            <p:ph type="sldNum" sz="quarter" idx="12"/>
          </p:nvPr>
        </p:nvSpPr>
        <p:spPr/>
        <p:txBody>
          <a:bodyPr/>
          <a:lstStyle/>
          <a:p>
            <a:fld id="{107D843B-1DED-40DC-AF70-C1B4F17B1EA6}" type="slidenum">
              <a:rPr lang="en-US" smtClean="0"/>
              <a:t>57</a:t>
            </a:fld>
            <a:endParaRPr lang="en-US"/>
          </a:p>
        </p:txBody>
      </p:sp>
      <p:pic>
        <p:nvPicPr>
          <p:cNvPr id="9" name="内容占位符 8"/>
          <p:cNvPicPr>
            <a:picLocks noGrp="1" noChangeAspect="1"/>
          </p:cNvPicPr>
          <p:nvPr>
            <p:ph idx="1"/>
          </p:nvPr>
        </p:nvPicPr>
        <p:blipFill>
          <a:blip r:embed="rId2"/>
          <a:stretch>
            <a:fillRect/>
          </a:stretch>
        </p:blipFill>
        <p:spPr>
          <a:xfrm>
            <a:off x="512445" y="1250315"/>
            <a:ext cx="5946140" cy="4806950"/>
          </a:xfrm>
          <a:prstGeom prst="rect">
            <a:avLst/>
          </a:prstGeom>
        </p:spPr>
      </p:pic>
      <p:sp>
        <p:nvSpPr>
          <p:cNvPr id="12" name="文本框 11"/>
          <p:cNvSpPr txBox="1"/>
          <p:nvPr/>
        </p:nvSpPr>
        <p:spPr>
          <a:xfrm>
            <a:off x="6457950" y="753110"/>
            <a:ext cx="5805170" cy="5262245"/>
          </a:xfrm>
          <a:prstGeom prst="rect">
            <a:avLst/>
          </a:prstGeom>
        </p:spPr>
        <p:txBody>
          <a:bodyPr wrap="square">
            <a:spAutoFit/>
          </a:bodyPr>
          <a:lstStyle/>
          <a:p>
            <a:r>
              <a:rPr lang="en-US" altLang="zh-CN" sz="1200" b="1" dirty="0"/>
              <a:t>Baseline Models:</a:t>
            </a:r>
          </a:p>
          <a:p>
            <a:pPr indent="0">
              <a:buFont typeface="Arial" panose="020B0604020202020204"/>
              <a:buNone/>
            </a:pPr>
            <a:r>
              <a:rPr lang="en-US" altLang="zh-CN" sz="1200" b="1" dirty="0"/>
              <a:t>OLS with All </a:t>
            </a:r>
            <a:r>
              <a:rPr lang="en-US" altLang="zh-CN" sz="1200" b="1" dirty="0" err="1"/>
              <a:t>Covariates</a:t>
            </a:r>
            <a:r>
              <a:rPr lang="en-US" altLang="zh-CN" sz="1200" dirty="0" err="1"/>
              <a:t>:Predictive</a:t>
            </a:r>
            <a:r>
              <a:rPr lang="en-US" altLang="zh-CN" sz="1200" dirty="0"/>
              <a:t> R</a:t>
            </a:r>
            <a:r>
              <a:rPr lang="en-US" altLang="zh-CN" sz="1200" baseline="30000" dirty="0"/>
              <a:t>2</a:t>
            </a:r>
            <a:r>
              <a:rPr lang="en-US" altLang="zh-CN" sz="1200" dirty="0"/>
              <a:t>=−3.46% for the entire pooled </a:t>
            </a:r>
            <a:r>
              <a:rPr lang="en-US" altLang="zh-CN" sz="1200" dirty="0" err="1"/>
              <a:t>sample.This</a:t>
            </a:r>
            <a:r>
              <a:rPr lang="en-US" altLang="zh-CN" sz="1200" dirty="0"/>
              <a:t> poor performance reflects severe overfitting due to the high dimensionality of predictors (920 features) and lack of regularization.</a:t>
            </a:r>
          </a:p>
          <a:p>
            <a:pPr indent="0">
              <a:buFont typeface="Arial" panose="020B0604020202020204"/>
              <a:buNone/>
            </a:pPr>
            <a:r>
              <a:rPr lang="en-US" altLang="zh-CN" sz="1200" b="1" dirty="0"/>
              <a:t>OLS-3 (Size, Book-to-Market, Momentum)</a:t>
            </a:r>
            <a:r>
              <a:rPr lang="en-US" altLang="zh-CN" sz="1200" dirty="0"/>
              <a:t>:Predictive R</a:t>
            </a:r>
            <a:r>
              <a:rPr lang="en-US" altLang="zh-CN" sz="1200" baseline="30000" dirty="0"/>
              <a:t>2</a:t>
            </a:r>
            <a:r>
              <a:rPr lang="en-US" altLang="zh-CN" sz="1200" dirty="0"/>
              <a:t>=0.16% demonstrating substantial improvement by using only three robust predictors.</a:t>
            </a:r>
          </a:p>
          <a:p>
            <a:pPr indent="0">
              <a:buFont typeface="Arial" panose="020B0604020202020204"/>
              <a:buNone/>
            </a:pPr>
            <a:r>
              <a:rPr lang="en-US" altLang="zh-CN" sz="1200" dirty="0"/>
              <a:t>These results confirm that naive OLS fails in high-dimensional settings but performs modestly well with limited predictors.</a:t>
            </a:r>
          </a:p>
          <a:p>
            <a:r>
              <a:rPr lang="en-US" altLang="zh-CN" sz="1200" b="1" dirty="0"/>
              <a:t>Regularized Linear Models:</a:t>
            </a:r>
          </a:p>
          <a:p>
            <a:pPr indent="0">
              <a:buFont typeface="Arial" panose="020B0604020202020204"/>
              <a:buNone/>
            </a:pPr>
            <a:r>
              <a:rPr lang="en-US" altLang="zh-CN" sz="1200" b="1" dirty="0"/>
              <a:t>Elastic Net (ENet)</a:t>
            </a:r>
            <a:r>
              <a:rPr lang="en-US" altLang="zh-CN" sz="1200" dirty="0"/>
              <a:t>:R</a:t>
            </a:r>
            <a:r>
              <a:rPr lang="en-US" altLang="zh-CN" sz="1200" baseline="30000" dirty="0"/>
              <a:t>2</a:t>
            </a:r>
            <a:r>
              <a:rPr lang="en-US" altLang="zh-CN" sz="1200" dirty="0"/>
              <a:t>=0.11%. By penalizing coefficients, ENet mitigates overfitting, providing better predictions than full OLS but still limited due to its linear nature.</a:t>
            </a:r>
          </a:p>
          <a:p>
            <a:pPr indent="0">
              <a:buFont typeface="Arial" panose="020B0604020202020204"/>
              <a:buNone/>
            </a:pPr>
            <a:r>
              <a:rPr lang="en-US" altLang="zh-CN" sz="1200" b="1" dirty="0"/>
              <a:t>Partial Least Squares (PLS)</a:t>
            </a:r>
            <a:r>
              <a:rPr lang="en-US" altLang="zh-CN" sz="1200" dirty="0"/>
              <a:t> and </a:t>
            </a:r>
            <a:r>
              <a:rPr lang="en-US" altLang="zh-CN" sz="1200" b="1" dirty="0"/>
              <a:t>Principal Components Regression (PCR)</a:t>
            </a:r>
            <a:r>
              <a:rPr lang="en-US" altLang="zh-CN" sz="1200" dirty="0"/>
              <a:t>:R</a:t>
            </a:r>
            <a:r>
              <a:rPr lang="en-US" altLang="zh-CN" sz="1200" baseline="30000" dirty="0"/>
              <a:t>2</a:t>
            </a:r>
            <a:r>
              <a:rPr lang="en-US" altLang="zh-CN" sz="1200" dirty="0"/>
              <a:t>=0.27% and R</a:t>
            </a:r>
            <a:r>
              <a:rPr lang="en-US" altLang="zh-CN" sz="1200" baseline="30000" dirty="0"/>
              <a:t>2</a:t>
            </a:r>
            <a:r>
              <a:rPr lang="en-US" altLang="zh-CN" sz="1200" dirty="0"/>
              <a:t>=0.26%, </a:t>
            </a:r>
            <a:r>
              <a:rPr lang="en-US" altLang="zh-CN" sz="1200" dirty="0" err="1"/>
              <a:t>respectively.These</a:t>
            </a:r>
            <a:r>
              <a:rPr lang="en-US" altLang="zh-CN" sz="1200" dirty="0"/>
              <a:t> dimension-reduction techniques outperform penalized regression by condensing noisy predictors into a few informative components.</a:t>
            </a:r>
          </a:p>
          <a:p>
            <a:r>
              <a:rPr lang="en-US" altLang="zh-CN" sz="1200" b="1" dirty="0"/>
              <a:t>Nonlinear Models:</a:t>
            </a:r>
          </a:p>
          <a:p>
            <a:pPr indent="0">
              <a:buFont typeface="Arial" panose="020B0604020202020204"/>
              <a:buNone/>
            </a:pPr>
            <a:r>
              <a:rPr lang="en-US" altLang="zh-CN" sz="1200" b="1" dirty="0"/>
              <a:t>Random Forest (RF) and Gradient Boosted Regression Trees (GBRT): </a:t>
            </a:r>
            <a:r>
              <a:rPr lang="en-US" altLang="zh-CN" sz="1200" dirty="0"/>
              <a:t>R</a:t>
            </a:r>
            <a:r>
              <a:rPr lang="en-US" altLang="zh-CN" sz="1200" baseline="30000" dirty="0"/>
              <a:t>2</a:t>
            </a:r>
            <a:r>
              <a:rPr lang="en-US" altLang="zh-CN" sz="1200" dirty="0"/>
              <a:t>=0.33% and R</a:t>
            </a:r>
            <a:r>
              <a:rPr lang="en-US" altLang="zh-CN" sz="1200" baseline="30000" dirty="0"/>
              <a:t>2</a:t>
            </a:r>
            <a:r>
              <a:rPr lang="en-US" altLang="zh-CN" sz="1200" dirty="0"/>
              <a:t>=0.34%, respectively. These models leverage nonlinearities and interactions among predictors, yielding better predictive performance.</a:t>
            </a:r>
          </a:p>
          <a:p>
            <a:pPr indent="0">
              <a:buFont typeface="Arial" panose="020B0604020202020204"/>
              <a:buNone/>
            </a:pPr>
            <a:r>
              <a:rPr lang="en-US" altLang="zh-CN" sz="1200" b="1" dirty="0"/>
              <a:t>Neural Networks (NN1-NN5): </a:t>
            </a:r>
            <a:r>
              <a:rPr lang="en-US" altLang="zh-CN" sz="1200" dirty="0"/>
              <a:t>Performance improves with increasing network complexity, peaking at R</a:t>
            </a:r>
            <a:r>
              <a:rPr lang="en-US" altLang="zh-CN" sz="1200" baseline="30000" dirty="0"/>
              <a:t>2</a:t>
            </a:r>
            <a:r>
              <a:rPr lang="en-US" altLang="zh-CN" sz="1200" dirty="0"/>
              <a:t>=0.40% for NN3 (three hidden layers).Models with four or five layers show diminishing returns, likely due to the low signal-to-noise ratio in stock returns data.</a:t>
            </a:r>
          </a:p>
          <a:p>
            <a:r>
              <a:rPr lang="en-US" altLang="zh-CN" sz="1200" b="1" dirty="0"/>
              <a:t>Subsample Results:</a:t>
            </a:r>
          </a:p>
          <a:p>
            <a:pPr indent="0">
              <a:buFont typeface="Arial" panose="020B0604020202020204"/>
              <a:buNone/>
            </a:pPr>
            <a:r>
              <a:rPr lang="en-US" altLang="zh-CN" sz="1200" dirty="0"/>
              <a:t>Predictions are broken down by large-cap (top-1,000 stocks) and small-cap (bottom-1,000 stocks) subsamples.</a:t>
            </a:r>
          </a:p>
          <a:p>
            <a:pPr indent="0">
              <a:buFont typeface="Arial" panose="020B0604020202020204"/>
              <a:buNone/>
            </a:pPr>
            <a:r>
              <a:rPr lang="en-US" altLang="zh-CN" sz="1200" dirty="0"/>
              <a:t>Nonlinear models (trees and neural networks) achieve the best performance in both cases, with higher R</a:t>
            </a:r>
            <a:r>
              <a:rPr lang="en-US" altLang="zh-CN" sz="1200" baseline="30000" dirty="0"/>
              <a:t>2</a:t>
            </a:r>
            <a:r>
              <a:rPr lang="en-US" altLang="zh-CN" sz="1200" dirty="0"/>
              <a:t> values for large-cap stocks (up to 0.70% for NN3).</a:t>
            </a:r>
          </a:p>
          <a:p>
            <a:pPr indent="0">
              <a:buFont typeface="Arial" panose="020B0604020202020204"/>
              <a:buNone/>
            </a:pPr>
            <a:r>
              <a:rPr lang="en-US" altLang="zh-CN" sz="1200" dirty="0"/>
              <a:t>This result supports the hypothesis that machine learning models excel in predicting returns for larger, more liquid stocks.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7355"/>
            <a:ext cx="10515600" cy="1336413"/>
          </a:xfrm>
        </p:spPr>
        <p:txBody>
          <a:bodyPr>
            <a:normAutofit/>
          </a:bodyPr>
          <a:lstStyle/>
          <a:p>
            <a:r>
              <a:rPr lang="en-US" sz="3600" b="1" dirty="0"/>
              <a:t>Forecast comparison </a:t>
            </a:r>
          </a:p>
        </p:txBody>
      </p:sp>
      <p:sp>
        <p:nvSpPr>
          <p:cNvPr id="3" name="Content Placeholder 2"/>
          <p:cNvSpPr>
            <a:spLocks noGrp="1"/>
          </p:cNvSpPr>
          <p:nvPr>
            <p:ph idx="1"/>
          </p:nvPr>
        </p:nvSpPr>
        <p:spPr>
          <a:xfrm>
            <a:off x="838200" y="433705"/>
            <a:ext cx="10515600" cy="5601335"/>
          </a:xfrm>
        </p:spPr>
        <p:txBody>
          <a:bodyPr>
            <a:normAutofit lnSpcReduction="10000"/>
          </a:bodyPr>
          <a:lstStyle/>
          <a:p>
            <a:r>
              <a:rPr lang="en-US" dirty="0">
                <a:solidFill>
                  <a:srgbClr val="26927D"/>
                </a:solidFill>
              </a:rPr>
              <a:t>The DM test-statistic for a comparison between methods 1 and 2：</a:t>
            </a:r>
            <a:r>
              <a:rPr dirty="0"/>
              <a:t>compare the relative performance of two forecasting methods.</a:t>
            </a:r>
          </a:p>
          <a:p>
            <a:pPr marL="0" indent="0">
              <a:buNone/>
            </a:pPr>
            <a:endParaRPr dirty="0">
              <a:solidFill>
                <a:srgbClr val="26927D"/>
              </a:solidFill>
            </a:endParaRPr>
          </a:p>
          <a:p>
            <a:pPr marL="0" indent="0">
              <a:buNone/>
            </a:pPr>
            <a:r>
              <a:rPr lang="en-US" altLang="zh-CN" dirty="0">
                <a:sym typeface="+mn-ea"/>
              </a:rPr>
              <a:t>                                        </a:t>
            </a:r>
          </a:p>
          <a:p>
            <a:pPr marL="0" indent="0">
              <a:buNone/>
            </a:pPr>
            <a:r>
              <a:rPr lang="en-US" altLang="zh-CN" dirty="0">
                <a:sym typeface="+mn-ea"/>
              </a:rPr>
              <a:t>                 </a:t>
            </a:r>
          </a:p>
          <a:p>
            <a:pPr marL="0" indent="0">
              <a:buNone/>
            </a:pPr>
            <a:endParaRPr dirty="0">
              <a:sym typeface="+mn-ea"/>
            </a:endParaRPr>
          </a:p>
          <a:p>
            <a:pPr marL="0" indent="0">
              <a:buNone/>
            </a:pPr>
            <a:r>
              <a:rPr lang="en-US" dirty="0">
                <a:sym typeface="+mn-ea"/>
              </a:rPr>
              <a:t>                </a:t>
            </a:r>
          </a:p>
          <a:p>
            <a:pPr marL="0" indent="0">
              <a:buNone/>
            </a:pPr>
            <a:r>
              <a:rPr lang="en-US" dirty="0">
                <a:solidFill>
                  <a:srgbClr val="26927D"/>
                </a:solidFill>
                <a:sym typeface="+mn-ea"/>
              </a:rPr>
              <a:t>  </a:t>
            </a:r>
            <a:endParaRPr lang="en-US" dirty="0">
              <a:sym typeface="+mn-ea"/>
            </a:endParaRPr>
          </a:p>
          <a:p>
            <a:pPr marL="0" indent="0">
              <a:buNone/>
            </a:pPr>
            <a:endParaRPr lang="en-US" sz="2800" dirty="0">
              <a:sym typeface="+mn-ea"/>
            </a:endParaRPr>
          </a:p>
          <a:p>
            <a:pPr marL="0" indent="0">
              <a:buNone/>
            </a:pPr>
            <a:endParaRPr lang="en-US" sz="2800" dirty="0">
              <a:sym typeface="+mn-ea"/>
            </a:endParaRPr>
          </a:p>
          <a:p>
            <a:pPr marL="0" indent="0">
              <a:buNone/>
            </a:pPr>
            <a:r>
              <a:rPr sz="2800" dirty="0">
                <a:sym typeface="+mn-ea"/>
              </a:rPr>
              <a:t> </a:t>
            </a:r>
          </a:p>
          <a:p>
            <a:pPr marL="0" indent="0">
              <a:buNone/>
            </a:pPr>
            <a:r>
              <a:rPr lang="en-US" sz="2800" dirty="0">
                <a:sym typeface="+mn-ea"/>
              </a:rPr>
              <a:t>               </a:t>
            </a:r>
          </a:p>
          <a:p>
            <a:pPr marL="0" indent="0">
              <a:buNone/>
            </a:pPr>
            <a:endParaRPr lang="en-US" sz="2800" dirty="0">
              <a:sym typeface="+mn-ea"/>
            </a:endParaRPr>
          </a:p>
        </p:txBody>
      </p:sp>
      <p:pic>
        <p:nvPicPr>
          <p:cNvPr id="5" name="图片 4"/>
          <p:cNvPicPr>
            <a:picLocks noChangeAspect="1"/>
          </p:cNvPicPr>
          <p:nvPr/>
        </p:nvPicPr>
        <p:blipFill>
          <a:blip r:embed="rId2"/>
          <a:stretch>
            <a:fillRect/>
          </a:stretch>
        </p:blipFill>
        <p:spPr>
          <a:xfrm>
            <a:off x="3933190" y="1186815"/>
            <a:ext cx="3291840" cy="1417320"/>
          </a:xfrm>
          <a:prstGeom prst="rect">
            <a:avLst/>
          </a:prstGeom>
        </p:spPr>
      </p:pic>
      <p:sp>
        <p:nvSpPr>
          <p:cNvPr id="6" name="文本框 5"/>
          <p:cNvSpPr txBox="1"/>
          <p:nvPr/>
        </p:nvSpPr>
        <p:spPr>
          <a:xfrm>
            <a:off x="838200" y="2520950"/>
            <a:ext cx="10862310" cy="1568450"/>
          </a:xfrm>
          <a:prstGeom prst="rect">
            <a:avLst/>
          </a:prstGeom>
        </p:spPr>
        <p:txBody>
          <a:bodyPr wrap="square">
            <a:spAutoFit/>
          </a:bodyPr>
          <a:lstStyle/>
          <a:p>
            <a:r>
              <a:rPr lang="en-US" altLang="zh-CN" sz="1600"/>
              <a:t>d12,t+1​: The mean squared error difference between models (1) and (2) at time t+1.</a:t>
            </a:r>
            <a:r>
              <a:rPr lang="en-US" altLang="zh-CN" sz="1600">
                <a:sym typeface="+mn-ea"/>
              </a:rPr>
              <a:t>If (e^i,t+1(1))2 &gt;(e^ , then d12,t+1&gt;0, indicating that model (2) has smaller prediction errors.</a:t>
            </a:r>
            <a:endParaRPr lang="en-US" altLang="zh-CN" sz="1600"/>
          </a:p>
          <a:p>
            <a:r>
              <a:rPr lang="en-US" altLang="zh-CN" sz="1600"/>
              <a:t>e^i, and e^i,  : Prediction errors for stock i at time t+1 from models (1) and (2), respectively.</a:t>
            </a:r>
          </a:p>
          <a:p>
            <a:r>
              <a:rPr lang="en-US" altLang="zh-CN" sz="1600"/>
              <a:t>n3,t+1: Number of stocks in the test sample at time t+1.</a:t>
            </a:r>
          </a:p>
          <a:p>
            <a:r>
              <a:rPr lang="en-US" altLang="zh-CN" sz="1600"/>
              <a:t>d   : The average value of d12,t over the test sample.</a:t>
            </a:r>
          </a:p>
          <a:p>
            <a:r>
              <a:rPr lang="en-US" altLang="zh-CN" sz="1600"/>
              <a:t>σ    : The standard error of dˉ1.</a:t>
            </a:r>
          </a:p>
        </p:txBody>
      </p:sp>
      <p:pic>
        <p:nvPicPr>
          <p:cNvPr id="15" name="图片 14"/>
          <p:cNvPicPr>
            <a:picLocks noChangeAspect="1"/>
          </p:cNvPicPr>
          <p:nvPr/>
        </p:nvPicPr>
        <p:blipFill>
          <a:blip r:embed="rId3"/>
          <a:stretch>
            <a:fillRect/>
          </a:stretch>
        </p:blipFill>
        <p:spPr>
          <a:xfrm>
            <a:off x="913765" y="3536315"/>
            <a:ext cx="251460" cy="281940"/>
          </a:xfrm>
          <a:prstGeom prst="rect">
            <a:avLst/>
          </a:prstGeom>
        </p:spPr>
      </p:pic>
      <p:pic>
        <p:nvPicPr>
          <p:cNvPr id="16" name="图片 15"/>
          <p:cNvPicPr>
            <a:picLocks noChangeAspect="1"/>
          </p:cNvPicPr>
          <p:nvPr/>
        </p:nvPicPr>
        <p:blipFill>
          <a:blip r:embed="rId4"/>
          <a:stretch>
            <a:fillRect/>
          </a:stretch>
        </p:blipFill>
        <p:spPr>
          <a:xfrm>
            <a:off x="3002915" y="3525520"/>
            <a:ext cx="472440" cy="243840"/>
          </a:xfrm>
          <a:prstGeom prst="rect">
            <a:avLst/>
          </a:prstGeom>
        </p:spPr>
      </p:pic>
      <p:pic>
        <p:nvPicPr>
          <p:cNvPr id="17" name="图片 16"/>
          <p:cNvPicPr>
            <a:picLocks noChangeAspect="1"/>
          </p:cNvPicPr>
          <p:nvPr/>
        </p:nvPicPr>
        <p:blipFill>
          <a:blip r:embed="rId5"/>
          <a:stretch>
            <a:fillRect/>
          </a:stretch>
        </p:blipFill>
        <p:spPr>
          <a:xfrm>
            <a:off x="882015" y="3789680"/>
            <a:ext cx="320040" cy="312420"/>
          </a:xfrm>
          <a:prstGeom prst="rect">
            <a:avLst/>
          </a:prstGeom>
        </p:spPr>
      </p:pic>
      <p:pic>
        <p:nvPicPr>
          <p:cNvPr id="18" name="图片 17"/>
          <p:cNvPicPr>
            <a:picLocks noChangeAspect="1"/>
          </p:cNvPicPr>
          <p:nvPr/>
        </p:nvPicPr>
        <p:blipFill>
          <a:blip r:embed="rId6"/>
          <a:stretch>
            <a:fillRect/>
          </a:stretch>
        </p:blipFill>
        <p:spPr>
          <a:xfrm>
            <a:off x="3129280" y="3746500"/>
            <a:ext cx="260350" cy="313055"/>
          </a:xfrm>
          <a:prstGeom prst="rect">
            <a:avLst/>
          </a:prstGeom>
        </p:spPr>
      </p:pic>
      <p:pic>
        <p:nvPicPr>
          <p:cNvPr id="19" name="图片 18"/>
          <p:cNvPicPr>
            <a:picLocks noChangeAspect="1"/>
          </p:cNvPicPr>
          <p:nvPr/>
        </p:nvPicPr>
        <p:blipFill>
          <a:blip r:embed="rId7"/>
          <a:stretch>
            <a:fillRect/>
          </a:stretch>
        </p:blipFill>
        <p:spPr>
          <a:xfrm>
            <a:off x="860425" y="3045460"/>
            <a:ext cx="410845" cy="309880"/>
          </a:xfrm>
          <a:prstGeom prst="rect">
            <a:avLst/>
          </a:prstGeom>
        </p:spPr>
      </p:pic>
      <p:pic>
        <p:nvPicPr>
          <p:cNvPr id="20" name="图片 19"/>
          <p:cNvPicPr>
            <a:picLocks noChangeAspect="1"/>
          </p:cNvPicPr>
          <p:nvPr/>
        </p:nvPicPr>
        <p:blipFill>
          <a:blip r:embed="rId8"/>
          <a:stretch>
            <a:fillRect/>
          </a:stretch>
        </p:blipFill>
        <p:spPr>
          <a:xfrm>
            <a:off x="1605280" y="3053715"/>
            <a:ext cx="419100" cy="312420"/>
          </a:xfrm>
          <a:prstGeom prst="rect">
            <a:avLst/>
          </a:prstGeom>
        </p:spPr>
      </p:pic>
      <p:pic>
        <p:nvPicPr>
          <p:cNvPr id="22" name="图片 21"/>
          <p:cNvPicPr>
            <a:picLocks noChangeAspect="1"/>
          </p:cNvPicPr>
          <p:nvPr/>
        </p:nvPicPr>
        <p:blipFill>
          <a:blip r:embed="rId9"/>
          <a:stretch>
            <a:fillRect/>
          </a:stretch>
        </p:blipFill>
        <p:spPr>
          <a:xfrm>
            <a:off x="8004810" y="2495550"/>
            <a:ext cx="1463040" cy="327660"/>
          </a:xfrm>
          <a:prstGeom prst="rect">
            <a:avLst/>
          </a:prstGeom>
        </p:spPr>
      </p:pic>
      <p:sp>
        <p:nvSpPr>
          <p:cNvPr id="23" name="文本框 22"/>
          <p:cNvSpPr txBox="1"/>
          <p:nvPr/>
        </p:nvSpPr>
        <p:spPr>
          <a:xfrm>
            <a:off x="828040" y="4144645"/>
            <a:ext cx="10439400" cy="1076325"/>
          </a:xfrm>
          <a:prstGeom prst="rect">
            <a:avLst/>
          </a:prstGeom>
        </p:spPr>
        <p:txBody>
          <a:bodyPr wrap="square">
            <a:spAutoFit/>
          </a:bodyPr>
          <a:lstStyle/>
          <a:p>
            <a:r>
              <a:rPr lang="en-US" altLang="zh-CN" sz="1600"/>
              <a:t>Numerator: Represents the squared error difference between models (1) and (2) for each stock. Positive values indicate that model (2) has smaller squared errors (better predictions), while negative values indicate the opposite.</a:t>
            </a:r>
          </a:p>
          <a:p>
            <a:r>
              <a:rPr lang="en-US" altLang="zh-CN" sz="1600"/>
              <a:t>Denominator: Standardizes the average difference dˉ by dividing it by its standard error σ^d. This ensures the test statistic accounts for variability in the differences, enabling statistical inference.</a:t>
            </a:r>
          </a:p>
        </p:txBody>
      </p:sp>
      <p:pic>
        <p:nvPicPr>
          <p:cNvPr id="24" name="图片 23"/>
          <p:cNvPicPr>
            <a:picLocks noChangeAspect="1"/>
          </p:cNvPicPr>
          <p:nvPr/>
        </p:nvPicPr>
        <p:blipFill>
          <a:blip r:embed="rId3"/>
          <a:stretch>
            <a:fillRect/>
          </a:stretch>
        </p:blipFill>
        <p:spPr>
          <a:xfrm>
            <a:off x="5061585" y="4652010"/>
            <a:ext cx="251460" cy="281940"/>
          </a:xfrm>
          <a:prstGeom prst="rect">
            <a:avLst/>
          </a:prstGeom>
        </p:spPr>
      </p:pic>
      <p:pic>
        <p:nvPicPr>
          <p:cNvPr id="28" name="图片 27"/>
          <p:cNvPicPr>
            <a:picLocks noChangeAspect="1"/>
          </p:cNvPicPr>
          <p:nvPr/>
        </p:nvPicPr>
        <p:blipFill>
          <a:blip r:embed="rId5"/>
          <a:stretch>
            <a:fillRect/>
          </a:stretch>
        </p:blipFill>
        <p:spPr>
          <a:xfrm>
            <a:off x="8126730" y="4632325"/>
            <a:ext cx="320040" cy="312420"/>
          </a:xfrm>
          <a:prstGeom prst="rect">
            <a:avLst/>
          </a:prstGeom>
        </p:spPr>
      </p:pic>
      <p:sp>
        <p:nvSpPr>
          <p:cNvPr id="30" name="文本框 29"/>
          <p:cNvSpPr txBox="1"/>
          <p:nvPr/>
        </p:nvSpPr>
        <p:spPr>
          <a:xfrm>
            <a:off x="828040" y="5263515"/>
            <a:ext cx="10525760" cy="583565"/>
          </a:xfrm>
          <a:prstGeom prst="rect">
            <a:avLst/>
          </a:prstGeom>
        </p:spPr>
        <p:txBody>
          <a:bodyPr wrap="square">
            <a:spAutoFit/>
          </a:bodyPr>
          <a:lstStyle/>
          <a:p>
            <a:r>
              <a:rPr lang="en-US" altLang="zh-CN" sz="1600"/>
              <a:t>A positive DM</a:t>
            </a:r>
            <a:r>
              <a:rPr lang="en-US" altLang="zh-CN" sz="1600" baseline="-25000"/>
              <a:t>12</a:t>
            </a:r>
            <a:r>
              <a:rPr lang="en-US" altLang="zh-CN" sz="1600"/>
              <a:t> value signifies that model (2) has better predictive performance than model (1), as its squared errors are smaller, leading to more accurate predictions.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27355"/>
            <a:ext cx="10515600" cy="1336413"/>
          </a:xfrm>
        </p:spPr>
        <p:txBody>
          <a:bodyPr>
            <a:normAutofit/>
          </a:bodyPr>
          <a:lstStyle/>
          <a:p>
            <a:r>
              <a:rPr lang="en-US" sz="3600" b="1" dirty="0"/>
              <a:t>Forecast comparison </a:t>
            </a:r>
          </a:p>
        </p:txBody>
      </p:sp>
      <p:sp>
        <p:nvSpPr>
          <p:cNvPr id="3" name="Content Placeholder 2"/>
          <p:cNvSpPr>
            <a:spLocks noGrp="1"/>
          </p:cNvSpPr>
          <p:nvPr>
            <p:ph idx="1"/>
          </p:nvPr>
        </p:nvSpPr>
        <p:spPr>
          <a:xfrm>
            <a:off x="838200" y="433705"/>
            <a:ext cx="10515600" cy="5601335"/>
          </a:xfrm>
        </p:spPr>
        <p:txBody>
          <a:bodyPr>
            <a:normAutofit lnSpcReduction="10000"/>
          </a:bodyPr>
          <a:lstStyle/>
          <a:p>
            <a:r>
              <a:rPr lang="en-US" dirty="0">
                <a:solidFill>
                  <a:srgbClr val="26927D"/>
                </a:solidFill>
              </a:rPr>
              <a:t>The DM test-statistic for a comparison between methods 1 and 2：</a:t>
            </a:r>
            <a:r>
              <a:rPr dirty="0"/>
              <a:t>compare the relative performance of two forecasting methods.</a:t>
            </a:r>
          </a:p>
          <a:p>
            <a:pPr marL="0" indent="0">
              <a:buNone/>
            </a:pPr>
            <a:endParaRPr dirty="0">
              <a:solidFill>
                <a:srgbClr val="26927D"/>
              </a:solidFill>
            </a:endParaRPr>
          </a:p>
          <a:p>
            <a:pPr marL="0" indent="0">
              <a:buNone/>
            </a:pPr>
            <a:r>
              <a:rPr lang="en-US" altLang="zh-CN" dirty="0">
                <a:sym typeface="+mn-ea"/>
              </a:rPr>
              <a:t>                                        </a:t>
            </a:r>
          </a:p>
          <a:p>
            <a:pPr marL="0" indent="0">
              <a:buNone/>
            </a:pPr>
            <a:r>
              <a:rPr lang="en-US" altLang="zh-CN" dirty="0">
                <a:sym typeface="+mn-ea"/>
              </a:rPr>
              <a:t>                 </a:t>
            </a:r>
          </a:p>
          <a:p>
            <a:pPr marL="0" indent="0">
              <a:buNone/>
            </a:pPr>
            <a:endParaRPr dirty="0">
              <a:sym typeface="+mn-ea"/>
            </a:endParaRPr>
          </a:p>
          <a:p>
            <a:pPr marL="0" indent="0">
              <a:buNone/>
            </a:pPr>
            <a:r>
              <a:rPr lang="en-US" dirty="0">
                <a:sym typeface="+mn-ea"/>
              </a:rPr>
              <a:t>                </a:t>
            </a:r>
          </a:p>
          <a:p>
            <a:pPr marL="0" indent="0">
              <a:buNone/>
            </a:pPr>
            <a:r>
              <a:rPr lang="en-US" dirty="0">
                <a:solidFill>
                  <a:srgbClr val="26927D"/>
                </a:solidFill>
                <a:sym typeface="+mn-ea"/>
              </a:rPr>
              <a:t>  </a:t>
            </a:r>
            <a:endParaRPr lang="en-US" dirty="0">
              <a:sym typeface="+mn-ea"/>
            </a:endParaRPr>
          </a:p>
          <a:p>
            <a:pPr marL="0" indent="0">
              <a:buNone/>
            </a:pPr>
            <a:endParaRPr lang="en-US" sz="2800" dirty="0">
              <a:sym typeface="+mn-ea"/>
            </a:endParaRPr>
          </a:p>
          <a:p>
            <a:pPr marL="0" indent="0">
              <a:buNone/>
            </a:pPr>
            <a:endParaRPr lang="en-US" sz="2800" dirty="0">
              <a:sym typeface="+mn-ea"/>
            </a:endParaRPr>
          </a:p>
          <a:p>
            <a:pPr marL="0" indent="0">
              <a:buNone/>
            </a:pPr>
            <a:r>
              <a:rPr sz="2800" dirty="0">
                <a:sym typeface="+mn-ea"/>
              </a:rPr>
              <a:t> </a:t>
            </a:r>
          </a:p>
          <a:p>
            <a:pPr marL="0" indent="0">
              <a:buNone/>
            </a:pPr>
            <a:r>
              <a:rPr lang="en-US" sz="2800" dirty="0">
                <a:sym typeface="+mn-ea"/>
              </a:rPr>
              <a:t>               </a:t>
            </a:r>
          </a:p>
          <a:p>
            <a:pPr marL="0" indent="0">
              <a:buNone/>
            </a:pPr>
            <a:endParaRPr lang="en-US" sz="2800" dirty="0">
              <a:sym typeface="+mn-ea"/>
            </a:endParaRPr>
          </a:p>
        </p:txBody>
      </p:sp>
      <p:pic>
        <p:nvPicPr>
          <p:cNvPr id="5" name="图片 4"/>
          <p:cNvPicPr>
            <a:picLocks noChangeAspect="1"/>
          </p:cNvPicPr>
          <p:nvPr/>
        </p:nvPicPr>
        <p:blipFill>
          <a:blip r:embed="rId2"/>
          <a:stretch>
            <a:fillRect/>
          </a:stretch>
        </p:blipFill>
        <p:spPr>
          <a:xfrm>
            <a:off x="3933190" y="1186815"/>
            <a:ext cx="3291840" cy="141732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
            <a:ext cx="10515600" cy="1325563"/>
          </a:xfrm>
        </p:spPr>
        <p:txBody>
          <a:bodyPr>
            <a:normAutofit/>
          </a:bodyPr>
          <a:lstStyle/>
          <a:p>
            <a:r>
              <a:rPr lang="en-US" sz="3600" b="1" dirty="0">
                <a:sym typeface="+mn-ea"/>
              </a:rPr>
              <a:t>The calculation results of the Diebold and Mariano test statistic </a:t>
            </a:r>
            <a:r>
              <a:rPr lang="en-US" sz="3600" b="1" dirty="0"/>
              <a:t>in the generated sample data</a:t>
            </a:r>
          </a:p>
        </p:txBody>
      </p:sp>
      <p:sp>
        <p:nvSpPr>
          <p:cNvPr id="4" name="灯片编号占位符 3"/>
          <p:cNvSpPr>
            <a:spLocks noGrp="1"/>
          </p:cNvSpPr>
          <p:nvPr>
            <p:ph type="sldNum" sz="quarter" idx="12"/>
          </p:nvPr>
        </p:nvSpPr>
        <p:spPr/>
        <p:txBody>
          <a:bodyPr/>
          <a:lstStyle/>
          <a:p>
            <a:fld id="{107D843B-1DED-40DC-AF70-C1B4F17B1EA6}" type="slidenum">
              <a:rPr lang="en-US" smtClean="0"/>
              <a:t>60</a:t>
            </a:fld>
            <a:endParaRPr lang="en-US"/>
          </a:p>
        </p:txBody>
      </p:sp>
      <p:graphicFrame>
        <p:nvGraphicFramePr>
          <p:cNvPr id="6" name="内容占位符 5"/>
          <p:cNvGraphicFramePr>
            <a:graphicFrameLocks noGrp="1"/>
          </p:cNvGraphicFramePr>
          <p:nvPr>
            <p:ph idx="1"/>
          </p:nvPr>
        </p:nvGraphicFramePr>
        <p:xfrm>
          <a:off x="728345" y="1499870"/>
          <a:ext cx="10519410" cy="4191000"/>
        </p:xfrm>
        <a:graphic>
          <a:graphicData uri="http://schemas.openxmlformats.org/drawingml/2006/table">
            <a:tbl>
              <a:tblPr firstRow="1" bandRow="1">
                <a:tableStyleId>{5C22544A-7EE6-4342-B048-85BDC9FD1C3A}</a:tableStyleId>
              </a:tblPr>
              <a:tblGrid>
                <a:gridCol w="956310">
                  <a:extLst>
                    <a:ext uri="{9D8B030D-6E8A-4147-A177-3AD203B41FA5}">
                      <a16:colId xmlns:a16="http://schemas.microsoft.com/office/drawing/2014/main" val="20000"/>
                    </a:ext>
                  </a:extLst>
                </a:gridCol>
                <a:gridCol w="956310">
                  <a:extLst>
                    <a:ext uri="{9D8B030D-6E8A-4147-A177-3AD203B41FA5}">
                      <a16:colId xmlns:a16="http://schemas.microsoft.com/office/drawing/2014/main" val="20001"/>
                    </a:ext>
                  </a:extLst>
                </a:gridCol>
                <a:gridCol w="956310">
                  <a:extLst>
                    <a:ext uri="{9D8B030D-6E8A-4147-A177-3AD203B41FA5}">
                      <a16:colId xmlns:a16="http://schemas.microsoft.com/office/drawing/2014/main" val="20002"/>
                    </a:ext>
                  </a:extLst>
                </a:gridCol>
                <a:gridCol w="956310">
                  <a:extLst>
                    <a:ext uri="{9D8B030D-6E8A-4147-A177-3AD203B41FA5}">
                      <a16:colId xmlns:a16="http://schemas.microsoft.com/office/drawing/2014/main" val="20003"/>
                    </a:ext>
                  </a:extLst>
                </a:gridCol>
                <a:gridCol w="956310">
                  <a:extLst>
                    <a:ext uri="{9D8B030D-6E8A-4147-A177-3AD203B41FA5}">
                      <a16:colId xmlns:a16="http://schemas.microsoft.com/office/drawing/2014/main" val="20004"/>
                    </a:ext>
                  </a:extLst>
                </a:gridCol>
                <a:gridCol w="956310">
                  <a:extLst>
                    <a:ext uri="{9D8B030D-6E8A-4147-A177-3AD203B41FA5}">
                      <a16:colId xmlns:a16="http://schemas.microsoft.com/office/drawing/2014/main" val="20005"/>
                    </a:ext>
                  </a:extLst>
                </a:gridCol>
                <a:gridCol w="956310">
                  <a:extLst>
                    <a:ext uri="{9D8B030D-6E8A-4147-A177-3AD203B41FA5}">
                      <a16:colId xmlns:a16="http://schemas.microsoft.com/office/drawing/2014/main" val="20006"/>
                    </a:ext>
                  </a:extLst>
                </a:gridCol>
                <a:gridCol w="956310">
                  <a:extLst>
                    <a:ext uri="{9D8B030D-6E8A-4147-A177-3AD203B41FA5}">
                      <a16:colId xmlns:a16="http://schemas.microsoft.com/office/drawing/2014/main" val="20007"/>
                    </a:ext>
                  </a:extLst>
                </a:gridCol>
                <a:gridCol w="956310">
                  <a:extLst>
                    <a:ext uri="{9D8B030D-6E8A-4147-A177-3AD203B41FA5}">
                      <a16:colId xmlns:a16="http://schemas.microsoft.com/office/drawing/2014/main" val="20008"/>
                    </a:ext>
                  </a:extLst>
                </a:gridCol>
                <a:gridCol w="956310">
                  <a:extLst>
                    <a:ext uri="{9D8B030D-6E8A-4147-A177-3AD203B41FA5}">
                      <a16:colId xmlns:a16="http://schemas.microsoft.com/office/drawing/2014/main" val="20009"/>
                    </a:ext>
                  </a:extLst>
                </a:gridCol>
                <a:gridCol w="956310">
                  <a:extLst>
                    <a:ext uri="{9D8B030D-6E8A-4147-A177-3AD203B41FA5}">
                      <a16:colId xmlns:a16="http://schemas.microsoft.com/office/drawing/2014/main" val="20010"/>
                    </a:ext>
                  </a:extLst>
                </a:gridCol>
              </a:tblGrid>
              <a:tr h="381000">
                <a:tc>
                  <a:txBody>
                    <a:bodyPr/>
                    <a:lstStyle/>
                    <a:p>
                      <a:pPr algn="l" fontAlgn="b"/>
                      <a:endParaRPr sz="1100" b="0" i="0" dirty="0">
                        <a:solidFill>
                          <a:srgbClr val="000000"/>
                        </a:solidFill>
                        <a:latin typeface="宋体" panose="02010600030101010101" pitchFamily="2" charset="-122"/>
                        <a:ea typeface="宋体" panose="02010600030101010101" pitchFamily="2" charset="-122"/>
                      </a:endParaRPr>
                    </a:p>
                  </a:txBody>
                  <a:tcPr marL="7937" marR="7937" marT="7937" marB="0" anchor="b">
                    <a:lnTlToBr w="12700">
                      <a:solidFill>
                        <a:schemeClr val="tx1"/>
                      </a:solidFill>
                      <a:prstDash val="solid"/>
                    </a:lnTlToBr>
                  </a:tcPr>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OLS</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Weighted</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Huber</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ElasticNet</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PCR</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PLS</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Generalized</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Neural Network</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BRT</a:t>
                      </a:r>
                    </a:p>
                  </a:txBody>
                  <a:tcPr marL="7937" marR="7937" marT="7937" marB="0"/>
                </a:tc>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Random Forest</a:t>
                      </a:r>
                    </a:p>
                  </a:txBody>
                  <a:tcPr marL="7937" marR="7937" marT="7937" marB="0"/>
                </a:tc>
                <a:extLst>
                  <a:ext uri="{0D108BD9-81ED-4DB2-BD59-A6C34878D82A}">
                    <a16:rowId xmlns:a16="http://schemas.microsoft.com/office/drawing/2014/main" val="10000"/>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OLS</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-0.54085295</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-2.086580596</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-5.532906746</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1.322758091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1.574642625</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-3.196485091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-2.895241947</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-5.196619996</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-5.732472541</a:t>
                      </a:r>
                    </a:p>
                  </a:txBody>
                  <a:tcPr marL="7937" marR="7937" marT="7937" marB="0" anchor="b"/>
                </a:tc>
                <a:extLst>
                  <a:ext uri="{0D108BD9-81ED-4DB2-BD59-A6C34878D82A}">
                    <a16:rowId xmlns:a16="http://schemas.microsoft.com/office/drawing/2014/main" val="10001"/>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Weighted</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-0.48830909</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-4.913319211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0.54085295</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0.79125998</a:t>
                      </a:r>
                    </a:p>
                  </a:txBody>
                  <a:tcPr marL="7937" marR="7937" marT="7937" marB="0" anchor="b"/>
                </a:tc>
                <a:tc>
                  <a:txBody>
                    <a:bodyPr/>
                    <a:lstStyle/>
                    <a:p>
                      <a:pPr algn="r" fontAlgn="b"/>
                      <a:r>
                        <a:rPr lang="en-US" altLang="zh-CN" sz="1100" b="0" i="0" dirty="0">
                          <a:solidFill>
                            <a:srgbClr val="000000"/>
                          </a:solidFill>
                          <a:latin typeface="宋体" panose="02010600030101010101" pitchFamily="2" charset="-122"/>
                          <a:ea typeface="宋体" panose="02010600030101010101" pitchFamily="2" charset="-122"/>
                        </a:rPr>
                        <a:t>-3.161332021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-2.752622484</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-5.187252318</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-5.726493746</a:t>
                      </a:r>
                    </a:p>
                  </a:txBody>
                  <a:tcPr marL="7937" marR="7937" marT="7937" marB="0" anchor="b"/>
                </a:tc>
                <a:extLst>
                  <a:ext uri="{0D108BD9-81ED-4DB2-BD59-A6C34878D82A}">
                    <a16:rowId xmlns:a16="http://schemas.microsoft.com/office/drawing/2014/main" val="10002"/>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Huber</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-5.371775862</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2.086580596</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2.248249511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-3.08342493</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-2.765289568</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-5.188074231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-5.722216928</a:t>
                      </a:r>
                    </a:p>
                  </a:txBody>
                  <a:tcPr marL="7937" marR="7937" marT="7937" marB="0" anchor="b"/>
                </a:tc>
                <a:extLst>
                  <a:ext uri="{0D108BD9-81ED-4DB2-BD59-A6C34878D82A}">
                    <a16:rowId xmlns:a16="http://schemas.microsoft.com/office/drawing/2014/main" val="10003"/>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ElasticNet</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5.532906746</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5.567525864</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0.09793614</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0.388141787</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-4.832079828</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-5.451314444</a:t>
                      </a:r>
                    </a:p>
                  </a:txBody>
                  <a:tcPr marL="7937" marR="7937" marT="7937" marB="0" anchor="b"/>
                </a:tc>
                <a:extLst>
                  <a:ext uri="{0D108BD9-81ED-4DB2-BD59-A6C34878D82A}">
                    <a16:rowId xmlns:a16="http://schemas.microsoft.com/office/drawing/2014/main" val="10004"/>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PCR</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1.574642625</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-3.196485091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-2.895241947</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-5.196619996</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-5.732472541</a:t>
                      </a:r>
                    </a:p>
                  </a:txBody>
                  <a:tcPr marL="7937" marR="7937" marT="7937" marB="0" anchor="b"/>
                </a:tc>
                <a:extLst>
                  <a:ext uri="{0D108BD9-81ED-4DB2-BD59-A6C34878D82A}">
                    <a16:rowId xmlns:a16="http://schemas.microsoft.com/office/drawing/2014/main" val="10005"/>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PLS</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-3.224796458</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-2.914872907</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-5.197735399</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-5.73406659</a:t>
                      </a:r>
                    </a:p>
                  </a:txBody>
                  <a:tcPr marL="7937" marR="7937" marT="7937" marB="0" anchor="b"/>
                </a:tc>
                <a:extLst>
                  <a:ext uri="{0D108BD9-81ED-4DB2-BD59-A6C34878D82A}">
                    <a16:rowId xmlns:a16="http://schemas.microsoft.com/office/drawing/2014/main" val="10006"/>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Generalized</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0.171640694</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-4.971751321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-5.617863649</a:t>
                      </a:r>
                    </a:p>
                  </a:txBody>
                  <a:tcPr marL="7937" marR="7937" marT="7937" marB="0" anchor="b"/>
                </a:tc>
                <a:extLst>
                  <a:ext uri="{0D108BD9-81ED-4DB2-BD59-A6C34878D82A}">
                    <a16:rowId xmlns:a16="http://schemas.microsoft.com/office/drawing/2014/main" val="10007"/>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Neural Network</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-4.745676961</a:t>
                      </a: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-5.350161407</a:t>
                      </a:r>
                    </a:p>
                  </a:txBody>
                  <a:tcPr marL="7937" marR="7937" marT="7937" marB="0" anchor="b"/>
                </a:tc>
                <a:extLst>
                  <a:ext uri="{0D108BD9-81ED-4DB2-BD59-A6C34878D82A}">
                    <a16:rowId xmlns:a16="http://schemas.microsoft.com/office/drawing/2014/main" val="10008"/>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BRT</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r" fontAlgn="b"/>
                      <a:r>
                        <a:rPr lang="en-US" altLang="zh-CN" sz="1100" b="0" i="0">
                          <a:solidFill>
                            <a:srgbClr val="000000"/>
                          </a:solidFill>
                          <a:latin typeface="宋体" panose="02010600030101010101" pitchFamily="2" charset="-122"/>
                          <a:ea typeface="宋体" panose="02010600030101010101" pitchFamily="2" charset="-122"/>
                        </a:rPr>
                        <a:t>-2.043746183</a:t>
                      </a:r>
                    </a:p>
                  </a:txBody>
                  <a:tcPr marL="7937" marR="7937" marT="7937" marB="0" anchor="b"/>
                </a:tc>
                <a:extLst>
                  <a:ext uri="{0D108BD9-81ED-4DB2-BD59-A6C34878D82A}">
                    <a16:rowId xmlns:a16="http://schemas.microsoft.com/office/drawing/2014/main" val="10009"/>
                  </a:ext>
                </a:extLst>
              </a:tr>
              <a:tr h="381000">
                <a:tc>
                  <a:txBody>
                    <a:bodyPr/>
                    <a:lstStyle/>
                    <a:p>
                      <a:pPr algn="ctr" fontAlgn="t"/>
                      <a:r>
                        <a:rPr lang="en-US" altLang="zh-CN" sz="1100" b="1" i="0">
                          <a:solidFill>
                            <a:srgbClr val="000000"/>
                          </a:solidFill>
                          <a:latin typeface="宋体" panose="02010600030101010101" pitchFamily="2" charset="-122"/>
                          <a:ea typeface="宋体" panose="02010600030101010101" pitchFamily="2" charset="-122"/>
                        </a:rPr>
                        <a:t>Random Forest</a:t>
                      </a:r>
                    </a:p>
                  </a:txBody>
                  <a:tcPr marL="7937" marR="7937" marT="7937" marB="0"/>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tc>
                  <a:txBody>
                    <a:bodyPr/>
                    <a:lstStyle/>
                    <a:p>
                      <a:pPr algn="l" fontAlgn="b"/>
                      <a:endParaRPr sz="1100" b="0" i="0">
                        <a:solidFill>
                          <a:srgbClr val="000000"/>
                        </a:solidFill>
                        <a:latin typeface="宋体" panose="02010600030101010101" pitchFamily="2" charset="-122"/>
                        <a:ea typeface="宋体" panose="02010600030101010101" pitchFamily="2" charset="-122"/>
                      </a:endParaRPr>
                    </a:p>
                  </a:txBody>
                  <a:tcPr marL="7937" marR="7937" marT="7937" marB="0" anchor="b"/>
                </a:tc>
                <a:extLst>
                  <a:ext uri="{0D108BD9-81ED-4DB2-BD59-A6C34878D82A}">
                    <a16:rowId xmlns:a16="http://schemas.microsoft.com/office/drawing/2014/main" val="10010"/>
                  </a:ext>
                </a:extLst>
              </a:tr>
            </a:tbl>
          </a:graphicData>
        </a:graphic>
      </p:graphicFrame>
      <p:sp>
        <p:nvSpPr>
          <p:cNvPr id="15" name="文本框 14"/>
          <p:cNvSpPr txBox="1"/>
          <p:nvPr/>
        </p:nvSpPr>
        <p:spPr>
          <a:xfrm>
            <a:off x="596900" y="1560195"/>
            <a:ext cx="684530" cy="368300"/>
          </a:xfrm>
          <a:prstGeom prst="rect">
            <a:avLst/>
          </a:prstGeom>
          <a:noFill/>
        </p:spPr>
        <p:txBody>
          <a:bodyPr wrap="square" rtlCol="0">
            <a:spAutoFit/>
          </a:bodyPr>
          <a:lstStyle/>
          <a:p>
            <a:r>
              <a:rPr lang="en-US" altLang="zh-CN" sz="900" b="1"/>
              <a:t>method</a:t>
            </a:r>
            <a:r>
              <a:rPr lang="zh-CN" altLang="en-US" sz="900" b="1"/>
              <a:t>（</a:t>
            </a:r>
            <a:r>
              <a:rPr lang="en-US" altLang="zh-CN" sz="900" b="1"/>
              <a:t>1</a:t>
            </a:r>
            <a:r>
              <a:rPr lang="zh-CN" altLang="en-US" sz="900" b="1"/>
              <a:t>）</a:t>
            </a:r>
          </a:p>
        </p:txBody>
      </p:sp>
      <p:sp>
        <p:nvSpPr>
          <p:cNvPr id="16" name="文本框 15"/>
          <p:cNvSpPr txBox="1"/>
          <p:nvPr/>
        </p:nvSpPr>
        <p:spPr>
          <a:xfrm>
            <a:off x="1191260" y="1434465"/>
            <a:ext cx="684530" cy="368300"/>
          </a:xfrm>
          <a:prstGeom prst="rect">
            <a:avLst/>
          </a:prstGeom>
          <a:noFill/>
        </p:spPr>
        <p:txBody>
          <a:bodyPr wrap="square" rtlCol="0">
            <a:spAutoFit/>
          </a:bodyPr>
          <a:lstStyle/>
          <a:p>
            <a:r>
              <a:rPr lang="en-US" altLang="zh-CN" sz="900" b="1"/>
              <a:t>method</a:t>
            </a:r>
            <a:r>
              <a:rPr lang="zh-CN" altLang="en-US" sz="900" b="1"/>
              <a:t>（</a:t>
            </a:r>
            <a:r>
              <a:rPr lang="en-US" altLang="zh-CN" sz="900" b="1"/>
              <a:t>2</a:t>
            </a:r>
            <a:r>
              <a:rPr lang="zh-CN" altLang="en-US" sz="900" b="1"/>
              <a:t>）</a:t>
            </a:r>
          </a:p>
        </p:txBody>
      </p:sp>
      <p:sp>
        <p:nvSpPr>
          <p:cNvPr id="17" name="文本框 16"/>
          <p:cNvSpPr txBox="1"/>
          <p:nvPr/>
        </p:nvSpPr>
        <p:spPr>
          <a:xfrm>
            <a:off x="728345" y="6160135"/>
            <a:ext cx="6096000" cy="275590"/>
          </a:xfrm>
          <a:prstGeom prst="rect">
            <a:avLst/>
          </a:prstGeom>
          <a:noFill/>
        </p:spPr>
        <p:txBody>
          <a:bodyPr wrap="square" rtlCol="0" anchor="t">
            <a:spAutoFit/>
          </a:bodyPr>
          <a:lstStyle/>
          <a:p>
            <a:pPr algn="l">
              <a:buClrTx/>
              <a:buSzTx/>
              <a:buFontTx/>
            </a:pPr>
            <a:r>
              <a:rPr lang="en-US" altLang="zh-CN" sz="1200">
                <a:sym typeface="+mn-ea"/>
              </a:rPr>
              <a:t>Positive values indicate the column model outperforms the row model.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35"/>
            <a:ext cx="10515600" cy="1325563"/>
          </a:xfrm>
        </p:spPr>
        <p:txBody>
          <a:bodyPr>
            <a:normAutofit/>
          </a:bodyPr>
          <a:lstStyle/>
          <a:p>
            <a:r>
              <a:rPr lang="en-US" sz="3600" b="1" dirty="0">
                <a:sym typeface="+mn-ea"/>
              </a:rPr>
              <a:t>The calculation results of the Diebold and Mariano test statistic in the paper</a:t>
            </a:r>
          </a:p>
        </p:txBody>
      </p:sp>
      <p:sp>
        <p:nvSpPr>
          <p:cNvPr id="4" name="灯片编号占位符 3"/>
          <p:cNvSpPr>
            <a:spLocks noGrp="1"/>
          </p:cNvSpPr>
          <p:nvPr>
            <p:ph type="sldNum" sz="quarter" idx="12"/>
          </p:nvPr>
        </p:nvSpPr>
        <p:spPr/>
        <p:txBody>
          <a:bodyPr/>
          <a:lstStyle/>
          <a:p>
            <a:fld id="{107D843B-1DED-40DC-AF70-C1B4F17B1EA6}" type="slidenum">
              <a:rPr lang="en-US" smtClean="0"/>
              <a:t>61</a:t>
            </a:fld>
            <a:endParaRPr lang="en-US"/>
          </a:p>
        </p:txBody>
      </p:sp>
      <p:pic>
        <p:nvPicPr>
          <p:cNvPr id="5" name="内容占位符 4"/>
          <p:cNvPicPr>
            <a:picLocks noGrp="1" noChangeAspect="1"/>
          </p:cNvPicPr>
          <p:nvPr>
            <p:ph idx="1"/>
          </p:nvPr>
        </p:nvPicPr>
        <p:blipFill>
          <a:blip r:embed="rId2"/>
          <a:stretch>
            <a:fillRect/>
          </a:stretch>
        </p:blipFill>
        <p:spPr>
          <a:xfrm>
            <a:off x="179705" y="1325245"/>
            <a:ext cx="6414770" cy="3759835"/>
          </a:xfrm>
          <a:prstGeom prst="rect">
            <a:avLst/>
          </a:prstGeom>
        </p:spPr>
      </p:pic>
      <p:pic>
        <p:nvPicPr>
          <p:cNvPr id="7" name="图片 6"/>
          <p:cNvPicPr>
            <a:picLocks noChangeAspect="1"/>
          </p:cNvPicPr>
          <p:nvPr/>
        </p:nvPicPr>
        <p:blipFill>
          <a:blip r:embed="rId3"/>
          <a:stretch>
            <a:fillRect/>
          </a:stretch>
        </p:blipFill>
        <p:spPr>
          <a:xfrm>
            <a:off x="227330" y="2066925"/>
            <a:ext cx="427355" cy="180340"/>
          </a:xfrm>
          <a:prstGeom prst="rect">
            <a:avLst/>
          </a:prstGeom>
        </p:spPr>
      </p:pic>
      <p:pic>
        <p:nvPicPr>
          <p:cNvPr id="9" name="图片 8"/>
          <p:cNvPicPr>
            <a:picLocks noChangeAspect="1"/>
          </p:cNvPicPr>
          <p:nvPr/>
        </p:nvPicPr>
        <p:blipFill>
          <a:blip r:embed="rId4"/>
          <a:stretch>
            <a:fillRect/>
          </a:stretch>
        </p:blipFill>
        <p:spPr>
          <a:xfrm>
            <a:off x="758190" y="1873885"/>
            <a:ext cx="163830" cy="380365"/>
          </a:xfrm>
          <a:prstGeom prst="rect">
            <a:avLst/>
          </a:prstGeom>
        </p:spPr>
      </p:pic>
      <p:sp>
        <p:nvSpPr>
          <p:cNvPr id="10" name="文本框 9"/>
          <p:cNvSpPr txBox="1"/>
          <p:nvPr/>
        </p:nvSpPr>
        <p:spPr>
          <a:xfrm>
            <a:off x="6965950" y="1288415"/>
            <a:ext cx="4917440" cy="3784600"/>
          </a:xfrm>
          <a:prstGeom prst="rect">
            <a:avLst/>
          </a:prstGeom>
        </p:spPr>
        <p:txBody>
          <a:bodyPr wrap="square">
            <a:spAutoFit/>
          </a:bodyPr>
          <a:lstStyle/>
          <a:p>
            <a:r>
              <a:rPr lang="en-US" altLang="zh-CN" sz="1200" b="1" dirty="0"/>
              <a:t>Linear vs. Constrained Linear </a:t>
            </a:r>
            <a:r>
              <a:rPr lang="en-US" altLang="zh-CN" sz="1200" b="1" dirty="0" err="1"/>
              <a:t>Models:</a:t>
            </a:r>
            <a:r>
              <a:rPr lang="en-US" altLang="zh-CN" sz="1200" dirty="0" err="1"/>
              <a:t>Unconstrained</a:t>
            </a:r>
            <a:r>
              <a:rPr lang="en-US" altLang="zh-CN" sz="1200" dirty="0"/>
              <a:t> OLS significantly underperforms compared to constrained linear models such as OLS-3, PLS, PCR, and Elastic Net (ENet). The addition of regularization or dimension reduction leads to substantial predictive improvements over the naïve OLS model.</a:t>
            </a:r>
          </a:p>
          <a:p>
            <a:r>
              <a:rPr lang="en-US" altLang="zh-CN" sz="1200" b="1" dirty="0"/>
              <a:t>Comparison Among Linear </a:t>
            </a:r>
            <a:r>
              <a:rPr lang="en-US" altLang="zh-CN" sz="1200" b="1" dirty="0" err="1"/>
              <a:t>Models:</a:t>
            </a:r>
            <a:r>
              <a:rPr lang="en-US" altLang="zh-CN" sz="1200" dirty="0" err="1"/>
              <a:t>Differences</a:t>
            </a:r>
            <a:r>
              <a:rPr lang="en-US" altLang="zh-CN" sz="1200" dirty="0"/>
              <a:t> between penalized linear methods (ENet) and dimension reduction techniques (PLS and PCR) are minimal, with no clear dominance of one approach over the other. This suggests that both strategies effectively mitigate overfitting and capture predictive signals.</a:t>
            </a:r>
          </a:p>
          <a:p>
            <a:r>
              <a:rPr lang="en-US" altLang="zh-CN" sz="1200" b="1" dirty="0"/>
              <a:t>Nonlinear Methods vs. Linear Methods: </a:t>
            </a:r>
            <a:r>
              <a:rPr lang="en-US" altLang="zh-CN" sz="1200" dirty="0"/>
              <a:t>Tree-based models, such as Random Forest (RF) and Gradient Boosted Regression Trees (GBRT), generally outperform linear models. However, the statistical significance of these improvements is </a:t>
            </a:r>
            <a:r>
              <a:rPr lang="en-US" altLang="zh-CN" sz="1200" dirty="0" err="1"/>
              <a:t>marginal.Neural</a:t>
            </a:r>
            <a:r>
              <a:rPr lang="en-US" altLang="zh-CN" sz="1200" dirty="0"/>
              <a:t> networks (NNs) consistently and significantly outperform linear and generalized linear models, showcasing the value of allowing for complex interactions and nonlinear relationships.</a:t>
            </a:r>
          </a:p>
          <a:p>
            <a:r>
              <a:rPr lang="en-US" altLang="zh-CN" sz="1200" b="1" dirty="0"/>
              <a:t>Neural Networks vs. Tree-Based Models: </a:t>
            </a:r>
            <a:r>
              <a:rPr lang="en-US" altLang="zh-CN" sz="1200" dirty="0"/>
              <a:t>Neural networks improve upon tree-based methods, though the differences are not statistically significant at the 5% level. This highlights the nuanced trade-offs between model flexibility and overfitting.</a:t>
            </a:r>
          </a:p>
        </p:txBody>
      </p:sp>
      <p:sp>
        <p:nvSpPr>
          <p:cNvPr id="11" name="文本框 10"/>
          <p:cNvSpPr txBox="1"/>
          <p:nvPr/>
        </p:nvSpPr>
        <p:spPr>
          <a:xfrm>
            <a:off x="266065" y="5132705"/>
            <a:ext cx="6127115" cy="1568450"/>
          </a:xfrm>
          <a:prstGeom prst="rect">
            <a:avLst/>
          </a:prstGeom>
        </p:spPr>
        <p:txBody>
          <a:bodyPr wrap="square">
            <a:spAutoFit/>
          </a:bodyPr>
          <a:lstStyle/>
          <a:p>
            <a:pPr algn="l">
              <a:buClrTx/>
              <a:buSzTx/>
              <a:buFontTx/>
            </a:pPr>
            <a:r>
              <a:rPr lang="en-US" altLang="zh-CN" sz="1200" dirty="0"/>
              <a:t>Table 3 evaluates the statistical significance of performance differences between machine learning models using Diebold-Mariano (DM) test statistics. The table facilitates a pairwise comparison of predictive accuracy, where:</a:t>
            </a:r>
          </a:p>
          <a:p>
            <a:pPr algn="l">
              <a:buClrTx/>
              <a:buSzTx/>
              <a:buFontTx/>
            </a:pPr>
            <a:endParaRPr lang="en-US" altLang="zh-CN" sz="1200" dirty="0"/>
          </a:p>
          <a:p>
            <a:pPr algn="l">
              <a:buClrTx/>
              <a:buSzTx/>
              <a:buFontTx/>
            </a:pPr>
            <a:r>
              <a:rPr lang="en-US" altLang="zh-CN" sz="1200" dirty="0"/>
              <a:t>Positive values indicate the column model outperforms the row model.</a:t>
            </a:r>
          </a:p>
          <a:p>
            <a:pPr algn="l">
              <a:buClrTx/>
              <a:buSzTx/>
              <a:buFontTx/>
            </a:pPr>
            <a:endParaRPr lang="en-US" altLang="zh-CN" sz="1200" dirty="0"/>
          </a:p>
          <a:p>
            <a:pPr algn="l">
              <a:buClrTx/>
              <a:buSzTx/>
              <a:buFontTx/>
            </a:pPr>
            <a:r>
              <a:rPr lang="en-US" altLang="zh-CN" sz="1200" dirty="0"/>
              <a:t>Statistically significant differences are highlighted in bold (at the 5% level) and with an asterisk for comparisons passing the Bonferroni correction.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7195"/>
            <a:ext cx="10515600" cy="1336413"/>
          </a:xfrm>
        </p:spPr>
        <p:txBody>
          <a:bodyPr>
            <a:normAutofit/>
          </a:bodyPr>
          <a:lstStyle/>
          <a:p>
            <a:r>
              <a:rPr lang="en-US" sz="3600" b="1" dirty="0"/>
              <a:t>Variable Importance and Marginal Relationships</a:t>
            </a:r>
          </a:p>
        </p:txBody>
      </p:sp>
      <p:sp>
        <p:nvSpPr>
          <p:cNvPr id="3" name="Content Placeholder 2"/>
          <p:cNvSpPr>
            <a:spLocks noGrp="1"/>
          </p:cNvSpPr>
          <p:nvPr>
            <p:ph idx="1"/>
          </p:nvPr>
        </p:nvSpPr>
        <p:spPr>
          <a:xfrm>
            <a:off x="838200" y="433705"/>
            <a:ext cx="10515600" cy="5601335"/>
          </a:xfrm>
        </p:spPr>
        <p:txBody>
          <a:bodyPr>
            <a:normAutofit/>
          </a:bodyPr>
          <a:lstStyle/>
          <a:p>
            <a:r>
              <a:rPr b="1" dirty="0">
                <a:solidFill>
                  <a:srgbClr val="26927D"/>
                </a:solidFill>
              </a:rPr>
              <a:t>Variable Importance </a:t>
            </a:r>
            <a:r>
              <a:rPr lang="en-US" b="1" dirty="0">
                <a:solidFill>
                  <a:srgbClr val="26927D"/>
                </a:solidFill>
              </a:rPr>
              <a:t>:</a:t>
            </a:r>
            <a:endParaRPr lang="en-US" altLang="zh-CN"/>
          </a:p>
          <a:p>
            <a:pPr marL="0" indent="0">
              <a:buNone/>
            </a:pPr>
            <a:endParaRPr dirty="0">
              <a:solidFill>
                <a:srgbClr val="26927D"/>
              </a:solidFill>
            </a:endParaRPr>
          </a:p>
          <a:p>
            <a:pPr marL="0" indent="0">
              <a:buNone/>
            </a:pPr>
            <a:r>
              <a:rPr lang="en-US" altLang="zh-CN" dirty="0">
                <a:sym typeface="+mn-ea"/>
              </a:rPr>
              <a:t>                                        </a:t>
            </a:r>
          </a:p>
          <a:p>
            <a:pPr marL="0" indent="0">
              <a:buNone/>
            </a:pPr>
            <a:r>
              <a:rPr lang="en-US" altLang="zh-CN" dirty="0">
                <a:sym typeface="+mn-ea"/>
              </a:rPr>
              <a:t>                                   </a:t>
            </a:r>
            <a:r>
              <a:rPr lang="en-US" dirty="0">
                <a:sym typeface="+mn-ea"/>
              </a:rPr>
              <a:t> </a:t>
            </a:r>
          </a:p>
          <a:p>
            <a:pPr marL="0" indent="0">
              <a:buNone/>
            </a:pPr>
            <a:r>
              <a:rPr lang="en-US" dirty="0">
                <a:sym typeface="+mn-ea"/>
              </a:rPr>
              <a:t> </a:t>
            </a:r>
            <a:endParaRPr sz="2800" dirty="0">
              <a:sym typeface="+mn-ea"/>
            </a:endParaRPr>
          </a:p>
          <a:p>
            <a:pPr marL="0" indent="0">
              <a:buNone/>
            </a:pPr>
            <a:endParaRPr lang="en-US" sz="2800" dirty="0">
              <a:sym typeface="+mn-ea"/>
            </a:endParaRPr>
          </a:p>
          <a:p>
            <a:pPr marL="0" indent="0">
              <a:buNone/>
            </a:pPr>
            <a:r>
              <a:rPr b="1" dirty="0">
                <a:solidFill>
                  <a:srgbClr val="26927D"/>
                </a:solidFill>
              </a:rPr>
              <a:t>Sum of Squared Derivatives (SSD)</a:t>
            </a:r>
            <a:r>
              <a:rPr b="1" dirty="0">
                <a:solidFill>
                  <a:srgbClr val="26927D"/>
                </a:solidFill>
                <a:sym typeface="+mn-ea"/>
              </a:rPr>
              <a:t> :</a:t>
            </a:r>
            <a:endParaRPr b="1" dirty="0">
              <a:solidFill>
                <a:srgbClr val="26927D"/>
              </a:solidFill>
            </a:endParaRPr>
          </a:p>
          <a:p>
            <a:pPr marL="0" indent="0">
              <a:buNone/>
            </a:pPr>
            <a:endParaRPr sz="2800" b="1" dirty="0">
              <a:solidFill>
                <a:srgbClr val="26927D"/>
              </a:solidFill>
              <a:sym typeface="+mn-ea"/>
            </a:endParaRPr>
          </a:p>
        </p:txBody>
      </p:sp>
      <p:pic>
        <p:nvPicPr>
          <p:cNvPr id="8" name="图片 7"/>
          <p:cNvPicPr>
            <a:picLocks noChangeAspect="1"/>
          </p:cNvPicPr>
          <p:nvPr/>
        </p:nvPicPr>
        <p:blipFill>
          <a:blip r:embed="rId2"/>
          <a:stretch>
            <a:fillRect/>
          </a:stretch>
        </p:blipFill>
        <p:spPr>
          <a:xfrm>
            <a:off x="1358900" y="831215"/>
            <a:ext cx="1584960" cy="327660"/>
          </a:xfrm>
          <a:prstGeom prst="rect">
            <a:avLst/>
          </a:prstGeom>
        </p:spPr>
      </p:pic>
      <p:sp>
        <p:nvSpPr>
          <p:cNvPr id="9" name="文本框 8"/>
          <p:cNvSpPr txBox="1"/>
          <p:nvPr/>
        </p:nvSpPr>
        <p:spPr>
          <a:xfrm>
            <a:off x="496570" y="1141095"/>
            <a:ext cx="10567670" cy="583565"/>
          </a:xfrm>
          <a:prstGeom prst="rect">
            <a:avLst/>
          </a:prstGeom>
        </p:spPr>
        <p:txBody>
          <a:bodyPr wrap="square">
            <a:spAutoFit/>
          </a:bodyPr>
          <a:lstStyle/>
          <a:p>
            <a:r>
              <a:rPr lang="en-US" altLang="zh-CN" sz="1600"/>
              <a:t>Rmo  : The out-of-sample predictive R</a:t>
            </a:r>
            <a:r>
              <a:rPr lang="en-US" altLang="zh-CN" sz="1600" baseline="30000"/>
              <a:t>2</a:t>
            </a:r>
            <a:r>
              <a:rPr lang="en-US" altLang="zh-CN" sz="1600"/>
              <a:t> of the full model using all predictors.</a:t>
            </a:r>
          </a:p>
          <a:p>
            <a:r>
              <a:rPr lang="en-US" altLang="zh-CN" sz="1600"/>
              <a:t>R−j: The out-of-sample predictive R</a:t>
            </a:r>
            <a:r>
              <a:rPr lang="en-US" altLang="zh-CN" sz="1600" baseline="30000"/>
              <a:t>2</a:t>
            </a:r>
            <a:r>
              <a:rPr lang="en-US" altLang="zh-CN" sz="1600"/>
              <a:t> of the model after setting the j-th variable to zero.</a:t>
            </a:r>
          </a:p>
        </p:txBody>
      </p:sp>
      <p:pic>
        <p:nvPicPr>
          <p:cNvPr id="12" name="图片 11"/>
          <p:cNvPicPr>
            <a:picLocks noChangeAspect="1"/>
          </p:cNvPicPr>
          <p:nvPr/>
        </p:nvPicPr>
        <p:blipFill>
          <a:blip r:embed="rId3"/>
          <a:stretch>
            <a:fillRect/>
          </a:stretch>
        </p:blipFill>
        <p:spPr>
          <a:xfrm>
            <a:off x="453390" y="1111885"/>
            <a:ext cx="533400" cy="320040"/>
          </a:xfrm>
          <a:prstGeom prst="rect">
            <a:avLst/>
          </a:prstGeom>
        </p:spPr>
      </p:pic>
      <p:pic>
        <p:nvPicPr>
          <p:cNvPr id="13" name="图片 12"/>
          <p:cNvPicPr>
            <a:picLocks noChangeAspect="1"/>
          </p:cNvPicPr>
          <p:nvPr/>
        </p:nvPicPr>
        <p:blipFill>
          <a:blip r:embed="rId4"/>
          <a:stretch>
            <a:fillRect/>
          </a:stretch>
        </p:blipFill>
        <p:spPr>
          <a:xfrm>
            <a:off x="496570" y="1410335"/>
            <a:ext cx="350520" cy="281940"/>
          </a:xfrm>
          <a:prstGeom prst="rect">
            <a:avLst/>
          </a:prstGeom>
        </p:spPr>
      </p:pic>
      <p:sp>
        <p:nvSpPr>
          <p:cNvPr id="16" name="文本框 15"/>
          <p:cNvSpPr txBox="1"/>
          <p:nvPr/>
        </p:nvSpPr>
        <p:spPr>
          <a:xfrm>
            <a:off x="453390" y="1779905"/>
            <a:ext cx="9088120" cy="1076325"/>
          </a:xfrm>
          <a:prstGeom prst="rect">
            <a:avLst/>
          </a:prstGeom>
        </p:spPr>
        <p:txBody>
          <a:bodyPr wrap="square">
            <a:spAutoFit/>
          </a:bodyPr>
          <a:lstStyle/>
          <a:p>
            <a:r>
              <a:rPr lang="en-US" altLang="zh-CN" sz="1600"/>
              <a:t>Procedure:</a:t>
            </a:r>
          </a:p>
          <a:p>
            <a:pPr indent="0">
              <a:buFont typeface="Arial" panose="020B0604020202020204"/>
              <a:buNone/>
            </a:pPr>
            <a:r>
              <a:rPr lang="en-US" altLang="zh-CN" sz="1600"/>
              <a:t>1.Iteratively set each variable j to zero.</a:t>
            </a:r>
          </a:p>
          <a:p>
            <a:pPr indent="0">
              <a:buFont typeface="Arial" panose="020B0604020202020204"/>
              <a:buNone/>
            </a:pPr>
            <a:r>
              <a:rPr lang="en-US" altLang="zh-CN" sz="1600"/>
              <a:t>2.Recalculate the model’s predictive R</a:t>
            </a:r>
            <a:r>
              <a:rPr lang="en-US" altLang="zh-CN" sz="1600" baseline="30000"/>
              <a:t>2</a:t>
            </a:r>
            <a:r>
              <a:rPr lang="en-US" altLang="zh-CN" sz="1600"/>
              <a:t>.</a:t>
            </a:r>
          </a:p>
          <a:p>
            <a:pPr indent="0">
              <a:buFont typeface="Arial" panose="020B0604020202020204"/>
              <a:buNone/>
            </a:pPr>
            <a:r>
              <a:rPr lang="en-US" altLang="zh-CN" sz="1600"/>
              <a:t>3.Compare the difference between the full model R</a:t>
            </a:r>
            <a:r>
              <a:rPr lang="en-US" altLang="zh-CN" sz="1600" baseline="30000"/>
              <a:t>2</a:t>
            </a:r>
            <a:r>
              <a:rPr lang="en-US" altLang="zh-CN" sz="1600"/>
              <a:t> and the R</a:t>
            </a:r>
            <a:r>
              <a:rPr lang="en-US" altLang="zh-CN" sz="1600" baseline="30000"/>
              <a:t>2</a:t>
            </a:r>
            <a:r>
              <a:rPr lang="en-US" altLang="zh-CN" sz="1600"/>
              <a:t> after setting z</a:t>
            </a:r>
            <a:r>
              <a:rPr lang="en-US" altLang="zh-CN" sz="1600" baseline="-25000"/>
              <a:t>j</a:t>
            </a:r>
            <a:r>
              <a:rPr lang="en-US" altLang="zh-CN" sz="1600"/>
              <a:t>=0.</a:t>
            </a:r>
          </a:p>
        </p:txBody>
      </p:sp>
      <p:sp>
        <p:nvSpPr>
          <p:cNvPr id="17" name="文本框 16"/>
          <p:cNvSpPr txBox="1"/>
          <p:nvPr/>
        </p:nvSpPr>
        <p:spPr>
          <a:xfrm>
            <a:off x="430530" y="2891155"/>
            <a:ext cx="10393045" cy="583565"/>
          </a:xfrm>
          <a:prstGeom prst="rect">
            <a:avLst/>
          </a:prstGeom>
        </p:spPr>
        <p:txBody>
          <a:bodyPr wrap="square">
            <a:spAutoFit/>
          </a:bodyPr>
          <a:lstStyle/>
          <a:p>
            <a:r>
              <a:rPr lang="en-US" altLang="zh-CN" sz="1600"/>
              <a:t>Measures the contribution of variable j to the model's predictive performance. Directly reflects the incremental impact of variable j on R</a:t>
            </a:r>
            <a:r>
              <a:rPr lang="en-US" altLang="zh-CN" sz="1600" baseline="30000"/>
              <a:t>2</a:t>
            </a:r>
            <a:r>
              <a:rPr lang="en-US" altLang="zh-CN" sz="1600"/>
              <a:t>.</a:t>
            </a:r>
          </a:p>
        </p:txBody>
      </p:sp>
      <p:pic>
        <p:nvPicPr>
          <p:cNvPr id="19" name="图片 18"/>
          <p:cNvPicPr>
            <a:picLocks noChangeAspect="1"/>
          </p:cNvPicPr>
          <p:nvPr/>
        </p:nvPicPr>
        <p:blipFill>
          <a:blip r:embed="rId5"/>
          <a:stretch>
            <a:fillRect/>
          </a:stretch>
        </p:blipFill>
        <p:spPr>
          <a:xfrm>
            <a:off x="1337310" y="3978275"/>
            <a:ext cx="2590800" cy="693420"/>
          </a:xfrm>
          <a:prstGeom prst="rect">
            <a:avLst/>
          </a:prstGeom>
        </p:spPr>
      </p:pic>
      <p:sp>
        <p:nvSpPr>
          <p:cNvPr id="20" name="文本框 19"/>
          <p:cNvSpPr txBox="1"/>
          <p:nvPr/>
        </p:nvSpPr>
        <p:spPr>
          <a:xfrm>
            <a:off x="1056640" y="4859972"/>
            <a:ext cx="5080000" cy="829945"/>
          </a:xfrm>
          <a:prstGeom prst="rect">
            <a:avLst/>
          </a:prstGeom>
        </p:spPr>
        <p:txBody>
          <a:bodyPr>
            <a:spAutoFit/>
          </a:bodyPr>
          <a:lstStyle/>
          <a:p>
            <a:r>
              <a:rPr lang="en-US" altLang="zh-CN" sz="1600"/>
              <a:t>g(z;θ): The model’s function for forecasting.</a:t>
            </a:r>
          </a:p>
          <a:p>
            <a:r>
              <a:rPr lang="en-US" altLang="zh-CN" sz="1600"/>
              <a:t>zj: The j-th input variable.</a:t>
            </a:r>
          </a:p>
          <a:p>
            <a:r>
              <a:rPr lang="en-US" altLang="zh-CN" sz="1600"/>
              <a:t>T1: The training dataset.</a:t>
            </a:r>
          </a:p>
        </p:txBody>
      </p:sp>
      <p:sp>
        <p:nvSpPr>
          <p:cNvPr id="21" name="文本框 20"/>
          <p:cNvSpPr txBox="1"/>
          <p:nvPr/>
        </p:nvSpPr>
        <p:spPr>
          <a:xfrm>
            <a:off x="214630" y="5630545"/>
            <a:ext cx="8578850" cy="829945"/>
          </a:xfrm>
          <a:prstGeom prst="rect">
            <a:avLst/>
          </a:prstGeom>
        </p:spPr>
        <p:txBody>
          <a:bodyPr wrap="square">
            <a:spAutoFit/>
          </a:bodyPr>
          <a:lstStyle/>
          <a:p>
            <a:r>
              <a:rPr lang="en-US" altLang="zh-CN" sz="1600">
                <a:sym typeface="+mn-ea"/>
              </a:rPr>
              <a:t>Procedure:</a:t>
            </a:r>
            <a:endParaRPr lang="en-US" altLang="zh-CN" sz="1600"/>
          </a:p>
          <a:p>
            <a:r>
              <a:rPr lang="en-US" altLang="zh-CN" sz="1600"/>
              <a:t>1.Compute the partial derivative of the model output with respect to each predictor zj.</a:t>
            </a:r>
          </a:p>
          <a:p>
            <a:r>
              <a:rPr lang="en-US" altLang="zh-CN" sz="1600"/>
              <a:t>2.Square the derivatives and sum them across all training samples.</a:t>
            </a:r>
          </a:p>
        </p:txBody>
      </p:sp>
      <p:sp>
        <p:nvSpPr>
          <p:cNvPr id="22" name="文本框 21"/>
          <p:cNvSpPr txBox="1"/>
          <p:nvPr/>
        </p:nvSpPr>
        <p:spPr>
          <a:xfrm>
            <a:off x="184150" y="6369685"/>
            <a:ext cx="10394315" cy="337185"/>
          </a:xfrm>
          <a:prstGeom prst="rect">
            <a:avLst/>
          </a:prstGeom>
        </p:spPr>
        <p:txBody>
          <a:bodyPr wrap="square">
            <a:spAutoFit/>
          </a:bodyPr>
          <a:lstStyle/>
          <a:p>
            <a:r>
              <a:rPr lang="en-US" altLang="zh-CN" sz="1600"/>
              <a:t>Quantifies the model’s sensitivity to changes in variable j.Reflects the marginal impact of zj on the model's predictions.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
            <a:ext cx="10515600" cy="1325563"/>
          </a:xfrm>
        </p:spPr>
        <p:txBody>
          <a:bodyPr>
            <a:normAutofit/>
          </a:bodyPr>
          <a:lstStyle/>
          <a:p>
            <a:r>
              <a:rPr lang="en-US" sz="3600" b="1" dirty="0">
                <a:sym typeface="+mn-ea"/>
              </a:rPr>
              <a:t>The Results of the Variable Importance in the generated sample data</a:t>
            </a:r>
          </a:p>
        </p:txBody>
      </p:sp>
      <p:sp>
        <p:nvSpPr>
          <p:cNvPr id="4" name="灯片编号占位符 3"/>
          <p:cNvSpPr>
            <a:spLocks noGrp="1"/>
          </p:cNvSpPr>
          <p:nvPr>
            <p:ph type="sldNum" sz="quarter" idx="12"/>
          </p:nvPr>
        </p:nvSpPr>
        <p:spPr/>
        <p:txBody>
          <a:bodyPr/>
          <a:lstStyle/>
          <a:p>
            <a:fld id="{107D843B-1DED-40DC-AF70-C1B4F17B1EA6}" type="slidenum">
              <a:rPr lang="en-US" smtClean="0"/>
              <a:t>63</a:t>
            </a:fld>
            <a:endParaRPr lang="en-US"/>
          </a:p>
        </p:txBody>
      </p:sp>
      <p:pic>
        <p:nvPicPr>
          <p:cNvPr id="6" name="内容占位符 5" descr="Variable Importance-R2"/>
          <p:cNvPicPr>
            <a:picLocks noGrp="1" noChangeAspect="1"/>
          </p:cNvPicPr>
          <p:nvPr>
            <p:ph idx="1"/>
          </p:nvPr>
        </p:nvPicPr>
        <p:blipFill>
          <a:blip r:embed="rId2"/>
          <a:stretch>
            <a:fillRect/>
          </a:stretch>
        </p:blipFill>
        <p:spPr>
          <a:xfrm>
            <a:off x="1647825" y="1050290"/>
            <a:ext cx="8668385" cy="577977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4895" y="-271145"/>
            <a:ext cx="10515600" cy="1325563"/>
          </a:xfrm>
        </p:spPr>
        <p:txBody>
          <a:bodyPr>
            <a:normAutofit/>
          </a:bodyPr>
          <a:lstStyle/>
          <a:p>
            <a:r>
              <a:rPr lang="en-US" sz="3600" b="1" dirty="0">
                <a:sym typeface="+mn-ea"/>
              </a:rPr>
              <a:t>The Results of SSD in the generated sample data</a:t>
            </a:r>
          </a:p>
        </p:txBody>
      </p:sp>
      <p:sp>
        <p:nvSpPr>
          <p:cNvPr id="4" name="灯片编号占位符 3"/>
          <p:cNvSpPr>
            <a:spLocks noGrp="1"/>
          </p:cNvSpPr>
          <p:nvPr>
            <p:ph type="sldNum" sz="quarter" idx="12"/>
          </p:nvPr>
        </p:nvSpPr>
        <p:spPr/>
        <p:txBody>
          <a:bodyPr/>
          <a:lstStyle/>
          <a:p>
            <a:fld id="{107D843B-1DED-40DC-AF70-C1B4F17B1EA6}" type="slidenum">
              <a:rPr lang="en-US" smtClean="0"/>
              <a:t>64</a:t>
            </a:fld>
            <a:endParaRPr lang="en-US"/>
          </a:p>
        </p:txBody>
      </p:sp>
      <p:pic>
        <p:nvPicPr>
          <p:cNvPr id="5" name="内容占位符 4" descr="Variable Importance-SSD"/>
          <p:cNvPicPr>
            <a:picLocks noGrp="1" noChangeAspect="1"/>
          </p:cNvPicPr>
          <p:nvPr>
            <p:ph idx="1"/>
          </p:nvPr>
        </p:nvPicPr>
        <p:blipFill>
          <a:blip r:embed="rId2"/>
          <a:stretch>
            <a:fillRect/>
          </a:stretch>
        </p:blipFill>
        <p:spPr>
          <a:xfrm>
            <a:off x="1175385" y="548005"/>
            <a:ext cx="9302750" cy="620141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525"/>
            <a:ext cx="10515600" cy="1325563"/>
          </a:xfrm>
        </p:spPr>
        <p:txBody>
          <a:bodyPr>
            <a:normAutofit/>
          </a:bodyPr>
          <a:lstStyle/>
          <a:p>
            <a:r>
              <a:rPr lang="en-US" sz="3600" b="1" dirty="0">
                <a:sym typeface="+mn-ea"/>
              </a:rPr>
              <a:t>The Results of the Variable Importance in the paper</a:t>
            </a:r>
          </a:p>
        </p:txBody>
      </p:sp>
      <p:sp>
        <p:nvSpPr>
          <p:cNvPr id="4" name="灯片编号占位符 3"/>
          <p:cNvSpPr>
            <a:spLocks noGrp="1"/>
          </p:cNvSpPr>
          <p:nvPr>
            <p:ph type="sldNum" sz="quarter" idx="12"/>
          </p:nvPr>
        </p:nvSpPr>
        <p:spPr/>
        <p:txBody>
          <a:bodyPr/>
          <a:lstStyle/>
          <a:p>
            <a:fld id="{107D843B-1DED-40DC-AF70-C1B4F17B1EA6}" type="slidenum">
              <a:rPr lang="en-US" smtClean="0"/>
              <a:t>65</a:t>
            </a:fld>
            <a:endParaRPr lang="en-US"/>
          </a:p>
        </p:txBody>
      </p:sp>
      <p:sp>
        <p:nvSpPr>
          <p:cNvPr id="11" name="文本框 10"/>
          <p:cNvSpPr txBox="1"/>
          <p:nvPr/>
        </p:nvSpPr>
        <p:spPr>
          <a:xfrm>
            <a:off x="856615" y="1288415"/>
            <a:ext cx="10202545" cy="4030980"/>
          </a:xfrm>
          <a:prstGeom prst="rect">
            <a:avLst/>
          </a:prstGeom>
        </p:spPr>
        <p:txBody>
          <a:bodyPr wrap="square">
            <a:spAutoFit/>
          </a:bodyPr>
          <a:lstStyle/>
          <a:p>
            <a:r>
              <a:rPr lang="en-US" altLang="zh-CN" sz="1600"/>
              <a:t>Dominant Predictive Variables: The most important predictors across models can be categorized into four main groups:</a:t>
            </a:r>
          </a:p>
          <a:p>
            <a:endParaRPr lang="en-US" altLang="zh-CN" sz="1600"/>
          </a:p>
          <a:p>
            <a:pPr>
              <a:buFont typeface="Arial" panose="020B0604020202020204"/>
              <a:buChar char="•"/>
            </a:pPr>
            <a:r>
              <a:rPr lang="en-US" altLang="zh-CN" sz="1600"/>
              <a:t>Momentum and Reversal Variables:</a:t>
            </a:r>
          </a:p>
          <a:p>
            <a:pPr lvl="1" indent="0">
              <a:buFont typeface="Arial" panose="020B0604020202020204"/>
              <a:buNone/>
            </a:pPr>
            <a:r>
              <a:rPr lang="en-US" altLang="zh-CN" sz="1600"/>
              <a:t>Short-term reversal (mom1m), stock momentum (mom12m), industry momentum (indmom), momentum change (chmom), long-term reversal (mom36m), and maximum return (maxret).</a:t>
            </a:r>
          </a:p>
          <a:p>
            <a:pPr lvl="1" indent="0">
              <a:buFont typeface="Arial" panose="020B0604020202020204"/>
              <a:buNone/>
            </a:pPr>
            <a:endParaRPr lang="en-US" altLang="zh-CN" sz="1600"/>
          </a:p>
          <a:p>
            <a:pPr>
              <a:buFont typeface="Arial" panose="020B0604020202020204"/>
              <a:buChar char="•"/>
            </a:pPr>
            <a:r>
              <a:rPr lang="en-US" altLang="zh-CN" sz="1600"/>
              <a:t>Liquidity Variables:</a:t>
            </a:r>
          </a:p>
          <a:p>
            <a:pPr lvl="1" indent="0">
              <a:buFont typeface="Arial" panose="020B0604020202020204"/>
              <a:buNone/>
            </a:pPr>
            <a:r>
              <a:rPr lang="en-US" altLang="zh-CN" sz="1600"/>
              <a:t>Turnover (turn), turnover volatility (std_turnstd), log market equity (mvel1), dollar volume (dolvol), Amihud illiquidity (ill), bid-ask spread (baspread), and the number of zero trading days (zerotrade).</a:t>
            </a:r>
          </a:p>
          <a:p>
            <a:pPr lvl="1" indent="0">
              <a:buFont typeface="Arial" panose="020B0604020202020204"/>
              <a:buNone/>
            </a:pPr>
            <a:endParaRPr lang="en-US" altLang="zh-CN" sz="1600"/>
          </a:p>
          <a:p>
            <a:pPr>
              <a:buFont typeface="Arial" panose="020B0604020202020204"/>
              <a:buChar char="•"/>
            </a:pPr>
            <a:r>
              <a:rPr lang="en-US" altLang="zh-CN" sz="1600"/>
              <a:t>Risk Measures:</a:t>
            </a:r>
          </a:p>
          <a:p>
            <a:pPr lvl="1" indent="0">
              <a:buFont typeface="Arial" panose="020B0604020202020204"/>
              <a:buNone/>
            </a:pPr>
            <a:r>
              <a:rPr lang="en-US" altLang="zh-CN" sz="1600"/>
              <a:t>Total return volatility (retvol), idiosyncratic volatility (idiovol), market beta (beta), and beta squared (betasq).</a:t>
            </a:r>
          </a:p>
          <a:p>
            <a:pPr lvl="1" indent="0">
              <a:buFont typeface="Arial" panose="020B0604020202020204"/>
              <a:buNone/>
            </a:pPr>
            <a:endParaRPr lang="en-US" altLang="zh-CN" sz="1600"/>
          </a:p>
          <a:p>
            <a:pPr>
              <a:buFont typeface="Arial" panose="020B0604020202020204"/>
              <a:buChar char="•"/>
            </a:pPr>
            <a:r>
              <a:rPr lang="en-US" altLang="zh-CN" sz="1600"/>
              <a:t>Valuation and Fundamental Signals:</a:t>
            </a:r>
          </a:p>
          <a:p>
            <a:pPr lvl="1" indent="0">
              <a:buFont typeface="Arial" panose="020B0604020202020204"/>
              <a:buNone/>
            </a:pPr>
            <a:r>
              <a:rPr lang="en-US" altLang="zh-CN" sz="1600"/>
              <a:t>Earnings-to-price ratio (ep), sales-to-price ratio (sp), asset growth (agr), and the number of recent earnings increases (nincr).</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35915"/>
            <a:ext cx="10515600" cy="1325563"/>
          </a:xfrm>
        </p:spPr>
        <p:txBody>
          <a:bodyPr>
            <a:normAutofit/>
          </a:bodyPr>
          <a:lstStyle/>
          <a:p>
            <a:r>
              <a:rPr lang="en-US" sz="3600" b="1" dirty="0">
                <a:sym typeface="+mn-ea"/>
              </a:rPr>
              <a:t>The Results of the Variable Importance in the paper</a:t>
            </a:r>
          </a:p>
        </p:txBody>
      </p:sp>
      <p:sp>
        <p:nvSpPr>
          <p:cNvPr id="4" name="灯片编号占位符 3"/>
          <p:cNvSpPr>
            <a:spLocks noGrp="1"/>
          </p:cNvSpPr>
          <p:nvPr>
            <p:ph type="sldNum" sz="quarter" idx="12"/>
          </p:nvPr>
        </p:nvSpPr>
        <p:spPr/>
        <p:txBody>
          <a:bodyPr/>
          <a:lstStyle/>
          <a:p>
            <a:fld id="{107D843B-1DED-40DC-AF70-C1B4F17B1EA6}" type="slidenum">
              <a:rPr lang="en-US" smtClean="0"/>
              <a:t>66</a:t>
            </a:fld>
            <a:endParaRPr lang="en-US"/>
          </a:p>
        </p:txBody>
      </p:sp>
      <p:pic>
        <p:nvPicPr>
          <p:cNvPr id="7" name="内容占位符 6"/>
          <p:cNvPicPr>
            <a:picLocks noGrp="1" noChangeAspect="1"/>
          </p:cNvPicPr>
          <p:nvPr>
            <p:ph idx="1"/>
          </p:nvPr>
        </p:nvPicPr>
        <p:blipFill>
          <a:blip r:embed="rId2"/>
          <a:stretch>
            <a:fillRect/>
          </a:stretch>
        </p:blipFill>
        <p:spPr>
          <a:xfrm>
            <a:off x="342900" y="512445"/>
            <a:ext cx="4758055" cy="6309360"/>
          </a:xfrm>
          <a:prstGeom prst="rect">
            <a:avLst/>
          </a:prstGeom>
        </p:spPr>
      </p:pic>
      <p:sp>
        <p:nvSpPr>
          <p:cNvPr id="5" name="文本框 4"/>
          <p:cNvSpPr txBox="1"/>
          <p:nvPr/>
        </p:nvSpPr>
        <p:spPr>
          <a:xfrm>
            <a:off x="4904105" y="640080"/>
            <a:ext cx="6817995" cy="2061210"/>
          </a:xfrm>
          <a:prstGeom prst="rect">
            <a:avLst/>
          </a:prstGeom>
        </p:spPr>
        <p:txBody>
          <a:bodyPr wrap="square">
            <a:spAutoFit/>
          </a:bodyPr>
          <a:lstStyle/>
          <a:p>
            <a:r>
              <a:rPr lang="en-US" altLang="zh-CN" sz="1600" b="1"/>
              <a:t>Differences Across Models:</a:t>
            </a:r>
          </a:p>
          <a:p>
            <a:pPr>
              <a:buFont typeface="Arial" panose="020B0604020202020204"/>
              <a:buChar char="•"/>
            </a:pPr>
            <a:r>
              <a:rPr lang="en-US" altLang="zh-CN" sz="1600" b="1"/>
              <a:t>Penalized Linear and Dimension Reduction Models:</a:t>
            </a:r>
            <a:r>
              <a:rPr lang="en-US" altLang="zh-CN" sz="1600"/>
              <a:t> These models exhibit strong reliance on momentum and reversal predictors, with a clear skew toward a small subset of variables.</a:t>
            </a:r>
          </a:p>
          <a:p>
            <a:pPr>
              <a:buFont typeface="Arial" panose="020B0604020202020204"/>
              <a:buChar char="•"/>
            </a:pPr>
            <a:r>
              <a:rPr lang="en-US" altLang="zh-CN" sz="1600" b="1"/>
              <a:t>Tree-Based Models and Neural Networks: </a:t>
            </a:r>
            <a:r>
              <a:rPr lang="en-US" altLang="zh-CN" sz="1600"/>
              <a:t>These models draw predictive power more evenly across a broader range of variables. Their flexibility allows them to account for complex interactions and nonlinear relationships among predictors.</a:t>
            </a:r>
          </a:p>
        </p:txBody>
      </p:sp>
      <p:sp>
        <p:nvSpPr>
          <p:cNvPr id="8" name="文本框 7"/>
          <p:cNvSpPr txBox="1"/>
          <p:nvPr/>
        </p:nvSpPr>
        <p:spPr>
          <a:xfrm>
            <a:off x="4873625" y="2717165"/>
            <a:ext cx="7084695" cy="2306955"/>
          </a:xfrm>
          <a:prstGeom prst="rect">
            <a:avLst/>
          </a:prstGeom>
        </p:spPr>
        <p:txBody>
          <a:bodyPr wrap="square">
            <a:spAutoFit/>
          </a:bodyPr>
          <a:lstStyle/>
          <a:p>
            <a:r>
              <a:rPr lang="en-US" altLang="zh-CN" sz="1600" b="1"/>
              <a:t>Momentum and Liquidity as Dominant Predictors:</a:t>
            </a:r>
          </a:p>
          <a:p>
            <a:pPr>
              <a:buFont typeface="Arial" panose="020B0604020202020204"/>
              <a:buChar char="•"/>
            </a:pPr>
            <a:r>
              <a:rPr lang="en-US" altLang="zh-CN" sz="1600"/>
              <a:t>Momentum and reversal variables are consistently the most significant predictors, reinforcing their importance in empirical asset pricing. This aligns with existing literature that emphasizes their predictive power for stock returns.</a:t>
            </a:r>
          </a:p>
          <a:p>
            <a:r>
              <a:rPr lang="en-US" altLang="zh-CN" sz="1600" b="1"/>
              <a:t>Model-Specific Patterns:</a:t>
            </a:r>
          </a:p>
          <a:p>
            <a:pPr>
              <a:buFont typeface="Arial" panose="020B0604020202020204"/>
              <a:buChar char="•"/>
            </a:pPr>
            <a:r>
              <a:rPr lang="en-US" altLang="zh-CN" sz="1600"/>
              <a:t>Penalized linear models and dimension reduction methods focus on a narrower subset of predictors, which may limit their ability to capture broader relationships.</a:t>
            </a:r>
          </a:p>
          <a:p>
            <a:pPr>
              <a:buFont typeface="Arial" panose="020B0604020202020204"/>
              <a:buChar char="•"/>
            </a:pPr>
            <a:r>
              <a:rPr lang="en-US" altLang="zh-CN" sz="1600"/>
              <a:t>Tree-based methods and neural networks utilize a wider array of predictors, suggesting their superior ability to account for nonlinearities and interactions.</a:t>
            </a:r>
          </a:p>
        </p:txBody>
      </p:sp>
      <p:sp>
        <p:nvSpPr>
          <p:cNvPr id="9" name="文本框 8"/>
          <p:cNvSpPr txBox="1"/>
          <p:nvPr/>
        </p:nvSpPr>
        <p:spPr>
          <a:xfrm>
            <a:off x="4832985" y="5024120"/>
            <a:ext cx="7317740" cy="1568450"/>
          </a:xfrm>
          <a:prstGeom prst="rect">
            <a:avLst/>
          </a:prstGeom>
        </p:spPr>
        <p:txBody>
          <a:bodyPr wrap="square">
            <a:spAutoFit/>
          </a:bodyPr>
          <a:lstStyle/>
          <a:p>
            <a:pPr>
              <a:spcAft>
                <a:spcPct val="60000"/>
              </a:spcAft>
            </a:pPr>
            <a:r>
              <a:rPr lang="en-US" altLang="zh-CN" sz="1600" b="1"/>
              <a:t>Conclusion:</a:t>
            </a:r>
            <a:r>
              <a:rPr lang="en-US" altLang="zh-CN" sz="1600"/>
              <a:t> Figure 4 demonstrates that machine learning models, despite methodological differences, converge on a core set of influential predictors dominated by momentum, liquidity, and volatility variables. These findings underscore the robustness of these characteristics in explaining stock returns. Additionally, tree-based methods and neural networks leverage a wider range of features, highlighting their flexibility and suitability for capturing complex relationships in financial data.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9525"/>
            <a:ext cx="10515600" cy="1325563"/>
          </a:xfrm>
        </p:spPr>
        <p:txBody>
          <a:bodyPr>
            <a:normAutofit/>
          </a:bodyPr>
          <a:lstStyle/>
          <a:p>
            <a:r>
              <a:rPr lang="en-US" sz="3600" b="1" dirty="0">
                <a:sym typeface="+mn-ea"/>
              </a:rPr>
              <a:t>The Results of the Variable Importance in the paper</a:t>
            </a:r>
          </a:p>
        </p:txBody>
      </p:sp>
      <p:sp>
        <p:nvSpPr>
          <p:cNvPr id="4" name="灯片编号占位符 3"/>
          <p:cNvSpPr>
            <a:spLocks noGrp="1"/>
          </p:cNvSpPr>
          <p:nvPr>
            <p:ph type="sldNum" sz="quarter" idx="12"/>
          </p:nvPr>
        </p:nvSpPr>
        <p:spPr/>
        <p:txBody>
          <a:bodyPr/>
          <a:lstStyle/>
          <a:p>
            <a:fld id="{107D843B-1DED-40DC-AF70-C1B4F17B1EA6}" type="slidenum">
              <a:rPr lang="en-US" smtClean="0"/>
              <a:t>67</a:t>
            </a:fld>
            <a:endParaRPr lang="en-US"/>
          </a:p>
        </p:txBody>
      </p:sp>
      <p:pic>
        <p:nvPicPr>
          <p:cNvPr id="3" name="图片 2"/>
          <p:cNvPicPr>
            <a:picLocks noChangeAspect="1"/>
          </p:cNvPicPr>
          <p:nvPr/>
        </p:nvPicPr>
        <p:blipFill>
          <a:blip r:embed="rId2"/>
          <a:stretch>
            <a:fillRect/>
          </a:stretch>
        </p:blipFill>
        <p:spPr>
          <a:xfrm>
            <a:off x="141605" y="909955"/>
            <a:ext cx="4457700" cy="5791200"/>
          </a:xfrm>
          <a:prstGeom prst="rect">
            <a:avLst/>
          </a:prstGeom>
        </p:spPr>
      </p:pic>
      <p:sp>
        <p:nvSpPr>
          <p:cNvPr id="5" name="文本框 4"/>
          <p:cNvSpPr txBox="1"/>
          <p:nvPr/>
        </p:nvSpPr>
        <p:spPr>
          <a:xfrm>
            <a:off x="5006975" y="909955"/>
            <a:ext cx="6468745" cy="2061210"/>
          </a:xfrm>
          <a:prstGeom prst="rect">
            <a:avLst/>
          </a:prstGeom>
        </p:spPr>
        <p:txBody>
          <a:bodyPr wrap="square">
            <a:spAutoFit/>
          </a:bodyPr>
          <a:lstStyle/>
          <a:p>
            <a:r>
              <a:rPr lang="en-US" altLang="zh-CN" sz="1600"/>
              <a:t>The figure presents the overall importance rankings of 94 stock-level characteristics and one industry dummy variable (sic2). The importance of each characteristic is ranked based on its contribution to each model, and the ranks are summed across all models to determine the final ordering. Characteristics are arranged from the most important (top) to the least important (bottom), with color gradients within each column indicating model-specific rankings, where dark blue represents the most important variables and white the least important.</a:t>
            </a:r>
          </a:p>
        </p:txBody>
      </p:sp>
      <p:sp>
        <p:nvSpPr>
          <p:cNvPr id="6" name="文本框 5"/>
          <p:cNvSpPr txBox="1"/>
          <p:nvPr/>
        </p:nvSpPr>
        <p:spPr>
          <a:xfrm>
            <a:off x="5038725" y="3143885"/>
            <a:ext cx="6099175" cy="829945"/>
          </a:xfrm>
          <a:prstGeom prst="rect">
            <a:avLst/>
          </a:prstGeom>
        </p:spPr>
        <p:txBody>
          <a:bodyPr wrap="square">
            <a:spAutoFit/>
          </a:bodyPr>
          <a:lstStyle/>
          <a:p>
            <a:r>
              <a:rPr lang="en-US" altLang="zh-CN" sz="1600"/>
              <a:t>Machine learning models exhibit high consistency in ranking key predictors, particularly momentum, liquidity, and volatility variables, highlighting their robustness in stock return prediction.</a:t>
            </a:r>
          </a:p>
        </p:txBody>
      </p:sp>
      <p:sp>
        <p:nvSpPr>
          <p:cNvPr id="8" name="文本框 7"/>
          <p:cNvSpPr txBox="1"/>
          <p:nvPr/>
        </p:nvSpPr>
        <p:spPr>
          <a:xfrm>
            <a:off x="5059680" y="4126230"/>
            <a:ext cx="6159500" cy="2553335"/>
          </a:xfrm>
          <a:prstGeom prst="rect">
            <a:avLst/>
          </a:prstGeom>
        </p:spPr>
        <p:txBody>
          <a:bodyPr wrap="square">
            <a:spAutoFit/>
          </a:bodyPr>
          <a:lstStyle/>
          <a:p>
            <a:r>
              <a:rPr lang="en-US" altLang="zh-CN" sz="1600"/>
              <a:t>Penalized linear models (e.g., ENet, GLM) and dimension reduction methods (e.g., PLS, PCR) rely heavily on momentum and reversal variables.</a:t>
            </a:r>
          </a:p>
          <a:p>
            <a:endParaRPr lang="en-US" altLang="zh-CN" sz="1600"/>
          </a:p>
          <a:p>
            <a:r>
              <a:rPr lang="en-US" altLang="zh-CN" sz="1600"/>
              <a:t>Tree-based models (e.g., RF, GBRT) and neural networks (e.g., NN3) draw predictive information from a broader set of characteristics, with a more evenly distributed importance. Tree-based models and neural networks excel in capturing complex interactions and nonlinear relationships between predictors, outperforming penalized linear and dimension reduction methods in terms of variable utilization.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900" y="-163195"/>
            <a:ext cx="12086590" cy="1325880"/>
          </a:xfrm>
        </p:spPr>
        <p:txBody>
          <a:bodyPr>
            <a:normAutofit/>
          </a:bodyPr>
          <a:lstStyle/>
          <a:p>
            <a:r>
              <a:rPr lang="en-US" sz="3600" b="1" dirty="0">
                <a:sym typeface="+mn-ea"/>
              </a:rPr>
              <a:t>The Results of the Sum of Squared Derivatives (SSD) in the paper</a:t>
            </a:r>
          </a:p>
        </p:txBody>
      </p:sp>
      <p:sp>
        <p:nvSpPr>
          <p:cNvPr id="4" name="灯片编号占位符 3"/>
          <p:cNvSpPr>
            <a:spLocks noGrp="1"/>
          </p:cNvSpPr>
          <p:nvPr>
            <p:ph type="sldNum" sz="quarter" idx="12"/>
          </p:nvPr>
        </p:nvSpPr>
        <p:spPr/>
        <p:txBody>
          <a:bodyPr/>
          <a:lstStyle/>
          <a:p>
            <a:fld id="{107D843B-1DED-40DC-AF70-C1B4F17B1EA6}" type="slidenum">
              <a:rPr lang="en-US" smtClean="0"/>
              <a:t>68</a:t>
            </a:fld>
            <a:endParaRPr lang="en-US"/>
          </a:p>
        </p:txBody>
      </p:sp>
      <p:pic>
        <p:nvPicPr>
          <p:cNvPr id="7" name="图片 6"/>
          <p:cNvPicPr>
            <a:picLocks noChangeAspect="1"/>
          </p:cNvPicPr>
          <p:nvPr/>
        </p:nvPicPr>
        <p:blipFill>
          <a:blip r:embed="rId2"/>
          <a:stretch>
            <a:fillRect/>
          </a:stretch>
        </p:blipFill>
        <p:spPr>
          <a:xfrm>
            <a:off x="182880" y="808355"/>
            <a:ext cx="4349115" cy="6015355"/>
          </a:xfrm>
          <a:prstGeom prst="rect">
            <a:avLst/>
          </a:prstGeom>
        </p:spPr>
      </p:pic>
      <p:sp>
        <p:nvSpPr>
          <p:cNvPr id="9" name="文本框 8"/>
          <p:cNvSpPr txBox="1"/>
          <p:nvPr/>
        </p:nvSpPr>
        <p:spPr>
          <a:xfrm>
            <a:off x="4770755" y="879475"/>
            <a:ext cx="7117715" cy="1322070"/>
          </a:xfrm>
          <a:prstGeom prst="rect">
            <a:avLst/>
          </a:prstGeom>
        </p:spPr>
        <p:txBody>
          <a:bodyPr wrap="square">
            <a:spAutoFit/>
          </a:bodyPr>
          <a:lstStyle/>
          <a:p>
            <a:r>
              <a:rPr lang="en-US" altLang="zh-CN" sz="1600"/>
              <a:t>Figure A.2  showcases the results of variable importance calculated using the SSD (Sum of Squared Derivatives) method proposed by Dimopoulos, Bourret, and Lek (1995). This method evaluates the sensitivity of the model predictions to changes in individual input variables. The SSD measure highlights the most influential variables contributing to the accuracy of predictions across different models.</a:t>
            </a:r>
          </a:p>
        </p:txBody>
      </p:sp>
      <p:sp>
        <p:nvSpPr>
          <p:cNvPr id="10" name="文本框 9"/>
          <p:cNvSpPr txBox="1"/>
          <p:nvPr/>
        </p:nvSpPr>
        <p:spPr>
          <a:xfrm>
            <a:off x="4760595" y="2230755"/>
            <a:ext cx="7414895" cy="2061210"/>
          </a:xfrm>
          <a:prstGeom prst="rect">
            <a:avLst/>
          </a:prstGeom>
        </p:spPr>
        <p:txBody>
          <a:bodyPr wrap="square">
            <a:spAutoFit/>
          </a:bodyPr>
          <a:lstStyle/>
          <a:p>
            <a:r>
              <a:rPr lang="en-US" altLang="zh-CN" sz="1600"/>
              <a:t>The SSD-based rankings align closely with the rankings derived from the simpler R²-based importance measure.</a:t>
            </a:r>
          </a:p>
          <a:p>
            <a:r>
              <a:rPr lang="en-US" altLang="zh-CN" sz="1600"/>
              <a:t>Momentum and liquidity-related variables, such as short-term reversal (mom1m), stock momentum (mom12m), and turnover (turn), consistently rank as the most influential across models.</a:t>
            </a:r>
          </a:p>
          <a:p>
            <a:r>
              <a:rPr lang="en-US" altLang="zh-CN" sz="1600"/>
              <a:t>Risk measures (e.g., volatility, beta) and valuation/fundamental signals (e.g., earnings-to-price, asset growth) also exhibit significant influence but to a lesser extent than momentum and liquidity variables.</a:t>
            </a:r>
          </a:p>
        </p:txBody>
      </p:sp>
      <p:sp>
        <p:nvSpPr>
          <p:cNvPr id="11" name="文本框 10"/>
          <p:cNvSpPr txBox="1"/>
          <p:nvPr/>
        </p:nvSpPr>
        <p:spPr>
          <a:xfrm>
            <a:off x="4761230" y="4342765"/>
            <a:ext cx="6972300" cy="2306955"/>
          </a:xfrm>
          <a:prstGeom prst="rect">
            <a:avLst/>
          </a:prstGeom>
        </p:spPr>
        <p:txBody>
          <a:bodyPr wrap="square">
            <a:spAutoFit/>
          </a:bodyPr>
          <a:lstStyle/>
          <a:p>
            <a:r>
              <a:rPr lang="en-US" altLang="zh-CN" sz="1600" b="1"/>
              <a:t>Momentum and Liquidity Dominate:</a:t>
            </a:r>
            <a:r>
              <a:rPr lang="en-US" altLang="zh-CN" sz="1600"/>
              <a:t>Momentum-related variables consistently emerge as the most significant predictors across different models, underscoring their central role in asset pricing.</a:t>
            </a:r>
          </a:p>
          <a:p>
            <a:r>
              <a:rPr lang="en-US" altLang="zh-CN" sz="1600" b="1"/>
              <a:t>Model Flexibility and SSD:</a:t>
            </a:r>
            <a:r>
              <a:rPr lang="en-US" altLang="zh-CN" sz="1600"/>
              <a:t>SSD serves as a robust and interpretable metric for understanding variable importance, particularly in flexible models like neural networks and generalized linear models.</a:t>
            </a:r>
          </a:p>
          <a:p>
            <a:r>
              <a:rPr lang="en-US" altLang="zh-CN" sz="1600" b="1"/>
              <a:t>Practical Usefulness:</a:t>
            </a:r>
            <a:r>
              <a:rPr lang="en-US" altLang="zh-CN" sz="1600"/>
              <a:t>The high correlation between SSD and R² importance rankings validates SSD as a reliable method for identifying influential predictors, even in the presence of high-dimensional data.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a:t>Performance of the machine learning portfolios</a:t>
            </a:r>
          </a:p>
        </p:txBody>
      </p:sp>
      <p:sp>
        <p:nvSpPr>
          <p:cNvPr id="3" name="Content Placeholder 2"/>
          <p:cNvSpPr>
            <a:spLocks noGrp="1"/>
          </p:cNvSpPr>
          <p:nvPr>
            <p:ph idx="1"/>
          </p:nvPr>
        </p:nvSpPr>
        <p:spPr>
          <a:xfrm>
            <a:off x="838200" y="555625"/>
            <a:ext cx="10978515" cy="6303010"/>
          </a:xfrm>
        </p:spPr>
        <p:txBody>
          <a:bodyPr>
            <a:normAutofit fontScale="50000"/>
          </a:bodyPr>
          <a:lstStyle/>
          <a:p>
            <a:r>
              <a:rPr lang="zh-CN" altLang="en-US" b="1" dirty="0">
                <a:solidFill>
                  <a:srgbClr val="26927D"/>
                </a:solidFill>
              </a:rPr>
              <a:t>Trading on Machine Learning Predictions</a:t>
            </a:r>
            <a:r>
              <a:rPr lang="en-US" altLang="zh-CN" b="1" dirty="0">
                <a:solidFill>
                  <a:srgbClr val="26927D"/>
                </a:solidFill>
              </a:rPr>
              <a:t>:</a:t>
            </a:r>
            <a:endParaRPr lang="zh-CN" altLang="en-US" b="1" dirty="0">
              <a:solidFill>
                <a:srgbClr val="26927D"/>
              </a:solidFill>
            </a:endParaRPr>
          </a:p>
          <a:p>
            <a:pPr marL="0" indent="0">
              <a:buNone/>
            </a:pPr>
            <a:r>
              <a:rPr lang="en-US" dirty="0">
                <a:sym typeface="+mn-ea"/>
              </a:rPr>
              <a:t>1.</a:t>
            </a:r>
            <a:r>
              <a:rPr lang="en-US" b="1" dirty="0"/>
              <a:t>Pred (Predicted Return)</a:t>
            </a:r>
            <a:r>
              <a:rPr lang="en-US" dirty="0">
                <a:sym typeface="+mn-ea"/>
              </a:rPr>
              <a:t>:</a:t>
            </a:r>
            <a:r>
              <a:rPr lang="en-US" altLang="zh-CN"/>
              <a:t> The predicted monthly return generated by the machine learning model based on input features.</a:t>
            </a:r>
          </a:p>
          <a:p>
            <a:pPr marL="0" indent="0">
              <a:buNone/>
            </a:pPr>
            <a:endParaRPr lang="en-US" dirty="0">
              <a:sym typeface="+mn-ea"/>
            </a:endParaRPr>
          </a:p>
          <a:p>
            <a:pPr marL="0" indent="0">
              <a:buNone/>
            </a:pPr>
            <a:endParaRPr lang="en-US" altLang="zh-CN">
              <a:sym typeface="+mn-ea"/>
            </a:endParaRPr>
          </a:p>
          <a:p>
            <a:pPr marL="0" algn="l">
              <a:buClrTx/>
              <a:buSzTx/>
              <a:buNone/>
            </a:pPr>
            <a:endParaRPr lang="en-US" altLang="zh-CN" dirty="0">
              <a:sym typeface="+mn-ea"/>
            </a:endParaRPr>
          </a:p>
          <a:p>
            <a:pPr marL="0" indent="0">
              <a:buNone/>
            </a:pPr>
            <a:endParaRPr lang="en-US" altLang="zh-CN" dirty="0">
              <a:sym typeface="+mn-ea"/>
            </a:endParaRPr>
          </a:p>
          <a:p>
            <a:pPr marL="0" indent="0">
              <a:buNone/>
            </a:pPr>
            <a:endParaRPr lang="en-US" altLang="zh-CN" dirty="0">
              <a:sym typeface="+mn-ea"/>
            </a:endParaRPr>
          </a:p>
          <a:p>
            <a:pPr marL="0" indent="0">
              <a:buNone/>
            </a:pPr>
            <a:r>
              <a:rPr lang="en-US" altLang="zh-CN" dirty="0">
                <a:sym typeface="+mn-ea"/>
              </a:rPr>
              <a:t>2.</a:t>
            </a:r>
            <a:r>
              <a:rPr lang="en-US" altLang="zh-CN" b="1" dirty="0"/>
              <a:t>Avg (Average Realized Return)</a:t>
            </a:r>
            <a:r>
              <a:rPr lang="en-US" altLang="zh-CN" b="1" dirty="0">
                <a:sym typeface="+mn-ea"/>
              </a:rPr>
              <a:t>:</a:t>
            </a:r>
            <a:r>
              <a:rPr lang="en-US" altLang="zh-CN" dirty="0">
                <a:sym typeface="+mn-ea"/>
              </a:rPr>
              <a:t> </a:t>
            </a:r>
            <a:r>
              <a:rPr lang="en-US" altLang="zh-CN"/>
              <a:t>The average realized monthly return for each portfolio.</a:t>
            </a:r>
            <a:r>
              <a:rPr lang="en-US" altLang="zh-CN" dirty="0">
                <a:sym typeface="+mn-ea"/>
              </a:rPr>
              <a:t>                                         </a:t>
            </a:r>
          </a:p>
          <a:p>
            <a:pPr marL="0" indent="0">
              <a:buNone/>
            </a:pPr>
            <a:r>
              <a:rPr lang="en-US" altLang="zh-CN" dirty="0">
                <a:sym typeface="+mn-ea"/>
              </a:rPr>
              <a:t>                  </a:t>
            </a:r>
            <a:endParaRPr lang="en-US" dirty="0">
              <a:sym typeface="+mn-ea"/>
            </a:endParaRPr>
          </a:p>
          <a:p>
            <a:pPr marL="0" indent="0">
              <a:buNone/>
            </a:pPr>
            <a:r>
              <a:rPr lang="en-US" dirty="0">
                <a:solidFill>
                  <a:srgbClr val="26927D"/>
                </a:solidFill>
                <a:sym typeface="+mn-ea"/>
              </a:rPr>
              <a:t>                                                                                              </a:t>
            </a:r>
            <a:endParaRPr lang="en-US" altLang="zh-CN" dirty="0">
              <a:sym typeface="+mn-ea"/>
            </a:endParaRPr>
          </a:p>
          <a:p>
            <a:pPr marL="0" indent="0">
              <a:buNone/>
            </a:pPr>
            <a:r>
              <a:rPr lang="en-US" altLang="zh-CN" dirty="0">
                <a:sym typeface="+mn-ea"/>
              </a:rPr>
              <a:t>                                                                                                       </a:t>
            </a:r>
          </a:p>
          <a:p>
            <a:pPr marL="0" indent="0">
              <a:buNone/>
            </a:pPr>
            <a:r>
              <a:rPr lang="en-US" altLang="zh-CN"/>
              <a:t>     </a:t>
            </a:r>
          </a:p>
          <a:p>
            <a:pPr marL="0" indent="0">
              <a:buNone/>
            </a:pPr>
            <a:endParaRPr lang="en-US" dirty="0">
              <a:sym typeface="+mn-ea"/>
            </a:endParaRPr>
          </a:p>
          <a:p>
            <a:pPr marL="0" indent="0">
              <a:buNone/>
            </a:pPr>
            <a:r>
              <a:rPr lang="en-US" dirty="0">
                <a:sym typeface="+mn-ea"/>
              </a:rPr>
              <a:t>3.</a:t>
            </a:r>
            <a:r>
              <a:rPr lang="en-US" altLang="zh-CN" b="1" dirty="0"/>
              <a:t>SD (Standard Deviation)</a:t>
            </a:r>
            <a:r>
              <a:rPr lang="en-US" altLang="zh-CN" b="1" dirty="0">
                <a:sym typeface="+mn-ea"/>
              </a:rPr>
              <a:t>:</a:t>
            </a:r>
            <a:r>
              <a:rPr lang="en-US" altLang="zh-CN" dirty="0">
                <a:sym typeface="+mn-ea"/>
              </a:rPr>
              <a:t> </a:t>
            </a:r>
            <a:r>
              <a:rPr lang="en-US" altLang="zh-CN"/>
              <a:t>The standard deviation of monthly returns, representing the portfolio's volatility (risk).</a:t>
            </a:r>
            <a:r>
              <a:rPr lang="en-US" altLang="zh-CN" dirty="0">
                <a:sym typeface="+mn-ea"/>
              </a:rPr>
              <a:t>  </a:t>
            </a:r>
            <a:endParaRPr lang="en-US" dirty="0">
              <a:sym typeface="+mn-ea"/>
            </a:endParaRPr>
          </a:p>
          <a:p>
            <a:pPr marL="0" indent="0">
              <a:buNone/>
            </a:pPr>
            <a:r>
              <a:rPr lang="en-US" altLang="zh-CN" dirty="0">
                <a:sym typeface="+mn-ea"/>
              </a:rPr>
              <a:t>                      </a:t>
            </a:r>
            <a:endParaRPr lang="en-US" dirty="0">
              <a:sym typeface="+mn-ea"/>
            </a:endParaRPr>
          </a:p>
          <a:p>
            <a:pPr marL="0" indent="0">
              <a:buNone/>
            </a:pPr>
            <a:r>
              <a:rPr lang="en-US" altLang="zh-CN" dirty="0">
                <a:sym typeface="+mn-ea"/>
              </a:rPr>
              <a:t>          </a:t>
            </a:r>
          </a:p>
          <a:p>
            <a:pPr marL="0" indent="0">
              <a:buNone/>
            </a:pPr>
            <a:r>
              <a:rPr lang="en-US" altLang="zh-CN" sz="2400" dirty="0">
                <a:sym typeface="+mn-ea"/>
              </a:rPr>
              <a:t>                                           </a:t>
            </a:r>
            <a:r>
              <a:rPr lang="en-US" altLang="zh-CN" sz="2800">
                <a:sym typeface="+mn-ea"/>
              </a:rPr>
              <a:t>                                                         </a:t>
            </a:r>
          </a:p>
          <a:p>
            <a:pPr marL="0" indent="0">
              <a:buNone/>
            </a:pPr>
            <a:r>
              <a:rPr lang="en-US" altLang="zh-CN" dirty="0">
                <a:sym typeface="+mn-ea"/>
              </a:rPr>
              <a:t>  </a:t>
            </a:r>
            <a:endParaRPr lang="en-US" dirty="0">
              <a:sym typeface="+mn-ea"/>
            </a:endParaRPr>
          </a:p>
          <a:p>
            <a:pPr marL="0" indent="0">
              <a:buNone/>
            </a:pPr>
            <a:endParaRPr lang="en-US" sz="2800" dirty="0">
              <a:sym typeface="+mn-ea"/>
            </a:endParaRPr>
          </a:p>
          <a:p>
            <a:pPr marL="0" indent="0">
              <a:buNone/>
            </a:pPr>
            <a:endParaRPr lang="en-US" sz="2800" dirty="0">
              <a:sym typeface="+mn-ea"/>
            </a:endParaRPr>
          </a:p>
        </p:txBody>
      </p:sp>
      <p:pic>
        <p:nvPicPr>
          <p:cNvPr id="4" name="图片 3"/>
          <p:cNvPicPr>
            <a:picLocks noChangeAspect="1"/>
          </p:cNvPicPr>
          <p:nvPr/>
        </p:nvPicPr>
        <p:blipFill>
          <a:blip r:embed="rId2"/>
          <a:stretch>
            <a:fillRect/>
          </a:stretch>
        </p:blipFill>
        <p:spPr>
          <a:xfrm>
            <a:off x="4899660" y="1180465"/>
            <a:ext cx="1805940" cy="281940"/>
          </a:xfrm>
          <a:prstGeom prst="rect">
            <a:avLst/>
          </a:prstGeom>
        </p:spPr>
      </p:pic>
      <p:sp>
        <p:nvSpPr>
          <p:cNvPr id="5" name="文本框 4"/>
          <p:cNvSpPr txBox="1"/>
          <p:nvPr/>
        </p:nvSpPr>
        <p:spPr>
          <a:xfrm>
            <a:off x="3115945" y="1550670"/>
            <a:ext cx="7992110" cy="521970"/>
          </a:xfrm>
          <a:prstGeom prst="rect">
            <a:avLst/>
          </a:prstGeom>
        </p:spPr>
        <p:txBody>
          <a:bodyPr wrap="square">
            <a:spAutoFit/>
          </a:bodyPr>
          <a:lstStyle/>
          <a:p>
            <a:r>
              <a:rPr lang="en-US" altLang="zh-CN" sz="1400"/>
              <a:t>g(zi,t​): The machine learning model's prediction function.</a:t>
            </a:r>
          </a:p>
          <a:p>
            <a:r>
              <a:rPr lang="en-US" altLang="zh-CN" sz="1400"/>
              <a:t>zi,t​: A vector of stock-specific features and macroeconomic variables.</a:t>
            </a:r>
          </a:p>
        </p:txBody>
      </p:sp>
      <p:sp>
        <p:nvSpPr>
          <p:cNvPr id="6" name="文本框 5"/>
          <p:cNvSpPr txBox="1"/>
          <p:nvPr/>
        </p:nvSpPr>
        <p:spPr>
          <a:xfrm>
            <a:off x="1061085" y="2074545"/>
            <a:ext cx="10292715" cy="521970"/>
          </a:xfrm>
          <a:prstGeom prst="rect">
            <a:avLst/>
          </a:prstGeom>
        </p:spPr>
        <p:txBody>
          <a:bodyPr wrap="square">
            <a:spAutoFit/>
          </a:bodyPr>
          <a:lstStyle/>
          <a:p>
            <a:r>
              <a:rPr lang="en-US" altLang="zh-CN" sz="1400"/>
              <a:t>Represents the model's expected return for each portfolio. Used to evaluate the model’s predictive accuracy by comparing it with actual realized returns (Avg).</a:t>
            </a:r>
          </a:p>
        </p:txBody>
      </p:sp>
      <p:pic>
        <p:nvPicPr>
          <p:cNvPr id="7" name="图片 6"/>
          <p:cNvPicPr>
            <a:picLocks noChangeAspect="1"/>
          </p:cNvPicPr>
          <p:nvPr/>
        </p:nvPicPr>
        <p:blipFill>
          <a:blip r:embed="rId3"/>
          <a:stretch>
            <a:fillRect/>
          </a:stretch>
        </p:blipFill>
        <p:spPr>
          <a:xfrm>
            <a:off x="5097780" y="3030220"/>
            <a:ext cx="1607820" cy="624840"/>
          </a:xfrm>
          <a:prstGeom prst="rect">
            <a:avLst/>
          </a:prstGeom>
        </p:spPr>
      </p:pic>
      <p:sp>
        <p:nvSpPr>
          <p:cNvPr id="14" name="文本框 13"/>
          <p:cNvSpPr txBox="1"/>
          <p:nvPr/>
        </p:nvSpPr>
        <p:spPr>
          <a:xfrm>
            <a:off x="3229610" y="3591560"/>
            <a:ext cx="4872355" cy="521970"/>
          </a:xfrm>
          <a:prstGeom prst="rect">
            <a:avLst/>
          </a:prstGeom>
        </p:spPr>
        <p:txBody>
          <a:bodyPr wrap="square">
            <a:spAutoFit/>
          </a:bodyPr>
          <a:lstStyle/>
          <a:p>
            <a:pPr algn="l">
              <a:buClrTx/>
              <a:buSzTx/>
              <a:buNone/>
            </a:pPr>
            <a:r>
              <a:rPr lang="en-US" altLang="zh-CN" sz="1400"/>
              <a:t>rd,t+1​: The realized monthly return for portfolio d at time t+1.</a:t>
            </a:r>
          </a:p>
          <a:p>
            <a:pPr algn="l">
              <a:buClrTx/>
              <a:buSzTx/>
              <a:buNone/>
            </a:pPr>
            <a:r>
              <a:rPr lang="en-US" altLang="zh-CN" sz="1400"/>
              <a:t>T: The total number of months in the evaluation period.</a:t>
            </a:r>
          </a:p>
        </p:txBody>
      </p:sp>
      <p:sp>
        <p:nvSpPr>
          <p:cNvPr id="15" name="文本框 14"/>
          <p:cNvSpPr txBox="1"/>
          <p:nvPr/>
        </p:nvSpPr>
        <p:spPr>
          <a:xfrm>
            <a:off x="1104265" y="4045585"/>
            <a:ext cx="9552305" cy="306705"/>
          </a:xfrm>
          <a:prstGeom prst="rect">
            <a:avLst/>
          </a:prstGeom>
        </p:spPr>
        <p:txBody>
          <a:bodyPr wrap="square">
            <a:spAutoFit/>
          </a:bodyPr>
          <a:lstStyle/>
          <a:p>
            <a:r>
              <a:rPr lang="en-US" altLang="zh-CN" sz="1400"/>
              <a:t>Reflects the actual performance of each portfolio.Serves as a benchmark to validate the model's predictive accuracy.</a:t>
            </a:r>
          </a:p>
        </p:txBody>
      </p:sp>
      <p:pic>
        <p:nvPicPr>
          <p:cNvPr id="17" name="图片 16"/>
          <p:cNvPicPr>
            <a:picLocks noChangeAspect="1"/>
          </p:cNvPicPr>
          <p:nvPr/>
        </p:nvPicPr>
        <p:blipFill>
          <a:blip r:embed="rId4"/>
          <a:stretch>
            <a:fillRect/>
          </a:stretch>
        </p:blipFill>
        <p:spPr>
          <a:xfrm>
            <a:off x="4484370" y="4966335"/>
            <a:ext cx="2834640" cy="685800"/>
          </a:xfrm>
          <a:prstGeom prst="rect">
            <a:avLst/>
          </a:prstGeom>
        </p:spPr>
      </p:pic>
      <p:sp>
        <p:nvSpPr>
          <p:cNvPr id="18" name="文本框 17"/>
          <p:cNvSpPr txBox="1"/>
          <p:nvPr/>
        </p:nvSpPr>
        <p:spPr>
          <a:xfrm>
            <a:off x="2708275" y="5635625"/>
            <a:ext cx="6112510" cy="306705"/>
          </a:xfrm>
          <a:prstGeom prst="rect">
            <a:avLst/>
          </a:prstGeom>
        </p:spPr>
        <p:txBody>
          <a:bodyPr wrap="square">
            <a:spAutoFit/>
          </a:bodyPr>
          <a:lstStyle/>
          <a:p>
            <a:r>
              <a:rPr lang="en-US" altLang="zh-CN" sz="1400"/>
              <a:t>Measures the portfolio's risk level, with higher values indicating greater volatility.</a:t>
            </a:r>
            <a:endParaRPr lang="en-US" altLang="zh-CN" sz="1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a:t>Performance of the machine learning portfolios</a:t>
            </a:r>
          </a:p>
        </p:txBody>
      </p:sp>
      <p:sp>
        <p:nvSpPr>
          <p:cNvPr id="3" name="Content Placeholder 2"/>
          <p:cNvSpPr>
            <a:spLocks noGrp="1"/>
          </p:cNvSpPr>
          <p:nvPr>
            <p:ph idx="1"/>
          </p:nvPr>
        </p:nvSpPr>
        <p:spPr>
          <a:xfrm>
            <a:off x="838200" y="555625"/>
            <a:ext cx="10978515" cy="6303010"/>
          </a:xfrm>
        </p:spPr>
        <p:txBody>
          <a:bodyPr>
            <a:normAutofit fontScale="50000"/>
          </a:bodyPr>
          <a:lstStyle/>
          <a:p>
            <a:r>
              <a:rPr lang="zh-CN" altLang="en-US" b="1" dirty="0">
                <a:solidFill>
                  <a:srgbClr val="26927D"/>
                </a:solidFill>
              </a:rPr>
              <a:t>Trading on Machine Learning Predictions</a:t>
            </a:r>
            <a:r>
              <a:rPr lang="en-US" altLang="zh-CN" b="1" dirty="0">
                <a:solidFill>
                  <a:srgbClr val="26927D"/>
                </a:solidFill>
              </a:rPr>
              <a:t>:</a:t>
            </a:r>
            <a:endParaRPr lang="zh-CN" altLang="en-US" b="1" dirty="0">
              <a:solidFill>
                <a:srgbClr val="26927D"/>
              </a:solidFill>
            </a:endParaRPr>
          </a:p>
          <a:p>
            <a:pPr marL="0" indent="0">
              <a:buNone/>
            </a:pPr>
            <a:r>
              <a:rPr lang="en-US" dirty="0">
                <a:sym typeface="+mn-ea"/>
              </a:rPr>
              <a:t>4.</a:t>
            </a:r>
            <a:r>
              <a:rPr lang="en-US" altLang="zh-CN" b="1"/>
              <a:t>SR (Sharpe Ratio)</a:t>
            </a:r>
            <a:r>
              <a:rPr lang="en-US" dirty="0">
                <a:sym typeface="+mn-ea"/>
              </a:rPr>
              <a:t>:</a:t>
            </a:r>
            <a:r>
              <a:rPr lang="en-US" altLang="zh-CN"/>
              <a:t> The Sharpe ratio, a measure of risk-adjusted return.</a:t>
            </a:r>
          </a:p>
          <a:p>
            <a:pPr marL="0" indent="0">
              <a:buNone/>
            </a:pPr>
            <a:endParaRPr lang="en-US" dirty="0">
              <a:sym typeface="+mn-ea"/>
            </a:endParaRPr>
          </a:p>
          <a:p>
            <a:pPr marL="0" indent="0">
              <a:buNone/>
            </a:pPr>
            <a:endParaRPr lang="en-US" altLang="zh-CN">
              <a:sym typeface="+mn-ea"/>
            </a:endParaRPr>
          </a:p>
          <a:p>
            <a:pPr marL="0" algn="l">
              <a:buClrTx/>
              <a:buSzTx/>
              <a:buNone/>
            </a:pPr>
            <a:endParaRPr lang="en-US" altLang="zh-CN" dirty="0">
              <a:sym typeface="+mn-ea"/>
            </a:endParaRPr>
          </a:p>
          <a:p>
            <a:pPr marL="0" indent="0">
              <a:buNone/>
            </a:pPr>
            <a:endParaRPr lang="en-US" altLang="zh-CN" dirty="0">
              <a:sym typeface="+mn-ea"/>
            </a:endParaRPr>
          </a:p>
          <a:p>
            <a:pPr marL="0" indent="0">
              <a:buNone/>
            </a:pPr>
            <a:r>
              <a:rPr lang="en-US" altLang="zh-CN" b="1" dirty="0">
                <a:solidFill>
                  <a:srgbClr val="26927D"/>
                </a:solidFill>
                <a:sym typeface="+mn-ea"/>
              </a:rPr>
              <a:t>Steps:</a:t>
            </a:r>
            <a:endParaRPr lang="zh-CN" altLang="en-US" b="1" dirty="0">
              <a:solidFill>
                <a:srgbClr val="26927D"/>
              </a:solidFill>
            </a:endParaRPr>
          </a:p>
          <a:p>
            <a:pPr marL="0" indent="0">
              <a:buNone/>
            </a:pPr>
            <a:endParaRPr lang="en-US" altLang="zh-CN">
              <a:sym typeface="+mn-ea"/>
            </a:endParaRPr>
          </a:p>
          <a:p>
            <a:pPr marL="0" indent="0">
              <a:buNone/>
            </a:pPr>
            <a:r>
              <a:rPr lang="en-US" altLang="zh-CN" dirty="0">
                <a:sym typeface="+mn-ea"/>
              </a:rPr>
              <a:t>                                        </a:t>
            </a:r>
          </a:p>
          <a:p>
            <a:pPr marL="0" indent="0">
              <a:buNone/>
            </a:pPr>
            <a:r>
              <a:rPr lang="en-US" altLang="zh-CN" dirty="0">
                <a:sym typeface="+mn-ea"/>
              </a:rPr>
              <a:t>                  </a:t>
            </a:r>
            <a:endParaRPr lang="en-US" dirty="0">
              <a:sym typeface="+mn-ea"/>
            </a:endParaRPr>
          </a:p>
          <a:p>
            <a:pPr marL="0" indent="0">
              <a:buNone/>
            </a:pPr>
            <a:r>
              <a:rPr lang="en-US" dirty="0">
                <a:solidFill>
                  <a:srgbClr val="26927D"/>
                </a:solidFill>
                <a:sym typeface="+mn-ea"/>
              </a:rPr>
              <a:t>                                                                                              </a:t>
            </a:r>
            <a:endParaRPr lang="en-US" altLang="zh-CN" dirty="0">
              <a:sym typeface="+mn-ea"/>
            </a:endParaRPr>
          </a:p>
          <a:p>
            <a:pPr marL="0" indent="0">
              <a:buNone/>
            </a:pPr>
            <a:r>
              <a:rPr lang="en-US" altLang="zh-CN" dirty="0">
                <a:sym typeface="+mn-ea"/>
              </a:rPr>
              <a:t>                                                                                                       </a:t>
            </a:r>
          </a:p>
          <a:p>
            <a:pPr marL="0" indent="0">
              <a:buNone/>
            </a:pPr>
            <a:r>
              <a:rPr lang="en-US" altLang="zh-CN"/>
              <a:t>     </a:t>
            </a:r>
          </a:p>
          <a:p>
            <a:pPr marL="0" indent="0">
              <a:buNone/>
            </a:pPr>
            <a:endParaRPr lang="en-US" dirty="0">
              <a:sym typeface="+mn-ea"/>
            </a:endParaRPr>
          </a:p>
          <a:p>
            <a:pPr marL="0" indent="0">
              <a:buNone/>
            </a:pPr>
            <a:r>
              <a:rPr lang="en-US" altLang="zh-CN" dirty="0">
                <a:sym typeface="+mn-ea"/>
              </a:rPr>
              <a:t>                      </a:t>
            </a:r>
            <a:endParaRPr lang="en-US" dirty="0">
              <a:sym typeface="+mn-ea"/>
            </a:endParaRPr>
          </a:p>
          <a:p>
            <a:pPr marL="0" indent="0">
              <a:buNone/>
            </a:pPr>
            <a:r>
              <a:rPr lang="en-US" altLang="zh-CN" dirty="0">
                <a:sym typeface="+mn-ea"/>
              </a:rPr>
              <a:t>          </a:t>
            </a:r>
          </a:p>
          <a:p>
            <a:pPr marL="0" indent="0">
              <a:buNone/>
            </a:pPr>
            <a:r>
              <a:rPr lang="en-US" altLang="zh-CN" sz="2400" dirty="0">
                <a:sym typeface="+mn-ea"/>
              </a:rPr>
              <a:t>                                           </a:t>
            </a:r>
            <a:r>
              <a:rPr lang="en-US" altLang="zh-CN" sz="2800">
                <a:sym typeface="+mn-ea"/>
              </a:rPr>
              <a:t>                                                         </a:t>
            </a:r>
          </a:p>
          <a:p>
            <a:pPr marL="0" indent="0">
              <a:buNone/>
            </a:pPr>
            <a:endParaRPr lang="zh-CN" altLang="en-US" dirty="0">
              <a:sym typeface="+mn-ea"/>
            </a:endParaRPr>
          </a:p>
          <a:p>
            <a:pPr marL="0" indent="0">
              <a:buNone/>
            </a:pPr>
            <a:r>
              <a:rPr lang="en-US" altLang="zh-CN" dirty="0">
                <a:sym typeface="+mn-ea"/>
              </a:rPr>
              <a:t>  </a:t>
            </a:r>
            <a:endParaRPr lang="en-US" dirty="0">
              <a:sym typeface="+mn-ea"/>
            </a:endParaRPr>
          </a:p>
          <a:p>
            <a:pPr marL="0" indent="0">
              <a:buNone/>
            </a:pPr>
            <a:endParaRPr lang="en-US" sz="2800" dirty="0">
              <a:sym typeface="+mn-ea"/>
            </a:endParaRPr>
          </a:p>
          <a:p>
            <a:pPr marL="0" indent="0">
              <a:buNone/>
            </a:pPr>
            <a:endParaRPr lang="en-US" sz="2800" dirty="0">
              <a:sym typeface="+mn-ea"/>
            </a:endParaRPr>
          </a:p>
        </p:txBody>
      </p:sp>
      <p:pic>
        <p:nvPicPr>
          <p:cNvPr id="8" name="图片 7"/>
          <p:cNvPicPr>
            <a:picLocks noChangeAspect="1"/>
          </p:cNvPicPr>
          <p:nvPr/>
        </p:nvPicPr>
        <p:blipFill>
          <a:blip r:embed="rId2"/>
          <a:stretch>
            <a:fillRect/>
          </a:stretch>
        </p:blipFill>
        <p:spPr>
          <a:xfrm>
            <a:off x="5258435" y="1149985"/>
            <a:ext cx="1501140" cy="472440"/>
          </a:xfrm>
          <a:prstGeom prst="rect">
            <a:avLst/>
          </a:prstGeom>
        </p:spPr>
      </p:pic>
      <p:sp>
        <p:nvSpPr>
          <p:cNvPr id="9" name="文本框 8"/>
          <p:cNvSpPr txBox="1"/>
          <p:nvPr/>
        </p:nvSpPr>
        <p:spPr>
          <a:xfrm>
            <a:off x="5229225" y="1673860"/>
            <a:ext cx="1703070" cy="306705"/>
          </a:xfrm>
          <a:prstGeom prst="rect">
            <a:avLst/>
          </a:prstGeom>
        </p:spPr>
        <p:txBody>
          <a:bodyPr wrap="square">
            <a:spAutoFit/>
          </a:bodyPr>
          <a:lstStyle/>
          <a:p>
            <a:r>
              <a:rPr lang="en-US" altLang="zh-CN" sz="1400"/>
              <a:t>rf​: The risk-free rate.</a:t>
            </a:r>
          </a:p>
        </p:txBody>
      </p:sp>
      <p:sp>
        <p:nvSpPr>
          <p:cNvPr id="12" name="文本框 11"/>
          <p:cNvSpPr txBox="1"/>
          <p:nvPr/>
        </p:nvSpPr>
        <p:spPr>
          <a:xfrm>
            <a:off x="1296670" y="1919605"/>
            <a:ext cx="9892665" cy="306705"/>
          </a:xfrm>
          <a:prstGeom prst="rect">
            <a:avLst/>
          </a:prstGeom>
        </p:spPr>
        <p:txBody>
          <a:bodyPr wrap="square">
            <a:spAutoFit/>
          </a:bodyPr>
          <a:lstStyle/>
          <a:p>
            <a:r>
              <a:rPr lang="en-US" altLang="zh-CN" sz="1400"/>
              <a:t>Assesses the trade-off between return and risk for each portfolio. A higher Sharpe ratio indicates better risk-adjusted performance.</a:t>
            </a:r>
          </a:p>
        </p:txBody>
      </p:sp>
      <p:sp>
        <p:nvSpPr>
          <p:cNvPr id="13" name="文本框 12"/>
          <p:cNvSpPr txBox="1"/>
          <p:nvPr/>
        </p:nvSpPr>
        <p:spPr>
          <a:xfrm>
            <a:off x="1812925" y="2534920"/>
            <a:ext cx="9199245" cy="521970"/>
          </a:xfrm>
          <a:prstGeom prst="rect">
            <a:avLst/>
          </a:prstGeom>
        </p:spPr>
        <p:txBody>
          <a:bodyPr wrap="square">
            <a:spAutoFit/>
          </a:bodyPr>
          <a:lstStyle/>
          <a:p>
            <a:r>
              <a:rPr lang="en-US" altLang="zh-CN" sz="1400" b="1"/>
              <a:t>Step 1</a:t>
            </a:r>
            <a:r>
              <a:rPr lang="en-US" altLang="zh-CN" sz="1400"/>
              <a:t>: Predict Stock Returns:</a:t>
            </a:r>
          </a:p>
          <a:p>
            <a:r>
              <a:rPr lang="en-US" altLang="zh-CN" sz="1400"/>
              <a:t>Generate Predictions: Predict the next period’s returns for each stock using machine learning models</a:t>
            </a:r>
          </a:p>
        </p:txBody>
      </p:sp>
      <p:pic>
        <p:nvPicPr>
          <p:cNvPr id="16" name="图片 15"/>
          <p:cNvPicPr>
            <a:picLocks noChangeAspect="1"/>
          </p:cNvPicPr>
          <p:nvPr/>
        </p:nvPicPr>
        <p:blipFill>
          <a:blip r:embed="rId3"/>
          <a:stretch>
            <a:fillRect/>
          </a:stretch>
        </p:blipFill>
        <p:spPr>
          <a:xfrm>
            <a:off x="5024755" y="2985135"/>
            <a:ext cx="1143000" cy="213360"/>
          </a:xfrm>
          <a:prstGeom prst="rect">
            <a:avLst/>
          </a:prstGeom>
        </p:spPr>
      </p:pic>
      <p:sp>
        <p:nvSpPr>
          <p:cNvPr id="19" name="文本框 18"/>
          <p:cNvSpPr txBox="1"/>
          <p:nvPr/>
        </p:nvSpPr>
        <p:spPr>
          <a:xfrm>
            <a:off x="2003425" y="3644265"/>
            <a:ext cx="6979920" cy="306705"/>
          </a:xfrm>
          <a:prstGeom prst="rect">
            <a:avLst/>
          </a:prstGeom>
        </p:spPr>
        <p:txBody>
          <a:bodyPr wrap="square">
            <a:spAutoFit/>
          </a:bodyPr>
          <a:lstStyle/>
          <a:p>
            <a:r>
              <a:rPr lang="en-US" altLang="zh-CN" sz="1400"/>
              <a:t>Generate stock-level return predictions to serve as the foundation for portfolio construction.</a:t>
            </a:r>
          </a:p>
        </p:txBody>
      </p:sp>
      <p:sp>
        <p:nvSpPr>
          <p:cNvPr id="20" name="文本框 19"/>
          <p:cNvSpPr txBox="1"/>
          <p:nvPr/>
        </p:nvSpPr>
        <p:spPr>
          <a:xfrm>
            <a:off x="1812925" y="3950970"/>
            <a:ext cx="2799080" cy="306705"/>
          </a:xfrm>
          <a:prstGeom prst="rect">
            <a:avLst/>
          </a:prstGeom>
        </p:spPr>
        <p:txBody>
          <a:bodyPr wrap="square">
            <a:spAutoFit/>
          </a:bodyPr>
          <a:lstStyle/>
          <a:p>
            <a:r>
              <a:rPr lang="en-US" altLang="zh-CN" sz="1400" b="1"/>
              <a:t>Step 2</a:t>
            </a:r>
            <a:r>
              <a:rPr lang="en-US" altLang="zh-CN" sz="1400"/>
              <a:t>: Construct Ranked Portfolios:</a:t>
            </a:r>
          </a:p>
        </p:txBody>
      </p:sp>
      <p:sp>
        <p:nvSpPr>
          <p:cNvPr id="21" name="文本框 20"/>
          <p:cNvSpPr txBox="1"/>
          <p:nvPr/>
        </p:nvSpPr>
        <p:spPr>
          <a:xfrm>
            <a:off x="838200" y="4214495"/>
            <a:ext cx="10697845" cy="737235"/>
          </a:xfrm>
          <a:prstGeom prst="rect">
            <a:avLst/>
          </a:prstGeom>
        </p:spPr>
        <p:txBody>
          <a:bodyPr wrap="square">
            <a:spAutoFit/>
          </a:bodyPr>
          <a:lstStyle/>
          <a:p>
            <a:r>
              <a:rPr lang="en-US" altLang="zh-CN" sz="1400" b="1"/>
              <a:t>2.1.Sort Stocks into Deciles</a:t>
            </a:r>
            <a:r>
              <a:rPr lang="en-US" altLang="zh-CN" sz="1400"/>
              <a:t>: Sort stocks by their predicted returns r^i,t+1 and divide them into 10 equal-weighted deciles (from low to high). Portfolios are value-weighted, with weights determined by market capitalization.</a:t>
            </a:r>
          </a:p>
          <a:p>
            <a:r>
              <a:rPr lang="en-US" altLang="zh-CN" sz="1400"/>
              <a:t>Purpose: Construct portfolios ranked by predicted returns, ranging from low to high expected returns.</a:t>
            </a:r>
          </a:p>
        </p:txBody>
      </p:sp>
      <p:sp>
        <p:nvSpPr>
          <p:cNvPr id="22" name="文本框 21"/>
          <p:cNvSpPr txBox="1"/>
          <p:nvPr/>
        </p:nvSpPr>
        <p:spPr>
          <a:xfrm>
            <a:off x="827405" y="4966970"/>
            <a:ext cx="9481185" cy="306705"/>
          </a:xfrm>
          <a:prstGeom prst="rect">
            <a:avLst/>
          </a:prstGeom>
        </p:spPr>
        <p:txBody>
          <a:bodyPr wrap="square">
            <a:spAutoFit/>
          </a:bodyPr>
          <a:lstStyle/>
          <a:p>
            <a:r>
              <a:rPr lang="en-US" altLang="zh-CN" sz="1400" b="1"/>
              <a:t>2.2.Calculate Actual Returns for Each Decile:</a:t>
            </a:r>
            <a:r>
              <a:rPr lang="en-US" altLang="zh-CN" sz="1400"/>
              <a:t>Compute the realized return of each decile d:</a:t>
            </a:r>
          </a:p>
        </p:txBody>
      </p:sp>
      <p:pic>
        <p:nvPicPr>
          <p:cNvPr id="23" name="图片 22"/>
          <p:cNvPicPr>
            <a:picLocks noChangeAspect="1"/>
          </p:cNvPicPr>
          <p:nvPr/>
        </p:nvPicPr>
        <p:blipFill>
          <a:blip r:embed="rId4"/>
          <a:stretch>
            <a:fillRect/>
          </a:stretch>
        </p:blipFill>
        <p:spPr>
          <a:xfrm>
            <a:off x="5258435" y="5258435"/>
            <a:ext cx="1501140" cy="510540"/>
          </a:xfrm>
          <a:prstGeom prst="rect">
            <a:avLst/>
          </a:prstGeom>
        </p:spPr>
      </p:pic>
      <p:sp>
        <p:nvSpPr>
          <p:cNvPr id="24" name="文本框 23"/>
          <p:cNvSpPr txBox="1"/>
          <p:nvPr/>
        </p:nvSpPr>
        <p:spPr>
          <a:xfrm>
            <a:off x="3673475" y="3164840"/>
            <a:ext cx="5885180" cy="521970"/>
          </a:xfrm>
          <a:prstGeom prst="rect">
            <a:avLst/>
          </a:prstGeom>
        </p:spPr>
        <p:txBody>
          <a:bodyPr wrap="square">
            <a:spAutoFit/>
          </a:bodyPr>
          <a:lstStyle/>
          <a:p>
            <a:r>
              <a:rPr lang="en-US" altLang="zh-CN" sz="1400"/>
              <a:t>r^i,t+1​: Predicted return for stock i at time t+1.</a:t>
            </a:r>
          </a:p>
          <a:p>
            <a:r>
              <a:rPr lang="en-US" altLang="zh-CN" sz="1400"/>
              <a:t>zi,t: A vector of stock-specific features and macroeconomic variables.</a:t>
            </a:r>
          </a:p>
        </p:txBody>
      </p:sp>
      <p:sp>
        <p:nvSpPr>
          <p:cNvPr id="25" name="文本框 24"/>
          <p:cNvSpPr txBox="1"/>
          <p:nvPr/>
        </p:nvSpPr>
        <p:spPr>
          <a:xfrm>
            <a:off x="4302760" y="5661025"/>
            <a:ext cx="3429635" cy="521970"/>
          </a:xfrm>
          <a:prstGeom prst="rect">
            <a:avLst/>
          </a:prstGeom>
        </p:spPr>
        <p:txBody>
          <a:bodyPr wrap="square">
            <a:spAutoFit/>
          </a:bodyPr>
          <a:lstStyle/>
          <a:p>
            <a:r>
              <a:rPr lang="en-US" altLang="zh-CN" sz="1400"/>
              <a:t>wi,t​: Value weight of stock i in decile d.</a:t>
            </a:r>
          </a:p>
          <a:p>
            <a:r>
              <a:rPr lang="en-US" altLang="zh-CN" sz="1400"/>
              <a:t>ri,t+1: Realized return of stock i at time t+1.</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a:t>Performance of the machine learning portfolios</a:t>
            </a:r>
          </a:p>
        </p:txBody>
      </p:sp>
      <p:sp>
        <p:nvSpPr>
          <p:cNvPr id="3" name="Content Placeholder 2"/>
          <p:cNvSpPr>
            <a:spLocks noGrp="1"/>
          </p:cNvSpPr>
          <p:nvPr>
            <p:ph idx="1"/>
          </p:nvPr>
        </p:nvSpPr>
        <p:spPr>
          <a:xfrm>
            <a:off x="838200" y="555625"/>
            <a:ext cx="10978515" cy="6303010"/>
          </a:xfrm>
        </p:spPr>
        <p:txBody>
          <a:bodyPr>
            <a:normAutofit fontScale="90000"/>
          </a:bodyPr>
          <a:lstStyle/>
          <a:p>
            <a:pPr marL="0" algn="l">
              <a:buClrTx/>
              <a:buSzTx/>
              <a:buNone/>
            </a:pPr>
            <a:r>
              <a:rPr lang="en-US" altLang="zh-CN" sz="1555" b="1" dirty="0">
                <a:solidFill>
                  <a:srgbClr val="26927D"/>
                </a:solidFill>
                <a:sym typeface="+mn-ea"/>
              </a:rPr>
              <a:t>Steps:</a:t>
            </a:r>
            <a:endParaRPr lang="en-US" altLang="zh-CN" sz="1555" b="1" dirty="0">
              <a:solidFill>
                <a:srgbClr val="26927D"/>
              </a:solidFill>
            </a:endParaRPr>
          </a:p>
          <a:p>
            <a:pPr marL="0" indent="0">
              <a:buNone/>
            </a:pPr>
            <a:endParaRPr lang="en-US" altLang="zh-CN">
              <a:sym typeface="+mn-ea"/>
            </a:endParaRPr>
          </a:p>
          <a:p>
            <a:pPr marL="0" indent="0">
              <a:buNone/>
            </a:pPr>
            <a:r>
              <a:rPr lang="en-US" altLang="zh-CN" dirty="0">
                <a:sym typeface="+mn-ea"/>
              </a:rPr>
              <a:t>                                        </a:t>
            </a:r>
          </a:p>
          <a:p>
            <a:pPr marL="0" indent="0">
              <a:buNone/>
            </a:pPr>
            <a:r>
              <a:rPr lang="en-US" altLang="zh-CN" dirty="0">
                <a:sym typeface="+mn-ea"/>
              </a:rPr>
              <a:t>                  </a:t>
            </a:r>
            <a:endParaRPr lang="en-US" dirty="0">
              <a:sym typeface="+mn-ea"/>
            </a:endParaRPr>
          </a:p>
          <a:p>
            <a:pPr marL="0" indent="0">
              <a:buNone/>
            </a:pPr>
            <a:r>
              <a:rPr lang="en-US" dirty="0">
                <a:solidFill>
                  <a:srgbClr val="26927D"/>
                </a:solidFill>
                <a:sym typeface="+mn-ea"/>
              </a:rPr>
              <a:t>                                                                                              </a:t>
            </a:r>
            <a:endParaRPr lang="en-US" altLang="zh-CN" dirty="0">
              <a:sym typeface="+mn-ea"/>
            </a:endParaRPr>
          </a:p>
          <a:p>
            <a:pPr marL="0" indent="0">
              <a:buNone/>
            </a:pPr>
            <a:r>
              <a:rPr lang="en-US" altLang="zh-CN" dirty="0">
                <a:sym typeface="+mn-ea"/>
              </a:rPr>
              <a:t>                                                                                                       </a:t>
            </a:r>
          </a:p>
          <a:p>
            <a:pPr marL="0" indent="0">
              <a:buNone/>
            </a:pPr>
            <a:r>
              <a:rPr lang="en-US" altLang="zh-CN"/>
              <a:t>     </a:t>
            </a:r>
          </a:p>
          <a:p>
            <a:pPr marL="0" indent="0">
              <a:buNone/>
            </a:pPr>
            <a:endParaRPr lang="en-US" dirty="0">
              <a:sym typeface="+mn-ea"/>
            </a:endParaRPr>
          </a:p>
          <a:p>
            <a:pPr marL="0" indent="0">
              <a:buNone/>
            </a:pPr>
            <a:r>
              <a:rPr lang="en-US" altLang="zh-CN" dirty="0">
                <a:sym typeface="+mn-ea"/>
              </a:rPr>
              <a:t>                      </a:t>
            </a:r>
            <a:endParaRPr lang="en-US" dirty="0">
              <a:sym typeface="+mn-ea"/>
            </a:endParaRPr>
          </a:p>
          <a:p>
            <a:pPr marL="0" indent="0">
              <a:buNone/>
            </a:pPr>
            <a:r>
              <a:rPr lang="en-US" altLang="zh-CN" dirty="0">
                <a:sym typeface="+mn-ea"/>
              </a:rPr>
              <a:t>          </a:t>
            </a:r>
          </a:p>
          <a:p>
            <a:pPr marL="0" indent="0">
              <a:buNone/>
            </a:pPr>
            <a:r>
              <a:rPr lang="en-US" altLang="zh-CN" sz="2400" dirty="0">
                <a:sym typeface="+mn-ea"/>
              </a:rPr>
              <a:t>                                           </a:t>
            </a:r>
            <a:r>
              <a:rPr lang="en-US" altLang="zh-CN" sz="2800">
                <a:sym typeface="+mn-ea"/>
              </a:rPr>
              <a:t>                                                         </a:t>
            </a:r>
          </a:p>
          <a:p>
            <a:pPr marL="0" indent="0">
              <a:buNone/>
            </a:pPr>
            <a:endParaRPr lang="zh-CN" altLang="en-US" dirty="0">
              <a:sym typeface="+mn-ea"/>
            </a:endParaRPr>
          </a:p>
          <a:p>
            <a:pPr marL="0" indent="0">
              <a:buNone/>
            </a:pPr>
            <a:r>
              <a:rPr lang="en-US" altLang="zh-CN" dirty="0">
                <a:sym typeface="+mn-ea"/>
              </a:rPr>
              <a:t>  </a:t>
            </a:r>
            <a:endParaRPr lang="en-US" dirty="0">
              <a:sym typeface="+mn-ea"/>
            </a:endParaRPr>
          </a:p>
          <a:p>
            <a:pPr marL="0" indent="0">
              <a:buNone/>
            </a:pPr>
            <a:endParaRPr lang="en-US" sz="2800" dirty="0">
              <a:sym typeface="+mn-ea"/>
            </a:endParaRPr>
          </a:p>
          <a:p>
            <a:pPr marL="0" indent="0">
              <a:buNone/>
            </a:pPr>
            <a:endParaRPr lang="en-US" sz="2800" dirty="0">
              <a:sym typeface="+mn-ea"/>
            </a:endParaRPr>
          </a:p>
        </p:txBody>
      </p:sp>
      <p:sp>
        <p:nvSpPr>
          <p:cNvPr id="20" name="文本框 19"/>
          <p:cNvSpPr txBox="1"/>
          <p:nvPr/>
        </p:nvSpPr>
        <p:spPr>
          <a:xfrm>
            <a:off x="1812925" y="2061845"/>
            <a:ext cx="7169785" cy="306705"/>
          </a:xfrm>
          <a:prstGeom prst="rect">
            <a:avLst/>
          </a:prstGeom>
        </p:spPr>
        <p:txBody>
          <a:bodyPr wrap="square">
            <a:spAutoFit/>
          </a:bodyPr>
          <a:lstStyle/>
          <a:p>
            <a:r>
              <a:rPr lang="en-US" altLang="zh-CN" sz="1400" b="1"/>
              <a:t>Step 3: </a:t>
            </a:r>
            <a:r>
              <a:rPr lang="en-US" altLang="zh-CN" sz="1400"/>
              <a:t>Calculate Portfolio Performance Metrics</a:t>
            </a:r>
          </a:p>
        </p:txBody>
      </p:sp>
      <p:sp>
        <p:nvSpPr>
          <p:cNvPr id="4" name="文本框 3"/>
          <p:cNvSpPr txBox="1"/>
          <p:nvPr/>
        </p:nvSpPr>
        <p:spPr>
          <a:xfrm>
            <a:off x="965200" y="1027430"/>
            <a:ext cx="10697845" cy="306705"/>
          </a:xfrm>
          <a:prstGeom prst="rect">
            <a:avLst/>
          </a:prstGeom>
        </p:spPr>
        <p:txBody>
          <a:bodyPr wrap="square">
            <a:spAutoFit/>
          </a:bodyPr>
          <a:lstStyle/>
          <a:p>
            <a:r>
              <a:rPr lang="en-US" altLang="zh-CN" sz="1400" b="1"/>
              <a:t>2.3.Construct Long-Short Portfolio:</a:t>
            </a:r>
          </a:p>
        </p:txBody>
      </p:sp>
      <p:sp>
        <p:nvSpPr>
          <p:cNvPr id="5" name="文本框 4"/>
          <p:cNvSpPr txBox="1"/>
          <p:nvPr/>
        </p:nvSpPr>
        <p:spPr>
          <a:xfrm>
            <a:off x="1280795" y="1254125"/>
            <a:ext cx="9756775" cy="306705"/>
          </a:xfrm>
          <a:prstGeom prst="rect">
            <a:avLst/>
          </a:prstGeom>
        </p:spPr>
        <p:txBody>
          <a:bodyPr wrap="square">
            <a:spAutoFit/>
          </a:bodyPr>
          <a:lstStyle/>
          <a:p>
            <a:r>
              <a:rPr lang="en-US" altLang="zh-CN" sz="1400"/>
              <a:t>Compute the return for a long-short portfolio (10-1 strategy) by buying the highest decile (10) and selling the lowest decile (1):</a:t>
            </a:r>
          </a:p>
        </p:txBody>
      </p:sp>
      <p:pic>
        <p:nvPicPr>
          <p:cNvPr id="6" name="图片 5"/>
          <p:cNvPicPr>
            <a:picLocks noChangeAspect="1"/>
          </p:cNvPicPr>
          <p:nvPr/>
        </p:nvPicPr>
        <p:blipFill>
          <a:blip r:embed="rId2"/>
          <a:stretch>
            <a:fillRect/>
          </a:stretch>
        </p:blipFill>
        <p:spPr>
          <a:xfrm>
            <a:off x="5307330" y="1551940"/>
            <a:ext cx="1577340" cy="213360"/>
          </a:xfrm>
          <a:prstGeom prst="rect">
            <a:avLst/>
          </a:prstGeom>
        </p:spPr>
      </p:pic>
      <p:sp>
        <p:nvSpPr>
          <p:cNvPr id="7" name="文本框 6"/>
          <p:cNvSpPr txBox="1"/>
          <p:nvPr/>
        </p:nvSpPr>
        <p:spPr>
          <a:xfrm>
            <a:off x="2357120" y="1701165"/>
            <a:ext cx="9413875" cy="306705"/>
          </a:xfrm>
          <a:prstGeom prst="rect">
            <a:avLst/>
          </a:prstGeom>
        </p:spPr>
        <p:txBody>
          <a:bodyPr wrap="square">
            <a:spAutoFit/>
          </a:bodyPr>
          <a:lstStyle/>
          <a:p>
            <a:r>
              <a:rPr lang="en-US" altLang="zh-CN" sz="1400"/>
              <a:t>Evaluate the effectiveness of model predictions in identifying high- and low-performing stocks.</a:t>
            </a:r>
          </a:p>
        </p:txBody>
      </p:sp>
      <p:sp>
        <p:nvSpPr>
          <p:cNvPr id="11" name="文本框 10"/>
          <p:cNvSpPr txBox="1"/>
          <p:nvPr/>
        </p:nvSpPr>
        <p:spPr>
          <a:xfrm>
            <a:off x="943610" y="2333625"/>
            <a:ext cx="9577705" cy="306705"/>
          </a:xfrm>
          <a:prstGeom prst="rect">
            <a:avLst/>
          </a:prstGeom>
        </p:spPr>
        <p:txBody>
          <a:bodyPr wrap="square">
            <a:spAutoFit/>
          </a:bodyPr>
          <a:lstStyle/>
          <a:p>
            <a:r>
              <a:rPr lang="en-US" altLang="zh-CN" sz="1400" b="1"/>
              <a:t>3.1 Annualized Return: </a:t>
            </a:r>
            <a:r>
              <a:rPr lang="en-US" altLang="zh-CN" sz="1400"/>
              <a:t>Calculate the average monthly return rˉd​ for each decile and annualize it</a:t>
            </a:r>
          </a:p>
        </p:txBody>
      </p:sp>
      <p:pic>
        <p:nvPicPr>
          <p:cNvPr id="14" name="图片 13"/>
          <p:cNvPicPr>
            <a:picLocks noChangeAspect="1"/>
          </p:cNvPicPr>
          <p:nvPr/>
        </p:nvPicPr>
        <p:blipFill>
          <a:blip r:embed="rId3"/>
          <a:stretch>
            <a:fillRect/>
          </a:stretch>
        </p:blipFill>
        <p:spPr>
          <a:xfrm>
            <a:off x="5462270" y="2380615"/>
            <a:ext cx="226695" cy="226695"/>
          </a:xfrm>
          <a:prstGeom prst="rect">
            <a:avLst/>
          </a:prstGeom>
        </p:spPr>
      </p:pic>
      <p:pic>
        <p:nvPicPr>
          <p:cNvPr id="15" name="图片 14"/>
          <p:cNvPicPr>
            <a:picLocks noChangeAspect="1"/>
          </p:cNvPicPr>
          <p:nvPr/>
        </p:nvPicPr>
        <p:blipFill>
          <a:blip r:embed="rId4"/>
          <a:stretch>
            <a:fillRect/>
          </a:stretch>
        </p:blipFill>
        <p:spPr>
          <a:xfrm>
            <a:off x="4972685" y="2691765"/>
            <a:ext cx="929640" cy="243840"/>
          </a:xfrm>
          <a:prstGeom prst="rect">
            <a:avLst/>
          </a:prstGeom>
        </p:spPr>
      </p:pic>
      <p:sp>
        <p:nvSpPr>
          <p:cNvPr id="17" name="文本框 16"/>
          <p:cNvSpPr txBox="1"/>
          <p:nvPr/>
        </p:nvSpPr>
        <p:spPr>
          <a:xfrm>
            <a:off x="953770" y="3013710"/>
            <a:ext cx="10699115" cy="306705"/>
          </a:xfrm>
          <a:prstGeom prst="rect">
            <a:avLst/>
          </a:prstGeom>
        </p:spPr>
        <p:txBody>
          <a:bodyPr wrap="square">
            <a:spAutoFit/>
          </a:bodyPr>
          <a:lstStyle/>
          <a:p>
            <a:r>
              <a:rPr lang="en-US" altLang="zh-CN" sz="1400" b="1"/>
              <a:t>3.2 Annualized Volatility: </a:t>
            </a:r>
            <a:r>
              <a:rPr lang="en-US" altLang="zh-CN" sz="1400"/>
              <a:t>Compute the standard deviation of monthly returns σd for each decile and annualize it</a:t>
            </a:r>
          </a:p>
        </p:txBody>
      </p:sp>
      <p:pic>
        <p:nvPicPr>
          <p:cNvPr id="18" name="图片 17"/>
          <p:cNvPicPr>
            <a:picLocks noChangeAspect="1"/>
          </p:cNvPicPr>
          <p:nvPr/>
        </p:nvPicPr>
        <p:blipFill>
          <a:blip r:embed="rId5"/>
          <a:stretch>
            <a:fillRect/>
          </a:stretch>
        </p:blipFill>
        <p:spPr>
          <a:xfrm>
            <a:off x="6662420" y="3096895"/>
            <a:ext cx="205740" cy="167640"/>
          </a:xfrm>
          <a:prstGeom prst="rect">
            <a:avLst/>
          </a:prstGeom>
        </p:spPr>
      </p:pic>
      <p:pic>
        <p:nvPicPr>
          <p:cNvPr id="26" name="图片 25"/>
          <p:cNvPicPr>
            <a:picLocks noChangeAspect="1"/>
          </p:cNvPicPr>
          <p:nvPr/>
        </p:nvPicPr>
        <p:blipFill>
          <a:blip r:embed="rId6"/>
          <a:stretch>
            <a:fillRect/>
          </a:stretch>
        </p:blipFill>
        <p:spPr>
          <a:xfrm>
            <a:off x="4870450" y="3320415"/>
            <a:ext cx="1501140" cy="281940"/>
          </a:xfrm>
          <a:prstGeom prst="rect">
            <a:avLst/>
          </a:prstGeom>
        </p:spPr>
      </p:pic>
      <p:sp>
        <p:nvSpPr>
          <p:cNvPr id="27" name="文本框 26"/>
          <p:cNvSpPr txBox="1"/>
          <p:nvPr/>
        </p:nvSpPr>
        <p:spPr>
          <a:xfrm>
            <a:off x="953770" y="3607435"/>
            <a:ext cx="10400030" cy="306705"/>
          </a:xfrm>
          <a:prstGeom prst="rect">
            <a:avLst/>
          </a:prstGeom>
        </p:spPr>
        <p:txBody>
          <a:bodyPr wrap="square">
            <a:spAutoFit/>
          </a:bodyPr>
          <a:lstStyle/>
          <a:p>
            <a:r>
              <a:rPr lang="en-US" altLang="zh-CN" sz="1400" b="1"/>
              <a:t>3.3Sharpe Ratio (SR)</a:t>
            </a:r>
            <a:r>
              <a:rPr lang="en-US" altLang="zh-CN" sz="1400"/>
              <a:t>: Calculate the Sharpe ratio for each decile and the long-short portfolio</a:t>
            </a:r>
          </a:p>
        </p:txBody>
      </p:sp>
      <p:pic>
        <p:nvPicPr>
          <p:cNvPr id="28" name="图片 27"/>
          <p:cNvPicPr>
            <a:picLocks noChangeAspect="1"/>
          </p:cNvPicPr>
          <p:nvPr/>
        </p:nvPicPr>
        <p:blipFill>
          <a:blip r:embed="rId7"/>
          <a:stretch>
            <a:fillRect/>
          </a:stretch>
        </p:blipFill>
        <p:spPr>
          <a:xfrm>
            <a:off x="4897755" y="3848100"/>
            <a:ext cx="1295400" cy="457200"/>
          </a:xfrm>
          <a:prstGeom prst="rect">
            <a:avLst/>
          </a:prstGeom>
        </p:spPr>
      </p:pic>
      <p:sp>
        <p:nvSpPr>
          <p:cNvPr id="29" name="文本框 28"/>
          <p:cNvSpPr txBox="1"/>
          <p:nvPr/>
        </p:nvSpPr>
        <p:spPr>
          <a:xfrm>
            <a:off x="4052570" y="4203065"/>
            <a:ext cx="3711575" cy="521970"/>
          </a:xfrm>
          <a:prstGeom prst="rect">
            <a:avLst/>
          </a:prstGeom>
        </p:spPr>
        <p:txBody>
          <a:bodyPr wrap="square">
            <a:spAutoFit/>
          </a:bodyPr>
          <a:lstStyle/>
          <a:p>
            <a:pPr indent="0">
              <a:buFont typeface="Arial" panose="020B0604020202020204"/>
              <a:buNone/>
            </a:pPr>
            <a:r>
              <a:rPr lang="en-US" altLang="zh-CN" sz="1400"/>
              <a:t>rf​ is the risk-free rate.</a:t>
            </a:r>
          </a:p>
          <a:p>
            <a:r>
              <a:rPr lang="en-US" altLang="zh-CN" sz="1400"/>
              <a:t>Assess the risk-adjusted return of each portfolio.</a:t>
            </a:r>
          </a:p>
        </p:txBody>
      </p:sp>
      <p:sp>
        <p:nvSpPr>
          <p:cNvPr id="30" name="文本框 29"/>
          <p:cNvSpPr txBox="1"/>
          <p:nvPr/>
        </p:nvSpPr>
        <p:spPr>
          <a:xfrm>
            <a:off x="1893570" y="4652963"/>
            <a:ext cx="5080000" cy="306705"/>
          </a:xfrm>
          <a:prstGeom prst="rect">
            <a:avLst/>
          </a:prstGeom>
        </p:spPr>
        <p:txBody>
          <a:bodyPr>
            <a:spAutoFit/>
          </a:bodyPr>
          <a:lstStyle/>
          <a:p>
            <a:r>
              <a:rPr lang="en-US" altLang="zh-CN" sz="1400" b="1"/>
              <a:t>Step 4</a:t>
            </a:r>
            <a:r>
              <a:rPr lang="en-US" altLang="zh-CN" sz="1400"/>
              <a:t>: Evaluate and Compare Model Performance</a:t>
            </a:r>
          </a:p>
        </p:txBody>
      </p:sp>
      <p:sp>
        <p:nvSpPr>
          <p:cNvPr id="31" name="文本框 30"/>
          <p:cNvSpPr txBox="1"/>
          <p:nvPr/>
        </p:nvSpPr>
        <p:spPr>
          <a:xfrm>
            <a:off x="965835" y="4928870"/>
            <a:ext cx="10805160" cy="737235"/>
          </a:xfrm>
          <a:prstGeom prst="rect">
            <a:avLst/>
          </a:prstGeom>
        </p:spPr>
        <p:txBody>
          <a:bodyPr wrap="square">
            <a:spAutoFit/>
          </a:bodyPr>
          <a:lstStyle/>
          <a:p>
            <a:r>
              <a:rPr lang="en-US" altLang="zh-CN" sz="1400"/>
              <a:t>Model Comparison: Compare average returns, volatility, and Sharpe ratios across different machine learning models for high and low deciles, as well as the long-short portfolio.</a:t>
            </a:r>
          </a:p>
          <a:p>
            <a:r>
              <a:rPr lang="en-US" altLang="zh-CN" sz="1400"/>
              <a:t>Robustness Checks: Analyze the consistency between predicted returns and actual returns across deciles.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5435"/>
            <a:ext cx="10515600" cy="1336413"/>
          </a:xfrm>
        </p:spPr>
        <p:txBody>
          <a:bodyPr>
            <a:normAutofit/>
          </a:bodyPr>
          <a:lstStyle/>
          <a:p>
            <a:r>
              <a:rPr lang="en-US" sz="3600" b="1" dirty="0"/>
              <a:t>Performance of the machine learning portfolios</a:t>
            </a:r>
          </a:p>
        </p:txBody>
      </p:sp>
      <p:sp>
        <p:nvSpPr>
          <p:cNvPr id="3" name="Content Placeholder 2"/>
          <p:cNvSpPr>
            <a:spLocks noGrp="1"/>
          </p:cNvSpPr>
          <p:nvPr>
            <p:ph idx="1"/>
          </p:nvPr>
        </p:nvSpPr>
        <p:spPr>
          <a:xfrm>
            <a:off x="838200" y="555625"/>
            <a:ext cx="10978515" cy="6303010"/>
          </a:xfrm>
        </p:spPr>
        <p:txBody>
          <a:bodyPr>
            <a:normAutofit fontScale="90000"/>
          </a:bodyPr>
          <a:lstStyle/>
          <a:p>
            <a:pPr marL="0" algn="l">
              <a:buClrTx/>
              <a:buSzTx/>
              <a:buNone/>
            </a:pPr>
            <a:r>
              <a:rPr lang="en-US" altLang="zh-CN" sz="1555" b="1" dirty="0">
                <a:solidFill>
                  <a:srgbClr val="26927D"/>
                </a:solidFill>
                <a:sym typeface="+mn-ea"/>
              </a:rPr>
              <a:t>Results:</a:t>
            </a:r>
            <a:endParaRPr lang="en-US" altLang="zh-CN" sz="1555" b="1" dirty="0">
              <a:solidFill>
                <a:srgbClr val="26927D"/>
              </a:solidFill>
            </a:endParaRPr>
          </a:p>
          <a:p>
            <a:pPr marL="0" indent="0">
              <a:buNone/>
            </a:pPr>
            <a:endParaRPr lang="en-US" altLang="zh-CN">
              <a:sym typeface="+mn-ea"/>
            </a:endParaRPr>
          </a:p>
          <a:p>
            <a:pPr marL="0" indent="0">
              <a:buNone/>
            </a:pPr>
            <a:r>
              <a:rPr lang="en-US" altLang="zh-CN" dirty="0">
                <a:sym typeface="+mn-ea"/>
              </a:rPr>
              <a:t>                                        </a:t>
            </a:r>
          </a:p>
          <a:p>
            <a:pPr marL="0" indent="0">
              <a:buNone/>
            </a:pPr>
            <a:r>
              <a:rPr lang="en-US" altLang="zh-CN" dirty="0">
                <a:sym typeface="+mn-ea"/>
              </a:rPr>
              <a:t>                  </a:t>
            </a:r>
            <a:endParaRPr lang="en-US" dirty="0">
              <a:sym typeface="+mn-ea"/>
            </a:endParaRPr>
          </a:p>
          <a:p>
            <a:pPr marL="0" indent="0">
              <a:buNone/>
            </a:pPr>
            <a:r>
              <a:rPr lang="en-US" dirty="0">
                <a:solidFill>
                  <a:srgbClr val="26927D"/>
                </a:solidFill>
                <a:sym typeface="+mn-ea"/>
              </a:rPr>
              <a:t>                                                                                              </a:t>
            </a:r>
            <a:endParaRPr lang="en-US" altLang="zh-CN" dirty="0">
              <a:sym typeface="+mn-ea"/>
            </a:endParaRPr>
          </a:p>
          <a:p>
            <a:pPr marL="0" indent="0">
              <a:buNone/>
            </a:pPr>
            <a:r>
              <a:rPr lang="en-US" altLang="zh-CN" dirty="0">
                <a:sym typeface="+mn-ea"/>
              </a:rPr>
              <a:t>                                                                                                       </a:t>
            </a:r>
          </a:p>
          <a:p>
            <a:pPr marL="0" indent="0">
              <a:buNone/>
            </a:pPr>
            <a:r>
              <a:rPr lang="en-US" altLang="zh-CN"/>
              <a:t>     </a:t>
            </a:r>
          </a:p>
          <a:p>
            <a:pPr marL="0" indent="0">
              <a:buNone/>
            </a:pPr>
            <a:endParaRPr lang="en-US" dirty="0">
              <a:sym typeface="+mn-ea"/>
            </a:endParaRPr>
          </a:p>
          <a:p>
            <a:pPr marL="0" indent="0">
              <a:buNone/>
            </a:pPr>
            <a:r>
              <a:rPr lang="en-US" altLang="zh-CN" dirty="0">
                <a:sym typeface="+mn-ea"/>
              </a:rPr>
              <a:t>                      </a:t>
            </a:r>
            <a:endParaRPr lang="en-US" dirty="0">
              <a:sym typeface="+mn-ea"/>
            </a:endParaRPr>
          </a:p>
          <a:p>
            <a:pPr marL="0" indent="0">
              <a:buNone/>
            </a:pPr>
            <a:r>
              <a:rPr lang="en-US" altLang="zh-CN" dirty="0">
                <a:sym typeface="+mn-ea"/>
              </a:rPr>
              <a:t>          </a:t>
            </a:r>
          </a:p>
          <a:p>
            <a:pPr marL="0" indent="0">
              <a:buNone/>
            </a:pPr>
            <a:r>
              <a:rPr lang="en-US" altLang="zh-CN" sz="2400" dirty="0">
                <a:sym typeface="+mn-ea"/>
              </a:rPr>
              <a:t>                                           </a:t>
            </a:r>
            <a:r>
              <a:rPr lang="en-US" altLang="zh-CN" sz="2800">
                <a:sym typeface="+mn-ea"/>
              </a:rPr>
              <a:t>                                                         </a:t>
            </a:r>
          </a:p>
          <a:p>
            <a:pPr marL="0" indent="0">
              <a:buNone/>
            </a:pPr>
            <a:endParaRPr lang="zh-CN" altLang="en-US" dirty="0">
              <a:sym typeface="+mn-ea"/>
            </a:endParaRPr>
          </a:p>
          <a:p>
            <a:pPr marL="0" indent="0">
              <a:buNone/>
            </a:pPr>
            <a:r>
              <a:rPr lang="en-US" altLang="zh-CN" dirty="0">
                <a:sym typeface="+mn-ea"/>
              </a:rPr>
              <a:t>  </a:t>
            </a:r>
            <a:endParaRPr lang="en-US" dirty="0">
              <a:sym typeface="+mn-ea"/>
            </a:endParaRPr>
          </a:p>
          <a:p>
            <a:pPr marL="0" indent="0">
              <a:buNone/>
            </a:pPr>
            <a:endParaRPr lang="en-US" sz="2800" dirty="0">
              <a:sym typeface="+mn-ea"/>
            </a:endParaRPr>
          </a:p>
          <a:p>
            <a:pPr marL="0" indent="0">
              <a:buNone/>
            </a:pPr>
            <a:endParaRPr lang="en-US" sz="2800" dirty="0">
              <a:sym typeface="+mn-ea"/>
            </a:endParaRPr>
          </a:p>
        </p:txBody>
      </p:sp>
      <p:pic>
        <p:nvPicPr>
          <p:cNvPr id="8" name="图片 7"/>
          <p:cNvPicPr>
            <a:picLocks noChangeAspect="1"/>
          </p:cNvPicPr>
          <p:nvPr/>
        </p:nvPicPr>
        <p:blipFill>
          <a:blip r:embed="rId2"/>
          <a:stretch>
            <a:fillRect/>
          </a:stretch>
        </p:blipFill>
        <p:spPr>
          <a:xfrm>
            <a:off x="904875" y="796925"/>
            <a:ext cx="3526790" cy="6010275"/>
          </a:xfrm>
          <a:prstGeom prst="rect">
            <a:avLst/>
          </a:prstGeom>
        </p:spPr>
      </p:pic>
      <p:sp>
        <p:nvSpPr>
          <p:cNvPr id="9" name="文本框 8"/>
          <p:cNvSpPr txBox="1"/>
          <p:nvPr/>
        </p:nvSpPr>
        <p:spPr>
          <a:xfrm>
            <a:off x="4601845" y="635635"/>
            <a:ext cx="7518400" cy="3538220"/>
          </a:xfrm>
          <a:prstGeom prst="rect">
            <a:avLst/>
          </a:prstGeom>
        </p:spPr>
        <p:txBody>
          <a:bodyPr wrap="square">
            <a:spAutoFit/>
          </a:bodyPr>
          <a:lstStyle/>
          <a:p>
            <a:r>
              <a:rPr lang="en-US" altLang="zh-CN" sz="1600" b="1"/>
              <a:t>1.Monotonicity in Returns:</a:t>
            </a:r>
          </a:p>
          <a:p>
            <a:pPr indent="0">
              <a:buFont typeface="Arial" panose="020B0604020202020204"/>
              <a:buNone/>
            </a:pPr>
            <a:r>
              <a:rPr lang="en-US" altLang="zh-CN" sz="1600"/>
              <a:t>Portfolio returns increase monotonically from the lowest to the highest decile for all models, demonstrating the models' ability to effectively rank stocks by expected returns.</a:t>
            </a:r>
          </a:p>
          <a:p>
            <a:r>
              <a:rPr lang="en-US" altLang="zh-CN" sz="1600" b="1"/>
              <a:t>2.Superiority of Nonlinear Models:</a:t>
            </a:r>
          </a:p>
          <a:p>
            <a:pPr indent="0">
              <a:buFont typeface="Arial" panose="020B0604020202020204"/>
              <a:buNone/>
            </a:pPr>
            <a:r>
              <a:rPr lang="en-US" altLang="zh-CN" sz="1600"/>
              <a:t>Neural networks (NN3, NN4) and tree-based models (GBRT) perform best in long-short strategies, with significantly higher Sharpe ratios compared to linear models.</a:t>
            </a:r>
          </a:p>
          <a:p>
            <a:pPr indent="0">
              <a:buFont typeface="Arial" panose="020B0604020202020204"/>
              <a:buNone/>
            </a:pPr>
            <a:r>
              <a:rPr lang="en-US" altLang="zh-CN" sz="1600"/>
              <a:t>NN4 achieves the highest Sharpe ratio for the long-short portfolio, at 1.35.</a:t>
            </a:r>
          </a:p>
          <a:p>
            <a:r>
              <a:rPr lang="en-US" altLang="zh-CN" sz="1600" b="1"/>
              <a:t>3.Return-Risk Balance:</a:t>
            </a:r>
          </a:p>
          <a:p>
            <a:pPr indent="0">
              <a:buFont typeface="Arial" panose="020B0604020202020204"/>
              <a:buNone/>
            </a:pPr>
            <a:r>
              <a:rPr lang="en-US" altLang="zh-CN" sz="1600"/>
              <a:t>Nonlinear models achieve higher annualized returns while maintaining moderate levels of volatility, resulting in superior risk-adjusted performance.</a:t>
            </a:r>
          </a:p>
          <a:p>
            <a:r>
              <a:rPr lang="en-US" altLang="zh-CN" sz="1600" b="1"/>
              <a:t>4.Disparities Across Deciles:</a:t>
            </a:r>
          </a:p>
          <a:p>
            <a:pPr indent="0">
              <a:buFont typeface="Arial" panose="020B0604020202020204"/>
              <a:buNone/>
            </a:pPr>
            <a:r>
              <a:rPr lang="en-US" altLang="zh-CN" sz="1600"/>
              <a:t>The returns and Sharpe ratios for the highest decile (10) are significantly greater than those for the lowest decile (1), indicating the effectiveness of machine learning models in capturing return heterogeneity.</a:t>
            </a:r>
          </a:p>
        </p:txBody>
      </p:sp>
      <p:sp>
        <p:nvSpPr>
          <p:cNvPr id="10" name="文本框 9"/>
          <p:cNvSpPr txBox="1"/>
          <p:nvPr/>
        </p:nvSpPr>
        <p:spPr>
          <a:xfrm>
            <a:off x="4601845" y="4792980"/>
            <a:ext cx="7404735" cy="1568450"/>
          </a:xfrm>
          <a:prstGeom prst="rect">
            <a:avLst/>
          </a:prstGeom>
        </p:spPr>
        <p:txBody>
          <a:bodyPr wrap="square">
            <a:spAutoFit/>
          </a:bodyPr>
          <a:lstStyle/>
          <a:p>
            <a:r>
              <a:rPr lang="en-US" altLang="zh-CN" sz="1600"/>
              <a:t>Table 7 highlights the strong capabilities of machine learning models in asset pricing and portfolio construction. Nonlinear methods, such as neural networks and gradient-boosted regression trees, excel at capturing complex relationships and provide superior return predictions and portfolio performance. These results demonstrate the potential of machine learning to revolutionize portfolio management by offering unparalleled accuracy and insights in high-dimensional financial datasets.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3995"/>
            <a:ext cx="10515600" cy="1325563"/>
          </a:xfrm>
        </p:spPr>
        <p:txBody>
          <a:bodyPr>
            <a:normAutofit/>
          </a:bodyPr>
          <a:lstStyle/>
          <a:p>
            <a:r>
              <a:rPr lang="en-US" sz="3600" b="1" dirty="0"/>
              <a:t>Summary</a:t>
            </a:r>
            <a:endParaRPr lang="en-US" sz="3600" dirty="0"/>
          </a:p>
        </p:txBody>
      </p:sp>
      <p:sp>
        <p:nvSpPr>
          <p:cNvPr id="3" name="Content Placeholder 2"/>
          <p:cNvSpPr>
            <a:spLocks noGrp="1"/>
          </p:cNvSpPr>
          <p:nvPr>
            <p:ph idx="1"/>
          </p:nvPr>
        </p:nvSpPr>
        <p:spPr>
          <a:xfrm>
            <a:off x="838200" y="626110"/>
            <a:ext cx="10515600" cy="6095365"/>
          </a:xfrm>
        </p:spPr>
        <p:txBody>
          <a:bodyPr>
            <a:normAutofit fontScale="55000"/>
          </a:bodyPr>
          <a:lstStyle/>
          <a:p>
            <a:r>
              <a:rPr lang="en-US" sz="2400" dirty="0">
                <a:solidFill>
                  <a:srgbClr val="26927D"/>
                </a:solidFill>
              </a:rPr>
              <a:t>Model construction</a:t>
            </a:r>
          </a:p>
          <a:p>
            <a:pPr marL="0" indent="0">
              <a:buNone/>
            </a:pPr>
            <a:r>
              <a:rPr lang="en-US" sz="2400" dirty="0">
                <a:sym typeface="+mn-ea"/>
              </a:rPr>
              <a:t>1)  The first step is to formulate a general function for the target, which can be based on relevant theories or existing literature.</a:t>
            </a:r>
            <a:endParaRPr lang="en-US" sz="2400" dirty="0"/>
          </a:p>
          <a:p>
            <a:pPr marL="0" indent="0">
              <a:buNone/>
            </a:pPr>
            <a:r>
              <a:rPr lang="en-US" sz="2400" dirty="0">
                <a:sym typeface="+mn-ea"/>
              </a:rPr>
              <a:t>2)  The second step is to concretely define the general function, again referencing existing literature.</a:t>
            </a:r>
            <a:endParaRPr lang="en-US" sz="2400" dirty="0">
              <a:solidFill>
                <a:srgbClr val="26927D"/>
              </a:solidFill>
            </a:endParaRPr>
          </a:p>
          <a:p>
            <a:r>
              <a:rPr lang="en-US" sz="2400" dirty="0">
                <a:solidFill>
                  <a:srgbClr val="26927D"/>
                </a:solidFill>
              </a:rPr>
              <a:t>Performance evaluation</a:t>
            </a:r>
          </a:p>
          <a:p>
            <a:pPr marL="0" indent="0">
              <a:buNone/>
            </a:pPr>
            <a:r>
              <a:rPr lang="en-US" sz="2400" dirty="0"/>
              <a:t>1) Evaluating Model's Predictive Power: The first step is to assess the model’s predictive power itself (for example, in this paper, out-of-sample               statistics are used, comparing the error between predicted and actual values to measure prediction accuracy. </a:t>
            </a:r>
          </a:p>
          <a:p>
            <a:pPr marL="0" indent="0">
              <a:buNone/>
            </a:pPr>
            <a:r>
              <a:rPr lang="en-US" sz="2400" dirty="0">
                <a:sym typeface="+mn-ea"/>
              </a:rPr>
              <a:t>2)</a:t>
            </a:r>
            <a:r>
              <a:rPr lang="en-US" sz="2400" dirty="0"/>
              <a:t> Comparing with Other Models: The third step is to compare the new model’s capabilities with those of other models (in this study, the modified Diebold and Mariano (DM) test is used, which measures the ratio of the mean squared prediction error difference to its standard error to compare the predictive ability of different models).</a:t>
            </a:r>
          </a:p>
          <a:p>
            <a:r>
              <a:rPr lang="en-US" sz="2400" dirty="0">
                <a:solidFill>
                  <a:srgbClr val="26927D"/>
                </a:solidFill>
              </a:rPr>
              <a:t>Empirical results</a:t>
            </a:r>
          </a:p>
          <a:p>
            <a:pPr marL="0" indent="0">
              <a:buNone/>
            </a:pPr>
            <a:r>
              <a:rPr lang="en-US" sz="2400" dirty="0">
                <a:sym typeface="+mn-ea"/>
              </a:rPr>
              <a:t>1) </a:t>
            </a:r>
            <a:r>
              <a:rPr lang="en-US" sz="2400" dirty="0"/>
              <a:t>Machine learning models substantially outperform traditional regression-based methods in predicting both individual stock returns and portfolio returns.</a:t>
            </a:r>
          </a:p>
          <a:p>
            <a:pPr marL="0" indent="0">
              <a:buNone/>
            </a:pPr>
            <a:r>
              <a:rPr lang="en-US" sz="2400" dirty="0">
                <a:sym typeface="+mn-ea"/>
              </a:rPr>
              <a:t>2) </a:t>
            </a:r>
            <a:r>
              <a:rPr lang="en-US" sz="2400" dirty="0"/>
              <a:t>Neural networks and tree-based models (gradient boosted regression trees and random forests) consistently provide the highest predictive accuracy due to their ability to capture nonlinear relationships and interactions among predictors.</a:t>
            </a:r>
          </a:p>
          <a:p>
            <a:pPr marL="0" indent="0">
              <a:buNone/>
            </a:pPr>
            <a:r>
              <a:rPr lang="en-US" sz="2400" dirty="0">
                <a:sym typeface="+mn-ea"/>
              </a:rPr>
              <a:t>3) </a:t>
            </a:r>
            <a:r>
              <a:rPr lang="en-US" sz="2400" dirty="0"/>
              <a:t>Penalized linear models (Elastic Net, PCR, and PLS) mitigate overfitting in high-dimensional settings but underperform nonlinear methods in predictive accuracy.</a:t>
            </a:r>
            <a:endParaRPr lang="en-US" altLang="zh-CN"/>
          </a:p>
          <a:p>
            <a:pPr marL="0" indent="0">
              <a:buNone/>
            </a:pPr>
            <a:r>
              <a:rPr lang="en-US" sz="2400" dirty="0">
                <a:sym typeface="+mn-ea"/>
              </a:rPr>
              <a:t>4) </a:t>
            </a:r>
            <a:r>
              <a:rPr lang="en-US" sz="2400" dirty="0"/>
              <a:t>Neural networks with 3 hidden layers (NN3) provide the best balance between model complexity and predictive power, surpassing deeper networks like NN4 and NN5.</a:t>
            </a:r>
          </a:p>
          <a:p>
            <a:pPr marL="0" indent="0">
              <a:buNone/>
            </a:pPr>
            <a:r>
              <a:rPr lang="en-US" sz="2400" dirty="0">
                <a:sym typeface="+mn-ea"/>
              </a:rPr>
              <a:t>5) </a:t>
            </a:r>
            <a:r>
              <a:rPr lang="en-US" sz="2400" dirty="0"/>
              <a:t>Across all models, a common set of dominant predictors emerges:</a:t>
            </a:r>
          </a:p>
          <a:p>
            <a:pPr marL="0" indent="0">
              <a:buNone/>
            </a:pPr>
            <a:r>
              <a:rPr lang="en-US" sz="2400" dirty="0"/>
              <a:t>Momentum and Reversal: Stock and industry momentum, short-term and long-term reversals.</a:t>
            </a:r>
          </a:p>
          <a:p>
            <a:pPr marL="0" indent="0">
              <a:buNone/>
            </a:pPr>
            <a:r>
              <a:rPr lang="en-US" sz="2400" dirty="0"/>
              <a:t>Risk Measures: Volatility, beta, and idiosyncratic risk.</a:t>
            </a:r>
          </a:p>
          <a:p>
            <a:pPr marL="0" indent="0">
              <a:buNone/>
            </a:pPr>
            <a:r>
              <a:rPr lang="en-US" sz="2400" dirty="0"/>
              <a:t>Liquidity Metrics: Turnover, Amihud illiquidity, and bid-ask spreads.</a:t>
            </a:r>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107D843B-1DED-40DC-AF70-C1B4F17B1EA6}" type="slidenum">
              <a:rPr lang="en-US" smtClean="0"/>
              <a:t>73</a:t>
            </a:fld>
            <a:endParaRPr lang="en-US"/>
          </a:p>
        </p:txBody>
      </p:sp>
      <p:pic>
        <p:nvPicPr>
          <p:cNvPr id="5" name="图片 4"/>
          <p:cNvPicPr>
            <a:picLocks noChangeAspect="1"/>
          </p:cNvPicPr>
          <p:nvPr/>
        </p:nvPicPr>
        <p:blipFill>
          <a:blip r:embed="rId2"/>
          <a:stretch>
            <a:fillRect/>
          </a:stretch>
        </p:blipFill>
        <p:spPr>
          <a:xfrm>
            <a:off x="10477500" y="1816735"/>
            <a:ext cx="342900" cy="289560"/>
          </a:xfrm>
          <a:prstGeom prst="rect">
            <a:avLst/>
          </a:prstGeom>
        </p:spPr>
      </p:pic>
      <p:sp>
        <p:nvSpPr>
          <p:cNvPr id="6" name="文本框 5"/>
          <p:cNvSpPr txBox="1"/>
          <p:nvPr/>
        </p:nvSpPr>
        <p:spPr>
          <a:xfrm>
            <a:off x="827405" y="6421120"/>
            <a:ext cx="8197850" cy="275590"/>
          </a:xfrm>
          <a:prstGeom prst="rect">
            <a:avLst/>
          </a:prstGeom>
        </p:spPr>
        <p:txBody>
          <a:bodyPr wrap="square">
            <a:spAutoFit/>
          </a:bodyPr>
          <a:lstStyle/>
          <a:p>
            <a:r>
              <a:rPr lang="en-US" altLang="zh-CN" sz="1200"/>
              <a:t>Valuation and Fundamentals: Earnings-to-price, sales-to-price, and asset growth.</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textbox 2134"/>
          <p:cNvSpPr/>
          <p:nvPr/>
        </p:nvSpPr>
        <p:spPr>
          <a:xfrm>
            <a:off x="638175" y="25400"/>
            <a:ext cx="11076940" cy="66897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86360" algn="l" rtl="0" eaLnBrk="0">
              <a:lnSpc>
                <a:spcPts val="3785"/>
              </a:lnSpc>
            </a:pPr>
            <a:r>
              <a:rPr lang="en-US" altLang="zh-CN" sz="2810" dirty="0">
                <a:latin typeface="Calibri Light" panose="020F0302020204030204"/>
                <a:ea typeface="Calibri Light" panose="020F0302020204030204"/>
                <a:cs typeface="Calibri Light" panose="020F0302020204030204"/>
                <a:sym typeface="+mn-ea"/>
              </a:rPr>
              <a:t>Problem Set</a:t>
            </a:r>
            <a:endParaRPr lang="en-US" altLang="zh-CN" sz="2810" dirty="0">
              <a:latin typeface="Calibri Light" panose="020F0302020204030204"/>
              <a:ea typeface="Calibri Light" panose="020F0302020204030204"/>
              <a:cs typeface="Calibri Light" panose="020F0302020204030204"/>
            </a:endParaRPr>
          </a:p>
          <a:p>
            <a:pPr algn="l" rtl="0" eaLnBrk="0">
              <a:lnSpc>
                <a:spcPct val="150000"/>
              </a:lnSpc>
            </a:pPr>
            <a:endParaRPr sz="905" dirty="0">
              <a:latin typeface="Arial" panose="020B0604020202020204"/>
              <a:ea typeface="Arial" panose="020B0604020202020204"/>
              <a:cs typeface="Arial" panose="020B0604020202020204"/>
            </a:endParaRPr>
          </a:p>
          <a:p>
            <a:pPr marL="12700" algn="l" rtl="0" eaLnBrk="0">
              <a:lnSpc>
                <a:spcPct val="77000"/>
              </a:lnSpc>
              <a:spcBef>
                <a:spcPts val="520"/>
              </a:spcBef>
            </a:pPr>
            <a:r>
              <a:rPr sz="1540" kern="0" spc="0" dirty="0">
                <a:solidFill>
                  <a:srgbClr val="000000">
                    <a:alpha val="100000"/>
                  </a:srgbClr>
                </a:solidFill>
                <a:latin typeface="Arial" panose="020B0604020202020204"/>
                <a:ea typeface="Arial" panose="020B0604020202020204"/>
                <a:cs typeface="Arial" panose="020B0604020202020204"/>
              </a:rPr>
              <a:t>•  </a:t>
            </a:r>
            <a:r>
              <a:rPr lang="en-US" altLang="zh-CN" sz="1540" dirty="0">
                <a:latin typeface="Calibri Light" panose="020F0302020204030204"/>
                <a:ea typeface="Calibri Light" panose="020F0302020204030204"/>
                <a:cs typeface="Calibri Light" panose="020F0302020204030204"/>
              </a:rPr>
              <a:t>Question 1 Using this code snippet to generate a simulated dataset for calculation</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Question 2 </a:t>
            </a:r>
            <a:r>
              <a:rPr lang="en-US" altLang="zh-CN" sz="1540" dirty="0">
                <a:latin typeface="Calibri Light" panose="020F0302020204030204"/>
                <a:ea typeface="Calibri Light" panose="020F0302020204030204"/>
                <a:cs typeface="Calibri Light" panose="020F0302020204030204"/>
              </a:rPr>
              <a:t>Train various regression and machine learning models using the generated dataset, referencing the code snippet, to predict future stock excess returns. Specifically:</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an OLS regression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an extension of the OLS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variant of the OLS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an Elastic Net Regression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Principal Component Regression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Partial Least Squares Regression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Generalized Linear Regression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Random Forest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Boosted Regression Trees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Train a Neural Network model.</a:t>
            </a: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rPr>
              <a:t>Question 3: Evaluate the predictive performance of all the above models using the standard out-of-sample R</a:t>
            </a:r>
            <a:r>
              <a:rPr lang="en-US" altLang="zh-CN" sz="1540" baseline="30000" dirty="0">
                <a:latin typeface="Calibri Light" panose="020F0302020204030204"/>
                <a:ea typeface="Calibri Light" panose="020F0302020204030204"/>
                <a:cs typeface="Calibri Light" panose="020F0302020204030204"/>
              </a:rPr>
              <a:t>2</a:t>
            </a:r>
            <a:r>
              <a:rPr lang="en-US" altLang="zh-CN" sz="1540" dirty="0">
                <a:latin typeface="Calibri Light" panose="020F0302020204030204"/>
                <a:ea typeface="Calibri Light" panose="020F0302020204030204"/>
                <a:cs typeface="Calibri Light" panose="020F0302020204030204"/>
              </a:rPr>
              <a:t> statistic. Compare the predictive ability of different models pairwise using the Diebold-Mariano (DM) test statistic.</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sz="1540" kern="0" dirty="0">
                <a:solidFill>
                  <a:srgbClr val="000000">
                    <a:alpha val="100000"/>
                  </a:srgbClr>
                </a:solidFill>
                <a:latin typeface="Arial" panose="020B0604020202020204"/>
                <a:ea typeface="Arial" panose="020B0604020202020204"/>
                <a:cs typeface="Arial" panose="020B0604020202020204"/>
                <a:sym typeface="+mn-ea"/>
              </a:rPr>
              <a:t>•  </a:t>
            </a:r>
            <a:r>
              <a:rPr lang="en-US" altLang="zh-CN" sz="1540" dirty="0">
                <a:latin typeface="Calibri Light" panose="020F0302020204030204"/>
                <a:ea typeface="Calibri Light" panose="020F0302020204030204"/>
                <a:cs typeface="Calibri Light" panose="020F0302020204030204"/>
                <a:sym typeface="+mn-ea"/>
              </a:rPr>
              <a:t>Question 4: </a:t>
            </a:r>
            <a:r>
              <a:rPr lang="en-US" altLang="zh-CN" sz="1540" dirty="0">
                <a:latin typeface="Calibri Light" panose="020F0302020204030204"/>
                <a:ea typeface="Calibri Light" panose="020F0302020204030204"/>
                <a:cs typeface="Calibri Light" panose="020F0302020204030204"/>
              </a:rPr>
              <a:t>Compute the importance of different feature variables across the aforementioned models using Variable Importance and Sum of Squared Deviations (SSD).</a:t>
            </a:r>
          </a:p>
          <a:p>
            <a:pPr marL="12700" algn="l" rtl="0" eaLnBrk="0">
              <a:lnSpc>
                <a:spcPct val="77000"/>
              </a:lnSpc>
              <a:spcBef>
                <a:spcPts val="52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20"/>
              </a:spcBef>
            </a:pPr>
            <a:r>
              <a:rPr lang="en-US" altLang="zh-CN" sz="1540" dirty="0">
                <a:latin typeface="Calibri Light" panose="020F0302020204030204"/>
                <a:ea typeface="Calibri Light" panose="020F0302020204030204"/>
                <a:cs typeface="Calibri Light" panose="020F0302020204030204"/>
              </a:rPr>
              <a:t>                      </a:t>
            </a:r>
            <a:endParaRPr lang="zh-CN" altLang="en-US"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14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400685" algn="l" rtl="0" eaLnBrk="0">
              <a:lnSpc>
                <a:spcPct val="78000"/>
              </a:lnSpc>
              <a:spcBef>
                <a:spcPts val="610"/>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1045"/>
              </a:spcBef>
            </a:pPr>
            <a:r>
              <a:rPr lang="en-US" altLang="zh-CN" sz="1540" dirty="0">
                <a:latin typeface="Calibri Light" panose="020F0302020204030204"/>
                <a:ea typeface="Calibri Light" panose="020F0302020204030204"/>
                <a:cs typeface="Calibri Light" panose="020F0302020204030204"/>
              </a:rPr>
              <a:t>        </a:t>
            </a:r>
          </a:p>
          <a:p>
            <a:pPr marL="12700" algn="l" rtl="0" eaLnBrk="0">
              <a:lnSpc>
                <a:spcPct val="77000"/>
              </a:lnSpc>
              <a:spcBef>
                <a:spcPts val="1045"/>
              </a:spcBef>
            </a:pPr>
            <a:endParaRPr sz="1540" kern="0" dirty="0">
              <a:solidFill>
                <a:srgbClr val="000000">
                  <a:alpha val="100000"/>
                </a:srgbClr>
              </a:solidFill>
              <a:latin typeface="Arial" panose="020B0604020202020204"/>
              <a:ea typeface="Arial" panose="020B0604020202020204"/>
              <a:cs typeface="Arial" panose="020B0604020202020204"/>
              <a:sym typeface="+mn-ea"/>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lang="en-US" altLang="zh-CN"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a:p>
            <a:pPr marL="12700" algn="l" rtl="0" eaLnBrk="0">
              <a:lnSpc>
                <a:spcPct val="77000"/>
              </a:lnSpc>
              <a:spcBef>
                <a:spcPts val="5"/>
              </a:spcBef>
            </a:pPr>
            <a:endParaRPr sz="1540" dirty="0">
              <a:latin typeface="Calibri Light" panose="020F0302020204030204"/>
              <a:ea typeface="Calibri Light" panose="020F0302020204030204"/>
              <a:cs typeface="Calibri Light" panose="020F03020202040302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hlYjZkZWY1NWZjY2Q2ZmJhODJlNWM0NTJkYTVmZmE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73*192"/>
  <p:tag name="TABLE_ENDDRAG_RECT" val="40*143*873*19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10695</Words>
  <Application>Microsoft Office PowerPoint</Application>
  <PresentationFormat>Widescreen</PresentationFormat>
  <Paragraphs>1732</Paragraphs>
  <Slides>74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宋体</vt:lpstr>
      <vt:lpstr>Arial</vt:lpstr>
      <vt:lpstr>Calibri</vt:lpstr>
      <vt:lpstr>Calibri Light</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Theoretical Foundation</vt:lpstr>
      <vt:lpstr>Most general form</vt:lpstr>
      <vt:lpstr>                                           Methods considered</vt:lpstr>
      <vt:lpstr>                                            OLS Regression</vt:lpstr>
      <vt:lpstr>PowerPoint Presentation</vt:lpstr>
      <vt:lpstr>PowerPoint Presentation</vt:lpstr>
      <vt:lpstr>PowerPoint Presentation</vt:lpstr>
      <vt:lpstr>PowerPoint Presentation</vt:lpstr>
      <vt:lpstr>                                          an extension of OLS</vt:lpstr>
      <vt:lpstr>PowerPoint Presentation</vt:lpstr>
      <vt:lpstr>PowerPoint Presentation</vt:lpstr>
      <vt:lpstr>PowerPoint Presentation</vt:lpstr>
      <vt:lpstr>                                        a variant of OLS</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Assessing predictive power</vt:lpstr>
      <vt:lpstr>The computed results of the standard out-of-sample R2 statistic in the generated sample data</vt:lpstr>
      <vt:lpstr>The computed results of the standard out-of-sample R2  statistic in the paper</vt:lpstr>
      <vt:lpstr>Forecast comparison </vt:lpstr>
      <vt:lpstr>Forecast comparison </vt:lpstr>
      <vt:lpstr>The calculation results of the Diebold and Mariano test statistic in the generated sample data</vt:lpstr>
      <vt:lpstr>The calculation results of the Diebold and Mariano test statistic in the paper</vt:lpstr>
      <vt:lpstr>Variable Importance and Marginal Relationships</vt:lpstr>
      <vt:lpstr>The Results of the Variable Importance in the generated sample data</vt:lpstr>
      <vt:lpstr>The Results of SSD in the generated sample data</vt:lpstr>
      <vt:lpstr>The Results of the Variable Importance in the paper</vt:lpstr>
      <vt:lpstr>The Results of the Variable Importance in the paper</vt:lpstr>
      <vt:lpstr>The Results of the Variable Importance in the paper</vt:lpstr>
      <vt:lpstr>The Results of the Sum of Squared Derivatives (SSD) in the paper</vt:lpstr>
      <vt:lpstr>Performance of the machine learning portfolios</vt:lpstr>
      <vt:lpstr>Performance of the machine learning portfolios</vt:lpstr>
      <vt:lpstr>Performance of the machine learning portfolios</vt:lpstr>
      <vt:lpstr>Performance of the machine learning portfolios</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Distributionally Robust End-to-End Portfolio Construction</dc:title>
  <dc:creator>Microsoft account</dc:creator>
  <cp:lastModifiedBy>Levente Mihalyi</cp:lastModifiedBy>
  <cp:revision>1235</cp:revision>
  <dcterms:created xsi:type="dcterms:W3CDTF">2024-06-15T00:58:00Z</dcterms:created>
  <dcterms:modified xsi:type="dcterms:W3CDTF">2025-07-26T10:23:13Z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D32AB9186B2443CAA78B651025CA5797_12</vt:lpwstr>
  </property>
  <property fmtid="{D5CDD505-2E9C-101B-9397-08002B2CF9AE}" pid="3" name="KSOProductBuildVer">
    <vt:lpwstr>2052-12.1.0.20305</vt:lpwstr>
  </property>
</Properties>
</file>